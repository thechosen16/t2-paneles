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1C40F"/>
                </a:solidFill>
              </a:rPr>
              <a:t>Evaluación de Tecnologías Fotovoltaicas en el Desierto de Atacama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957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9AA5B1"/>
                </a:solidFill>
              </a:rPr>
              <a:t>Tratamiento de datos experimentales NREL y modelamiento dinámico m-Si vs HIT — Año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880360"/>
            <a:ext cx="4114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698480" cy="2514600"/>
          </a:xfrm>
          <a:prstGeom prst="rect">
            <a:avLst/>
          </a:prstGeom>
          <a:solidFill>
            <a:srgbClr val="1F2833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BFCFD"/>
                </a:solidFill>
              </a:rPr>
              <a:t>Integrantes / Estudiantes:</a:t>
            </a:r>
          </a:p>
          <a:p>
            <a:pPr algn="l"/>
            <a:r>
              <a:rPr sz="1500">
                <a:solidFill>
                  <a:srgbClr val="FBFCFD"/>
                </a:solidFill>
              </a:rPr>
              <a:t>Laury Gualdron  |  Sebastian Marin  |  Alejandro Hernández</a:t>
            </a:r>
          </a:p>
          <a:p>
            <a:pPr algn="l"/>
          </a:p>
          <a:p>
            <a:pPr algn="l"/>
            <a:r>
              <a:rPr sz="1500">
                <a:solidFill>
                  <a:srgbClr val="FBFCFD"/>
                </a:solidFill>
              </a:rPr>
              <a:t>Profesor Guía: Carlos Cardenas</a:t>
            </a:r>
          </a:p>
          <a:p>
            <a:pPr algn="l"/>
            <a:r>
              <a:rPr sz="1500">
                <a:solidFill>
                  <a:srgbClr val="FBFCFD"/>
                </a:solidFill>
              </a:rPr>
              <a:t>ELI556 — Modelamiento y Análisis de Sistemas PV  |  Grupo Alta Tensión (AT)</a:t>
            </a:r>
          </a:p>
          <a:p>
            <a:pPr algn="l"/>
            <a:r>
              <a:rPr sz="1500">
                <a:solidFill>
                  <a:srgbClr val="FBFCFD"/>
                </a:solidFill>
              </a:rPr>
              <a:t>Fecha de presentación: Jueves, 11 de junio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1/35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a) Introducción y contextualización: El Desierto de Atacama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D2FF"/>
                </a:solidFill>
              </a:rPr>
              <a:t>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Contexto: El Recurso Solar más Extremo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Irradiación excepcional:</a:t>
            </a:r>
            <a:r>
              <a:rPr sz="1400">
                <a:solidFill>
                  <a:srgbClr val="FBFCFD"/>
                </a:solidFill>
              </a:rPr>
              <a:t> GHI anual &gt; 2,900 kWh/m² en el norte de Chile (máxima a nivel mundial) — motivación del sitio de estudio.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Cielos limpios y altitud:</a:t>
            </a:r>
            <a:r>
              <a:rPr sz="1400">
                <a:solidFill>
                  <a:srgbClr val="FBFCFD"/>
                </a:solidFill>
              </a:rPr>
              <a:t> Baja atenuación atmosférica e irradiancia directa concentrada a 2,400 m.s.n.m.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Sitio simulado:</a:t>
            </a:r>
            <a:r>
              <a:rPr sz="1400">
                <a:solidFill>
                  <a:srgbClr val="FBFCFD"/>
                </a:solidFill>
              </a:rPr>
              <a:t> San Pedro de Atacama (lat −22.91°, lon −68.20°, UTC−4).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Base experimental:</a:t>
            </a:r>
            <a:r>
              <a:rPr sz="1400">
                <a:solidFill>
                  <a:srgbClr val="FBFCFD"/>
                </a:solidFill>
              </a:rPr>
              <a:t> mediciones de campo NREL (Cocoa, Florida) emuladas estacionalmente al hemisferio sur — magnitudes de irradiancia conservan su origen (ver Limitaciones, Lám. 25).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El Desafío: Estrés Térmico de Operación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Calentamiento severo:</a:t>
            </a:r>
            <a:r>
              <a:rPr sz="1400">
                <a:solidFill>
                  <a:srgbClr val="FBFCFD"/>
                </a:solidFill>
              </a:rPr>
              <a:t> Las celdas operan sobre 65 °C al mediodía solar de verano (máx. simulado: 73.4 °C en HIT).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Degradación térmica:</a:t>
            </a:r>
            <a:r>
              <a:rPr sz="1400">
                <a:solidFill>
                  <a:srgbClr val="FBFCFD"/>
                </a:solidFill>
              </a:rPr>
              <a:t> La potencia máxima y el voltaje de circuito abierto caen al aumentar la temperatura de celda (T</a:t>
            </a:r>
            <a:r>
              <a:rPr sz="1000">
                <a:solidFill>
                  <a:srgbClr val="FBFCFD"/>
                </a:solidFill>
              </a:rPr>
              <a:t>c</a:t>
            </a:r>
            <a:r>
              <a:rPr sz="1400">
                <a:solidFill>
                  <a:srgbClr val="FBFCFD"/>
                </a:solidFill>
              </a:rPr>
              <a:t>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Objetivo:</a:t>
            </a:r>
            <a:r>
              <a:rPr sz="1400">
                <a:solidFill>
                  <a:srgbClr val="FBFCFD"/>
                </a:solidFill>
              </a:rPr>
              <a:t> Modelar dinámicamente registro a registro (cadencia 5 min) y cuantificar qué tecnología — </a:t>
            </a:r>
            <a:r>
              <a:rPr sz="1400" b="1">
                <a:solidFill>
                  <a:srgbClr val="FBFCFD"/>
                </a:solidFill>
              </a:rPr>
              <a:t>m-Si</a:t>
            </a:r>
            <a:r>
              <a:rPr sz="1400">
                <a:solidFill>
                  <a:srgbClr val="FBFCFD"/>
                </a:solidFill>
              </a:rPr>
              <a:t> o </a:t>
            </a:r>
            <a:r>
              <a:rPr sz="1400" b="1">
                <a:solidFill>
                  <a:srgbClr val="FBFCFD"/>
                </a:solidFill>
              </a:rPr>
              <a:t>HIT</a:t>
            </a:r>
            <a:r>
              <a:rPr sz="1400">
                <a:solidFill>
                  <a:srgbClr val="FBFCFD"/>
                </a:solidFill>
              </a:rPr>
              <a:t> — resiste mejor el estrés térmico desértico durante 2026.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Pregunta guía:</a:t>
            </a:r>
            <a:r>
              <a:rPr sz="1400">
                <a:solidFill>
                  <a:srgbClr val="FBFCFD"/>
                </a:solidFill>
              </a:rPr>
              <a:t> ¿la ventaja térmica de la heterounión justifica su CAPEX premium en una planta utility-scale?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2/35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b) Justificación e impacto: Selección de Tecnologías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D2FF"/>
                </a:solidFill>
              </a:rPr>
              <a:t>JUSTIFICACIÓN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60175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Familias disponibles en el Dataset Cocoa (NREL) y criterio de selección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755648"/>
          <a:ext cx="11002973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059"/>
                <a:gridCol w="1209118"/>
                <a:gridCol w="1692765"/>
                <a:gridCol w="3143707"/>
                <a:gridCol w="2297324"/>
              </a:tblGrid>
              <a:tr h="624839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1C40F"/>
                          </a:solidFill>
                        </a:rPr>
                        <a:t>Tecnología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1C40F"/>
                          </a:solidFill>
                        </a:rPr>
                        <a:t>Eficiencia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1C40F"/>
                          </a:solidFill>
                        </a:rPr>
                        <a:t>Coef. Temp. (Pmp)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1C40F"/>
                          </a:solidFill>
                        </a:rPr>
                        <a:t>Comportamiento en Desierto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1C40F"/>
                          </a:solidFill>
                        </a:rPr>
                        <a:t>Decisión / Rol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BFCFD"/>
                          </a:solidFill>
                        </a:rPr>
                        <a:t>m-Si / x-Si
(Silicio Monocristalino)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17% - 21%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−0.40 %/°C (Malo)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Grandes pérdidas por calor (baja tolerancia).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SELECCIONADO (Línea Base)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BFCFD"/>
                          </a:solidFill>
                        </a:rPr>
                        <a:t>HIT
(Heterounión)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20% - 22%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−0.26 %/°C (Excelente)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Mantiene alta producción bajo estrés térmico.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SELECCIONADO (Premium)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BFCFD"/>
                          </a:solidFill>
                        </a:rPr>
                        <a:t>CdTe
(Teluro de Cadmio)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15% - 18%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−0.28 %/°C (Excelente)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Desempeño térmico sobresaliente; toxicidad por Cadmio.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DESCARTADO (Menor contraste)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BFCFD"/>
                          </a:solidFill>
                        </a:rPr>
                        <a:t>CIGS
(Película Delgada)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14% - 16%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−0.35 %/°C (Bueno)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Pérdidas moderadas; susceptible a degradación por humedad.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DESCARTADO (Sin contraste extremo)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</a:tr>
              <a:tr h="6248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BFCFD"/>
                          </a:solidFill>
                        </a:rPr>
                        <a:t>a-Si
(Silicio Amorfo)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6% - 10%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−0.20 %/°C (Excelente)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Muy baja eficiencia base y alta degradación inicial.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BFCFD"/>
                          </a:solidFill>
                        </a:rPr>
                        <a:t>DESCARTADO (Inviable comercial)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62356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AA5B1"/>
                </a:solidFill>
              </a:rPr>
              <a:t>Criterio: máximo contraste térmico entre tecnologías comerciales viables, con datos experimentales completos en el dataset (</a:t>
            </a:r>
            <a:r>
              <a:rPr sz="1100">
                <a:solidFill>
                  <a:srgbClr val="7FDBFF"/>
                </a:solidFill>
                <a:latin typeface="Consolas"/>
              </a:rPr>
              <a:t>mSi0166</a:t>
            </a:r>
            <a:r>
              <a:rPr sz="1200">
                <a:solidFill>
                  <a:srgbClr val="9AA5B1"/>
                </a:solidFill>
              </a:rPr>
              <a:t> y </a:t>
            </a:r>
            <a:r>
              <a:rPr sz="1100">
                <a:solidFill>
                  <a:srgbClr val="7FDBFF"/>
                </a:solidFill>
                <a:latin typeface="Consolas"/>
              </a:rPr>
              <a:t>HIT05667</a:t>
            </a:r>
            <a:r>
              <a:rPr sz="1200">
                <a:solidFill>
                  <a:srgbClr val="9AA5B1"/>
                </a:solidFill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3/35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c) Marco referencial y revisión de literatura: Modelos Teóricos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D2FF"/>
                </a:solidFill>
              </a:rPr>
              <a:t>MARCO TEÓRICO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Literatura Académica y Modelos APLICADOS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Modelo de un Diodo Simple (SDM) [De Soto et al., 2006]:</a:t>
            </a:r>
            <a:r>
              <a:rPr sz="1350">
                <a:solidFill>
                  <a:srgbClr val="FBFCFD"/>
                </a:solidFill>
              </a:rPr>
              <a:t> circuito equivalente con pérdidas óhmicas en serie (R</a:t>
            </a:r>
            <a:r>
              <a:rPr sz="950">
                <a:solidFill>
                  <a:srgbClr val="FBFCFD"/>
                </a:solidFill>
              </a:rPr>
              <a:t>s</a:t>
            </a:r>
            <a:r>
              <a:rPr sz="1350">
                <a:solidFill>
                  <a:srgbClr val="FBFCFD"/>
                </a:solidFill>
              </a:rPr>
              <a:t>) y fugas shunt (R</a:t>
            </a:r>
            <a:r>
              <a:rPr sz="950">
                <a:solidFill>
                  <a:srgbClr val="FBFCFD"/>
                </a:solidFill>
              </a:rPr>
              <a:t>sh</a:t>
            </a:r>
            <a:r>
              <a:rPr sz="1350">
                <a:solidFill>
                  <a:srgbClr val="FBFCFD"/>
                </a:solidFill>
              </a:rPr>
              <a:t>). (Anexo IV, Lám. 31)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Modelo Térmico de Sandia (SAPM) [King et al., 2004]:</a:t>
            </a:r>
            <a:r>
              <a:rPr sz="1350">
                <a:solidFill>
                  <a:srgbClr val="FBFCFD"/>
                </a:solidFill>
              </a:rPr>
              <a:t> estima la temperatura interna de celda desde POA y viento. (Anexo III, Lám. 30)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Transposición de Perez (1990):</a:t>
            </a:r>
            <a:r>
              <a:rPr sz="1350">
                <a:solidFill>
                  <a:srgbClr val="FBFCFD"/>
                </a:solidFill>
              </a:rPr>
              <a:t> lleva GHI/DNI/DHI al plano inclinado con cielo difuso anisotrópico. (Anexo I, Lám. 28)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Escalamiento De Soto (2006):</a:t>
            </a:r>
            <a:r>
              <a:rPr sz="1350">
                <a:solidFill>
                  <a:srgbClr val="FBFCFD"/>
                </a:solidFill>
              </a:rPr>
              <a:t> traslada los 5 parámetros desde STC a condiciones operacionales vía bandgap. (Anexo VI, Lám. 33)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Marco revisado NO aplicado:</a:t>
            </a:r>
            <a:r>
              <a:rPr sz="1350">
                <a:solidFill>
                  <a:srgbClr val="FBFCFD"/>
                </a:solidFill>
              </a:rPr>
              <a:t> modificadores ópticos IAM y espectral AM [King et al., 2004] — se documentan en (Anexo II, Lám. 29) y quedan como trabajo futuro.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Circuito Equivalente de un Diodo (SDM)</a:t>
            </a:r>
          </a:p>
        </p:txBody>
      </p:sp>
      <p:pic>
        <p:nvPicPr>
          <p:cNvPr id="12" name="Picture 11" descr="circuito_equivalente_s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127" y="1874520"/>
            <a:ext cx="3931920" cy="393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4/35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Arquitectura del Pipeline de Simulación (Fases 0–7)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peline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75" y="1207008"/>
            <a:ext cx="10296144" cy="5148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5/35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La Base de Datos Original — NREL Cocoa, Florida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14167" cy="1325880"/>
          </a:xfrm>
          <a:prstGeom prst="rect">
            <a:avLst/>
          </a:prstGeom>
          <a:solidFill>
            <a:srgbClr val="27313F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7141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D2F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947672"/>
            <a:ext cx="260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módulos PV medidos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en simultáneo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1095" y="1188720"/>
            <a:ext cx="2714167" cy="1325880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1095" y="1298448"/>
            <a:ext cx="27141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C40F"/>
                </a:solidFill>
              </a:rPr>
              <a:t>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1947672"/>
            <a:ext cx="260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cadencia de medición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(solo horas de sol)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431" y="1188720"/>
            <a:ext cx="2714167" cy="1325880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6431" y="1298448"/>
            <a:ext cx="27141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5E3A"/>
                </a:solidFill>
              </a:rPr>
              <a:t>~420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1295" y="1947672"/>
            <a:ext cx="260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curvas I-V completas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(ene-2011 → mar-2012)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11767" y="1188720"/>
            <a:ext cx="2714167" cy="1325880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1767" y="1298448"/>
            <a:ext cx="27141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C71"/>
                </a:solidFill>
              </a:rPr>
              <a:t>~1.2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6631" y="1947672"/>
            <a:ext cx="2604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en 11 archivos CSV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(uno por módulo)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43200"/>
            <a:ext cx="5592927" cy="342900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73152" cy="3429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3464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¿Qué 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28416"/>
            <a:ext cx="5190591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Campaña experimental del </a:t>
            </a:r>
            <a:r>
              <a:rPr sz="1400" b="1">
                <a:solidFill>
                  <a:srgbClr val="FBFCFD"/>
                </a:solidFill>
              </a:rPr>
              <a:t>NREL</a:t>
            </a:r>
            <a:r>
              <a:rPr sz="1400">
                <a:solidFill>
                  <a:srgbClr val="FBFCFD"/>
                </a:solidFill>
              </a:rPr>
              <a:t> para validación de modelos PV [Marion et al., 2014].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Sitio: </a:t>
            </a:r>
            <a:r>
              <a:rPr sz="1400" b="1">
                <a:solidFill>
                  <a:srgbClr val="FBFCFD"/>
                </a:solidFill>
              </a:rPr>
              <a:t>Cocoa, Florida</a:t>
            </a:r>
            <a:r>
              <a:rPr sz="1400">
                <a:solidFill>
                  <a:srgbClr val="FBFCFD"/>
                </a:solidFill>
              </a:rPr>
              <a:t> (28.39° N, −80.46° W, 12 m.s.n.m.).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Tecnologías: 3 m-Si, 1 x-Si, 1 HIT, 1 CdTe, 2 CIGS y 3 a-Si.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Cada registro = una curva I-V completa</a:t>
            </a:r>
            <a:r>
              <a:rPr sz="1400">
                <a:solidFill>
                  <a:srgbClr val="FBFCFD"/>
                </a:solidFill>
              </a:rPr>
              <a:t> + contexto meteorológico instantáneo + incertidumbres.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2743200"/>
            <a:ext cx="5592927" cy="34290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2743200"/>
            <a:ext cx="73152" cy="3429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7599" y="283464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Volumen seleccionado para la tarea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3328416"/>
            <a:ext cx="5190591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300">
                <a:solidFill>
                  <a:srgbClr val="7FDBFF"/>
                </a:solidFill>
                <a:latin typeface="Consolas"/>
              </a:rPr>
              <a:t>mSi0166</a:t>
            </a:r>
            <a:r>
              <a:rPr sz="1400">
                <a:solidFill>
                  <a:srgbClr val="FBFCFD"/>
                </a:solidFill>
              </a:rPr>
              <a:t> — Silicio monocristalino:</a:t>
            </a: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  </a:t>
            </a:r>
            <a:r>
              <a:rPr sz="1400" b="1">
                <a:solidFill>
                  <a:srgbClr val="FBFCFD"/>
                </a:solidFill>
              </a:rPr>
              <a:t>36,765 curvas</a:t>
            </a:r>
            <a:r>
              <a:rPr sz="1400">
                <a:solidFill>
                  <a:srgbClr val="FBFCFD"/>
                </a:solidFill>
              </a:rPr>
              <a:t> (~102 MB).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300">
                <a:solidFill>
                  <a:srgbClr val="7FDBFF"/>
                </a:solidFill>
                <a:latin typeface="Consolas"/>
              </a:rPr>
              <a:t>HIT05667</a:t>
            </a:r>
            <a:r>
              <a:rPr sz="1400">
                <a:solidFill>
                  <a:srgbClr val="FBFCFD"/>
                </a:solidFill>
              </a:rPr>
              <a:t> — Heterounión:</a:t>
            </a: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  </a:t>
            </a:r>
            <a:r>
              <a:rPr sz="1400" b="1">
                <a:solidFill>
                  <a:srgbClr val="FBFCFD"/>
                </a:solidFill>
              </a:rPr>
              <a:t>38,377 curvas</a:t>
            </a:r>
            <a:r>
              <a:rPr sz="1400">
                <a:solidFill>
                  <a:srgbClr val="FBFCFD"/>
                </a:solidFill>
              </a:rPr>
              <a:t> (~109 MB).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Criterio: máximo contraste térmico entre tecnologías viables (detalle en Lám. 3).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6/35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¿Qué Variables Hay y Con Cuáles Trabajamos?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Variables disponibles por registro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Eléctricas:</a:t>
            </a:r>
            <a:r>
              <a:rPr sz="1400">
                <a:solidFill>
                  <a:srgbClr val="FBFCFD"/>
                </a:solidFill>
              </a:rPr>
              <a:t> Isc, Pmp, Imp, Vmp, Voc, FF — cada una con su incertidumbre.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Meteorológicas:</a:t>
            </a:r>
            <a:r>
              <a:rPr sz="1400">
                <a:solidFill>
                  <a:srgbClr val="FBFCFD"/>
                </a:solidFill>
              </a:rPr>
              <a:t> GHI, DNI, DHI, T bulbo seco, humedad relativa, presión, precipitación.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Referencia POA:</a:t>
            </a:r>
            <a:r>
              <a:rPr sz="1400">
                <a:solidFill>
                  <a:srgbClr val="FBFCFD"/>
                </a:solidFill>
              </a:rPr>
              <a:t> piranómetro CMP22 (clase A) montado en el plano del arreglo.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Calidad / operación:</a:t>
            </a:r>
            <a:r>
              <a:rPr sz="1400">
                <a:solidFill>
                  <a:srgbClr val="FBFCFD"/>
                </a:solidFill>
              </a:rPr>
              <a:t> residual QA solar, soiling derate, horarios de mantenimiento.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Decisión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Usadas (11 columnas):</a:t>
            </a:r>
            <a:r>
              <a:rPr sz="1400">
                <a:solidFill>
                  <a:srgbClr val="FBFCFD"/>
                </a:solidFill>
              </a:rPr>
              <a:t> timestamp, Isc, Pmp, Imp, Vmp, Voc, T bulbo seco, presión, DNI, GHI, DHI.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Verificación:</a:t>
            </a:r>
            <a:r>
              <a:rPr sz="1400">
                <a:solidFill>
                  <a:srgbClr val="FBFCFD"/>
                </a:solidFill>
              </a:rPr>
              <a:t> POA CMP22 para validar el recurso medido (Lám. 14).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Descartadas:</a:t>
            </a:r>
            <a:r>
              <a:rPr sz="1400">
                <a:solidFill>
                  <a:srgbClr val="FBFCFD"/>
                </a:solidFill>
              </a:rPr>
              <a:t> cola de pares I-V crudos (ancho variable) y columnas de QA.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Diccionario completo de columnas en (Anexo VIII, Lám. 35).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7/35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Anatomía del Archivo CSV y Decisiones de Ingesta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tructura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1207008"/>
            <a:ext cx="1033272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8/35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Ingesta y Limpieza de la Base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El Desafío: archivos irregulares de ~110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Naturaleza de los datos:</a:t>
            </a:r>
            <a:r>
              <a:rPr sz="1400">
                <a:solidFill>
                  <a:srgbClr val="FBFCFD"/>
                </a:solidFill>
              </a:rPr>
              <a:t> cada fila contiene 43 columnas fijas + </a:t>
            </a:r>
            <a:r>
              <a:rPr sz="1400" b="1">
                <a:solidFill>
                  <a:srgbClr val="FBFCFD"/>
                </a:solidFill>
              </a:rPr>
              <a:t>n pares (I, V) crudos</a:t>
            </a:r>
            <a:r>
              <a:rPr sz="1400">
                <a:solidFill>
                  <a:srgbClr val="FBFCFD"/>
                </a:solidFill>
              </a:rPr>
              <a:t> de la curva trazada (n ≈ 180–380) → filas de longitud variable.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Falla del método estándar:</a:t>
            </a:r>
            <a:r>
              <a:rPr sz="1400">
                <a:solidFill>
                  <a:srgbClr val="FBFCFD"/>
                </a:solidFill>
              </a:rPr>
              <a:t> </a:t>
            </a:r>
            <a:r>
              <a:rPr sz="1300">
                <a:solidFill>
                  <a:srgbClr val="7FDBFF"/>
                </a:solidFill>
                <a:latin typeface="Consolas"/>
              </a:rPr>
              <a:t>pandas.read_csv</a:t>
            </a:r>
            <a:r>
              <a:rPr sz="1400">
                <a:solidFill>
                  <a:srgbClr val="FBFCFD"/>
                </a:solidFill>
              </a:rPr>
              <a:t> no tolera el ancho variable (infiere mal el esquema) y carga ~110 MB por módulo a memoria innecesariamente.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Datos centinela:</a:t>
            </a:r>
            <a:r>
              <a:rPr sz="1400">
                <a:solidFill>
                  <a:srgbClr val="FBFCFD"/>
                </a:solidFill>
              </a:rPr>
              <a:t> los faltantes vienen codificados como </a:t>
            </a:r>
            <a:r>
              <a:rPr sz="1400" b="1">
                <a:solidFill>
                  <a:srgbClr val="FBFCFD"/>
                </a:solidFill>
              </a:rPr>
              <a:t>−9999</a:t>
            </a:r>
            <a:r>
              <a:rPr sz="1400">
                <a:solidFill>
                  <a:srgbClr val="FBFCFD"/>
                </a:solidFill>
              </a:rPr>
              <a:t>, que contaminan promedios y regresiones si no se neutralizan.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La Solución: lector en streaming (Fase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Lectura línea a línea</a:t>
            </a:r>
            <a:r>
              <a:rPr sz="1400">
                <a:solidFill>
                  <a:srgbClr val="FBFCFD"/>
                </a:solidFill>
              </a:rPr>
              <a:t> con el módulo </a:t>
            </a:r>
            <a:r>
              <a:rPr sz="1300">
                <a:solidFill>
                  <a:srgbClr val="7FDBFF"/>
                </a:solidFill>
                <a:latin typeface="Consolas"/>
              </a:rPr>
              <a:t>csv</a:t>
            </a:r>
            <a:r>
              <a:rPr sz="1400">
                <a:solidFill>
                  <a:srgbClr val="FBFCFD"/>
                </a:solidFill>
              </a:rPr>
              <a:t> nativo: se indexan solo las </a:t>
            </a:r>
            <a:r>
              <a:rPr sz="1400" b="1">
                <a:solidFill>
                  <a:srgbClr val="FBFCFD"/>
                </a:solidFill>
              </a:rPr>
              <a:t>11 columnas clave por posición fija</a:t>
            </a:r>
            <a:r>
              <a:rPr sz="1400">
                <a:solidFill>
                  <a:srgbClr val="FBFCFD"/>
                </a:solidFill>
              </a:rPr>
              <a:t> y se descarta la cola I-V al vuelo.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Limpieza:</a:t>
            </a:r>
            <a:r>
              <a:rPr sz="1400">
                <a:solidFill>
                  <a:srgbClr val="FBFCFD"/>
                </a:solidFill>
              </a:rPr>
              <a:t> </a:t>
            </a:r>
            <a:r>
              <a:rPr sz="1300">
                <a:solidFill>
                  <a:srgbClr val="7FDBFF"/>
                </a:solidFill>
                <a:latin typeface="Consolas"/>
              </a:rPr>
              <a:t>-9999 → NaN</a:t>
            </a:r>
            <a:r>
              <a:rPr sz="1400">
                <a:solidFill>
                  <a:srgbClr val="FBFCFD"/>
                </a:solidFill>
              </a:rPr>
              <a:t>, </a:t>
            </a:r>
            <a:r>
              <a:rPr sz="1300">
                <a:solidFill>
                  <a:srgbClr val="7FDBFF"/>
                </a:solidFill>
                <a:latin typeface="Consolas"/>
              </a:rPr>
              <a:t>dropna</a:t>
            </a:r>
            <a:r>
              <a:rPr sz="1400">
                <a:solidFill>
                  <a:srgbClr val="FBFCFD"/>
                </a:solidFill>
              </a:rPr>
              <a:t> sobre GHI/DNI/DHI/T_air y </a:t>
            </a:r>
            <a:r>
              <a:rPr sz="1300">
                <a:solidFill>
                  <a:srgbClr val="7FDBFF"/>
                </a:solidFill>
                <a:latin typeface="Consolas"/>
              </a:rPr>
              <a:t>clip(≥0)</a:t>
            </a:r>
            <a:r>
              <a:rPr sz="1400">
                <a:solidFill>
                  <a:srgbClr val="FBFCFD"/>
                </a:solidFill>
              </a:rPr>
              <a:t> en irradiancias.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Resultado:</a:t>
            </a:r>
            <a:r>
              <a:rPr sz="1400">
                <a:solidFill>
                  <a:srgbClr val="FBFCFD"/>
                </a:solidFill>
              </a:rPr>
              <a:t> m-Si 35,669/36,765 filas válidas (97.0 %) · HIT 37,313/38,377 (97.2 %).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Los registros nocturnos no existen en la base (solo se midió de día); no se requirió filtro nocturno adicional.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9/35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Embudo de Datos — Trazabilidad por Fase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mbudo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207008"/>
            <a:ext cx="9966960" cy="5139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10/35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Filtro de Emulación Geográfica — Concepto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EMULACIÓN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emul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280160"/>
            <a:ext cx="10607040" cy="47055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0807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AA5B1"/>
                </a:solidFill>
              </a:rPr>
              <a:t>¿Por qué? Usar datos del hemisferio norte sin desfasar crearía solsticios invertidos: el filtro alinea las estaciones antes de simular.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11/35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Emulación: Florida (origen de los datos) vs Atacama (sitio simulado)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EMULACIÓN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3977639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3977639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Cocoa, Florida — clima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322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Clima: subtropical húmedo (marítimo), 12 m.s.n.m.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Irradiancia difusa alta (~35–45 %) por humedad y nubosidad convectiva frecuente.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DNI máximo ~950 W/m² (atenuado).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T</a:t>
            </a:r>
            <a:r>
              <a:rPr sz="1000">
                <a:solidFill>
                  <a:srgbClr val="FBFCFD"/>
                </a:solidFill>
              </a:rPr>
              <a:t>c</a:t>
            </a:r>
            <a:r>
              <a:rPr sz="1400">
                <a:solidFill>
                  <a:srgbClr val="FBFCFD"/>
                </a:solidFill>
              </a:rPr>
              <a:t> pico de celda: ~55–60 °C.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3977639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3977639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San Pedro de Atacama — sitio emulado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322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Clima: hiperárido (desértico extremo), 2,400 m.s.n.m.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Irradiancia difusa muy baja (~10–15 %): cielos permanentemente limpios.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DNI máximo real &gt; 1,250 W/m² (extremo).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T</a:t>
            </a:r>
            <a:r>
              <a:rPr sz="1000">
                <a:solidFill>
                  <a:srgbClr val="FBFCFD"/>
                </a:solidFill>
              </a:rPr>
              <a:t>c</a:t>
            </a:r>
            <a:r>
              <a:rPr sz="1400">
                <a:solidFill>
                  <a:srgbClr val="FBFCFD"/>
                </a:solidFill>
              </a:rPr>
              <a:t> pico simulada: ~65–73 °C (alto estrés).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49240"/>
            <a:ext cx="11460175" cy="91440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22392"/>
            <a:ext cx="1109441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BFCFD"/>
                </a:solidFill>
              </a:rPr>
              <a:t>Límite explícito del método:</a:t>
            </a:r>
            <a:r>
              <a:rPr sz="1400">
                <a:solidFill>
                  <a:srgbClr val="FBFCFD"/>
                </a:solidFill>
              </a:rPr>
              <a:t> el filtro alinea estaciones, geometría solar e inclinación óptima (tilt = latitud, azimut 0° N); las </a:t>
            </a:r>
            <a:r>
              <a:rPr sz="1400" b="1">
                <a:solidFill>
                  <a:srgbClr val="FBFCFD"/>
                </a:solidFill>
              </a:rPr>
              <a:t>magnitudes medidas</a:t>
            </a:r>
            <a:r>
              <a:rPr sz="1400">
                <a:solidFill>
                  <a:srgbClr val="FBFCFD"/>
                </a:solidFill>
              </a:rPr>
              <a:t> de irradiancia y clima siguen siendo las de Florida (ver Limitaciones, Lám. 25).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12/35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Filtro de Emulación — Implementación (Fase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EMULACIÓN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jo_f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280160"/>
            <a:ext cx="11430000" cy="41031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559552"/>
            <a:ext cx="11460175" cy="841248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632704"/>
            <a:ext cx="110944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BFCFD"/>
                </a:solidFill>
              </a:rPr>
              <a:t>Advertencias controladas:</a:t>
            </a:r>
            <a:r>
              <a:rPr sz="1400">
                <a:solidFill>
                  <a:srgbClr val="FBFCFD"/>
                </a:solidFill>
              </a:rPr>
              <a:t> (1) 29-feb se reasigna al 28-feb-2026; (2) al proyectar 13.5 meses sobre un solo año, </a:t>
            </a:r>
            <a:r>
              <a:rPr sz="1400" b="1">
                <a:solidFill>
                  <a:srgbClr val="FBFCFD"/>
                </a:solidFill>
              </a:rPr>
              <a:t>julio–septiembre 2026 promedian datos de dos veranos</a:t>
            </a:r>
            <a:r>
              <a:rPr sz="1400">
                <a:solidFill>
                  <a:srgbClr val="FBFCFD"/>
                </a:solidFill>
              </a:rPr>
              <a:t> (ene–mar 2011 y 2012); (3) las mediciones físicas no se alteran — solo cambia el eje temporal y la metadata de sitio.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13/35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Verificación del Recurso Medido — POA CMP22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EMULACIÓN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223760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6949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Irradiancia POA CMP22 — 11 módulos Cocoa (2011–2012)</a:t>
            </a:r>
          </a:p>
        </p:txBody>
      </p:sp>
      <p:pic>
        <p:nvPicPr>
          <p:cNvPr id="8" name="Picture 7" descr="poa_irradiance_cm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0512"/>
            <a:ext cx="6766560" cy="38039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188720"/>
            <a:ext cx="4053535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188720"/>
            <a:ext cx="73152" cy="50292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280160"/>
            <a:ext cx="37792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Notas Metodológicas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1773936"/>
            <a:ext cx="3651199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Sensor:</a:t>
            </a:r>
            <a:r>
              <a:rPr sz="1350">
                <a:solidFill>
                  <a:srgbClr val="FBFCFD"/>
                </a:solidFill>
              </a:rPr>
              <a:t> piranómetro CMP22 (clase A) — referencia de alta precisión en el plano del arreglo.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Registros:</a:t>
            </a:r>
            <a:r>
              <a:rPr sz="1350">
                <a:solidFill>
                  <a:srgbClr val="FBFCFD"/>
                </a:solidFill>
              </a:rPr>
              <a:t> 421,664 válidos sumando los 11 archivos Cocoa (2011-01-21 a 2012-03-04).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Curvas:</a:t>
            </a:r>
            <a:r>
              <a:rPr sz="1350">
                <a:solidFill>
                  <a:srgbClr val="FBFCFD"/>
                </a:solidFill>
              </a:rPr>
              <a:t> mediana diaria suavizada 7 días por archivo; las 11 series se superponen porque comparten sitio y sensor.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POA máx. medida:</a:t>
            </a:r>
            <a:r>
              <a:rPr sz="1350">
                <a:solidFill>
                  <a:srgbClr val="FBFCFD"/>
                </a:solidFill>
              </a:rPr>
              <a:t> ~1,443 W/m².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Propósito:</a:t>
            </a:r>
            <a:r>
              <a:rPr sz="1350">
                <a:solidFill>
                  <a:srgbClr val="FBFCFD"/>
                </a:solidFill>
              </a:rPr>
              <a:t> verificar la consistencia del recurso medido </a:t>
            </a:r>
            <a:r>
              <a:rPr sz="1350" b="1">
                <a:solidFill>
                  <a:srgbClr val="FBFCFD"/>
                </a:solidFill>
              </a:rPr>
              <a:t>antes</a:t>
            </a:r>
            <a:r>
              <a:rPr sz="1350">
                <a:solidFill>
                  <a:srgbClr val="FBFCFD"/>
                </a:solidFill>
              </a:rPr>
              <a:t> de aplicar el filtro de emulación geográfica.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14/35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Recurso Solar Sintético y Perfil Térmico (Fase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MODELADO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jo_f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80" y="1261872"/>
            <a:ext cx="11154933" cy="42702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23560"/>
            <a:ext cx="11460175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696712"/>
            <a:ext cx="1109441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BFCFD"/>
                </a:solidFill>
              </a:rPr>
              <a:t>Supuestos declarados:</a:t>
            </a:r>
            <a:r>
              <a:rPr sz="1400">
                <a:solidFill>
                  <a:srgbClr val="FBFCFD"/>
                </a:solidFill>
              </a:rPr>
              <a:t> viento fijo 1 m/s (escenario conservador de enfriamiento); albedo 0.25 (default de </a:t>
            </a:r>
            <a:r>
              <a:rPr sz="1300">
                <a:solidFill>
                  <a:srgbClr val="7FDBFF"/>
                </a:solidFill>
                <a:latin typeface="Consolas"/>
              </a:rPr>
              <a:t>pvlib.get_total_irradiance</a:t>
            </a:r>
            <a:r>
              <a:rPr sz="1400">
                <a:solidFill>
                  <a:srgbClr val="FBFCFD"/>
                </a:solidFill>
              </a:rPr>
              <a:t>); </a:t>
            </a:r>
            <a:r>
              <a:rPr sz="1400" b="1">
                <a:solidFill>
                  <a:srgbClr val="FBFCFD"/>
                </a:solidFill>
              </a:rPr>
              <a:t>sin</a:t>
            </a:r>
            <a:r>
              <a:rPr sz="1400">
                <a:solidFill>
                  <a:srgbClr val="FBFCFD"/>
                </a:solidFill>
              </a:rPr>
              <a:t> modificadores IAM ni corrección espectral AM — la POA de Perez se usa directamente como irradiancia efectiva (Anexo II, Lám. 29). Coeficientes SAPM (Anexo III, Lám. 30).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15/35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Extracción de Parámetros De Soto (Fase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MODELADO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jo_fas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9" y="1243584"/>
            <a:ext cx="10556396" cy="42885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23560"/>
            <a:ext cx="11460175" cy="841248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696712"/>
            <a:ext cx="110944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BFCFD"/>
                </a:solidFill>
              </a:rPr>
              <a:t>Hallazgo metodológico:</a:t>
            </a:r>
            <a:r>
              <a:rPr sz="1400">
                <a:solidFill>
                  <a:srgbClr val="FBFCFD"/>
                </a:solidFill>
              </a:rPr>
              <a:t> la regresión experimental de α</a:t>
            </a:r>
            <a:r>
              <a:rPr sz="1000">
                <a:solidFill>
                  <a:srgbClr val="FBFCFD"/>
                </a:solidFill>
              </a:rPr>
              <a:t>Isc</a:t>
            </a:r>
            <a:r>
              <a:rPr sz="1400">
                <a:solidFill>
                  <a:srgbClr val="FBFCFD"/>
                </a:solidFill>
              </a:rPr>
              <a:t> resultó </a:t>
            </a:r>
            <a:r>
              <a:rPr sz="1400" b="1">
                <a:solidFill>
                  <a:srgbClr val="FBFCFD"/>
                </a:solidFill>
              </a:rPr>
              <a:t>negativa</a:t>
            </a:r>
            <a:r>
              <a:rPr sz="1400">
                <a:solidFill>
                  <a:srgbClr val="FBFCFD"/>
                </a:solidFill>
              </a:rPr>
              <a:t> en ambos módulos (confundida por efectos espectrales/estacionales) → el código aplica el resguardo físico α</a:t>
            </a:r>
            <a:r>
              <a:rPr sz="1000">
                <a:solidFill>
                  <a:srgbClr val="FBFCFD"/>
                </a:solidFill>
              </a:rPr>
              <a:t>Isc</a:t>
            </a:r>
            <a:r>
              <a:rPr sz="1400">
                <a:solidFill>
                  <a:srgbClr val="FBFCFD"/>
                </a:solidFill>
              </a:rPr>
              <a:t> = +0.05 %/°C (valor típico de literatura). β</a:t>
            </a:r>
            <a:r>
              <a:rPr sz="1000">
                <a:solidFill>
                  <a:srgbClr val="FBFCFD"/>
                </a:solidFill>
              </a:rPr>
              <a:t>Voc</a:t>
            </a:r>
            <a:r>
              <a:rPr sz="1400">
                <a:solidFill>
                  <a:srgbClr val="FBFCFD"/>
                </a:solidFill>
              </a:rPr>
              <a:t> sí es experimental: −0.30 %/°C (m-Si) y −0.21 %/°C (HIT). Detalle del sistema de ecuaciones en (Anexo V, Lám. 32).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16/35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Parámetros de Referencia Extraídos en STC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MODELADO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Parámetros nominales ajustados (SRC)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55648"/>
          <a:ext cx="52120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005"/>
                <a:gridCol w="1549537"/>
                <a:gridCol w="1549537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1C40F"/>
                          </a:solidFill>
                        </a:rPr>
                        <a:t>Parámetro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1C40F"/>
                          </a:solidFill>
                        </a:rPr>
                        <a:t>m-Si (mSi0166)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1C40F"/>
                          </a:solidFill>
                        </a:rPr>
                        <a:t>HIT (HIT05667)</a:t>
                      </a:r>
                    </a:p>
                  </a:txBody>
                  <a:tcPr anchor="ctr">
                    <a:solidFill>
                      <a:srgbClr val="27313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I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L,ref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(A)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2.768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5.607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I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0,ref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(A)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4.13 × 10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−9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4.68 × 10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−10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R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s,ref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(Ω)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0.542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0.412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R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sh,ref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(Ω)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352.4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612.8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N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s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(celdas serie)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36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72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α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Isc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(%/°C)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+0.05 (resguardo)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+0.05 (resguardo)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β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Voc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(%/°C)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−0.30 (medido)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−0.21 (medido)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I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sc,ref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/ V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oc,ref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2.77 A / 22.6 V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5.61 A / 51.5 V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FBFCFD"/>
                          </a:solidFill>
                        </a:rPr>
                        <a:t>P</a:t>
                      </a:r>
                      <a:r>
                        <a:rPr sz="800">
                          <a:solidFill>
                            <a:srgbClr val="FBFCFD"/>
                          </a:solidFill>
                        </a:rPr>
                        <a:t>STC</a:t>
                      </a:r>
                      <a:r>
                        <a:rPr sz="1150">
                          <a:solidFill>
                            <a:srgbClr val="FBFCFD"/>
                          </a:solidFill>
                        </a:rPr>
                        <a:t> del SDM (W)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50.17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FBFCFD"/>
                          </a:solidFill>
                        </a:rPr>
                        <a:t>236.72</a:t>
                      </a:r>
                    </a:p>
                  </a:txBody>
                  <a:tcPr anchor="ctr">
                    <a:solidFill>
                      <a:srgbClr val="1F283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188720"/>
            <a:ext cx="5653735" cy="297180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73152" cy="2971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80160"/>
            <a:ext cx="5379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Curvas I-V / P-V reconstruidas en SRC</a:t>
            </a:r>
          </a:p>
        </p:txBody>
      </p:sp>
      <p:pic>
        <p:nvPicPr>
          <p:cNvPr id="12" name="Picture 11" descr="curvas_iv_pv_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55648"/>
            <a:ext cx="5166360" cy="22494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4343400"/>
            <a:ext cx="5653735" cy="1874519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343400"/>
            <a:ext cx="73152" cy="1874519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4434840"/>
            <a:ext cx="5379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Lectura física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928616"/>
            <a:ext cx="5251399" cy="112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I</a:t>
            </a:r>
            <a:r>
              <a:rPr sz="900">
                <a:solidFill>
                  <a:srgbClr val="FBFCFD"/>
                </a:solidFill>
              </a:rPr>
              <a:t>0</a:t>
            </a:r>
            <a:r>
              <a:rPr sz="1300">
                <a:solidFill>
                  <a:srgbClr val="FBFCFD"/>
                </a:solidFill>
              </a:rPr>
              <a:t> de HIT es </a:t>
            </a:r>
            <a:r>
              <a:rPr sz="1300" b="1">
                <a:solidFill>
                  <a:srgbClr val="FBFCFD"/>
                </a:solidFill>
              </a:rPr>
              <a:t>un orden de magnitud menor</a:t>
            </a:r>
            <a:r>
              <a:rPr sz="1300">
                <a:solidFill>
                  <a:srgbClr val="FBFCFD"/>
                </a:solidFill>
              </a:rPr>
              <a:t> → menor recombinación → mayor V</a:t>
            </a:r>
            <a:r>
              <a:rPr sz="900">
                <a:solidFill>
                  <a:srgbClr val="FBFCFD"/>
                </a:solidFill>
              </a:rPr>
              <a:t>oc</a:t>
            </a:r>
            <a:r>
              <a:rPr sz="1300">
                <a:solidFill>
                  <a:srgbClr val="FBFCFD"/>
                </a:solidFill>
              </a:rPr>
              <a:t> y mejor tolerancia térmica.</a:t>
            </a:r>
          </a:p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R</a:t>
            </a:r>
            <a:r>
              <a:rPr sz="900">
                <a:solidFill>
                  <a:srgbClr val="FBFCFD"/>
                </a:solidFill>
              </a:rPr>
              <a:t>sh</a:t>
            </a:r>
            <a:r>
              <a:rPr sz="1300">
                <a:solidFill>
                  <a:srgbClr val="FBFCFD"/>
                </a:solidFill>
              </a:rPr>
              <a:t> de HIT ~74 % mayor → menos fugas a baja irradiancia.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17/35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Procedimiento: Simulación Anual y Performance Ratio (Fase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1C40F"/>
                </a:solidFill>
              </a:rPr>
              <a:t>MODELADO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jo_fas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9" y="1243584"/>
            <a:ext cx="10556396" cy="42885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23560"/>
            <a:ext cx="11460175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696712"/>
            <a:ext cx="1109441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BFCFD"/>
                </a:solidFill>
              </a:rPr>
              <a:t>Energía DC anual por panel:</a:t>
            </a:r>
            <a:r>
              <a:rPr sz="1400">
                <a:solidFill>
                  <a:srgbClr val="FBFCFD"/>
                </a:solidFill>
              </a:rPr>
              <a:t> m-Si 57.8 kWh · HIT 292.6 kWh → yield específico </a:t>
            </a:r>
            <a:r>
              <a:rPr sz="1400" b="1">
                <a:solidFill>
                  <a:srgbClr val="FBFCFD"/>
                </a:solidFill>
              </a:rPr>
              <a:t>1,152 vs 1,236 kWh/kWp (+7.3 %)</a:t>
            </a:r>
            <a:r>
              <a:rPr sz="1400">
                <a:solidFill>
                  <a:srgbClr val="FBFCFD"/>
                </a:solidFill>
              </a:rPr>
              <a:t>. Ecuaciones de escalamiento en (Anexo VI, Lám. 33) y del PR en (Anexo VII, Lám. 34).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18/35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Desarrollo y discusión: Recurso Solar y Perfil Térmico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71"/>
                </a:solidFill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309360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Distribución de Temperatura de Celda (HIT)</a:t>
            </a:r>
          </a:p>
        </p:txBody>
      </p:sp>
      <p:pic>
        <p:nvPicPr>
          <p:cNvPr id="8" name="Picture 7" descr="temp_hist_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5394960" cy="40325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0" y="1188720"/>
            <a:ext cx="4967935" cy="141732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188720"/>
            <a:ext cx="73152" cy="141732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280160"/>
            <a:ext cx="46936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Picos Térmicos Extremos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773936"/>
            <a:ext cx="456559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BFCFD"/>
                </a:solidFill>
              </a:rPr>
              <a:t>65–73 °C de operación recurrente</a:t>
            </a:r>
            <a:r>
              <a:rPr sz="1400">
                <a:solidFill>
                  <a:srgbClr val="FBFCFD"/>
                </a:solidFill>
              </a:rPr>
              <a:t> al mediodía solar de verano (HIT: 461 registros sobre 65 °C).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788920"/>
            <a:ext cx="4967935" cy="34290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788920"/>
            <a:ext cx="73152" cy="3429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2880360"/>
            <a:ext cx="46936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Análisis Crítico de 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374136"/>
            <a:ext cx="4565599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Estrés térmico evidenciado:</a:t>
            </a:r>
            <a:r>
              <a:rPr sz="1350">
                <a:solidFill>
                  <a:srgbClr val="FBFCFD"/>
                </a:solidFill>
              </a:rPr>
              <a:t> la simulación 5-minutal revela operación sostenida muy por encima de los 25 °C de STC.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Enfriamiento convectivo limitado:</a:t>
            </a:r>
            <a:r>
              <a:rPr sz="1350">
                <a:solidFill>
                  <a:srgbClr val="FBFCFD"/>
                </a:solidFill>
              </a:rPr>
              <a:t> viento de 1 m/s en SAPM [King et al., 2004] modela el escenario de mayor estrés físico.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Consecuencia en voltaje [De Soto et al., 2006]:</a:t>
            </a:r>
            <a:r>
              <a:rPr sz="1350">
                <a:solidFill>
                  <a:srgbClr val="FBFCFD"/>
                </a:solidFill>
              </a:rPr>
              <a:t> el calentamiento eleva I</a:t>
            </a:r>
            <a:r>
              <a:rPr sz="950">
                <a:solidFill>
                  <a:srgbClr val="FBFCFD"/>
                </a:solidFill>
              </a:rPr>
              <a:t>0</a:t>
            </a:r>
            <a:r>
              <a:rPr sz="1350">
                <a:solidFill>
                  <a:srgbClr val="FBFCFD"/>
                </a:solidFill>
              </a:rPr>
              <a:t> exponencialmente, deprimiendo V</a:t>
            </a:r>
            <a:r>
              <a:rPr sz="950">
                <a:solidFill>
                  <a:srgbClr val="FBFCFD"/>
                </a:solidFill>
              </a:rPr>
              <a:t>oc</a:t>
            </a:r>
            <a:r>
              <a:rPr sz="1350">
                <a:solidFill>
                  <a:srgbClr val="FBFCFD"/>
                </a:solidFill>
              </a:rPr>
              <a:t> y la potencia útil.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19/35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Desarrollo y discusión: Validación del Modelo Eléctrico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71"/>
                </a:solidFill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309360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</a:t>
            </a:r>
            <a:r>
              <a:rPr sz="1400" b="1">
                <a:solidFill>
                  <a:srgbClr val="F1C40F"/>
                </a:solidFill>
              </a:rPr>
              <a:t>mp</a:t>
            </a:r>
            <a:r>
              <a:rPr sz="1800" b="1">
                <a:solidFill>
                  <a:srgbClr val="F1C40F"/>
                </a:solidFill>
              </a:rPr>
              <a:t> medida vs simulada (HIT, mismas condiciones)</a:t>
            </a:r>
          </a:p>
        </p:txBody>
      </p:sp>
      <p:pic>
        <p:nvPicPr>
          <p:cNvPr id="8" name="Picture 7" descr="val_scatter_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5394960" cy="40325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0" y="1188720"/>
            <a:ext cx="4967935" cy="141732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188720"/>
            <a:ext cx="73152" cy="1417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280160"/>
            <a:ext cx="46936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Precisión del Modelo de 5 Parámetros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773936"/>
            <a:ext cx="456559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BFCFD"/>
                </a:solidFill>
              </a:rPr>
              <a:t>R² ≈ 0.99</a:t>
            </a:r>
            <a:r>
              <a:rPr sz="1400">
                <a:solidFill>
                  <a:srgbClr val="FBFCFD"/>
                </a:solidFill>
              </a:rPr>
              <a:t>  |  RMSE ≈ 3 % de P</a:t>
            </a:r>
            <a:r>
              <a:rPr sz="1000">
                <a:solidFill>
                  <a:srgbClr val="FBFCFD"/>
                </a:solidFill>
              </a:rPr>
              <a:t>STC</a:t>
            </a:r>
            <a:r>
              <a:rPr sz="1400">
                <a:solidFill>
                  <a:srgbClr val="FBFCFD"/>
                </a:solidFill>
              </a:rPr>
              <a:t> (1.5 W m-Si · 6.7 W HIT).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788920"/>
            <a:ext cx="4967935" cy="34290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788920"/>
            <a:ext cx="73152" cy="3429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2880360"/>
            <a:ext cx="46936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¿Qué valida exactamente este gráfico?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374136"/>
            <a:ext cx="4565599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Misma meteorología:</a:t>
            </a:r>
            <a:r>
              <a:rPr sz="1350">
                <a:solidFill>
                  <a:srgbClr val="FBFCFD"/>
                </a:solidFill>
              </a:rPr>
              <a:t> cada punto compara la P</a:t>
            </a:r>
            <a:r>
              <a:rPr sz="950">
                <a:solidFill>
                  <a:srgbClr val="FBFCFD"/>
                </a:solidFill>
              </a:rPr>
              <a:t>mp</a:t>
            </a:r>
            <a:r>
              <a:rPr sz="1350">
                <a:solidFill>
                  <a:srgbClr val="FBFCFD"/>
                </a:solidFill>
              </a:rPr>
              <a:t> </a:t>
            </a:r>
            <a:r>
              <a:rPr sz="1350" b="1">
                <a:solidFill>
                  <a:srgbClr val="FBFCFD"/>
                </a:solidFill>
              </a:rPr>
              <a:t>medida</a:t>
            </a:r>
            <a:r>
              <a:rPr sz="1350">
                <a:solidFill>
                  <a:srgbClr val="FBFCFD"/>
                </a:solidFill>
              </a:rPr>
              <a:t> por el trazador NREL con la </a:t>
            </a:r>
            <a:r>
              <a:rPr sz="1350" b="1">
                <a:solidFill>
                  <a:srgbClr val="FBFCFD"/>
                </a:solidFill>
              </a:rPr>
              <a:t>simulada</a:t>
            </a:r>
            <a:r>
              <a:rPr sz="1350">
                <a:solidFill>
                  <a:srgbClr val="FBFCFD"/>
                </a:solidFill>
              </a:rPr>
              <a:t> por el SDM bajo el mismo G y T</a:t>
            </a:r>
            <a:r>
              <a:rPr sz="950">
                <a:solidFill>
                  <a:srgbClr val="FBFCFD"/>
                </a:solidFill>
              </a:rPr>
              <a:t>c</a:t>
            </a:r>
            <a:r>
              <a:rPr sz="1350">
                <a:solidFill>
                  <a:srgbClr val="FBFCFD"/>
                </a:solidFill>
              </a:rPr>
              <a:t> del instante — no es una comparación entre sitios.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Fidelidad del circuito:</a:t>
            </a:r>
            <a:r>
              <a:rPr sz="1350">
                <a:solidFill>
                  <a:srgbClr val="FBFCFD"/>
                </a:solidFill>
              </a:rPr>
              <a:t> R² ≈ 0.99 confirma que los 5 parámetros extraídos reproducen el comportamiento eléctrico real en todo el rango.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Zonas de discrepancia:</a:t>
            </a:r>
            <a:r>
              <a:rPr sz="1350">
                <a:solidFill>
                  <a:srgbClr val="FBFCFD"/>
                </a:solidFill>
              </a:rPr>
              <a:t> leve dispersión a baja irradiancia por la idealización empírica de R</a:t>
            </a:r>
            <a:r>
              <a:rPr sz="950">
                <a:solidFill>
                  <a:srgbClr val="FBFCFD"/>
                </a:solidFill>
              </a:rPr>
              <a:t>sh</a:t>
            </a:r>
            <a:r>
              <a:rPr sz="1350">
                <a:solidFill>
                  <a:srgbClr val="FBFCFD"/>
                </a:solidFill>
              </a:rPr>
              <a:t> ∝ 1/G.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20/35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Desarrollo: Puntos Conflictivos — Acoplamiento R</a:t>
            </a:r>
            <a:r>
              <a:rPr sz="2100" b="1">
                <a:solidFill>
                  <a:srgbClr val="F1C40F"/>
                </a:solidFill>
              </a:rPr>
              <a:t>s</a:t>
            </a:r>
            <a:r>
              <a:rPr sz="2500" b="1">
                <a:solidFill>
                  <a:srgbClr val="F1C40F"/>
                </a:solidFill>
              </a:rPr>
              <a:t> – 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71"/>
                </a:solidFill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Acoplamiento R</a:t>
            </a:r>
            <a:r>
              <a:rPr sz="1400" b="1">
                <a:solidFill>
                  <a:srgbClr val="F1C40F"/>
                </a:solidFill>
              </a:rPr>
              <a:t>s</a:t>
            </a:r>
            <a:r>
              <a:rPr sz="1800" b="1">
                <a:solidFill>
                  <a:srgbClr val="F1C40F"/>
                </a:solidFill>
              </a:rPr>
              <a:t> – factor de idealidad 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Alta correlación paramétrica [De Soto et al., 2006]:</a:t>
            </a:r>
            <a:r>
              <a:rPr sz="1350">
                <a:solidFill>
                  <a:srgbClr val="FBFCFD"/>
                </a:solidFill>
              </a:rPr>
              <a:t> R</a:t>
            </a:r>
            <a:r>
              <a:rPr sz="950">
                <a:solidFill>
                  <a:srgbClr val="FBFCFD"/>
                </a:solidFill>
              </a:rPr>
              <a:t>s</a:t>
            </a:r>
            <a:r>
              <a:rPr sz="1350">
                <a:solidFill>
                  <a:srgbClr val="FBFCFD"/>
                </a:solidFill>
              </a:rPr>
              <a:t> y n influyen de manera similar en la curvatura de la I-V cerca del MPP.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Problema mal condicionado:</a:t>
            </a:r>
            <a:r>
              <a:rPr sz="1350">
                <a:solidFill>
                  <a:srgbClr val="FBFCFD"/>
                </a:solidFill>
              </a:rPr>
              <a:t> múltiples pares (R</a:t>
            </a:r>
            <a:r>
              <a:rPr sz="950">
                <a:solidFill>
                  <a:srgbClr val="FBFCFD"/>
                </a:solidFill>
              </a:rPr>
              <a:t>s</a:t>
            </a:r>
            <a:r>
              <a:rPr sz="1350">
                <a:solidFill>
                  <a:srgbClr val="FBFCFD"/>
                </a:solidFill>
              </a:rPr>
              <a:t>, n) logran un residuo mínimo casi idéntico, perdiendo significado físico.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Mitigación aplicada:</a:t>
            </a:r>
            <a:r>
              <a:rPr sz="1350">
                <a:solidFill>
                  <a:srgbClr val="FBFCFD"/>
                </a:solidFill>
              </a:rPr>
              <a:t> bounds estrictos en el optimizador — R</a:t>
            </a:r>
            <a:r>
              <a:rPr sz="950">
                <a:solidFill>
                  <a:srgbClr val="FBFCFD"/>
                </a:solidFill>
              </a:rPr>
              <a:t>s</a:t>
            </a:r>
            <a:r>
              <a:rPr sz="1350">
                <a:solidFill>
                  <a:srgbClr val="FBFCFD"/>
                </a:solidFill>
              </a:rPr>
              <a:t> ∈ [0.001, 2] Ω y n ∈ [1.0, 2.0] — más inicialización analítica. Esto evita converger a soluciones matemáticamente correctas pero físicamente imposibles.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Limitaciones y Suposiciones del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R</a:t>
            </a:r>
            <a:r>
              <a:rPr sz="950" b="1">
                <a:solidFill>
                  <a:srgbClr val="FBFCFD"/>
                </a:solidFill>
              </a:rPr>
              <a:t>sh</a:t>
            </a:r>
            <a:r>
              <a:rPr sz="1350" b="1">
                <a:solidFill>
                  <a:srgbClr val="FBFCFD"/>
                </a:solidFill>
              </a:rPr>
              <a:t> e irradiancia:</a:t>
            </a:r>
            <a:r>
              <a:rPr sz="1350">
                <a:solidFill>
                  <a:srgbClr val="FBFCFD"/>
                </a:solidFill>
              </a:rPr>
              <a:t> la relación R</a:t>
            </a:r>
            <a:r>
              <a:rPr sz="950">
                <a:solidFill>
                  <a:srgbClr val="FBFCFD"/>
                </a:solidFill>
              </a:rPr>
              <a:t>sh</a:t>
            </a:r>
            <a:r>
              <a:rPr sz="1350">
                <a:solidFill>
                  <a:srgbClr val="FBFCFD"/>
                </a:solidFill>
              </a:rPr>
              <a:t> = R</a:t>
            </a:r>
            <a:r>
              <a:rPr sz="950">
                <a:solidFill>
                  <a:srgbClr val="FBFCFD"/>
                </a:solidFill>
              </a:rPr>
              <a:t>sh,ref</a:t>
            </a:r>
            <a:r>
              <a:rPr sz="1350">
                <a:solidFill>
                  <a:srgbClr val="FBFCFD"/>
                </a:solidFill>
              </a:rPr>
              <a:t>·(S</a:t>
            </a:r>
            <a:r>
              <a:rPr sz="950">
                <a:solidFill>
                  <a:srgbClr val="FBFCFD"/>
                </a:solidFill>
              </a:rPr>
              <a:t>ref</a:t>
            </a:r>
            <a:r>
              <a:rPr sz="1350">
                <a:solidFill>
                  <a:srgbClr val="FBFCFD"/>
                </a:solidFill>
              </a:rPr>
              <a:t>/S) es empírica; a muy baja irradiancia puede sobreestimar la resistencia. Impacto: despreciable en el PR anual.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R</a:t>
            </a:r>
            <a:r>
              <a:rPr sz="950" b="1">
                <a:solidFill>
                  <a:srgbClr val="FBFCFD"/>
                </a:solidFill>
              </a:rPr>
              <a:t>s</a:t>
            </a:r>
            <a:r>
              <a:rPr sz="1350" b="1">
                <a:solidFill>
                  <a:srgbClr val="FBFCFD"/>
                </a:solidFill>
              </a:rPr>
              <a:t> constante con la temperatura:</a:t>
            </a:r>
            <a:r>
              <a:rPr sz="1350">
                <a:solidFill>
                  <a:srgbClr val="FBFCFD"/>
                </a:solidFill>
              </a:rPr>
              <a:t> ignora el cambio de resistividad del semiconductor con T</a:t>
            </a:r>
            <a:r>
              <a:rPr sz="950">
                <a:solidFill>
                  <a:srgbClr val="FBFCFD"/>
                </a:solidFill>
              </a:rPr>
              <a:t>c</a:t>
            </a:r>
            <a:r>
              <a:rPr sz="1350">
                <a:solidFill>
                  <a:srgbClr val="FBFCFD"/>
                </a:solidFill>
              </a:rPr>
              <a:t>. De Soto (2006) validó errores de potencia &lt; 2 % frente a datos NIST.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Bandgap lineal con la temperatura:</a:t>
            </a:r>
            <a:r>
              <a:rPr sz="1350">
                <a:solidFill>
                  <a:srgbClr val="FBFCFD"/>
                </a:solidFill>
              </a:rPr>
              <a:t> se asume dE</a:t>
            </a:r>
            <a:r>
              <a:rPr sz="950">
                <a:solidFill>
                  <a:srgbClr val="FBFCFD"/>
                </a:solidFill>
              </a:rPr>
              <a:t>g</a:t>
            </a:r>
            <a:r>
              <a:rPr sz="1350">
                <a:solidFill>
                  <a:srgbClr val="FBFCFD"/>
                </a:solidFill>
              </a:rPr>
              <a:t>/dT constante (−0.0002677 eV/K), simplificando la relación real de Varshni. Error inducido &lt; 1 % en el rango operacional (0–70 °C).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21/35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Desarrollo: Pérdidas Térmicas y Degradación de Potencia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71"/>
                </a:solidFill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766560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6492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Potencia normalizada vs Temperatura de Celda</a:t>
            </a:r>
          </a:p>
        </p:txBody>
      </p:sp>
      <p:pic>
        <p:nvPicPr>
          <p:cNvPr id="8" name="Picture 7" descr="degradacion_termi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217920" cy="36941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188720"/>
            <a:ext cx="4510735" cy="141732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188720"/>
            <a:ext cx="73152" cy="141732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280160"/>
            <a:ext cx="4236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Coeficientes de Temperatura (P</a:t>
            </a:r>
            <a:r>
              <a:rPr sz="1400" b="1">
                <a:solidFill>
                  <a:srgbClr val="F1C40F"/>
                </a:solidFill>
              </a:rPr>
              <a:t>mp</a:t>
            </a:r>
            <a:r>
              <a:rPr sz="1800" b="1">
                <a:solidFill>
                  <a:srgbClr val="F1C40F"/>
                </a:solidFill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773936"/>
            <a:ext cx="410839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m-Si: </a:t>
            </a:r>
            <a:r>
              <a:rPr sz="1400" b="1">
                <a:solidFill>
                  <a:srgbClr val="FBFCFD"/>
                </a:solidFill>
              </a:rPr>
              <a:t>−0.40 %/°C</a:t>
            </a:r>
            <a:r>
              <a:rPr sz="1400">
                <a:solidFill>
                  <a:srgbClr val="FBFCFD"/>
                </a:solidFill>
              </a:rPr>
              <a:t> (pérdidas severas)</a:t>
            </a: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HIT: </a:t>
            </a:r>
            <a:r>
              <a:rPr sz="1400" b="1">
                <a:solidFill>
                  <a:srgbClr val="FBFCFD"/>
                </a:solidFill>
              </a:rPr>
              <a:t>−0.26 %/°C</a:t>
            </a:r>
            <a:r>
              <a:rPr sz="1400">
                <a:solidFill>
                  <a:srgbClr val="FBFCFD"/>
                </a:solidFill>
              </a:rPr>
              <a:t> (alta tolerancia)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88920"/>
            <a:ext cx="4510735" cy="342900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2788920"/>
            <a:ext cx="73152" cy="3429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2880360"/>
            <a:ext cx="4236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Observación Científica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374136"/>
            <a:ext cx="4108399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HIT (naranja):</a:t>
            </a:r>
            <a:r>
              <a:rPr sz="1350">
                <a:solidFill>
                  <a:srgbClr val="FBFCFD"/>
                </a:solidFill>
              </a:rPr>
              <a:t> pendiente térmica suave — preserva alta conversión incluso a 65 °C.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m-Si (azul):</a:t>
            </a:r>
            <a:r>
              <a:rPr sz="1350">
                <a:solidFill>
                  <a:srgbClr val="FBFCFD"/>
                </a:solidFill>
              </a:rPr>
              <a:t> descenso pronunciado que penaliza la potencia justo al mediodía solar (máxima irradiancia).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Consecuencia:</a:t>
            </a:r>
            <a:r>
              <a:rPr sz="1350">
                <a:solidFill>
                  <a:srgbClr val="FBFCFD"/>
                </a:solidFill>
              </a:rPr>
              <a:t> esta divergencia térmica explica mecánicamente la brecha de PR anual entre tecnologías (Anexo VII, Lám. 34).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22/35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Desarrollo y discusión: Veredicto Técnico — Performance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71"/>
                </a:solidFill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13583" cy="1371600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1358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C40F"/>
                </a:solidFill>
              </a:rPr>
              <a:t>86.92 %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993392"/>
            <a:ext cx="2503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PR anual HIT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(mensual 84.9–89.4 %)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03" y="1188720"/>
            <a:ext cx="2613583" cy="1371600"/>
          </a:xfrm>
          <a:prstGeom prst="rect">
            <a:avLst/>
          </a:prstGeom>
          <a:solidFill>
            <a:srgbClr val="27313F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03" y="1298448"/>
            <a:ext cx="261358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D2FF"/>
                </a:solidFill>
              </a:rPr>
              <a:t>84.53 %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9967" y="1993392"/>
            <a:ext cx="2503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PR anual m-Si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(mensual 82.0–88.0 %)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5592927" cy="1371600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98648"/>
            <a:ext cx="55929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C71"/>
                </a:solidFill>
              </a:rPr>
              <a:t>+2.39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593592"/>
            <a:ext cx="548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ventaja neta de HIT en PR anual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89120"/>
            <a:ext cx="5592927" cy="17830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73152" cy="17830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4805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Lectura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74336"/>
            <a:ext cx="5190591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El menor coeficiente térmico de HIT (−0.26 vs −0.40 %/°C) protege la potencia justo cuando el recurso es máximo: el mediodía desértico.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PR mensual comparativo (2026)</a:t>
            </a:r>
          </a:p>
        </p:txBody>
      </p:sp>
      <p:pic>
        <p:nvPicPr>
          <p:cNvPr id="21" name="Picture 20" descr="pr_mensual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5" y="2377440"/>
            <a:ext cx="5349240" cy="2560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23/35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Desarrollo y discusión: Lectura Económica (Planta de 100 MWp)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71"/>
                </a:solidFill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37178" cy="1371600"/>
          </a:xfrm>
          <a:prstGeom prst="rect">
            <a:avLst/>
          </a:prstGeom>
          <a:solidFill>
            <a:srgbClr val="27313F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63717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C40F"/>
                </a:solidFill>
              </a:rPr>
              <a:t>~6,000 MWh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993392"/>
            <a:ext cx="3527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energía adicional anual de HIT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(recurso escalado a Atacama)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7258" y="1188720"/>
            <a:ext cx="3637178" cy="1371600"/>
          </a:xfrm>
          <a:prstGeom prst="rect">
            <a:avLst/>
          </a:prstGeom>
          <a:solidFill>
            <a:srgbClr val="27313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7258" y="1298448"/>
            <a:ext cx="363717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C71"/>
                </a:solidFill>
              </a:rPr>
              <a:t>+USD 270k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2122" y="1993392"/>
            <a:ext cx="3527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facturación neta anual extra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(a 45 USD/MWh)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8756" y="1188720"/>
            <a:ext cx="3637178" cy="1371600"/>
          </a:xfrm>
          <a:prstGeom prst="rect">
            <a:avLst/>
          </a:prstGeom>
          <a:solidFill>
            <a:srgbClr val="27313F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8756" y="1298448"/>
            <a:ext cx="363717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D2FF"/>
                </a:solidFill>
              </a:rPr>
              <a:t>~3,300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3620" y="1993392"/>
            <a:ext cx="3527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9AA5B1"/>
                </a:solidFill>
              </a:rPr>
              <a:t>escenario conservador con el</a:t>
            </a:r>
          </a:p>
          <a:p>
            <a:pPr algn="ctr"/>
            <a:r>
              <a:rPr sz="1250">
                <a:solidFill>
                  <a:srgbClr val="9AA5B1"/>
                </a:solidFill>
              </a:rPr>
              <a:t>recurso simulado sin escalar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5592927" cy="33832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73152" cy="33832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8803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Supuestos explícitos del cálculo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74136"/>
            <a:ext cx="5190591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</a:t>
            </a:r>
            <a:r>
              <a:rPr sz="1400" b="1">
                <a:solidFill>
                  <a:srgbClr val="FBFCFD"/>
                </a:solidFill>
              </a:rPr>
              <a:t>Recurso escalado:</a:t>
            </a:r>
            <a:r>
              <a:rPr sz="1400">
                <a:solidFill>
                  <a:srgbClr val="FBFCFD"/>
                </a:solidFill>
              </a:rPr>
              <a:t> POA ≈ 2,500 kWh/m²·año en Atacama (el recurso simulado conserva magnitudes de Florida: 1,363–1,422 kWh/m²·año).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ΔPR +2.39 pts → ≈ +60 kWh/kWp·año → </a:t>
            </a:r>
            <a:r>
              <a:rPr sz="1400" b="1">
                <a:solidFill>
                  <a:srgbClr val="FBFCFD"/>
                </a:solidFill>
              </a:rPr>
              <a:t>~6,000 MWh</a:t>
            </a:r>
            <a:r>
              <a:rPr sz="1400">
                <a:solidFill>
                  <a:srgbClr val="FBFCFD"/>
                </a:solidFill>
              </a:rPr>
              <a:t> en 100 MWp.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Precio de venta ≈ 45 USD/MWh → </a:t>
            </a:r>
            <a:r>
              <a:rPr sz="1400" b="1">
                <a:solidFill>
                  <a:srgbClr val="FBFCFD"/>
                </a:solidFill>
              </a:rPr>
              <a:t>~USD 270k/año</a:t>
            </a:r>
            <a:r>
              <a:rPr sz="1400">
                <a:solidFill>
                  <a:srgbClr val="FBFCFD"/>
                </a:solidFill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788920"/>
            <a:ext cx="5592927" cy="3383280"/>
          </a:xfrm>
          <a:prstGeom prst="rect">
            <a:avLst/>
          </a:prstGeom>
          <a:solidFill>
            <a:srgbClr val="1F283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788920"/>
            <a:ext cx="73152" cy="3383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28803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Conclusión de 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3374136"/>
            <a:ext cx="5190591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La prima CAPEX de los módulos HIT se </a:t>
            </a:r>
            <a:r>
              <a:rPr sz="1400" b="1">
                <a:solidFill>
                  <a:srgbClr val="FBFCFD"/>
                </a:solidFill>
              </a:rPr>
              <a:t>amortiza con holgura</a:t>
            </a:r>
            <a:r>
              <a:rPr sz="1400">
                <a:solidFill>
                  <a:srgbClr val="FBFCFD"/>
                </a:solidFill>
              </a:rPr>
              <a:t> en plantas desérticas de alta irradiancia y temperatura.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El beneficio crece con el recurso: a mayor POA real, mayor el valor absoluto de cada punto de PR.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FBFCFD"/>
                </a:solidFill>
              </a:rPr>
              <a:t>• Cifras conservadoras: sin escalar el recurso, ~3,300 MWh y ~USD 150k/año siguen favoreciendo a HIT.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24/35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d) Limitaciones del Estudio y Alcance de Validez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Limitaciones de los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Magnitudes de Florida:</a:t>
            </a:r>
            <a:r>
              <a:rPr sz="1350">
                <a:solidFill>
                  <a:srgbClr val="FBFCFD"/>
                </a:solidFill>
              </a:rPr>
              <a:t> la emulación alinea estaciones y geometría solar, pero la irradiancia, temperatura y humedad conservan los valores medidos en Cocoa (POA anual ≈ 1,400 kWh/m² vs ≳2,500 esperables en Atacama). La comparación m-Si vs HIT es válida; los valores absolutos de energía son conservadores.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Cobertura temporal:</a:t>
            </a:r>
            <a:r>
              <a:rPr sz="1350">
                <a:solidFill>
                  <a:srgbClr val="FBFCFD"/>
                </a:solidFill>
              </a:rPr>
              <a:t> cadencia 5 min, solo horas de sol; julio–septiembre 2026 promedian dos veranos (2011 y 2012).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α</a:t>
            </a:r>
            <a:r>
              <a:rPr sz="950" b="1">
                <a:solidFill>
                  <a:srgbClr val="FBFCFD"/>
                </a:solidFill>
              </a:rPr>
              <a:t>Isc</a:t>
            </a:r>
            <a:r>
              <a:rPr sz="1350" b="1">
                <a:solidFill>
                  <a:srgbClr val="FBFCFD"/>
                </a:solidFill>
              </a:rPr>
              <a:t> de literatura:</a:t>
            </a:r>
            <a:r>
              <a:rPr sz="1350">
                <a:solidFill>
                  <a:srgbClr val="FBFCFD"/>
                </a:solidFill>
              </a:rPr>
              <a:t> la regresión experimental falló (espectro/estacionalidad) y se usó +0.05 %/°C — impacto menor: la corriente domina por G, no por 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Limitaciones del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Sin pérdidas ópticas/espectrales:</a:t>
            </a:r>
            <a:r>
              <a:rPr sz="1350">
                <a:solidFill>
                  <a:srgbClr val="FBFCFD"/>
                </a:solidFill>
              </a:rPr>
              <a:t> IAM y corrección AM revisados pero no aplicados (Anexo II, Lám. 29) — su omisión sobreestima levemente la energía en ángulos rasantes (amanecer/ocaso).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Albedo fijo 0.25</a:t>
            </a:r>
            <a:r>
              <a:rPr sz="1350">
                <a:solidFill>
                  <a:srgbClr val="FBFCFD"/>
                </a:solidFill>
              </a:rPr>
              <a:t> (default pvlib) y </a:t>
            </a:r>
            <a:r>
              <a:rPr sz="1350" b="1">
                <a:solidFill>
                  <a:srgbClr val="FBFCFD"/>
                </a:solidFill>
              </a:rPr>
              <a:t>viento fijo 1 m/s</a:t>
            </a:r>
            <a:r>
              <a:rPr sz="1350">
                <a:solidFill>
                  <a:srgbClr val="FBFCFD"/>
                </a:solidFill>
              </a:rPr>
              <a:t> — escenario térmico conservador.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P</a:t>
            </a:r>
            <a:r>
              <a:rPr sz="950" b="1">
                <a:solidFill>
                  <a:srgbClr val="FBFCFD"/>
                </a:solidFill>
              </a:rPr>
              <a:t>STC</a:t>
            </a:r>
            <a:r>
              <a:rPr sz="1350" b="1">
                <a:solidFill>
                  <a:srgbClr val="FBFCFD"/>
                </a:solidFill>
              </a:rPr>
              <a:t> del SDM</a:t>
            </a:r>
            <a:r>
              <a:rPr sz="1350">
                <a:solidFill>
                  <a:srgbClr val="FBFCFD"/>
                </a:solidFill>
              </a:rPr>
              <a:t> (50.2 / 236.7 W) difiere ~7–9 % del promedio empírico medido (46.7 / 217.5 W): el denominador del PR usa el primero, criterio consistente entre ambas tecnologías.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Sin soiling ni mismatch:</a:t>
            </a:r>
            <a:r>
              <a:rPr sz="1350">
                <a:solidFill>
                  <a:srgbClr val="FBFCFD"/>
                </a:solidFill>
              </a:rPr>
              <a:t> pérdidas de planta real no modeladas — el PR aquí es un PR de módulo, no de planta.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25/35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e) Conclusiones y propuestas de trabajos futuros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Conclusiones del Estudio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1. </a:t>
            </a:r>
            <a:r>
              <a:rPr sz="1350" b="1">
                <a:solidFill>
                  <a:srgbClr val="FBFCFD"/>
                </a:solidFill>
              </a:rPr>
              <a:t>Fidelidad metodológica:</a:t>
            </a:r>
            <a:r>
              <a:rPr sz="1350">
                <a:solidFill>
                  <a:srgbClr val="FBFCFD"/>
                </a:solidFill>
              </a:rPr>
              <a:t> la emulación geográfica por traslación temporal (+6 meses, año 2026) mantuvo coherencia física de solsticios y permitió simular Atacama con datos experimentales reales.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2. </a:t>
            </a:r>
            <a:r>
              <a:rPr sz="1350" b="1">
                <a:solidFill>
                  <a:srgbClr val="FBFCFD"/>
                </a:solidFill>
              </a:rPr>
              <a:t>Pipeline de datos robusto:</a:t>
            </a:r>
            <a:r>
              <a:rPr sz="1350">
                <a:solidFill>
                  <a:srgbClr val="FBFCFD"/>
                </a:solidFill>
              </a:rPr>
              <a:t> la ingesta en streaming resolvió archivos irregulares de ~110 MB conservando el 97 % de los registros.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3. </a:t>
            </a:r>
            <a:r>
              <a:rPr sz="1350" b="1">
                <a:solidFill>
                  <a:srgbClr val="FBFCFD"/>
                </a:solidFill>
              </a:rPr>
              <a:t>Ajuste robusto:</a:t>
            </a:r>
            <a:r>
              <a:rPr sz="1350">
                <a:solidFill>
                  <a:srgbClr val="FBFCFD"/>
                </a:solidFill>
              </a:rPr>
              <a:t> el SDM de 5 parámetros reprodujo la potencia medida con R² ≈ 0.99 y RMSE ≈ 3 % de P</a:t>
            </a:r>
            <a:r>
              <a:rPr sz="950">
                <a:solidFill>
                  <a:srgbClr val="FBFCFD"/>
                </a:solidFill>
              </a:rPr>
              <a:t>STC</a:t>
            </a:r>
            <a:r>
              <a:rPr sz="1350">
                <a:solidFill>
                  <a:srgbClr val="FBFCFD"/>
                </a:solidFill>
              </a:rPr>
              <a:t>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4. </a:t>
            </a:r>
            <a:r>
              <a:rPr sz="1350" b="1">
                <a:solidFill>
                  <a:srgbClr val="FBFCFD"/>
                </a:solidFill>
              </a:rPr>
              <a:t>HIT vencedor:</a:t>
            </a:r>
            <a:r>
              <a:rPr sz="1350">
                <a:solidFill>
                  <a:srgbClr val="FBFCFD"/>
                </a:solidFill>
              </a:rPr>
              <a:t> +2.39 puntos de PR anual (86.92 % vs 84.53 %) por su menor coeficiente térmico — técnicamente superior para plantas desérticas de alta irradiancia y temperatura.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Propuestas de Trabajos Futuros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Aplicar IAM y corrección espectral AM</a:t>
            </a:r>
            <a:r>
              <a:rPr sz="1350">
                <a:solidFill>
                  <a:srgbClr val="FBFCFD"/>
                </a:solidFill>
              </a:rPr>
              <a:t> ya documentados (Anexo II, Lám. 29), cerrando la brecha óptica del pipeline actual.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Escalar el recurso a magnitudes de Atacama</a:t>
            </a:r>
            <a:r>
              <a:rPr sz="1350">
                <a:solidFill>
                  <a:srgbClr val="FBFCFD"/>
                </a:solidFill>
              </a:rPr>
              <a:t> (TMY local o Explorador Solar) manteniendo la validación eléctrica con datos NREL.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Bifacialidad:</a:t>
            </a:r>
            <a:r>
              <a:rPr sz="1350">
                <a:solidFill>
                  <a:srgbClr val="FBFCFD"/>
                </a:solidFill>
              </a:rPr>
              <a:t> aporte del albedo desértico (ρ &gt; 0.25) en la cara posterior.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Soiling desértico:</a:t>
            </a:r>
            <a:r>
              <a:rPr sz="1350">
                <a:solidFill>
                  <a:srgbClr val="FBFCFD"/>
                </a:solidFill>
              </a:rPr>
              <a:t> acumulación de polvo, factor crítico de pérdida en Atacama.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Modelo de doble diodo:</a:t>
            </a:r>
            <a:r>
              <a:rPr sz="1350">
                <a:solidFill>
                  <a:srgbClr val="FBFCFD"/>
                </a:solidFill>
              </a:rPr>
              <a:t> capturar recombinación no ideal a baja irradiancia.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26/35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5E3A"/>
                </a:solidFill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60175" cy="502920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5029200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Referencias Bibliográficas Estructuradas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11057839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1. De Soto, W., Klein, S.A., Beckman, W.A. (2006). "Improvement and validation of a model for photovoltaic array performance." Solar Energy 80, 78–88.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2. King, D.L., Boyson, W.E., Kratochvil, J.A. (2004). "Photovoltaic Array Performance Model." Sandia Report SAND2004-3535.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3. Marion, B. et al. (2014). "New Data Set for Validating PV Module Performance Models." NREL/CP-5J00-61610 — origen del dataset Cocoa.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4. Perez, R. et al. (1990). "Modeling daylight availability and irradiance components from direct and global irradiance." Solar Energy 44(5), 271–289.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5. Holmgren, W.F., Hansen, C.W., Mikofski, M.A. (2018). "pvlib python: a python package for modeling solar energy systems." JOSS 3(29), 884.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6. IEC 61724-1 — Photovoltaic system performance, Part 1: Monitoring.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450">
                <a:solidFill>
                  <a:srgbClr val="FBFCFD"/>
                </a:solidFill>
              </a:rPr>
              <a:t>Agradecimientos al Departamento de Electrotecnia de la UTFSM.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27/35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I: Transposición de Irradiancia al Plano del Arreglo (Perez)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Forma general de transposición POA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51905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BFCFD"/>
                </a:solidFill>
              </a:rPr>
              <a:t>Irradiancia incidente total en el plano inclinado del panel:</a:t>
            </a:r>
          </a:p>
        </p:txBody>
      </p:sp>
      <p:pic>
        <p:nvPicPr>
          <p:cNvPr id="9" name="Picture 8" descr="eq_34a27fedfee7a2c2a78d0d77e51fe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212080" cy="4409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291840"/>
            <a:ext cx="5190591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Donde: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G</a:t>
            </a:r>
            <a:r>
              <a:rPr sz="950">
                <a:solidFill>
                  <a:srgbClr val="F1C40F"/>
                </a:solidFill>
              </a:rPr>
              <a:t>b</a:t>
            </a:r>
            <a:r>
              <a:rPr sz="1350">
                <a:solidFill>
                  <a:srgbClr val="F1C40F"/>
                </a:solidFill>
              </a:rPr>
              <a:t> / G</a:t>
            </a:r>
            <a:r>
              <a:rPr sz="950">
                <a:solidFill>
                  <a:srgbClr val="F1C40F"/>
                </a:solidFill>
              </a:rPr>
              <a:t>d</a:t>
            </a:r>
            <a:r>
              <a:rPr sz="1350">
                <a:solidFill>
                  <a:srgbClr val="F1C40F"/>
                </a:solidFill>
              </a:rPr>
              <a:t> / G: irradiancia directa, difusa y global (W/m²).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β: inclinación del panel = 22.91° (latitud del sitio).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ρ: albedo = 0.25 (default </a:t>
            </a:r>
            <a:r>
              <a:rPr sz="1250">
                <a:solidFill>
                  <a:srgbClr val="7FDBFF"/>
                </a:solidFill>
                <a:latin typeface="Consolas"/>
              </a:rPr>
              <a:t>pvlib</a:t>
            </a:r>
            <a:r>
              <a:rPr sz="1350">
                <a:solidFill>
                  <a:srgbClr val="F1C40F"/>
                </a:solidFill>
              </a:rPr>
              <a:t>, suelo genérico).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R</a:t>
            </a:r>
            <a:r>
              <a:rPr sz="950">
                <a:solidFill>
                  <a:srgbClr val="F1C40F"/>
                </a:solidFill>
              </a:rPr>
              <a:t>beam</a:t>
            </a:r>
            <a:r>
              <a:rPr sz="1350">
                <a:solidFill>
                  <a:srgbClr val="F1C40F"/>
                </a:solidFill>
              </a:rPr>
              <a:t>: factor geométrico de transposición directa.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G</a:t>
            </a:r>
            <a:r>
              <a:rPr sz="950">
                <a:solidFill>
                  <a:srgbClr val="F1C40F"/>
                </a:solidFill>
              </a:rPr>
              <a:t>d,perez</a:t>
            </a:r>
            <a:r>
              <a:rPr sz="1350">
                <a:solidFill>
                  <a:srgbClr val="F1C40F"/>
                </a:solidFill>
              </a:rPr>
              <a:t>: difusa anisotrópica de Perez (circumsolar +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  brillo de horizonte), evaluada por </a:t>
            </a:r>
            <a:r>
              <a:rPr sz="1250">
                <a:solidFill>
                  <a:srgbClr val="7FDBFF"/>
                </a:solidFill>
                <a:latin typeface="Consolas"/>
              </a:rPr>
              <a:t>pvlib.get_total_irradiance</a:t>
            </a:r>
            <a:r>
              <a:rPr sz="1350">
                <a:solidFill>
                  <a:srgbClr val="F1C40F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Implementación en el código (Fase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1773936"/>
            <a:ext cx="5190591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250">
                <a:solidFill>
                  <a:srgbClr val="7FDBFF"/>
                </a:solidFill>
                <a:latin typeface="Consolas"/>
              </a:rPr>
              <a:t>location.get_solarposition(times)</a:t>
            </a:r>
            <a:r>
              <a:rPr sz="1350">
                <a:solidFill>
                  <a:srgbClr val="FBFCFD"/>
                </a:solidFill>
              </a:rPr>
              <a:t> → cenit y azimut aparentes del sol minuto de medición a medición.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250">
                <a:solidFill>
                  <a:srgbClr val="7FDBFF"/>
                </a:solidFill>
                <a:latin typeface="Consolas"/>
              </a:rPr>
              <a:t>irradiance.get_extra_radiation(times)</a:t>
            </a:r>
            <a:r>
              <a:rPr sz="1350">
                <a:solidFill>
                  <a:srgbClr val="FBFCFD"/>
                </a:solidFill>
              </a:rPr>
              <a:t> → irradiancia extraterrestre para el modelo anisotrópico.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250">
                <a:solidFill>
                  <a:srgbClr val="7FDBFF"/>
                </a:solidFill>
                <a:latin typeface="Consolas"/>
              </a:rPr>
              <a:t>irradiance.get_total_irradiance(tilt, az, dni, ghi, dhi, ..., model='perez')</a:t>
            </a:r>
            <a:r>
              <a:rPr sz="1350">
                <a:solidFill>
                  <a:srgbClr val="FBFCFD"/>
                </a:solidFill>
              </a:rPr>
              <a:t> → componente directa + difusa Perez + reflejada.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Salida: </a:t>
            </a:r>
            <a:r>
              <a:rPr sz="1250">
                <a:solidFill>
                  <a:srgbClr val="7FDBFF"/>
                </a:solidFill>
                <a:latin typeface="Consolas"/>
              </a:rPr>
              <a:t>poa_global</a:t>
            </a:r>
            <a:r>
              <a:rPr sz="1350">
                <a:solidFill>
                  <a:srgbClr val="FBFCFD"/>
                </a:solidFill>
              </a:rPr>
              <a:t> con </a:t>
            </a:r>
            <a:r>
              <a:rPr sz="1250">
                <a:solidFill>
                  <a:srgbClr val="7FDBFF"/>
                </a:solidFill>
                <a:latin typeface="Consolas"/>
              </a:rPr>
              <a:t>clip(≥0)</a:t>
            </a:r>
            <a:r>
              <a:rPr sz="1350">
                <a:solidFill>
                  <a:srgbClr val="FBFCFD"/>
                </a:solidFill>
              </a:rPr>
              <a:t>, usada como irradiancia efectiva del SDM (sin modificadores ópticos — ver Anexo II).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28/35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II: Marco NO Aplicado — Modificadores Ópticos (IAM y 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20624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206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Modificador por Ángulo de Incidencia (IAM)</a:t>
            </a:r>
          </a:p>
        </p:txBody>
      </p:sp>
      <p:pic>
        <p:nvPicPr>
          <p:cNvPr id="8" name="Picture 7" descr="eq_6d1f128b42756e4b62f3832c66bdf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20"/>
            <a:ext cx="1508760" cy="502920"/>
          </a:xfrm>
          <a:prstGeom prst="rect">
            <a:avLst/>
          </a:prstGeom>
        </p:spPr>
      </p:pic>
      <p:pic>
        <p:nvPicPr>
          <p:cNvPr id="9" name="Picture 8" descr="eq_05c0d40bcefca9e6b7f6d6b4747f15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5120640" cy="530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657600"/>
            <a:ext cx="519059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Ley de Snell y Bouguer [King et al., 2004]: θ</a:t>
            </a:r>
            <a:r>
              <a:rPr sz="950">
                <a:solidFill>
                  <a:srgbClr val="F1C40F"/>
                </a:solidFill>
              </a:rPr>
              <a:t>r</a:t>
            </a:r>
            <a:r>
              <a:rPr sz="1350">
                <a:solidFill>
                  <a:srgbClr val="F1C40F"/>
                </a:solidFill>
              </a:rPr>
              <a:t> = arcsin(sin θ / n), con n = 1.526 (vidrio), K = 4 m⁻¹, L = 2 mm.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188720"/>
            <a:ext cx="5592927" cy="4206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188720"/>
            <a:ext cx="73152" cy="42062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Modificador Espectral por Masa de Aire (AM)</a:t>
            </a:r>
          </a:p>
        </p:txBody>
      </p:sp>
      <p:pic>
        <p:nvPicPr>
          <p:cNvPr id="14" name="Picture 13" descr="eq_8c47f14bda4c8f75af6f3f5dbfb9d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7" y="1920240"/>
            <a:ext cx="5120640" cy="381646"/>
          </a:xfrm>
          <a:prstGeom prst="rect">
            <a:avLst/>
          </a:prstGeom>
        </p:spPr>
      </p:pic>
      <p:pic>
        <p:nvPicPr>
          <p:cNvPr id="15" name="Picture 14" descr="eq_7f75a176eace2517bd6e8174171b3b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7" y="2651760"/>
            <a:ext cx="4864666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4175" y="3657600"/>
            <a:ext cx="519059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Corrige el desajuste espectral según la atmósfera atravesada; a</a:t>
            </a:r>
            <a:r>
              <a:rPr sz="950">
                <a:solidFill>
                  <a:srgbClr val="F1C40F"/>
                </a:solidFill>
              </a:rPr>
              <a:t>0</a:t>
            </a:r>
            <a:r>
              <a:rPr sz="1350">
                <a:solidFill>
                  <a:srgbClr val="F1C40F"/>
                </a:solidFill>
              </a:rPr>
              <a:t>…a</a:t>
            </a:r>
            <a:r>
              <a:rPr sz="950">
                <a:solidFill>
                  <a:srgbClr val="F1C40F"/>
                </a:solidFill>
              </a:rPr>
              <a:t>4</a:t>
            </a:r>
            <a:r>
              <a:rPr sz="1350">
                <a:solidFill>
                  <a:srgbClr val="F1C40F"/>
                </a:solidFill>
              </a:rPr>
              <a:t> son coeficientes empíricos de cada celda [King et al., 2004].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32120"/>
            <a:ext cx="11460175" cy="868680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05272"/>
            <a:ext cx="11094415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BFCFD"/>
                </a:solidFill>
              </a:rPr>
              <a:t>Estado en este estudio:</a:t>
            </a:r>
            <a:r>
              <a:rPr sz="1400">
                <a:solidFill>
                  <a:srgbClr val="FBFCFD"/>
                </a:solidFill>
              </a:rPr>
              <a:t> ecuaciones revisadas en la literatura pero </a:t>
            </a:r>
            <a:r>
              <a:rPr sz="1400" b="1">
                <a:solidFill>
                  <a:srgbClr val="FBFCFD"/>
                </a:solidFill>
              </a:rPr>
              <a:t>no ejecutadas por el pipeline</a:t>
            </a:r>
            <a:r>
              <a:rPr sz="1400">
                <a:solidFill>
                  <a:srgbClr val="FBFCFD"/>
                </a:solidFill>
              </a:rPr>
              <a:t> (la POA de Perez ingresa directa al SDM). Su incorporación es la primera propuesta de trabajo futuro — la omisión sobreestima levemente la energía en ángulos de incidencia rasantes.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29/35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III: Ecuaciones del Perfil Térmico (Modelo Sandia SAPM)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60175" cy="17830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783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Ecuación de Sandia para Temperatura de Celda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BFCFD"/>
                </a:solidFill>
              </a:rPr>
              <a:t>La temperatura de la celda se modela a partir del equilibrio térmico dinámico:</a:t>
            </a:r>
          </a:p>
        </p:txBody>
      </p:sp>
      <p:pic>
        <p:nvPicPr>
          <p:cNvPr id="9" name="Picture 8" descr="eq_704d169f7e3e195596ba91234cd748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48840"/>
            <a:ext cx="5486400" cy="5593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3154680"/>
            <a:ext cx="5592927" cy="301752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73152" cy="3017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24612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Glosario de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39896"/>
            <a:ext cx="5190591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T</a:t>
            </a:r>
            <a:r>
              <a:rPr sz="950">
                <a:solidFill>
                  <a:srgbClr val="FBFCFD"/>
                </a:solidFill>
              </a:rPr>
              <a:t>c</a:t>
            </a:r>
            <a:r>
              <a:rPr sz="1350">
                <a:solidFill>
                  <a:srgbClr val="FBFCFD"/>
                </a:solidFill>
              </a:rPr>
              <a:t> / T</a:t>
            </a:r>
            <a:r>
              <a:rPr sz="950">
                <a:solidFill>
                  <a:srgbClr val="FBFCFD"/>
                </a:solidFill>
              </a:rPr>
              <a:t>a</a:t>
            </a:r>
            <a:r>
              <a:rPr sz="1350">
                <a:solidFill>
                  <a:srgbClr val="FBFCFD"/>
                </a:solidFill>
              </a:rPr>
              <a:t>: temperatura de celda y ambiente (°C).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G</a:t>
            </a:r>
            <a:r>
              <a:rPr sz="950">
                <a:solidFill>
                  <a:srgbClr val="FBFCFD"/>
                </a:solidFill>
              </a:rPr>
              <a:t>poa</a:t>
            </a:r>
            <a:r>
              <a:rPr sz="1350">
                <a:solidFill>
                  <a:srgbClr val="FBFCFD"/>
                </a:solidFill>
              </a:rPr>
              <a:t>: irradiancia total en el plano del panel (W/m²).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v</a:t>
            </a:r>
            <a:r>
              <a:rPr sz="950">
                <a:solidFill>
                  <a:srgbClr val="FBFCFD"/>
                </a:solidFill>
              </a:rPr>
              <a:t>w</a:t>
            </a:r>
            <a:r>
              <a:rPr sz="1350">
                <a:solidFill>
                  <a:srgbClr val="FBFCFD"/>
                </a:solidFill>
              </a:rPr>
              <a:t>: velocidad de viento (fijada en 1 m/s).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a, b, ΔT: parámetros empíricos del encapsulado/montaje.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3154680"/>
            <a:ext cx="5592927" cy="301752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3154680"/>
            <a:ext cx="73152" cy="3017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324612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Coeficientes Empíricos Utilizados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3739896"/>
            <a:ext cx="5190591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m-Si — </a:t>
            </a:r>
            <a:r>
              <a:rPr sz="1250">
                <a:solidFill>
                  <a:srgbClr val="7FDBFF"/>
                </a:solidFill>
                <a:latin typeface="Consolas"/>
              </a:rPr>
              <a:t>open_rack_glass_polymer</a:t>
            </a:r>
            <a:r>
              <a:rPr sz="1350">
                <a:solidFill>
                  <a:srgbClr val="FBFCFD"/>
                </a:solidFill>
              </a:rPr>
              <a:t>: a = −3.56 · b = −0.075 · ΔT = 3.0 °C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HIT — </a:t>
            </a:r>
            <a:r>
              <a:rPr sz="1250">
                <a:solidFill>
                  <a:srgbClr val="7FDBFF"/>
                </a:solidFill>
                <a:latin typeface="Consolas"/>
              </a:rPr>
              <a:t>open_rack_glass_glass</a:t>
            </a:r>
            <a:r>
              <a:rPr sz="1350">
                <a:solidFill>
                  <a:srgbClr val="FBFCFD"/>
                </a:solidFill>
              </a:rPr>
              <a:t>: a = −3.47 · b = −0.059 · ΔT = 3.0 °C</a:t>
            </a:r>
          </a:p>
          <a:p>
            <a:pPr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  <a:r>
              <a:rPr sz="1350" b="1">
                <a:solidFill>
                  <a:srgbClr val="FBFCFD"/>
                </a:solidFill>
              </a:rPr>
              <a:t>Fuente:</a:t>
            </a:r>
            <a:r>
              <a:rPr sz="1350">
                <a:solidFill>
                  <a:srgbClr val="FBFCFD"/>
                </a:solidFill>
              </a:rPr>
              <a:t> </a:t>
            </a:r>
            <a:r>
              <a:rPr sz="1250">
                <a:solidFill>
                  <a:srgbClr val="7FDBFF"/>
                </a:solidFill>
                <a:latin typeface="Consolas"/>
              </a:rPr>
              <a:t>pvlib.temperature.TEMPERATURE_MODEL_PARAMETERS['sapm']</a:t>
            </a:r>
            <a:r>
              <a:rPr sz="1350">
                <a:solidFill>
                  <a:srgbClr val="FBFCFD"/>
                </a:solidFill>
              </a:rPr>
              <a:t> — base interna validada por Sandia NL [King et al., 2004].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30/35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IV: Ecuaciones del Modelo Eléctrico de un Diodo (SDM)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60175" cy="17830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783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Ecuación Trascendental del Circuito Equivalente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BFCFD"/>
                </a:solidFill>
              </a:rPr>
              <a:t>Corriente implícita del modelo de diodo simple con resistencias parásitas (resuelta con la función W de Lambert en </a:t>
            </a:r>
            <a:r>
              <a:rPr sz="1200">
                <a:solidFill>
                  <a:srgbClr val="7FDBFF"/>
                </a:solidFill>
                <a:latin typeface="Consolas"/>
              </a:rPr>
              <a:t>pvlib.singlediode</a:t>
            </a:r>
            <a:r>
              <a:rPr sz="1300">
                <a:solidFill>
                  <a:srgbClr val="FBFCFD"/>
                </a:solidFill>
              </a:rPr>
              <a:t>):</a:t>
            </a:r>
          </a:p>
        </p:txBody>
      </p:sp>
      <p:pic>
        <p:nvPicPr>
          <p:cNvPr id="9" name="Picture 8" descr="eq_9187b8843e3d4b8f8620299d51df3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94560"/>
            <a:ext cx="5669280" cy="5610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3154680"/>
            <a:ext cx="5592927" cy="301752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73152" cy="3017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24612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Factor de Idealidad Térmico (a)</a:t>
            </a:r>
          </a:p>
        </p:txBody>
      </p:sp>
      <p:pic>
        <p:nvPicPr>
          <p:cNvPr id="13" name="Picture 12" descr="eq_5faa374cb63d0aab8055d34ee94f84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1858034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709160"/>
            <a:ext cx="519059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N</a:t>
            </a:r>
            <a:r>
              <a:rPr sz="950">
                <a:solidFill>
                  <a:srgbClr val="F1C40F"/>
                </a:solidFill>
              </a:rPr>
              <a:t>s</a:t>
            </a:r>
            <a:r>
              <a:rPr sz="1350">
                <a:solidFill>
                  <a:srgbClr val="F1C40F"/>
                </a:solidFill>
              </a:rPr>
              <a:t>: celdas en serie (m-Si: 36, HIT: 72).</a:t>
            </a:r>
          </a:p>
          <a:p>
            <a:pPr algn="l">
              <a:lnSpc>
                <a:spcPct val="115000"/>
              </a:lnSpc>
            </a:pPr>
            <a:r>
              <a:rPr sz="1350">
                <a:solidFill>
                  <a:srgbClr val="F1C40F"/>
                </a:solidFill>
              </a:rPr>
              <a:t>• n</a:t>
            </a:r>
            <a:r>
              <a:rPr sz="950">
                <a:solidFill>
                  <a:srgbClr val="F1C40F"/>
                </a:solidFill>
              </a:rPr>
              <a:t>I</a:t>
            </a:r>
            <a:r>
              <a:rPr sz="1350">
                <a:solidFill>
                  <a:srgbClr val="F1C40F"/>
                </a:solidFill>
              </a:rPr>
              <a:t>: factor de idealidad del diodo, acotado a [1, 2].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3154680"/>
            <a:ext cx="5592927" cy="301752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3154680"/>
            <a:ext cx="73152" cy="3017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599" y="324612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Glosario de Parámetros Físicos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3739896"/>
            <a:ext cx="5190591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I / V: corriente y voltaje de salida (A, V).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I</a:t>
            </a:r>
            <a:r>
              <a:rPr sz="950">
                <a:solidFill>
                  <a:srgbClr val="FBFCFD"/>
                </a:solidFill>
              </a:rPr>
              <a:t>L</a:t>
            </a:r>
            <a:r>
              <a:rPr sz="1350">
                <a:solidFill>
                  <a:srgbClr val="FBFCFD"/>
                </a:solidFill>
              </a:rPr>
              <a:t>: corriente fotogenerada (A).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I</a:t>
            </a:r>
            <a:r>
              <a:rPr sz="950">
                <a:solidFill>
                  <a:srgbClr val="FBFCFD"/>
                </a:solidFill>
              </a:rPr>
              <a:t>0</a:t>
            </a:r>
            <a:r>
              <a:rPr sz="1350">
                <a:solidFill>
                  <a:srgbClr val="FBFCFD"/>
                </a:solidFill>
              </a:rPr>
              <a:t>: corriente de saturación inversa de la unión P-N (A).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R</a:t>
            </a:r>
            <a:r>
              <a:rPr sz="950">
                <a:solidFill>
                  <a:srgbClr val="FBFCFD"/>
                </a:solidFill>
              </a:rPr>
              <a:t>s</a:t>
            </a:r>
            <a:r>
              <a:rPr sz="1350">
                <a:solidFill>
                  <a:srgbClr val="FBFCFD"/>
                </a:solidFill>
              </a:rPr>
              <a:t> / R</a:t>
            </a:r>
            <a:r>
              <a:rPr sz="950">
                <a:solidFill>
                  <a:srgbClr val="FBFCFD"/>
                </a:solidFill>
              </a:rPr>
              <a:t>sh</a:t>
            </a:r>
            <a:r>
              <a:rPr sz="1350">
                <a:solidFill>
                  <a:srgbClr val="FBFCFD"/>
                </a:solidFill>
              </a:rPr>
              <a:t>: resistencias parásitas serie y shunt (Ω).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k / q / T</a:t>
            </a:r>
            <a:r>
              <a:rPr sz="950">
                <a:solidFill>
                  <a:srgbClr val="FBFCFD"/>
                </a:solidFill>
              </a:rPr>
              <a:t>c</a:t>
            </a:r>
            <a:r>
              <a:rPr sz="1350">
                <a:solidFill>
                  <a:srgbClr val="FBFCFD"/>
                </a:solidFill>
              </a:rPr>
              <a:t>: constante de Boltzmann, carga elemental y temperatura de celda (K).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31/35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V: Extracción en STC — Ajuste Numérico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Normalización de mediciones a SRC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1905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BFCFD"/>
                </a:solidFill>
              </a:rPr>
              <a:t>Cada punto en la ventana 900–1100 W/m² se traslada a 1000 W/m² y 25 °C:</a:t>
            </a:r>
          </a:p>
        </p:txBody>
      </p:sp>
      <p:pic>
        <p:nvPicPr>
          <p:cNvPr id="9" name="Picture 8" descr="eq_61c29d2065817a3e119589d9276cef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4747714" cy="502920"/>
          </a:xfrm>
          <a:prstGeom prst="rect">
            <a:avLst/>
          </a:prstGeom>
        </p:spPr>
      </p:pic>
      <p:pic>
        <p:nvPicPr>
          <p:cNvPr id="10" name="Picture 9" descr="eq_97d29c326b2707a2df1d24e28c71a6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39"/>
            <a:ext cx="4937760" cy="50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3794760"/>
            <a:ext cx="519059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β</a:t>
            </a:r>
            <a:r>
              <a:rPr sz="950">
                <a:solidFill>
                  <a:srgbClr val="F1C40F"/>
                </a:solidFill>
              </a:rPr>
              <a:t>Voc</a:t>
            </a:r>
            <a:r>
              <a:rPr sz="1350">
                <a:solidFill>
                  <a:srgbClr val="F1C40F"/>
                </a:solidFill>
              </a:rPr>
              <a:t>: regresión lineal V</a:t>
            </a:r>
            <a:r>
              <a:rPr sz="950">
                <a:solidFill>
                  <a:srgbClr val="F1C40F"/>
                </a:solidFill>
              </a:rPr>
              <a:t>oc</a:t>
            </a:r>
            <a:r>
              <a:rPr sz="1350">
                <a:solidFill>
                  <a:srgbClr val="F1C40F"/>
                </a:solidFill>
              </a:rPr>
              <a:t> vs T</a:t>
            </a:r>
            <a:r>
              <a:rPr sz="950">
                <a:solidFill>
                  <a:srgbClr val="F1C40F"/>
                </a:solidFill>
              </a:rPr>
              <a:t>c</a:t>
            </a:r>
            <a:r>
              <a:rPr sz="1350">
                <a:solidFill>
                  <a:srgbClr val="F1C40F"/>
                </a:solidFill>
              </a:rPr>
              <a:t> (ventana 800–1200 W/m²).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α</a:t>
            </a:r>
            <a:r>
              <a:rPr sz="950">
                <a:solidFill>
                  <a:srgbClr val="F1C40F"/>
                </a:solidFill>
              </a:rPr>
              <a:t>Isc</a:t>
            </a:r>
            <a:r>
              <a:rPr sz="1350">
                <a:solidFill>
                  <a:srgbClr val="F1C40F"/>
                </a:solidFill>
              </a:rPr>
              <a:t>: la regresión resultó negativa → resguardo físico +0.05 %/°C de literatura.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Promedios de la ventana → I</a:t>
            </a:r>
            <a:r>
              <a:rPr sz="950">
                <a:solidFill>
                  <a:srgbClr val="F1C40F"/>
                </a:solidFill>
              </a:rPr>
              <a:t>sc,ref</a:t>
            </a:r>
            <a:r>
              <a:rPr sz="1350">
                <a:solidFill>
                  <a:srgbClr val="F1C40F"/>
                </a:solidFill>
              </a:rPr>
              <a:t>, V</a:t>
            </a:r>
            <a:r>
              <a:rPr sz="950">
                <a:solidFill>
                  <a:srgbClr val="F1C40F"/>
                </a:solidFill>
              </a:rPr>
              <a:t>oc,ref</a:t>
            </a:r>
            <a:r>
              <a:rPr sz="1350">
                <a:solidFill>
                  <a:srgbClr val="F1C40F"/>
                </a:solidFill>
              </a:rPr>
              <a:t>, I</a:t>
            </a:r>
            <a:r>
              <a:rPr sz="950">
                <a:solidFill>
                  <a:srgbClr val="F1C40F"/>
                </a:solidFill>
              </a:rPr>
              <a:t>mp,ref</a:t>
            </a:r>
            <a:r>
              <a:rPr sz="1350">
                <a:solidFill>
                  <a:srgbClr val="F1C40F"/>
                </a:solidFill>
              </a:rPr>
              <a:t>, V</a:t>
            </a:r>
            <a:r>
              <a:rPr sz="950">
                <a:solidFill>
                  <a:srgbClr val="F1C40F"/>
                </a:solidFill>
              </a:rPr>
              <a:t>mp,ref</a:t>
            </a:r>
            <a:r>
              <a:rPr sz="1350">
                <a:solidFill>
                  <a:srgbClr val="F1C40F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Ajuste de los 5 parámetros (lo que ejecuta el código)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1737360"/>
            <a:ext cx="519059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7FDBFF"/>
                </a:solidFill>
                <a:latin typeface="Consolas"/>
              </a:rPr>
              <a:t>scipy.optimize.minimize</a:t>
            </a:r>
            <a:r>
              <a:rPr sz="1250">
                <a:solidFill>
                  <a:srgbClr val="FBFCFD"/>
                </a:solidFill>
              </a:rPr>
              <a:t> sobre el residuo cuadrático de las 3 condiciones del SDM en SRC:</a:t>
            </a:r>
          </a:p>
        </p:txBody>
      </p:sp>
      <p:pic>
        <p:nvPicPr>
          <p:cNvPr id="16" name="Picture 15" descr="eq_b3adc907d5023ff754837ebeedf507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7" y="2423160"/>
            <a:ext cx="4052003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34175" y="3246120"/>
            <a:ext cx="5190591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F1C40F"/>
                </a:solidFill>
              </a:rPr>
              <a:t>• e</a:t>
            </a:r>
            <a:r>
              <a:rPr sz="800">
                <a:solidFill>
                  <a:srgbClr val="F1C40F"/>
                </a:solidFill>
              </a:rPr>
              <a:t>Voc</a:t>
            </a:r>
            <a:r>
              <a:rPr sz="1200">
                <a:solidFill>
                  <a:srgbClr val="F1C40F"/>
                </a:solidFill>
              </a:rPr>
              <a:t>: corriente nula en circuito abierto.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F1C40F"/>
                </a:solidFill>
              </a:rPr>
              <a:t>• e</a:t>
            </a:r>
            <a:r>
              <a:rPr sz="800">
                <a:solidFill>
                  <a:srgbClr val="F1C40F"/>
                </a:solidFill>
              </a:rPr>
              <a:t>Isc</a:t>
            </a:r>
            <a:r>
              <a:rPr sz="1200">
                <a:solidFill>
                  <a:srgbClr val="F1C40F"/>
                </a:solidFill>
              </a:rPr>
              <a:t>: corriente de cortocircuito reproducida.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F1C40F"/>
                </a:solidFill>
              </a:rPr>
              <a:t>• e</a:t>
            </a:r>
            <a:r>
              <a:rPr sz="800">
                <a:solidFill>
                  <a:srgbClr val="F1C40F"/>
                </a:solidFill>
              </a:rPr>
              <a:t>MPP</a:t>
            </a:r>
            <a:r>
              <a:rPr sz="1200">
                <a:solidFill>
                  <a:srgbClr val="F1C40F"/>
                </a:solidFill>
              </a:rPr>
              <a:t>: corriente correcta en (V</a:t>
            </a:r>
            <a:r>
              <a:rPr sz="800">
                <a:solidFill>
                  <a:srgbClr val="F1C40F"/>
                </a:solidFill>
              </a:rPr>
              <a:t>mp</a:t>
            </a:r>
            <a:r>
              <a:rPr sz="1200">
                <a:solidFill>
                  <a:srgbClr val="F1C40F"/>
                </a:solidFill>
              </a:rPr>
              <a:t>, I</a:t>
            </a:r>
            <a:r>
              <a:rPr sz="800">
                <a:solidFill>
                  <a:srgbClr val="F1C40F"/>
                </a:solidFill>
              </a:rPr>
              <a:t>mp</a:t>
            </a:r>
            <a:r>
              <a:rPr sz="1200">
                <a:solidFill>
                  <a:srgbClr val="F1C40F"/>
                </a:solidFill>
              </a:rPr>
              <a:t>).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F1C40F"/>
                </a:solidFill>
              </a:rPr>
              <a:t>Regularización física (bounds):</a:t>
            </a:r>
            <a:r>
              <a:rPr sz="1200">
                <a:solidFill>
                  <a:srgbClr val="F1C40F"/>
                </a:solidFill>
              </a:rPr>
              <a:t> R</a:t>
            </a:r>
            <a:r>
              <a:rPr sz="800">
                <a:solidFill>
                  <a:srgbClr val="F1C40F"/>
                </a:solidFill>
              </a:rPr>
              <a:t>s</a:t>
            </a:r>
            <a:r>
              <a:rPr sz="1200">
                <a:solidFill>
                  <a:srgbClr val="F1C40F"/>
                </a:solidFill>
              </a:rPr>
              <a:t> ∈ [0.001, 2] Ω · R</a:t>
            </a:r>
            <a:r>
              <a:rPr sz="800">
                <a:solidFill>
                  <a:srgbClr val="F1C40F"/>
                </a:solidFill>
              </a:rPr>
              <a:t>sh</a:t>
            </a:r>
            <a:r>
              <a:rPr sz="1200">
                <a:solidFill>
                  <a:srgbClr val="F1C40F"/>
                </a:solidFill>
              </a:rPr>
              <a:t> ∈ [100, 10⁴] Ω · n</a:t>
            </a:r>
            <a:r>
              <a:rPr sz="800">
                <a:solidFill>
                  <a:srgbClr val="F1C40F"/>
                </a:solidFill>
              </a:rPr>
              <a:t>I</a:t>
            </a:r>
            <a:r>
              <a:rPr sz="1200">
                <a:solidFill>
                  <a:srgbClr val="F1C40F"/>
                </a:solidFill>
              </a:rPr>
              <a:t> ∈ [1, 2] · I</a:t>
            </a:r>
            <a:r>
              <a:rPr sz="800">
                <a:solidFill>
                  <a:srgbClr val="F1C40F"/>
                </a:solidFill>
              </a:rPr>
              <a:t>L</a:t>
            </a:r>
            <a:r>
              <a:rPr sz="1200">
                <a:solidFill>
                  <a:srgbClr val="F1C40F"/>
                </a:solidFill>
              </a:rPr>
              <a:t> ± 10 % · I</a:t>
            </a:r>
            <a:r>
              <a:rPr sz="800">
                <a:solidFill>
                  <a:srgbClr val="F1C40F"/>
                </a:solidFill>
              </a:rPr>
              <a:t>0</a:t>
            </a:r>
            <a:r>
              <a:rPr sz="1200">
                <a:solidFill>
                  <a:srgbClr val="F1C40F"/>
                </a:solidFill>
              </a:rPr>
              <a:t> ∈ [10⁻¹², 10⁻⁵] A.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F1C40F"/>
                </a:solidFill>
              </a:rPr>
              <a:t>Inicialización analítica:</a:t>
            </a:r>
            <a:r>
              <a:rPr sz="1200">
                <a:solidFill>
                  <a:srgbClr val="F1C40F"/>
                </a:solidFill>
              </a:rPr>
              <a:t> a₀ = N</a:t>
            </a:r>
            <a:r>
              <a:rPr sz="800">
                <a:solidFill>
                  <a:srgbClr val="F1C40F"/>
                </a:solidFill>
              </a:rPr>
              <a:t>s</a:t>
            </a:r>
            <a:r>
              <a:rPr sz="1200">
                <a:solidFill>
                  <a:srgbClr val="F1C40F"/>
                </a:solidFill>
              </a:rPr>
              <a:t>·1.2·kT/q; I</a:t>
            </a:r>
            <a:r>
              <a:rPr sz="800">
                <a:solidFill>
                  <a:srgbClr val="F1C40F"/>
                </a:solidFill>
              </a:rPr>
              <a:t>0,0</a:t>
            </a:r>
            <a:r>
              <a:rPr sz="1200">
                <a:solidFill>
                  <a:srgbClr val="F1C40F"/>
                </a:solidFill>
              </a:rPr>
              <a:t> = I</a:t>
            </a:r>
            <a:r>
              <a:rPr sz="800">
                <a:solidFill>
                  <a:srgbClr val="F1C40F"/>
                </a:solidFill>
              </a:rPr>
              <a:t>sc</a:t>
            </a:r>
            <a:r>
              <a:rPr sz="1200">
                <a:solidFill>
                  <a:srgbClr val="F1C40F"/>
                </a:solidFill>
              </a:rPr>
              <a:t>·exp(−V</a:t>
            </a:r>
            <a:r>
              <a:rPr sz="800">
                <a:solidFill>
                  <a:srgbClr val="F1C40F"/>
                </a:solidFill>
              </a:rPr>
              <a:t>oc</a:t>
            </a:r>
            <a:r>
              <a:rPr sz="1200">
                <a:solidFill>
                  <a:srgbClr val="F1C40F"/>
                </a:solidFill>
              </a:rPr>
              <a:t>/a₀).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F1C40F"/>
                </a:solidFill>
              </a:rPr>
              <a:t>Sistema de 3 ecuaciones y 5 incógnitas: la unicidad la aportan los bounds + inicialización, no una derivada analítica.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32/35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VI: Escalamiento a Condiciones de Operación (De Soto)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4983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Corrientes y Factor de Idealidad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19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BFCFD"/>
                </a:solidFill>
              </a:rPr>
              <a:t>1. Corriente fotogenerada (I</a:t>
            </a:r>
            <a:r>
              <a:rPr sz="850">
                <a:solidFill>
                  <a:srgbClr val="FBFCFD"/>
                </a:solidFill>
              </a:rPr>
              <a:t>L</a:t>
            </a:r>
            <a:r>
              <a:rPr sz="1250">
                <a:solidFill>
                  <a:srgbClr val="FBFCFD"/>
                </a:solidFill>
              </a:rPr>
              <a:t>):</a:t>
            </a:r>
          </a:p>
        </p:txBody>
      </p:sp>
      <p:pic>
        <p:nvPicPr>
          <p:cNvPr id="9" name="Picture 8" descr="eq_e0bf09c03378197463842c40e63c24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39151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788920"/>
            <a:ext cx="519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BFCFD"/>
                </a:solidFill>
              </a:rPr>
              <a:t>2. Corriente de saturación inversa (I</a:t>
            </a:r>
            <a:r>
              <a:rPr sz="850">
                <a:solidFill>
                  <a:srgbClr val="FBFCFD"/>
                </a:solidFill>
              </a:rPr>
              <a:t>0</a:t>
            </a:r>
            <a:r>
              <a:rPr sz="1250">
                <a:solidFill>
                  <a:srgbClr val="FBFCFD"/>
                </a:solidFill>
              </a:rPr>
              <a:t>):</a:t>
            </a:r>
          </a:p>
        </p:txBody>
      </p:sp>
      <p:pic>
        <p:nvPicPr>
          <p:cNvPr id="11" name="Picture 10" descr="eq_a3e1cf0edcfb4f601e8cb4052dc46d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82112"/>
            <a:ext cx="416052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3977640"/>
            <a:ext cx="519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BFCFD"/>
                </a:solidFill>
              </a:rPr>
              <a:t>3. Factor de idealidad térmico (a):</a:t>
            </a:r>
          </a:p>
        </p:txBody>
      </p:sp>
      <p:pic>
        <p:nvPicPr>
          <p:cNvPr id="13" name="Picture 12" descr="eq_855f25f4df726f32a8627b66266d95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89120"/>
            <a:ext cx="1089660" cy="502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33007" y="1188720"/>
            <a:ext cx="5592927" cy="498348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188720"/>
            <a:ext cx="73152" cy="49834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Resistencias y Energía de Bandgap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1719072"/>
            <a:ext cx="519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BFCFD"/>
                </a:solidFill>
              </a:rPr>
              <a:t>4. Resistencia shunt (R</a:t>
            </a:r>
            <a:r>
              <a:rPr sz="850">
                <a:solidFill>
                  <a:srgbClr val="FBFCFD"/>
                </a:solidFill>
              </a:rPr>
              <a:t>sh</a:t>
            </a:r>
            <a:r>
              <a:rPr sz="1250">
                <a:solidFill>
                  <a:srgbClr val="FBFCFD"/>
                </a:solidFill>
              </a:rPr>
              <a:t>):</a:t>
            </a:r>
          </a:p>
        </p:txBody>
      </p:sp>
      <p:pic>
        <p:nvPicPr>
          <p:cNvPr id="18" name="Picture 17" descr="eq_3d1d79bd526a9b74d63122a07a9441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7" y="2103120"/>
            <a:ext cx="2757637" cy="54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34175" y="2834640"/>
            <a:ext cx="519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BFCFD"/>
                </a:solidFill>
              </a:rPr>
              <a:t>5. Energía de bandgap del Silicio (E</a:t>
            </a:r>
            <a:r>
              <a:rPr sz="850">
                <a:solidFill>
                  <a:srgbClr val="FBFCFD"/>
                </a:solidFill>
              </a:rPr>
              <a:t>g</a:t>
            </a:r>
            <a:r>
              <a:rPr sz="1250">
                <a:solidFill>
                  <a:srgbClr val="FBFCFD"/>
                </a:solidFill>
              </a:rPr>
              <a:t>):</a:t>
            </a:r>
          </a:p>
        </p:txBody>
      </p:sp>
      <p:pic>
        <p:nvPicPr>
          <p:cNvPr id="20" name="Picture 19" descr="eq_835b1d64c566faa058ac35a3005994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7" y="3200400"/>
            <a:ext cx="394101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34175" y="3977640"/>
            <a:ext cx="519059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Suposiciones físicas justificadas: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R</a:t>
            </a:r>
            <a:r>
              <a:rPr sz="950">
                <a:solidFill>
                  <a:srgbClr val="F1C40F"/>
                </a:solidFill>
              </a:rPr>
              <a:t>s</a:t>
            </a:r>
            <a:r>
              <a:rPr sz="1350">
                <a:solidFill>
                  <a:srgbClr val="F1C40F"/>
                </a:solidFill>
              </a:rPr>
              <a:t> constante: R</a:t>
            </a:r>
            <a:r>
              <a:rPr sz="950">
                <a:solidFill>
                  <a:srgbClr val="F1C40F"/>
                </a:solidFill>
              </a:rPr>
              <a:t>s</a:t>
            </a:r>
            <a:r>
              <a:rPr sz="1350">
                <a:solidFill>
                  <a:srgbClr val="F1C40F"/>
                </a:solidFill>
              </a:rPr>
              <a:t> = R</a:t>
            </a:r>
            <a:r>
              <a:rPr sz="950">
                <a:solidFill>
                  <a:srgbClr val="F1C40F"/>
                </a:solidFill>
              </a:rPr>
              <a:t>s,ref</a:t>
            </a:r>
            <a:r>
              <a:rPr sz="1350">
                <a:solidFill>
                  <a:srgbClr val="F1C40F"/>
                </a:solidFill>
              </a:rPr>
              <a:t> (validación NIST &lt; 2 %).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R</a:t>
            </a:r>
            <a:r>
              <a:rPr sz="950">
                <a:solidFill>
                  <a:srgbClr val="F1C40F"/>
                </a:solidFill>
              </a:rPr>
              <a:t>sh</a:t>
            </a:r>
            <a:r>
              <a:rPr sz="1350">
                <a:solidFill>
                  <a:srgbClr val="F1C40F"/>
                </a:solidFill>
              </a:rPr>
              <a:t> ∝ 1/S: empírica, dominante a baja irradiancia.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E</a:t>
            </a:r>
            <a:r>
              <a:rPr sz="950">
                <a:solidFill>
                  <a:srgbClr val="F1C40F"/>
                </a:solidFill>
              </a:rPr>
              <a:t>g,ref</a:t>
            </a:r>
            <a:r>
              <a:rPr sz="1350">
                <a:solidFill>
                  <a:srgbClr val="F1C40F"/>
                </a:solidFill>
              </a:rPr>
              <a:t> = 1.121 eV para Silicio a 25 °C.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• S = G</a:t>
            </a:r>
            <a:r>
              <a:rPr sz="950">
                <a:solidFill>
                  <a:srgbClr val="F1C40F"/>
                </a:solidFill>
              </a:rPr>
              <a:t>poa</a:t>
            </a:r>
            <a:r>
              <a:rPr sz="1350">
                <a:solidFill>
                  <a:srgbClr val="F1C40F"/>
                </a:solidFill>
              </a:rPr>
              <a:t> (sin corrección espectral — Anexo II).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F1C40F"/>
                </a:solidFill>
              </a:rPr>
              <a:t>Implementado por </a:t>
            </a:r>
            <a:r>
              <a:rPr sz="1250">
                <a:solidFill>
                  <a:srgbClr val="7FDBFF"/>
                </a:solidFill>
                <a:latin typeface="Consolas"/>
              </a:rPr>
              <a:t>pvlib.pvsystem.calcparams_desoto</a:t>
            </a:r>
            <a:r>
              <a:rPr sz="1350">
                <a:solidFill>
                  <a:srgbClr val="F1C40F"/>
                </a:solidFill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33/35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VII: Ecuaciones para el Cálculo del Performance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60175" cy="178308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783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Ecuación de Rendimiento Global del PR (IEC 61724-1)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BFCFD"/>
                </a:solidFill>
              </a:rPr>
              <a:t>Eficiencia neta del sistema frente a su comportamiento ideal en condiciones estándar:</a:t>
            </a:r>
          </a:p>
        </p:txBody>
      </p:sp>
      <p:pic>
        <p:nvPicPr>
          <p:cNvPr id="9" name="Picture 8" descr="eq_f5093d4054598633962633717f29b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21408"/>
            <a:ext cx="4370498" cy="713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3154680"/>
            <a:ext cx="5592927" cy="3017520"/>
          </a:xfrm>
          <a:prstGeom prst="rect">
            <a:avLst/>
          </a:prstGeom>
          <a:solidFill>
            <a:srgbClr val="1F2833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73152" cy="3017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24612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Glosario de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39896"/>
            <a:ext cx="5190591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P</a:t>
            </a:r>
            <a:r>
              <a:rPr sz="950">
                <a:solidFill>
                  <a:srgbClr val="FBFCFD"/>
                </a:solidFill>
              </a:rPr>
              <a:t>mp,t</a:t>
            </a:r>
            <a:r>
              <a:rPr sz="1350">
                <a:solidFill>
                  <a:srgbClr val="FBFCFD"/>
                </a:solidFill>
              </a:rPr>
              <a:t>: potencia MPP del SDM en el registro t (cadencia 5 min).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P</a:t>
            </a:r>
            <a:r>
              <a:rPr sz="950">
                <a:solidFill>
                  <a:srgbClr val="FBFCFD"/>
                </a:solidFill>
              </a:rPr>
              <a:t>STC</a:t>
            </a:r>
            <a:r>
              <a:rPr sz="1350">
                <a:solidFill>
                  <a:srgbClr val="FBFCFD"/>
                </a:solidFill>
              </a:rPr>
              <a:t>: potencia nominal del </a:t>
            </a:r>
            <a:r>
              <a:rPr sz="1350" b="1">
                <a:solidFill>
                  <a:srgbClr val="FBFCFD"/>
                </a:solidFill>
              </a:rPr>
              <a:t>mismo SDM</a:t>
            </a:r>
            <a:r>
              <a:rPr sz="1350">
                <a:solidFill>
                  <a:srgbClr val="FBFCFD"/>
                </a:solidFill>
              </a:rPr>
              <a:t> evaluado a 1000 W/m² y 25 °C — m-Si: 50.17 W · HIT: 236.72 W (criterio consistente).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G</a:t>
            </a:r>
            <a:r>
              <a:rPr sz="950">
                <a:solidFill>
                  <a:srgbClr val="FBFCFD"/>
                </a:solidFill>
              </a:rPr>
              <a:t>poa,t</a:t>
            </a:r>
            <a:r>
              <a:rPr sz="1350">
                <a:solidFill>
                  <a:srgbClr val="FBFCFD"/>
                </a:solidFill>
              </a:rPr>
              <a:t>: irradiancia instantánea en el plano del panel (W/m²).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G</a:t>
            </a:r>
            <a:r>
              <a:rPr sz="950">
                <a:solidFill>
                  <a:srgbClr val="FBFCFD"/>
                </a:solidFill>
              </a:rPr>
              <a:t>ref</a:t>
            </a:r>
            <a:r>
              <a:rPr sz="1350">
                <a:solidFill>
                  <a:srgbClr val="FBFCFD"/>
                </a:solidFill>
              </a:rPr>
              <a:t>: irradiancia de referencia STC (1000 W/m²).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3154680"/>
            <a:ext cx="5592927" cy="3017520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3154680"/>
            <a:ext cx="73152" cy="3017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324612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Pérdidas penalizadas por el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3739896"/>
            <a:ext cx="5190591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Térmicas:</a:t>
            </a:r>
            <a:r>
              <a:rPr sz="1350">
                <a:solidFill>
                  <a:srgbClr val="FBFCFD"/>
                </a:solidFill>
              </a:rPr>
              <a:t> caídas por elevada T</a:t>
            </a:r>
            <a:r>
              <a:rPr sz="950">
                <a:solidFill>
                  <a:srgbClr val="FBFCFD"/>
                </a:solidFill>
              </a:rPr>
              <a:t>c</a:t>
            </a:r>
            <a:r>
              <a:rPr sz="1350">
                <a:solidFill>
                  <a:srgbClr val="FBFCFD"/>
                </a:solidFill>
              </a:rPr>
              <a:t> — dominantes en Atacama.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Óhmicas:</a:t>
            </a:r>
            <a:r>
              <a:rPr sz="1350">
                <a:solidFill>
                  <a:srgbClr val="FBFCFD"/>
                </a:solidFill>
              </a:rPr>
              <a:t> pérdidas resistivas en R</a:t>
            </a:r>
            <a:r>
              <a:rPr sz="950">
                <a:solidFill>
                  <a:srgbClr val="FBFCFD"/>
                </a:solidFill>
              </a:rPr>
              <a:t>s</a:t>
            </a:r>
            <a:r>
              <a:rPr sz="1350">
                <a:solidFill>
                  <a:srgbClr val="FBFCFD"/>
                </a:solidFill>
              </a:rPr>
              <a:t>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</a:t>
            </a:r>
            <a:r>
              <a:rPr sz="1350" b="1">
                <a:solidFill>
                  <a:srgbClr val="FBFCFD"/>
                </a:solidFill>
              </a:rPr>
              <a:t>De bajo G:</a:t>
            </a:r>
            <a:r>
              <a:rPr sz="1350">
                <a:solidFill>
                  <a:srgbClr val="FBFCFD"/>
                </a:solidFill>
              </a:rPr>
              <a:t> comportamiento no lineal a baja irradiancia (R</a:t>
            </a:r>
            <a:r>
              <a:rPr sz="950">
                <a:solidFill>
                  <a:srgbClr val="FBFCFD"/>
                </a:solidFill>
              </a:rPr>
              <a:t>sh</a:t>
            </a:r>
            <a:r>
              <a:rPr sz="1350">
                <a:solidFill>
                  <a:srgbClr val="FBFCFD"/>
                </a:solidFill>
              </a:rPr>
              <a:t>).</a:t>
            </a:r>
          </a:p>
          <a:p>
            <a:pPr algn="l">
              <a:lnSpc>
                <a:spcPct val="108000"/>
              </a:lnSpc>
            </a:pPr>
            <a:r>
              <a:rPr sz="1350">
                <a:solidFill>
                  <a:srgbClr val="FBFCFD"/>
                </a:solidFill>
              </a:rPr>
              <a:t>• NO penaliza pérdidas ópticas/espectrales (no modeladas) ni de planta (cableado, inversor, soiling).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34/35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313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1C40F"/>
                </a:solidFill>
              </a:rPr>
              <a:t>Anexo VIII: Diccionario de Columnas del Dataset NREL Cocoa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34295" y="420624"/>
            <a:ext cx="1691640" cy="310896"/>
          </a:xfrm>
          <a:prstGeom prst="rect">
            <a:avLst/>
          </a:prstGeom>
          <a:solidFill>
            <a:srgbClr val="27313F"/>
          </a:solidFill>
          <a:ln w="15240">
            <a:solidFill>
              <a:srgbClr val="8A9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A96A8"/>
                </a:solidFill>
              </a:rPr>
              <a:t>ANEXO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60175" cy="20116"/>
          </a:xfrm>
          <a:prstGeom prst="rect">
            <a:avLst/>
          </a:prstGeom>
          <a:solidFill>
            <a:srgbClr val="8A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92927" cy="2359152"/>
          </a:xfrm>
          <a:prstGeom prst="rect">
            <a:avLst/>
          </a:prstGeom>
          <a:solidFill>
            <a:srgbClr val="1F28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359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Identificación y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9059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Time Stamp</a:t>
            </a:r>
            <a:r>
              <a:rPr sz="1300">
                <a:solidFill>
                  <a:srgbClr val="FBFCFD"/>
                </a:solidFill>
              </a:rPr>
              <a:t> (hora local estándar, paso 5 min) — col. 0.</a:t>
            </a:r>
          </a:p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Metadatos (líneas 1–2): módulo, ciudad, estado, zona horaria, latitud, longitud, altitud, tilt, azimut.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76472"/>
            <a:ext cx="5592927" cy="2359152"/>
          </a:xfrm>
          <a:prstGeom prst="rect">
            <a:avLst/>
          </a:prstGeom>
          <a:solidFill>
            <a:srgbClr val="1F283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776472"/>
            <a:ext cx="73152" cy="2359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867912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Eléctricas (usadas → índices fijos)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61688"/>
            <a:ext cx="519059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Isc</a:t>
            </a:r>
            <a:r>
              <a:rPr sz="1300">
                <a:solidFill>
                  <a:srgbClr val="FBFCFD"/>
                </a:solidFill>
              </a:rPr>
              <a:t> (5), </a:t>
            </a:r>
            <a:r>
              <a:rPr sz="1200">
                <a:solidFill>
                  <a:srgbClr val="7FDBFF"/>
                </a:solidFill>
                <a:latin typeface="Consolas"/>
              </a:rPr>
              <a:t>Pmp</a:t>
            </a:r>
            <a:r>
              <a:rPr sz="1300">
                <a:solidFill>
                  <a:srgbClr val="FBFCFD"/>
                </a:solidFill>
              </a:rPr>
              <a:t> (7), </a:t>
            </a:r>
            <a:r>
              <a:rPr sz="1200">
                <a:solidFill>
                  <a:srgbClr val="7FDBFF"/>
                </a:solidFill>
                <a:latin typeface="Consolas"/>
              </a:rPr>
              <a:t>Imp</a:t>
            </a:r>
            <a:r>
              <a:rPr sz="1300">
                <a:solidFill>
                  <a:srgbClr val="FBFCFD"/>
                </a:solidFill>
              </a:rPr>
              <a:t> (9), </a:t>
            </a:r>
            <a:r>
              <a:rPr sz="1200">
                <a:solidFill>
                  <a:srgbClr val="7FDBFF"/>
                </a:solidFill>
                <a:latin typeface="Consolas"/>
              </a:rPr>
              <a:t>Vmp</a:t>
            </a:r>
            <a:r>
              <a:rPr sz="1300">
                <a:solidFill>
                  <a:srgbClr val="FBFCFD"/>
                </a:solidFill>
              </a:rPr>
              <a:t> (11), </a:t>
            </a:r>
            <a:r>
              <a:rPr sz="1200">
                <a:solidFill>
                  <a:srgbClr val="7FDBFF"/>
                </a:solidFill>
                <a:latin typeface="Consolas"/>
              </a:rPr>
              <a:t>Voc</a:t>
            </a:r>
            <a:r>
              <a:rPr sz="1300">
                <a:solidFill>
                  <a:srgbClr val="FBFCFD"/>
                </a:solidFill>
              </a:rPr>
              <a:t> (13) — cada una con su columna de incertidumbre (%).</a:t>
            </a:r>
          </a:p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FF</a:t>
            </a:r>
            <a:r>
              <a:rPr sz="1300">
                <a:solidFill>
                  <a:srgbClr val="FBFCFD"/>
                </a:solidFill>
              </a:rPr>
              <a:t> (15) y cola de n pares (I, V) crudos — descartadas en la ingesta.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188720"/>
            <a:ext cx="5592927" cy="2359152"/>
          </a:xfrm>
          <a:prstGeom prst="rect">
            <a:avLst/>
          </a:prstGeom>
          <a:solidFill>
            <a:srgbClr val="1F283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188720"/>
            <a:ext cx="73152" cy="2359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1280160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Meteorológicas (usadas → índices fijos)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1773936"/>
            <a:ext cx="519059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Dry bulb temperature</a:t>
            </a:r>
            <a:r>
              <a:rPr sz="1300">
                <a:solidFill>
                  <a:srgbClr val="FBFCFD"/>
                </a:solidFill>
              </a:rPr>
              <a:t> (20), </a:t>
            </a:r>
            <a:r>
              <a:rPr sz="1200">
                <a:solidFill>
                  <a:srgbClr val="7FDBFF"/>
                </a:solidFill>
                <a:latin typeface="Consolas"/>
              </a:rPr>
              <a:t>Atmospheric pressure</a:t>
            </a:r>
            <a:r>
              <a:rPr sz="1300">
                <a:solidFill>
                  <a:srgbClr val="FBFCFD"/>
                </a:solidFill>
              </a:rPr>
              <a:t> (24).</a:t>
            </a:r>
          </a:p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DNI</a:t>
            </a:r>
            <a:r>
              <a:rPr sz="1300">
                <a:solidFill>
                  <a:srgbClr val="FBFCFD"/>
                </a:solidFill>
              </a:rPr>
              <a:t> (27), </a:t>
            </a:r>
            <a:r>
              <a:rPr sz="1200">
                <a:solidFill>
                  <a:srgbClr val="7FDBFF"/>
                </a:solidFill>
                <a:latin typeface="Consolas"/>
              </a:rPr>
              <a:t>GHI</a:t>
            </a:r>
            <a:r>
              <a:rPr sz="1300">
                <a:solidFill>
                  <a:srgbClr val="FBFCFD"/>
                </a:solidFill>
              </a:rPr>
              <a:t> (30), </a:t>
            </a:r>
            <a:r>
              <a:rPr sz="1200">
                <a:solidFill>
                  <a:srgbClr val="7FDBFF"/>
                </a:solidFill>
                <a:latin typeface="Consolas"/>
              </a:rPr>
              <a:t>DHI</a:t>
            </a:r>
            <a:r>
              <a:rPr sz="1300">
                <a:solidFill>
                  <a:srgbClr val="FBFCFD"/>
                </a:solidFill>
              </a:rPr>
              <a:t> (33) — c/u con incertidumbre y desviación estándar de muestras de 1 s.</a:t>
            </a:r>
          </a:p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POA CMP22</a:t>
            </a:r>
            <a:r>
              <a:rPr sz="1300">
                <a:solidFill>
                  <a:srgbClr val="FBFCFD"/>
                </a:solidFill>
              </a:rPr>
              <a:t> (1): referencia para verificación del recurso.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776472"/>
            <a:ext cx="5592927" cy="2359152"/>
          </a:xfrm>
          <a:prstGeom prst="rect">
            <a:avLst/>
          </a:prstGeom>
          <a:solidFill>
            <a:srgbClr val="1F2833"/>
          </a:solidFill>
          <a:ln w="12700">
            <a:solidFill>
              <a:srgbClr val="FF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776472"/>
            <a:ext cx="73152" cy="2359152"/>
          </a:xfrm>
          <a:prstGeom prst="rect">
            <a:avLst/>
          </a:prstGeom>
          <a:solidFill>
            <a:srgbClr val="FF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7599" y="3867912"/>
            <a:ext cx="53186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Calidad y operación (no usadas)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5" y="4361688"/>
            <a:ext cx="519059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Solar QA residual</a:t>
            </a:r>
            <a:r>
              <a:rPr sz="1300">
                <a:solidFill>
                  <a:srgbClr val="FBFCFD"/>
                </a:solidFill>
              </a:rPr>
              <a:t>: cierre Direct·cos(z) + Difusa − Global.</a:t>
            </a:r>
          </a:p>
          <a:p>
            <a:pPr algn="l">
              <a:lnSpc>
                <a:spcPct val="108000"/>
              </a:lnSpc>
            </a:pPr>
            <a:r>
              <a:rPr sz="1300">
                <a:solidFill>
                  <a:srgbClr val="FBFCFD"/>
                </a:solidFill>
              </a:rPr>
              <a:t>• </a:t>
            </a:r>
            <a:r>
              <a:rPr sz="1200">
                <a:solidFill>
                  <a:srgbClr val="7FDBFF"/>
                </a:solidFill>
                <a:latin typeface="Consolas"/>
              </a:rPr>
              <a:t>PV module soiling derate</a:t>
            </a:r>
            <a:r>
              <a:rPr sz="1300">
                <a:solidFill>
                  <a:srgbClr val="FBFCFD"/>
                </a:solidFill>
              </a:rPr>
              <a:t>, lluvia acumulada, humedad relativa, T dorso del módulo, T gabinete MT5, horarios de mantenimiento (</a:t>
            </a:r>
            <a:r>
              <a:rPr sz="1200">
                <a:solidFill>
                  <a:srgbClr val="7FDBFF"/>
                </a:solidFill>
                <a:latin typeface="Consolas"/>
              </a:rPr>
              <a:t>99:99</a:t>
            </a:r>
            <a:r>
              <a:rPr sz="1300">
                <a:solidFill>
                  <a:srgbClr val="FBFCFD"/>
                </a:solidFill>
              </a:rPr>
              <a:t> = sin mantención) y n.º de pares I-V.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35/35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