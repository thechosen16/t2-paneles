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Irradiación excepcional:</a:t>
            </a:r>
            <a:r>
              <a:rPr sz="1700">
                <a:solidFill>
                  <a:srgbClr val="FBFCFD"/>
                </a:solidFill>
              </a:rPr>
              <a:t> GHI anual &gt; 2,900 kWh/m² en el norte de Chile (máxima a nivel mundial) — motivación del sitio de estudio.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Cielos limpios y altitud:</a:t>
            </a:r>
            <a:r>
              <a:rPr sz="1700">
                <a:solidFill>
                  <a:srgbClr val="FBFCFD"/>
                </a:solidFill>
              </a:rPr>
              <a:t> Baja atenuación atmosférica e irradiancia directa concentrada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Sitio simulado:</a:t>
            </a:r>
            <a:r>
              <a:rPr sz="170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Base experimental:</a:t>
            </a:r>
            <a:r>
              <a:rPr sz="1700">
                <a:solidFill>
                  <a:srgbClr val="FBFCFD"/>
                </a:solidFill>
              </a:rPr>
              <a:t> mediciones de campo NREL (Cocoa, Florida) emuladas estacionalmente al hemisferio sur — magnitudes de irradiancia conservan su origen (ver Limitaciones, Lám. 26).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Calentamiento severo:</a:t>
            </a:r>
            <a:r>
              <a:rPr sz="1700">
                <a:solidFill>
                  <a:srgbClr val="FBFCFD"/>
                </a:solidFill>
              </a:rPr>
              <a:t> Las celdas operan sobre 65 °C al mediodía solar de verano (máx. simulado: 73.4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Degradación térmica:</a:t>
            </a:r>
            <a:r>
              <a:rPr sz="1700">
                <a:solidFill>
                  <a:srgbClr val="FBFCFD"/>
                </a:solidFill>
              </a:rPr>
              <a:t> La potencia máxima y el voltaje de circuito abierto caen al aumentar la temperatura de celda (T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Objetivo:</a:t>
            </a:r>
            <a:r>
              <a:rPr sz="1700">
                <a:solidFill>
                  <a:srgbClr val="FBFCFD"/>
                </a:solidFill>
              </a:rPr>
              <a:t> Modelar dinámicamente registro a registro (cadencia 5 min) y cuantificar qué tecnología — </a:t>
            </a:r>
            <a:r>
              <a:rPr sz="1700" b="1">
                <a:solidFill>
                  <a:srgbClr val="FBFCFD"/>
                </a:solidFill>
              </a:rPr>
              <a:t>m-Si</a:t>
            </a:r>
            <a:r>
              <a:rPr sz="1700">
                <a:solidFill>
                  <a:srgbClr val="FBFCFD"/>
                </a:solidFill>
              </a:rPr>
              <a:t> o </a:t>
            </a:r>
            <a:r>
              <a:rPr sz="1700" b="1">
                <a:solidFill>
                  <a:srgbClr val="FBFCFD"/>
                </a:solidFill>
              </a:rPr>
              <a:t>HIT</a:t>
            </a:r>
            <a:r>
              <a:rPr sz="1700">
                <a:solidFill>
                  <a:srgbClr val="FBFCFD"/>
                </a:solidFill>
              </a:rPr>
              <a:t> — resiste mejor el estrés térmico desértico durante 2026.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Pregunta guía:</a:t>
            </a:r>
            <a:r>
              <a:rPr sz="1700">
                <a:solidFill>
                  <a:srgbClr val="FBFCFD"/>
                </a:solidFill>
              </a:rPr>
              <a:t> ¿la ventaja térmica de la heterounión justifica su CAPEX premium en una planta utility-scale?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755648"/>
          <a:ext cx="11002973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624839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44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62356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450">
                <a:solidFill>
                  <a:srgbClr val="7FDBFF"/>
                </a:solidFill>
                <a:latin typeface="Consolas"/>
              </a:rPr>
              <a:t>mSi0166</a:t>
            </a:r>
            <a:r>
              <a:rPr sz="1550">
                <a:solidFill>
                  <a:srgbClr val="9AA5B1"/>
                </a:solidFill>
              </a:rPr>
              <a:t> y </a:t>
            </a:r>
            <a:r>
              <a:rPr sz="1450">
                <a:solidFill>
                  <a:srgbClr val="7FDBFF"/>
                </a:solidFill>
                <a:latin typeface="Consolas"/>
              </a:rPr>
              <a:t>HIT05667</a:t>
            </a:r>
            <a:r>
              <a:rPr sz="155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650">
                <a:solidFill>
                  <a:srgbClr val="FBFCFD"/>
                </a:solidFill>
              </a:rPr>
              <a:t> circuito equivalente con pérdidas óhmicas en serie (R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) y fugas shunt (R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). (Anexo IV, Lám. 32)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650">
                <a:solidFill>
                  <a:srgbClr val="FBFCFD"/>
                </a:solidFill>
              </a:rPr>
              <a:t> estima la temperatura interna de celda desde POA y viento. (Anexo III, Lám. 31)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Transposición de Perez (1990):</a:t>
            </a:r>
            <a:r>
              <a:rPr sz="1650">
                <a:solidFill>
                  <a:srgbClr val="FBFCFD"/>
                </a:solidFill>
              </a:rPr>
              <a:t> lleva GHI/DNI/DHI al plano inclinado con cielo difuso anisotrópico. (Anexo I, Lám. 29)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Escalamiento De Soto (2006):</a:t>
            </a:r>
            <a:r>
              <a:rPr sz="1650">
                <a:solidFill>
                  <a:srgbClr val="FBFCFD"/>
                </a:solidFill>
              </a:rPr>
              <a:t> traslada los 5 parámetros desde STC a condiciones operacionales vía bandgap. (Anexo VI, Lám. 34)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Marco revisado NO aplicado:</a:t>
            </a:r>
            <a:r>
              <a:rPr sz="1650">
                <a:solidFill>
                  <a:srgbClr val="FBFCFD"/>
                </a:solidFill>
              </a:rPr>
              <a:t> modificadores ópticos IAM y espectral AM [King et al., 2004] — se documentan en (Anexo II, Lám. 30) y quedan como trabajo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5111" y="1874520"/>
            <a:ext cx="3931920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0–7)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188720"/>
            <a:ext cx="804672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5780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9437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Flujo lógico de la simulación:</a:t>
            </a:r>
            <a:r>
              <a:rPr sz="175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(Fase 4) para graficar, documentar y exportar los resultados (Fases 5-7).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Campaña experimental del </a:t>
            </a:r>
            <a:r>
              <a:rPr sz="1700" b="1">
                <a:solidFill>
                  <a:srgbClr val="FBFCFD"/>
                </a:solidFill>
              </a:rPr>
              <a:t>NREL</a:t>
            </a:r>
            <a:r>
              <a:rPr sz="1700">
                <a:solidFill>
                  <a:srgbClr val="FBFCFD"/>
                </a:solidFill>
              </a:rPr>
              <a:t> para validación de modelos PV [Marion et al., 2014].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Sitio: </a:t>
            </a:r>
            <a:r>
              <a:rPr sz="1700" b="1">
                <a:solidFill>
                  <a:srgbClr val="FBFCFD"/>
                </a:solidFill>
              </a:rPr>
              <a:t>Cocoa, Florida</a:t>
            </a:r>
            <a:r>
              <a:rPr sz="1700">
                <a:solidFill>
                  <a:srgbClr val="FBFCFD"/>
                </a:solidFill>
              </a:rPr>
              <a:t> (28.39° N, −80.46° W,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Tecnologías: 3 m-Si, 1 x-Si, 1 HIT, 1 CdTe, 2 CIGS y 3 a-Si.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Cada registro = una curva I-V completa</a:t>
            </a:r>
            <a:r>
              <a:rPr sz="1700">
                <a:solidFill>
                  <a:srgbClr val="FBFCFD"/>
                </a:solidFill>
              </a:rPr>
              <a:t> + contexto meteorológico instantáneo + incertidumbres.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Volumen seleccionado para la tarea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600">
                <a:solidFill>
                  <a:srgbClr val="7FDBFF"/>
                </a:solidFill>
                <a:latin typeface="Consolas"/>
              </a:rPr>
              <a:t>mSi0166</a:t>
            </a:r>
            <a:r>
              <a:rPr sz="1700">
                <a:solidFill>
                  <a:srgbClr val="FBFCFD"/>
                </a:solidFill>
              </a:rPr>
              <a:t> — Silicio monocristalino: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  </a:t>
            </a:r>
            <a:r>
              <a:rPr sz="1700" b="1">
                <a:solidFill>
                  <a:srgbClr val="FBFCFD"/>
                </a:solidFill>
              </a:rPr>
              <a:t>36,765 curvas</a:t>
            </a:r>
            <a:r>
              <a:rPr sz="1700">
                <a:solidFill>
                  <a:srgbClr val="FBFCFD"/>
                </a:solidFill>
              </a:rPr>
              <a:t> (~102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600">
                <a:solidFill>
                  <a:srgbClr val="7FDBFF"/>
                </a:solidFill>
                <a:latin typeface="Consolas"/>
              </a:rPr>
              <a:t>HIT05667</a:t>
            </a:r>
            <a:r>
              <a:rPr sz="1700">
                <a:solidFill>
                  <a:srgbClr val="FBFCFD"/>
                </a:solidFill>
              </a:rPr>
              <a:t> — Heterounión: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  </a:t>
            </a:r>
            <a:r>
              <a:rPr sz="1700" b="1">
                <a:solidFill>
                  <a:srgbClr val="FBFCFD"/>
                </a:solidFill>
              </a:rPr>
              <a:t>38,377 curvas</a:t>
            </a:r>
            <a:r>
              <a:rPr sz="1700">
                <a:solidFill>
                  <a:srgbClr val="FBFCFD"/>
                </a:solidFill>
              </a:rPr>
              <a:t> (~109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Criterio: máximo contraste térmico entre tecnologías viables (detalle en Lám. 3).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¿Qué Variables Hay y Con Cuáles Trabajamos?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Variables disponibles por 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Eléctricas:</a:t>
            </a:r>
            <a:r>
              <a:rPr sz="1700">
                <a:solidFill>
                  <a:srgbClr val="FBFCFD"/>
                </a:solidFill>
              </a:rPr>
              <a:t> Isc, Pmp, Imp, Vmp, Voc, FF — cada una con su incertidumbre.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Meteorológicas:</a:t>
            </a:r>
            <a:r>
              <a:rPr sz="1700">
                <a:solidFill>
                  <a:srgbClr val="FBFCFD"/>
                </a:solidFill>
              </a:rPr>
              <a:t> GHI, DNI, DHI, T bulbo seco, humedad relativa, presión, precipitación.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Referencia POA:</a:t>
            </a:r>
            <a:r>
              <a:rPr sz="1700">
                <a:solidFill>
                  <a:srgbClr val="FBFCFD"/>
                </a:solidFill>
              </a:rPr>
              <a:t> piranómetro CMP22 (clase A) montado en el plano del arreglo.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Calidad / operación:</a:t>
            </a:r>
            <a:r>
              <a:rPr sz="1700">
                <a:solidFill>
                  <a:srgbClr val="FBFCFD"/>
                </a:solidFill>
              </a:rPr>
              <a:t> residual QA solar, soiling derate, horarios de mantenimiento.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Decisión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Usadas (11 columnas):</a:t>
            </a:r>
            <a:r>
              <a:rPr sz="170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Verificación:</a:t>
            </a:r>
            <a:r>
              <a:rPr sz="1700">
                <a:solidFill>
                  <a:srgbClr val="FBFCFD"/>
                </a:solidFill>
              </a:rPr>
              <a:t> POA CMP22 para validar el recurso medido (Lám. 14).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Descartadas:</a:t>
            </a:r>
            <a:r>
              <a:rPr sz="1700">
                <a:solidFill>
                  <a:srgbClr val="FBFCFD"/>
                </a:solidFill>
              </a:rPr>
              <a:t> cola de pares I-V crudos (ancho variable) y columnas de QA.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Diccionario completo de columnas en (Anexo VIII, Lám. 36).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7280"/>
            <a:ext cx="11430000" cy="40193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Estructura y lectura de datos:</a:t>
            </a:r>
            <a:r>
              <a:rPr sz="175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gesta_limpie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7280"/>
            <a:ext cx="11430000" cy="40193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Proceso de ingesta y depuración:</a:t>
            </a:r>
            <a:r>
              <a:rPr sz="1750">
                <a:solidFill>
                  <a:srgbClr val="FBFCFD"/>
                </a:solidFill>
              </a:rPr>
              <a:t> El gran volumen de datos (~110 MB por archivo) y el ancho de fila variable debido a la cola de curvas I-V impiden el uso de métodos convencionales como </a:t>
            </a:r>
            <a:r>
              <a:rPr sz="165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750">
                <a:solidFill>
                  <a:srgbClr val="FBFCFD"/>
                </a:solidFill>
              </a:rPr>
              <a:t>. El pipeline implementa un lector en flujo (streaming) nativo que indexa selectivamente solo las 11 variables útiles. Posteriormente, se reemplazan los valores centinela </a:t>
            </a:r>
            <a:r>
              <a:rPr sz="1650">
                <a:solidFill>
                  <a:srgbClr val="7FDBFF"/>
                </a:solidFill>
                <a:latin typeface="Consolas"/>
              </a:rPr>
              <a:t>-9999</a:t>
            </a:r>
            <a:r>
              <a:rPr sz="1750">
                <a:solidFill>
                  <a:srgbClr val="FBFCFD"/>
                </a:solidFill>
              </a:rPr>
              <a:t> por </a:t>
            </a:r>
            <a:r>
              <a:rPr sz="1650">
                <a:solidFill>
                  <a:srgbClr val="7FDBFF"/>
                </a:solidFill>
                <a:latin typeface="Consolas"/>
              </a:rPr>
              <a:t>NaN</a:t>
            </a:r>
            <a:r>
              <a:rPr sz="1750">
                <a:solidFill>
                  <a:srgbClr val="FBFCFD"/>
                </a:solidFill>
              </a:rPr>
              <a:t>, se descartan filas nulas y se recortan irradiancias negativas, logrando un 97.0 % (m-Si) y 97.2 % (HIT) de registros útiles para el modelado.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Emulación: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977639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977639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17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97763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97763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17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257800"/>
            <a:ext cx="11460175" cy="1097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294376"/>
            <a:ext cx="11094415" cy="10241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Límite explícito del método:</a:t>
            </a:r>
            <a:r>
              <a:rPr sz="175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50" b="1">
                <a:solidFill>
                  <a:srgbClr val="FBFCFD"/>
                </a:solidFill>
              </a:rPr>
              <a:t>magnitudes medidas</a:t>
            </a:r>
            <a:r>
              <a:rPr sz="1750">
                <a:solidFill>
                  <a:srgbClr val="FBFCFD"/>
                </a:solidFill>
              </a:rPr>
              <a:t> de irradiancia y clima siguen siendo las de Florida (ver Limitaciones, Lám. 26).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97" y="1234440"/>
            <a:ext cx="109529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Proceso de emulación temporal:</a:t>
            </a:r>
            <a:r>
              <a:rPr sz="1750">
                <a:solidFill>
                  <a:srgbClr val="FBFCFD"/>
                </a:solidFill>
              </a:rPr>
              <a:t> Para trasladar las estaciones de Florida (hemisferio norte) a San Pedro de Atacama (hemisferio sur), el código modifica la latitud y altura en los metadatos y aplica un desfase de 6 meses en las fechas. De esta manera, el verano e invierno coinciden con la realidad del sitio simulado sin alterar los valores físicos medidos. Los solapamientos de fechas se promedian y el año se proyecta a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37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Superposición de mediciones:</a:t>
            </a:r>
            <a:r>
              <a:rPr sz="1350">
                <a:solidFill>
                  <a:srgbClr val="FBFCFD"/>
                </a:solidFill>
              </a:rPr>
              <a:t> Las curvas de irradiancia diaria de los 11 archivos se superponen con exactitud, confirmando la consistencia del instrumental experimental.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Rango temporal:</a:t>
            </a:r>
            <a:r>
              <a:rPr sz="1350">
                <a:solidFill>
                  <a:srgbClr val="FBFCFD"/>
                </a:solidFill>
              </a:rPr>
              <a:t> Campaña desde el </a:t>
            </a:r>
            <a:r>
              <a:rPr sz="1350" b="1">
                <a:solidFill>
                  <a:srgbClr val="FBFCFD"/>
                </a:solidFill>
              </a:rPr>
              <a:t>21 de enero de 2011</a:t>
            </a:r>
            <a:r>
              <a:rPr sz="1350">
                <a:solidFill>
                  <a:srgbClr val="FBFCFD"/>
                </a:solidFill>
              </a:rPr>
              <a:t> hasta el </a:t>
            </a:r>
            <a:r>
              <a:rPr sz="1350" b="1">
                <a:solidFill>
                  <a:srgbClr val="FBFCFD"/>
                </a:solidFill>
              </a:rPr>
              <a:t>4 de marzo de 2012</a:t>
            </a:r>
            <a:r>
              <a:rPr sz="13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Tratamiento:</a:t>
            </a:r>
            <a:r>
              <a:rPr sz="1350">
                <a:solidFill>
                  <a:srgbClr val="FBFCFD"/>
                </a:solidFill>
              </a:rPr>
              <a:t> Se calcula la mediana diaria suavizada con una ventana de 7 días por cada archivo para aislar ruidos y nubes transitorias.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375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Validación previa:</a:t>
            </a:r>
            <a:r>
              <a:rPr sz="1350">
                <a:solidFill>
                  <a:srgbClr val="FBFCFD"/>
                </a:solidFill>
              </a:rPr>
              <a:t> El objetivo es validar la homogeneidad física de la radiación medida </a:t>
            </a:r>
            <a:r>
              <a:rPr sz="1350" b="1">
                <a:solidFill>
                  <a:srgbClr val="FBFCFD"/>
                </a:solidFill>
              </a:rPr>
              <a:t>antes</a:t>
            </a:r>
            <a:r>
              <a:rPr sz="1350">
                <a:solidFill>
                  <a:srgbClr val="FBFCFD"/>
                </a:solidFill>
              </a:rPr>
              <a:t> de procesar la emulación geográfica y el modelado de celdas.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Evidencia de soiling y mantenimiento:</a:t>
            </a:r>
            <a:r>
              <a:rPr sz="1350">
                <a:solidFill>
                  <a:srgbClr val="FBFCFD"/>
                </a:solidFill>
              </a:rPr>
              <a:t> La perfecta coincidencia de las curvas demuestra que no hay desviaciones locales significativas en los sensores de referencia.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Alineación de sensores:</a:t>
            </a:r>
            <a:r>
              <a:rPr sz="1350">
                <a:solidFill>
                  <a:srgbClr val="FBFCFD"/>
                </a:solidFill>
              </a:rPr>
              <a:t> Se asegura que la irradiancia incidente en los 11 planos de módulo sea idéntica para una comparación tecnológica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78" y="1234440"/>
            <a:ext cx="10271137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Estimación de la radiación y temperatura:</a:t>
            </a:r>
            <a:r>
              <a:rPr sz="1750">
                <a:solidFill>
                  <a:srgbClr val="FBFCFD"/>
                </a:solidFill>
              </a:rPr>
              <a:t> Tras filtrar y limpiar los registros nulos, el código utiliza el modelo difuso de Perez para transponer las irradiancias al plano inclinado (POA). Luego, con el modelo de Sandia (SAPM) y asumiendo una velocidad de viento fija de 1 m/s (peor caso de ventilación), se estima la temperatura interna de operación de las celdas para cada tecnología (m-Si y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561" y="1234440"/>
            <a:ext cx="9678572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Caracterización física de los módulos:</a:t>
            </a:r>
            <a:r>
              <a:rPr sz="175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2.768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5.607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4.13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4.68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0.542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0.412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352.4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612.8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−0.21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2.77 A / 22.6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5.61 A / 51.5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50.17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236.72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9718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971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55648"/>
            <a:ext cx="5166360" cy="22494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343400"/>
            <a:ext cx="5653735" cy="187451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343400"/>
            <a:ext cx="73152" cy="187451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43484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983480"/>
            <a:ext cx="5251399" cy="1069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FBFCFD"/>
                </a:solidFill>
              </a:rPr>
              <a:t>• I</a:t>
            </a:r>
            <a:r>
              <a:rPr sz="900">
                <a:solidFill>
                  <a:srgbClr val="FBFCFD"/>
                </a:solidFill>
              </a:rPr>
              <a:t>0</a:t>
            </a:r>
            <a:r>
              <a:rPr sz="1300">
                <a:solidFill>
                  <a:srgbClr val="FBFCFD"/>
                </a:solidFill>
              </a:rPr>
              <a:t> de HIT es </a:t>
            </a:r>
            <a:r>
              <a:rPr sz="1300" b="1">
                <a:solidFill>
                  <a:srgbClr val="FBFCFD"/>
                </a:solidFill>
              </a:rPr>
              <a:t>un orden de magnitud menor</a:t>
            </a:r>
            <a:r>
              <a:rPr sz="1300">
                <a:solidFill>
                  <a:srgbClr val="FBFCFD"/>
                </a:solidFill>
              </a:rPr>
              <a:t> → menor recombinación → mayor V</a:t>
            </a:r>
            <a:r>
              <a:rPr sz="900">
                <a:solidFill>
                  <a:srgbClr val="FBFCFD"/>
                </a:solidFill>
              </a:rPr>
              <a:t>oc</a:t>
            </a:r>
            <a:r>
              <a:rPr sz="13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10000"/>
              </a:lnSpc>
            </a:pPr>
            <a:r>
              <a:rPr sz="1300">
                <a:solidFill>
                  <a:srgbClr val="FBFCFD"/>
                </a:solidFill>
              </a:rPr>
              <a:t>• R</a:t>
            </a:r>
            <a:r>
              <a:rPr sz="900">
                <a:solidFill>
                  <a:srgbClr val="FBFCFD"/>
                </a:solidFill>
              </a:rPr>
              <a:t>sh</a:t>
            </a:r>
            <a:r>
              <a:rPr sz="1300">
                <a:solidFill>
                  <a:srgbClr val="FBFCFD"/>
                </a:solidFill>
              </a:rPr>
              <a:t> de HIT ~74 % mayor → menos fugas a baja irradiancia.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561" y="1234440"/>
            <a:ext cx="9678572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Cálculo de la producción eléctrica anual:</a:t>
            </a:r>
            <a:r>
              <a:rPr sz="175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BFCFD"/>
                </a:solidFill>
              </a:rPr>
              <a:t>65–73 °C de operación recurrente</a:t>
            </a:r>
            <a:r>
              <a:rPr sz="1400">
                <a:solidFill>
                  <a:srgbClr val="FBFCFD"/>
                </a:solidFill>
              </a:rPr>
              <a:t> al mediodía solar de verano (HIT: 461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Estrés térmico evidenciado:</a:t>
            </a:r>
            <a:r>
              <a:rPr sz="1350">
                <a:solidFill>
                  <a:srgbClr val="FBFCFD"/>
                </a:solidFill>
              </a:rPr>
              <a:t> la simulación 5-minutal revela operación sostenida muy por encima de los 25 °C de STC.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Enfriamiento convectivo limitado:</a:t>
            </a:r>
            <a:r>
              <a:rPr sz="1350">
                <a:solidFill>
                  <a:srgbClr val="FBFCFD"/>
                </a:solidFill>
              </a:rPr>
              <a:t> viento de 1 m/s en SAPM [King et al., 2004] modela el escenario de mayor estrés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Consecuencia en voltaje [De Soto et al., 2006]:</a:t>
            </a:r>
            <a:r>
              <a:rPr sz="1350">
                <a:solidFill>
                  <a:srgbClr val="FBFCFD"/>
                </a:solidFill>
              </a:rPr>
              <a:t> el calentamiento eleva I</a:t>
            </a:r>
            <a:r>
              <a:rPr sz="950">
                <a:solidFill>
                  <a:srgbClr val="FBFCFD"/>
                </a:solidFill>
              </a:rPr>
              <a:t>0</a:t>
            </a:r>
            <a:r>
              <a:rPr sz="1350">
                <a:solidFill>
                  <a:srgbClr val="FBFCFD"/>
                </a:solidFill>
              </a:rPr>
              <a:t> exponencialmente, deprimiendo V</a:t>
            </a:r>
            <a:r>
              <a:rPr sz="950">
                <a:solidFill>
                  <a:srgbClr val="FBFCFD"/>
                </a:solidFill>
              </a:rPr>
              <a:t>oc</a:t>
            </a:r>
            <a:r>
              <a:rPr sz="1350">
                <a:solidFill>
                  <a:srgbClr val="FBFCFD"/>
                </a:solidFill>
              </a:rPr>
              <a:t> y la potencia útil.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BFCFD"/>
                </a:solidFill>
              </a:rPr>
              <a:t>R² ≈ 0.99</a:t>
            </a:r>
            <a:r>
              <a:rPr sz="1400">
                <a:solidFill>
                  <a:srgbClr val="FBFCFD"/>
                </a:solidFill>
              </a:rPr>
              <a:t>  |  RMSE ≈ 3 % de P</a:t>
            </a:r>
            <a:r>
              <a:rPr sz="1000">
                <a:solidFill>
                  <a:srgbClr val="FBFCFD"/>
                </a:solidFill>
              </a:rPr>
              <a:t>STC</a:t>
            </a:r>
            <a:r>
              <a:rPr sz="1400">
                <a:solidFill>
                  <a:srgbClr val="FBFCFD"/>
                </a:solidFill>
              </a:rPr>
              <a:t> (1.5 W m-Si · 6.7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Misma meteorología:</a:t>
            </a:r>
            <a:r>
              <a:rPr sz="1350">
                <a:solidFill>
                  <a:srgbClr val="FBFCFD"/>
                </a:solidFill>
              </a:rPr>
              <a:t> cada punto compara la P</a:t>
            </a:r>
            <a:r>
              <a:rPr sz="950">
                <a:solidFill>
                  <a:srgbClr val="FBFCFD"/>
                </a:solidFill>
              </a:rPr>
              <a:t>mp</a:t>
            </a:r>
            <a:r>
              <a:rPr sz="1350">
                <a:solidFill>
                  <a:srgbClr val="FBFCFD"/>
                </a:solidFill>
              </a:rPr>
              <a:t> </a:t>
            </a:r>
            <a:r>
              <a:rPr sz="1350" b="1">
                <a:solidFill>
                  <a:srgbClr val="FBFCFD"/>
                </a:solidFill>
              </a:rPr>
              <a:t>medida</a:t>
            </a:r>
            <a:r>
              <a:rPr sz="1350">
                <a:solidFill>
                  <a:srgbClr val="FBFCFD"/>
                </a:solidFill>
              </a:rPr>
              <a:t> por el trazador NREL con la </a:t>
            </a:r>
            <a:r>
              <a:rPr sz="1350" b="1">
                <a:solidFill>
                  <a:srgbClr val="FBFCFD"/>
                </a:solidFill>
              </a:rPr>
              <a:t>simulada</a:t>
            </a:r>
            <a:r>
              <a:rPr sz="1350">
                <a:solidFill>
                  <a:srgbClr val="FBFCFD"/>
                </a:solidFill>
              </a:rPr>
              <a:t> por el SDM bajo el mismo G y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 del instante — no es una comparación entre sitios.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Fidelidad del circuito:</a:t>
            </a:r>
            <a:r>
              <a:rPr sz="1350">
                <a:solidFill>
                  <a:srgbClr val="FBFCFD"/>
                </a:solidFill>
              </a:rPr>
              <a:t> R² ≈ 0.99 confirma que los 5 parámetros extraídos reproducen el comportamiento eléctrico real en todo el rango.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Zonas de discrepancia:</a:t>
            </a:r>
            <a:r>
              <a:rPr sz="1350">
                <a:solidFill>
                  <a:srgbClr val="FBFCFD"/>
                </a:solidFill>
              </a:rPr>
              <a:t> leve dispersión a baja irradiancia por la idealización empírica de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 ∝ 1/G.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350">
                <a:solidFill>
                  <a:srgbClr val="FBFCFD"/>
                </a:solidFill>
              </a:rPr>
              <a:t>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Problema mal condicionado:</a:t>
            </a:r>
            <a:r>
              <a:rPr sz="1350">
                <a:solidFill>
                  <a:srgbClr val="FBFCFD"/>
                </a:solidFill>
              </a:rPr>
              <a:t> múltiples pares (R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Mitigación aplicada:</a:t>
            </a:r>
            <a:r>
              <a:rPr sz="1350">
                <a:solidFill>
                  <a:srgbClr val="FBFCFD"/>
                </a:solidFill>
              </a:rPr>
              <a:t> bounds estrictos en el optimizador —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∈ [0.001, 2] Ω y n ∈ [1.0, 2.0] — más inicialización analítica. Esto evita converger a soluciones matemáticamente correctas pero físicamente imposibles.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</a:t>
            </a:r>
            <a:r>
              <a:rPr sz="950" b="1">
                <a:solidFill>
                  <a:srgbClr val="FBFCFD"/>
                </a:solidFill>
              </a:rPr>
              <a:t>sh</a:t>
            </a:r>
            <a:r>
              <a:rPr sz="1350" b="1">
                <a:solidFill>
                  <a:srgbClr val="FBFCFD"/>
                </a:solidFill>
              </a:rPr>
              <a:t> e irradiancia:</a:t>
            </a:r>
            <a:r>
              <a:rPr sz="1350">
                <a:solidFill>
                  <a:srgbClr val="FBFCFD"/>
                </a:solidFill>
              </a:rPr>
              <a:t> la relación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 = R</a:t>
            </a:r>
            <a:r>
              <a:rPr sz="950">
                <a:solidFill>
                  <a:srgbClr val="FBFCFD"/>
                </a:solidFill>
              </a:rPr>
              <a:t>sh,ref</a:t>
            </a:r>
            <a:r>
              <a:rPr sz="1350">
                <a:solidFill>
                  <a:srgbClr val="FBFCFD"/>
                </a:solidFill>
              </a:rPr>
              <a:t>·(S</a:t>
            </a:r>
            <a:r>
              <a:rPr sz="950">
                <a:solidFill>
                  <a:srgbClr val="FBFCFD"/>
                </a:solidFill>
              </a:rPr>
              <a:t>ref</a:t>
            </a:r>
            <a:r>
              <a:rPr sz="135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</a:t>
            </a:r>
            <a:r>
              <a:rPr sz="950" b="1">
                <a:solidFill>
                  <a:srgbClr val="FBFCFD"/>
                </a:solidFill>
              </a:rPr>
              <a:t>s</a:t>
            </a:r>
            <a:r>
              <a:rPr sz="1350" b="1">
                <a:solidFill>
                  <a:srgbClr val="FBFCFD"/>
                </a:solidFill>
              </a:rPr>
              <a:t> constante con la temperatura:</a:t>
            </a:r>
            <a:r>
              <a:rPr sz="1350">
                <a:solidFill>
                  <a:srgbClr val="FBFCFD"/>
                </a:solidFill>
              </a:rPr>
              <a:t> ignora el cambio de resistividad del semiconductor con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Bandgap lineal con la temperatura:</a:t>
            </a:r>
            <a:r>
              <a:rPr sz="1350">
                <a:solidFill>
                  <a:srgbClr val="FBFCFD"/>
                </a:solidFill>
              </a:rPr>
              <a:t> se asume dE</a:t>
            </a:r>
            <a:r>
              <a:rPr sz="950">
                <a:solidFill>
                  <a:srgbClr val="FBFCFD"/>
                </a:solidFill>
              </a:rPr>
              <a:t>g</a:t>
            </a:r>
            <a:r>
              <a:rPr sz="135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FBFCFD"/>
                </a:solidFill>
              </a:rPr>
              <a:t>m-Si: </a:t>
            </a:r>
            <a:r>
              <a:rPr sz="1400" b="1">
                <a:solidFill>
                  <a:srgbClr val="FBFCFD"/>
                </a:solidFill>
              </a:rPr>
              <a:t>−0.40 %/°C</a:t>
            </a:r>
            <a:r>
              <a:rPr sz="140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400">
                <a:solidFill>
                  <a:srgbClr val="FBFCFD"/>
                </a:solidFill>
              </a:rPr>
              <a:t>HIT: </a:t>
            </a:r>
            <a:r>
              <a:rPr sz="1400" b="1">
                <a:solidFill>
                  <a:srgbClr val="FBFCFD"/>
                </a:solidFill>
              </a:rPr>
              <a:t>−0.26 %/°C</a:t>
            </a:r>
            <a:r>
              <a:rPr sz="140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HIT (naranja):</a:t>
            </a:r>
            <a:r>
              <a:rPr sz="135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m-Si (azul):</a:t>
            </a:r>
            <a:r>
              <a:rPr sz="135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Consecuencia:</a:t>
            </a:r>
            <a:r>
              <a:rPr sz="1350">
                <a:solidFill>
                  <a:srgbClr val="FBFCFD"/>
                </a:solidFill>
              </a:rPr>
              <a:t> esta divergencia térmica explica mecánicamente la brecha de PR anual entre tecnologías (Anexo VII, Lám. 35).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Veredicto Técnico —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2613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86.92 %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25038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(mensual 84.9–89.4 %)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80160"/>
            <a:ext cx="2613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84.53 %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20240"/>
            <a:ext cx="25038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(mensual 82.0–88.0 %)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80360"/>
            <a:ext cx="559292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+2.39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520440"/>
            <a:ext cx="5483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ventaja neta de HIT en PR anual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89120"/>
            <a:ext cx="5592927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73152" cy="1783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4805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29200"/>
            <a:ext cx="5190591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El menor coeficiente térmico de HIT (−0.26 vs −0.40 %/°C) protege la potencia justo cuando el recurso es máximo: el mediodía desértico.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37744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Lectura Económica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~6,000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(recurso escalado a Atacama)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+USD 270k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~3,300 MWh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escenario conservador con el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recurso simulado sin escalar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Recurso escalado:</a:t>
            </a:r>
            <a:r>
              <a:rPr sz="1700">
                <a:solidFill>
                  <a:srgbClr val="FBFCFD"/>
                </a:solidFill>
              </a:rPr>
              <a:t> POA ≈ 2,500 kWh/m²·año en Atacama (el recurso simulado conserva magnitudes de Florida: 1,363–1,422 kWh/m²·año).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ΔPR +2.39 pts → ≈ +60 kWh/kWp·año → </a:t>
            </a:r>
            <a:r>
              <a:rPr sz="1700" b="1">
                <a:solidFill>
                  <a:srgbClr val="FBFCFD"/>
                </a:solidFill>
              </a:rPr>
              <a:t>~6,000 MWh</a:t>
            </a:r>
            <a:r>
              <a:rPr sz="1700">
                <a:solidFill>
                  <a:srgbClr val="FBFCFD"/>
                </a:solidFill>
              </a:rPr>
              <a:t> en 100 MWp.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Precio de venta ≈ 45 USD/MWh → </a:t>
            </a:r>
            <a:r>
              <a:rPr sz="1700" b="1">
                <a:solidFill>
                  <a:srgbClr val="FBFCFD"/>
                </a:solidFill>
              </a:rPr>
              <a:t>~USD 270k/año</a:t>
            </a:r>
            <a:r>
              <a:rPr sz="17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La prima CAPEX de los módulos HIT se </a:t>
            </a:r>
            <a:r>
              <a:rPr sz="1700" b="1">
                <a:solidFill>
                  <a:srgbClr val="FBFCFD"/>
                </a:solidFill>
              </a:rPr>
              <a:t>amortiza con holgura</a:t>
            </a:r>
            <a:r>
              <a:rPr sz="1700">
                <a:solidFill>
                  <a:srgbClr val="FBFCFD"/>
                </a:solidFill>
              </a:rPr>
              <a:t> en plantas desérticas de alta irradiancia y temperatura.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El beneficio crece con el recurso: a mayor POA real, mayor el valor absoluto de cada punto de PR.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Cifras conservadoras: sin escalar el recurso, ~3,300 MWh y ~USD 150k/año siguen favoreciendo a HIT.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Magnitudes de Florida:</a:t>
            </a:r>
            <a:r>
              <a:rPr sz="1650">
                <a:solidFill>
                  <a:srgbClr val="FBFCFD"/>
                </a:solidFill>
              </a:rPr>
              <a:t> la emulación alinea estaciones y geometría solar, pero la irradiancia, temperatura y humedad conservan los valores medidos en Cocoa (POA anual ≈ 1,400 kWh/m² vs ≳2,500 esperables en Atacama). La comparación m-Si vs HIT es válida; los valores absolutos de energía son conservadores.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Cobertura temporal:</a:t>
            </a:r>
            <a:r>
              <a:rPr sz="1650">
                <a:solidFill>
                  <a:srgbClr val="FBFCFD"/>
                </a:solidFill>
              </a:rPr>
              <a:t> cadencia 5 min, solo horas de sol; julio–septiembre 2026 promedian dos veranos (2011 y 2012).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α</a:t>
            </a:r>
            <a:r>
              <a:rPr sz="1250" b="1">
                <a:solidFill>
                  <a:srgbClr val="FBFCFD"/>
                </a:solidFill>
              </a:rPr>
              <a:t>Isc</a:t>
            </a:r>
            <a:r>
              <a:rPr sz="1650" b="1">
                <a:solidFill>
                  <a:srgbClr val="FBFCFD"/>
                </a:solidFill>
              </a:rPr>
              <a:t> de literatura:</a:t>
            </a:r>
            <a:r>
              <a:rPr sz="1650">
                <a:solidFill>
                  <a:srgbClr val="FBFCFD"/>
                </a:solidFill>
              </a:rPr>
              <a:t> la regresión experimental falló (espectro/estacionalidad) y se usó +0.05 %/°C — impacto menor: la corriente domina por G, no por 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Sin pérdidas ópticas/espectrales:</a:t>
            </a:r>
            <a:r>
              <a:rPr sz="1650">
                <a:solidFill>
                  <a:srgbClr val="FBFCFD"/>
                </a:solidFill>
              </a:rPr>
              <a:t> IAM y corrección AM revisados pero no aplicados (Anexo II, Lám. 30) — su omisión sobreestima levemente la energía en ángulos rasantes (amanecer/ocaso).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Albedo fijo 0.25</a:t>
            </a:r>
            <a:r>
              <a:rPr sz="1650">
                <a:solidFill>
                  <a:srgbClr val="FBFCFD"/>
                </a:solidFill>
              </a:rPr>
              <a:t> (default pvlib) y </a:t>
            </a:r>
            <a:r>
              <a:rPr sz="1650" b="1">
                <a:solidFill>
                  <a:srgbClr val="FBFCFD"/>
                </a:solidFill>
              </a:rPr>
              <a:t>viento fijo 1 m/s</a:t>
            </a:r>
            <a:r>
              <a:rPr sz="1650">
                <a:solidFill>
                  <a:srgbClr val="FBFCFD"/>
                </a:solidFill>
              </a:rPr>
              <a:t> — escenario térmico conservador.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P</a:t>
            </a:r>
            <a:r>
              <a:rPr sz="1250" b="1">
                <a:solidFill>
                  <a:srgbClr val="FBFCFD"/>
                </a:solidFill>
              </a:rPr>
              <a:t>STC</a:t>
            </a:r>
            <a:r>
              <a:rPr sz="1650" b="1">
                <a:solidFill>
                  <a:srgbClr val="FBFCFD"/>
                </a:solidFill>
              </a:rPr>
              <a:t> del SDM</a:t>
            </a:r>
            <a:r>
              <a:rPr sz="1650">
                <a:solidFill>
                  <a:srgbClr val="FBFCFD"/>
                </a:solidFill>
              </a:rPr>
              <a:t> (50.2 / 236.7 W) difiere ~7–9 % del promedio empírico medido (46.7 / 217.5 W): el denominador del PR usa el primero, criterio consistente entre ambas tecnologías.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Sin soiling ni mismatch:</a:t>
            </a:r>
            <a:r>
              <a:rPr sz="1650">
                <a:solidFill>
                  <a:srgbClr val="FBFCFD"/>
                </a:solidFill>
              </a:rPr>
              <a:t> pérdidas de planta real no modeladas — el PR aquí es un PR de módulo, no de planta.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1. </a:t>
            </a:r>
            <a:r>
              <a:rPr sz="1650" b="1">
                <a:solidFill>
                  <a:srgbClr val="FBFCFD"/>
                </a:solidFill>
              </a:rPr>
              <a:t>Fidelidad metodológica:</a:t>
            </a:r>
            <a:r>
              <a:rPr sz="1650">
                <a:solidFill>
                  <a:srgbClr val="FBFCFD"/>
                </a:solidFill>
              </a:rPr>
              <a:t> la emulación geográfica por traslación temporal (+6 meses, año 2026) mantuvo coherencia física de solsticios y permitió simular Atacama con datos experimentales reales.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2. </a:t>
            </a:r>
            <a:r>
              <a:rPr sz="1650" b="1">
                <a:solidFill>
                  <a:srgbClr val="FBFCFD"/>
                </a:solidFill>
              </a:rPr>
              <a:t>Pipeline de datos robusto:</a:t>
            </a:r>
            <a:r>
              <a:rPr sz="1650">
                <a:solidFill>
                  <a:srgbClr val="FBFCFD"/>
                </a:solidFill>
              </a:rPr>
              <a:t> la ingesta en streaming resolvió archivos irregulares de ~110 MB conservando el 97 % de los registros.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3. </a:t>
            </a:r>
            <a:r>
              <a:rPr sz="1650" b="1">
                <a:solidFill>
                  <a:srgbClr val="FBFCFD"/>
                </a:solidFill>
              </a:rPr>
              <a:t>Ajuste robusto:</a:t>
            </a:r>
            <a:r>
              <a:rPr sz="1650">
                <a:solidFill>
                  <a:srgbClr val="FBFCFD"/>
                </a:solidFill>
              </a:rPr>
              <a:t> el SDM de 5 parámetros reprodujo la potencia medida con R² ≈ 0.99 y RMSE ≈ 3 % de P</a:t>
            </a:r>
            <a:r>
              <a:rPr sz="1250">
                <a:solidFill>
                  <a:srgbClr val="FBFCFD"/>
                </a:solidFill>
              </a:rPr>
              <a:t>STC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4. </a:t>
            </a:r>
            <a:r>
              <a:rPr sz="1650" b="1">
                <a:solidFill>
                  <a:srgbClr val="FBFCFD"/>
                </a:solidFill>
              </a:rPr>
              <a:t>HIT vencedor:</a:t>
            </a:r>
            <a:r>
              <a:rPr sz="1650">
                <a:solidFill>
                  <a:srgbClr val="FBFCFD"/>
                </a:solidFill>
              </a:rPr>
              <a:t> +2.39 puntos de PR anual (86.92 % vs 84.53 %) por su menor coeficiente térmico — técnicamente superior para plantas desérticas de alta irradiancia y temperatura.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Aplicar IAM y corrección espectral AM</a:t>
            </a:r>
            <a:r>
              <a:rPr sz="1650">
                <a:solidFill>
                  <a:srgbClr val="FBFCFD"/>
                </a:solidFill>
              </a:rPr>
              <a:t> ya documentados (Anexo II, Lám. 30), cerrando la brecha óptica del pipeline actual.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Escalar el recurso a magnitudes de Atacama</a:t>
            </a:r>
            <a:r>
              <a:rPr sz="1650">
                <a:solidFill>
                  <a:srgbClr val="FBFCFD"/>
                </a:solidFill>
              </a:rPr>
              <a:t> (TMY local o Explorador Solar) manteniendo la validación eléctrica con datos NREL.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Bifacialidad:</a:t>
            </a:r>
            <a:r>
              <a:rPr sz="1650">
                <a:solidFill>
                  <a:srgbClr val="FBFCFD"/>
                </a:solidFill>
              </a:rPr>
              <a:t> aporte del albedo desértico (ρ &gt; 0.25) en la cara posterior.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Soiling desértico:</a:t>
            </a:r>
            <a:r>
              <a:rPr sz="165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de doble diodo:</a:t>
            </a:r>
            <a:r>
              <a:rPr sz="165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G</a:t>
            </a:r>
            <a:r>
              <a:rPr sz="1250">
                <a:solidFill>
                  <a:srgbClr val="F1C40F"/>
                </a:solidFill>
              </a:rPr>
              <a:t>b</a:t>
            </a:r>
            <a:r>
              <a:rPr sz="1650">
                <a:solidFill>
                  <a:srgbClr val="F1C40F"/>
                </a:solidFill>
              </a:rPr>
              <a:t> / G</a:t>
            </a:r>
            <a:r>
              <a:rPr sz="1250">
                <a:solidFill>
                  <a:srgbClr val="F1C40F"/>
                </a:solidFill>
              </a:rPr>
              <a:t>d</a:t>
            </a:r>
            <a:r>
              <a:rPr sz="165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ρ: albedo = 0.25 (default </a:t>
            </a:r>
            <a:r>
              <a:rPr sz="1550">
                <a:solidFill>
                  <a:srgbClr val="7FDBFF"/>
                </a:solidFill>
                <a:latin typeface="Consolas"/>
              </a:rPr>
              <a:t>pvlib</a:t>
            </a:r>
            <a:r>
              <a:rPr sz="1650">
                <a:solidFill>
                  <a:srgbClr val="F1C40F"/>
                </a:solidFill>
              </a:rPr>
              <a:t>, suelo genérico).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R</a:t>
            </a:r>
            <a:r>
              <a:rPr sz="1250">
                <a:solidFill>
                  <a:srgbClr val="F1C40F"/>
                </a:solidFill>
              </a:rPr>
              <a:t>beam</a:t>
            </a:r>
            <a:r>
              <a:rPr sz="165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G</a:t>
            </a:r>
            <a:r>
              <a:rPr sz="1250">
                <a:solidFill>
                  <a:srgbClr val="F1C40F"/>
                </a:solidFill>
              </a:rPr>
              <a:t>d,perez</a:t>
            </a:r>
            <a:r>
              <a:rPr sz="165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  brillo de horizonte), evaluada por </a:t>
            </a:r>
            <a:r>
              <a:rPr sz="155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6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650">
                <a:solidFill>
                  <a:srgbClr val="FBFCFD"/>
                </a:solidFill>
              </a:rPr>
              <a:t> → cenit y azimut aparentes del sol minuto de medición a medición.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65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irradiance.get_total_irradiance(tilt, az, dni, ghi, dhi, ..., model='perez')</a:t>
            </a:r>
            <a:r>
              <a:rPr sz="1650">
                <a:solidFill>
                  <a:srgbClr val="FBFCFD"/>
                </a:solidFill>
              </a:rPr>
              <a:t> → componente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Salida: </a:t>
            </a:r>
            <a:r>
              <a:rPr sz="1550">
                <a:solidFill>
                  <a:srgbClr val="7FDBFF"/>
                </a:solidFill>
                <a:latin typeface="Consolas"/>
              </a:rPr>
              <a:t>poa_global</a:t>
            </a:r>
            <a:r>
              <a:rPr sz="1650">
                <a:solidFill>
                  <a:srgbClr val="FBFCFD"/>
                </a:solidFill>
              </a:rPr>
              <a:t> con </a:t>
            </a:r>
            <a:r>
              <a:rPr sz="1550">
                <a:solidFill>
                  <a:srgbClr val="7FDBFF"/>
                </a:solidFill>
                <a:latin typeface="Consolas"/>
              </a:rPr>
              <a:t>clip(≥0)</a:t>
            </a:r>
            <a:r>
              <a:rPr sz="1650">
                <a:solidFill>
                  <a:srgbClr val="FBFCFD"/>
                </a:solidFill>
              </a:rPr>
              <a:t>, usada como irradiancia efectiva del SDM (sin modificadores ópticos — ver Anexo II).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Marco NO Aplicado — Modificadores Ópticos (IAM y 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206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2062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Corrige el desajuste espectral según la atmósfera atravesada; a</a:t>
            </a:r>
            <a:r>
              <a:rPr sz="1250">
                <a:solidFill>
                  <a:srgbClr val="F1C40F"/>
                </a:solidFill>
              </a:rPr>
              <a:t>0</a:t>
            </a:r>
            <a:r>
              <a:rPr sz="1650">
                <a:solidFill>
                  <a:srgbClr val="F1C40F"/>
                </a:solidFill>
              </a:rPr>
              <a:t>…a</a:t>
            </a:r>
            <a:r>
              <a:rPr sz="1250">
                <a:solidFill>
                  <a:srgbClr val="F1C40F"/>
                </a:solidFill>
              </a:rPr>
              <a:t>4</a:t>
            </a:r>
            <a:r>
              <a:rPr sz="1650">
                <a:solidFill>
                  <a:srgbClr val="F1C40F"/>
                </a:solidFill>
              </a:rPr>
              <a:t> son coeficientes empíricos de cada celda [King et al., 2004].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440680"/>
            <a:ext cx="11460175" cy="10058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477256"/>
            <a:ext cx="11094415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Estado en este estudio:</a:t>
            </a:r>
            <a:r>
              <a:rPr sz="1750">
                <a:solidFill>
                  <a:srgbClr val="FBFCFD"/>
                </a:solidFill>
              </a:rPr>
              <a:t> ecuaciones revisadas en la literatura pero </a:t>
            </a:r>
            <a:r>
              <a:rPr sz="1750" b="1">
                <a:solidFill>
                  <a:srgbClr val="FBFCFD"/>
                </a:solidFill>
              </a:rPr>
              <a:t>no ejecutadas por el pipeline</a:t>
            </a:r>
            <a:r>
              <a:rPr sz="1750">
                <a:solidFill>
                  <a:srgbClr val="FBFCFD"/>
                </a:solidFill>
              </a:rPr>
              <a:t> (la POA de Perez ingresa directa al SDM). Su incorporación es la primera propuesta de trabajo futuro — la omisión sobreestima levemente la energía en ángulos de incidencia rasantes.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 / T</a:t>
            </a:r>
            <a:r>
              <a:rPr sz="1250">
                <a:solidFill>
                  <a:srgbClr val="FBFCFD"/>
                </a:solidFill>
              </a:rPr>
              <a:t>a</a:t>
            </a:r>
            <a:r>
              <a:rPr sz="165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poa</a:t>
            </a:r>
            <a:r>
              <a:rPr sz="165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v</a:t>
            </a:r>
            <a:r>
              <a:rPr sz="1250">
                <a:solidFill>
                  <a:srgbClr val="FBFCFD"/>
                </a:solidFill>
              </a:rPr>
              <a:t>w</a:t>
            </a:r>
            <a:r>
              <a:rPr sz="165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m-Si — </a:t>
            </a:r>
            <a:r>
              <a:rPr sz="155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65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HIT — </a:t>
            </a:r>
            <a:r>
              <a:rPr sz="155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65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 b="1">
                <a:solidFill>
                  <a:srgbClr val="FBFCFD"/>
                </a:solidFill>
              </a:rPr>
              <a:t>Fuente:</a:t>
            </a:r>
            <a:r>
              <a:rPr sz="1650">
                <a:solidFill>
                  <a:srgbClr val="FBFCFD"/>
                </a:solidFill>
              </a:rPr>
              <a:t> </a:t>
            </a:r>
            <a:r>
              <a:rPr sz="155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65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5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6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N</a:t>
            </a:r>
            <a:r>
              <a:rPr sz="1250">
                <a:solidFill>
                  <a:srgbClr val="F1C40F"/>
                </a:solidFill>
              </a:rPr>
              <a:t>s</a:t>
            </a:r>
            <a:r>
              <a:rPr sz="165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n</a:t>
            </a:r>
            <a:r>
              <a:rPr sz="1250">
                <a:solidFill>
                  <a:srgbClr val="F1C40F"/>
                </a:solidFill>
              </a:rPr>
              <a:t>I</a:t>
            </a:r>
            <a:r>
              <a:rPr sz="1650">
                <a:solidFill>
                  <a:srgbClr val="F1C40F"/>
                </a:solidFill>
              </a:rPr>
              <a:t>: factor de idealidad del diodo, acotado a [1, 2].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</a:t>
            </a:r>
            <a:r>
              <a:rPr sz="1250">
                <a:solidFill>
                  <a:srgbClr val="FBFCFD"/>
                </a:solidFill>
              </a:rPr>
              <a:t>L</a:t>
            </a:r>
            <a:r>
              <a:rPr sz="165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</a:t>
            </a:r>
            <a:r>
              <a:rPr sz="1250">
                <a:solidFill>
                  <a:srgbClr val="FBFCFD"/>
                </a:solidFill>
              </a:rPr>
              <a:t>0</a:t>
            </a:r>
            <a:r>
              <a:rPr sz="165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 / 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k / q /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β</a:t>
            </a:r>
            <a:r>
              <a:rPr sz="1150">
                <a:solidFill>
                  <a:srgbClr val="F1C40F"/>
                </a:solidFill>
              </a:rPr>
              <a:t>Voc</a:t>
            </a:r>
            <a:r>
              <a:rPr sz="1550">
                <a:solidFill>
                  <a:srgbClr val="F1C40F"/>
                </a:solidFill>
              </a:rPr>
              <a:t> (medido): regresión lineal V</a:t>
            </a:r>
            <a:r>
              <a:rPr sz="1150">
                <a:solidFill>
                  <a:srgbClr val="F1C40F"/>
                </a:solidFill>
              </a:rPr>
              <a:t>oc</a:t>
            </a:r>
            <a:r>
              <a:rPr sz="1550">
                <a:solidFill>
                  <a:srgbClr val="F1C40F"/>
                </a:solidFill>
              </a:rPr>
              <a:t> vs T</a:t>
            </a:r>
            <a:r>
              <a:rPr sz="1150">
                <a:solidFill>
                  <a:srgbClr val="F1C40F"/>
                </a:solidFill>
              </a:rPr>
              <a:t>c</a:t>
            </a:r>
            <a:r>
              <a:rPr sz="15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α</a:t>
            </a:r>
            <a:r>
              <a:rPr sz="1150">
                <a:solidFill>
                  <a:srgbClr val="F1C40F"/>
                </a:solidFill>
              </a:rPr>
              <a:t>Isc</a:t>
            </a:r>
            <a:r>
              <a:rPr sz="15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Promedios de la ventana → I</a:t>
            </a:r>
            <a:r>
              <a:rPr sz="1150">
                <a:solidFill>
                  <a:srgbClr val="F1C40F"/>
                </a:solidFill>
              </a:rPr>
              <a:t>sc,ref</a:t>
            </a:r>
            <a:r>
              <a:rPr sz="1550">
                <a:solidFill>
                  <a:srgbClr val="F1C40F"/>
                </a:solidFill>
              </a:rPr>
              <a:t>, V</a:t>
            </a:r>
            <a:r>
              <a:rPr sz="1150">
                <a:solidFill>
                  <a:srgbClr val="F1C40F"/>
                </a:solidFill>
              </a:rPr>
              <a:t>oc,ref</a:t>
            </a:r>
            <a:r>
              <a:rPr sz="1550">
                <a:solidFill>
                  <a:srgbClr val="F1C40F"/>
                </a:solidFill>
              </a:rPr>
              <a:t>, I</a:t>
            </a:r>
            <a:r>
              <a:rPr sz="1150">
                <a:solidFill>
                  <a:srgbClr val="F1C40F"/>
                </a:solidFill>
              </a:rPr>
              <a:t>mp,ref</a:t>
            </a:r>
            <a:r>
              <a:rPr sz="1550">
                <a:solidFill>
                  <a:srgbClr val="F1C40F"/>
                </a:solidFill>
              </a:rPr>
              <a:t>, V</a:t>
            </a:r>
            <a:r>
              <a:rPr sz="1150">
                <a:solidFill>
                  <a:srgbClr val="F1C40F"/>
                </a:solidFill>
              </a:rPr>
              <a:t>mp,ref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5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Voc</a:t>
            </a:r>
            <a:r>
              <a:rPr sz="15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Isc</a:t>
            </a:r>
            <a:r>
              <a:rPr sz="15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MPP</a:t>
            </a:r>
            <a:r>
              <a:rPr sz="1500">
                <a:solidFill>
                  <a:srgbClr val="F1C40F"/>
                </a:solidFill>
              </a:rPr>
              <a:t>: corriente correcta en (V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, I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1500" b="1">
                <a:solidFill>
                  <a:srgbClr val="F1C40F"/>
                </a:solidFill>
              </a:rPr>
              <a:t>Regularización física (bounds):</a:t>
            </a:r>
            <a:r>
              <a:rPr sz="1500">
                <a:solidFill>
                  <a:srgbClr val="F1C40F"/>
                </a:solidFill>
              </a:rPr>
              <a:t> 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 ∈ [0.001, 2] Ω ·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∈ [100, 10⁴] Ω · n</a:t>
            </a:r>
            <a:r>
              <a:rPr sz="1100">
                <a:solidFill>
                  <a:srgbClr val="F1C40F"/>
                </a:solidFill>
              </a:rPr>
              <a:t>I</a:t>
            </a:r>
            <a:r>
              <a:rPr sz="1500">
                <a:solidFill>
                  <a:srgbClr val="F1C40F"/>
                </a:solidFill>
              </a:rPr>
              <a:t> ∈ [1, 2] · I</a:t>
            </a:r>
            <a:r>
              <a:rPr sz="1100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± 10 % · I</a:t>
            </a:r>
            <a:r>
              <a:rPr sz="1100">
                <a:solidFill>
                  <a:srgbClr val="F1C40F"/>
                </a:solidFill>
              </a:rPr>
              <a:t>0</a:t>
            </a:r>
            <a:r>
              <a:rPr sz="15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8000"/>
              </a:lnSpc>
            </a:pPr>
            <a:r>
              <a:rPr sz="1500" b="1">
                <a:solidFill>
                  <a:srgbClr val="F1C40F"/>
                </a:solidFill>
              </a:rPr>
              <a:t>Inicialización analítica:</a:t>
            </a:r>
            <a:r>
              <a:rPr sz="1500">
                <a:solidFill>
                  <a:srgbClr val="F1C40F"/>
                </a:solidFill>
              </a:rPr>
              <a:t> a₀ = N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·1.2·kT/q; I</a:t>
            </a:r>
            <a:r>
              <a:rPr sz="1100">
                <a:solidFill>
                  <a:srgbClr val="F1C40F"/>
                </a:solidFill>
              </a:rPr>
              <a:t>0,0</a:t>
            </a:r>
            <a:r>
              <a:rPr sz="1500">
                <a:solidFill>
                  <a:srgbClr val="F1C40F"/>
                </a:solidFill>
              </a:rPr>
              <a:t> = I</a:t>
            </a:r>
            <a:r>
              <a:rPr sz="1100">
                <a:solidFill>
                  <a:srgbClr val="F1C40F"/>
                </a:solidFill>
              </a:rPr>
              <a:t>sc</a:t>
            </a:r>
            <a:r>
              <a:rPr sz="1500">
                <a:solidFill>
                  <a:srgbClr val="F1C40F"/>
                </a:solidFill>
              </a:rPr>
              <a:t>·exp(−V</a:t>
            </a:r>
            <a:r>
              <a:rPr sz="1100">
                <a:solidFill>
                  <a:srgbClr val="F1C40F"/>
                </a:solidFill>
              </a:rPr>
              <a:t>oc</a:t>
            </a:r>
            <a:r>
              <a:rPr sz="15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Sistema de 3 ecuaciones y 5 incógnitas: la unicidad la aportan los bounds + inicialización, no una derivada analítica.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1. Corriente fotogenerada (I</a:t>
            </a:r>
            <a:r>
              <a:rPr sz="1150">
                <a:solidFill>
                  <a:srgbClr val="FBFCFD"/>
                </a:solidFill>
              </a:rPr>
              <a:t>L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2. Corriente de saturación inversa (I</a:t>
            </a:r>
            <a:r>
              <a:rPr sz="1150">
                <a:solidFill>
                  <a:srgbClr val="FBFCFD"/>
                </a:solidFill>
              </a:rPr>
              <a:t>0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4. Resistencia shunt (R</a:t>
            </a:r>
            <a:r>
              <a:rPr sz="1150">
                <a:solidFill>
                  <a:srgbClr val="FBFCFD"/>
                </a:solidFill>
              </a:rPr>
              <a:t>sh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5. Energía de bandgap del Silicio (E</a:t>
            </a:r>
            <a:r>
              <a:rPr sz="1150">
                <a:solidFill>
                  <a:srgbClr val="FBFCFD"/>
                </a:solidFill>
              </a:rPr>
              <a:t>g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constante: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= R</a:t>
            </a:r>
            <a:r>
              <a:rPr sz="1150">
                <a:solidFill>
                  <a:srgbClr val="F1C40F"/>
                </a:solidFill>
              </a:rPr>
              <a:t>s,ref</a:t>
            </a:r>
            <a:r>
              <a:rPr sz="155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sh</a:t>
            </a:r>
            <a:r>
              <a:rPr sz="155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E</a:t>
            </a:r>
            <a:r>
              <a:rPr sz="1150">
                <a:solidFill>
                  <a:srgbClr val="F1C40F"/>
                </a:solidFill>
              </a:rPr>
              <a:t>g,ref</a:t>
            </a:r>
            <a:r>
              <a:rPr sz="1550">
                <a:solidFill>
                  <a:srgbClr val="F1C40F"/>
                </a:solidFill>
              </a:rPr>
              <a:t> = 1.121 eV para Silicio a 25 °C.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S = G</a:t>
            </a:r>
            <a:r>
              <a:rPr sz="1150">
                <a:solidFill>
                  <a:srgbClr val="F1C40F"/>
                </a:solidFill>
              </a:rPr>
              <a:t>poa</a:t>
            </a:r>
            <a:r>
              <a:rPr sz="1550">
                <a:solidFill>
                  <a:srgbClr val="F1C40F"/>
                </a:solidFill>
              </a:rPr>
              <a:t> (sin corrección espectral — Anexo II).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Implementado por </a:t>
            </a:r>
            <a:r>
              <a:rPr sz="145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</a:t>
            </a:r>
            <a:r>
              <a:rPr sz="1250">
                <a:solidFill>
                  <a:srgbClr val="FBFCFD"/>
                </a:solidFill>
              </a:rPr>
              <a:t>mp,t</a:t>
            </a:r>
            <a:r>
              <a:rPr sz="165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</a:t>
            </a:r>
            <a:r>
              <a:rPr sz="1250">
                <a:solidFill>
                  <a:srgbClr val="FBFCFD"/>
                </a:solidFill>
              </a:rPr>
              <a:t>STC</a:t>
            </a:r>
            <a:r>
              <a:rPr sz="1650">
                <a:solidFill>
                  <a:srgbClr val="FBFCFD"/>
                </a:solidFill>
              </a:rPr>
              <a:t>: potencia nominal del </a:t>
            </a:r>
            <a:r>
              <a:rPr sz="1650" b="1">
                <a:solidFill>
                  <a:srgbClr val="FBFCFD"/>
                </a:solidFill>
              </a:rPr>
              <a:t>mismo SDM</a:t>
            </a:r>
            <a:r>
              <a:rPr sz="1650">
                <a:solidFill>
                  <a:srgbClr val="FBFCFD"/>
                </a:solidFill>
              </a:rPr>
              <a:t> evaluado a 1000 W/m² y 25 °C — m-Si: 50.17 W · HIT: 236.72 W (criterio consistente).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poa,t</a:t>
            </a:r>
            <a:r>
              <a:rPr sz="165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ref</a:t>
            </a:r>
            <a:r>
              <a:rPr sz="165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Térmicas:</a:t>
            </a:r>
            <a:r>
              <a:rPr sz="1650">
                <a:solidFill>
                  <a:srgbClr val="FBFCFD"/>
                </a:solidFill>
              </a:rPr>
              <a:t> caídas por elevada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Óhmicas:</a:t>
            </a:r>
            <a:r>
              <a:rPr sz="1650">
                <a:solidFill>
                  <a:srgbClr val="FBFCFD"/>
                </a:solidFill>
              </a:rPr>
              <a:t> pérdidas resistivas en 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De bajo G:</a:t>
            </a:r>
            <a:r>
              <a:rPr sz="1650">
                <a:solidFill>
                  <a:srgbClr val="FBFCFD"/>
                </a:solidFill>
              </a:rPr>
              <a:t> comportamiento no lineal a baja irradiancia (R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Time Stamp</a:t>
            </a:r>
            <a:r>
              <a:rPr sz="165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Isc</a:t>
            </a:r>
            <a:r>
              <a:rPr sz="1650">
                <a:solidFill>
                  <a:srgbClr val="FBFCFD"/>
                </a:solidFill>
              </a:rPr>
              <a:t> (5), </a:t>
            </a:r>
            <a:r>
              <a:rPr sz="1550">
                <a:solidFill>
                  <a:srgbClr val="7FDBFF"/>
                </a:solidFill>
                <a:latin typeface="Consolas"/>
              </a:rPr>
              <a:t>Pmp</a:t>
            </a:r>
            <a:r>
              <a:rPr sz="1650">
                <a:solidFill>
                  <a:srgbClr val="FBFCFD"/>
                </a:solidFill>
              </a:rPr>
              <a:t> (7), </a:t>
            </a:r>
            <a:r>
              <a:rPr sz="1550">
                <a:solidFill>
                  <a:srgbClr val="7FDBFF"/>
                </a:solidFill>
                <a:latin typeface="Consolas"/>
              </a:rPr>
              <a:t>Imp</a:t>
            </a:r>
            <a:r>
              <a:rPr sz="1650">
                <a:solidFill>
                  <a:srgbClr val="FBFCFD"/>
                </a:solidFill>
              </a:rPr>
              <a:t> (9), </a:t>
            </a:r>
            <a:r>
              <a:rPr sz="1550">
                <a:solidFill>
                  <a:srgbClr val="7FDBFF"/>
                </a:solidFill>
                <a:latin typeface="Consolas"/>
              </a:rPr>
              <a:t>Vmp</a:t>
            </a:r>
            <a:r>
              <a:rPr sz="1650">
                <a:solidFill>
                  <a:srgbClr val="FBFCFD"/>
                </a:solidFill>
              </a:rPr>
              <a:t> (11), </a:t>
            </a:r>
            <a:r>
              <a:rPr sz="1550">
                <a:solidFill>
                  <a:srgbClr val="7FDBFF"/>
                </a:solidFill>
                <a:latin typeface="Consolas"/>
              </a:rPr>
              <a:t>Voc</a:t>
            </a:r>
            <a:r>
              <a:rPr sz="165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FF</a:t>
            </a:r>
            <a:r>
              <a:rPr sz="165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650">
                <a:solidFill>
                  <a:srgbClr val="FBFCFD"/>
                </a:solidFill>
              </a:rPr>
              <a:t> (20), </a:t>
            </a:r>
            <a:r>
              <a:rPr sz="155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65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DNI</a:t>
            </a:r>
            <a:r>
              <a:rPr sz="1650">
                <a:solidFill>
                  <a:srgbClr val="FBFCFD"/>
                </a:solidFill>
              </a:rPr>
              <a:t> (27), </a:t>
            </a:r>
            <a:r>
              <a:rPr sz="1550">
                <a:solidFill>
                  <a:srgbClr val="7FDBFF"/>
                </a:solidFill>
                <a:latin typeface="Consolas"/>
              </a:rPr>
              <a:t>GHI</a:t>
            </a:r>
            <a:r>
              <a:rPr sz="1650">
                <a:solidFill>
                  <a:srgbClr val="FBFCFD"/>
                </a:solidFill>
              </a:rPr>
              <a:t> (30), </a:t>
            </a:r>
            <a:r>
              <a:rPr sz="1550">
                <a:solidFill>
                  <a:srgbClr val="7FDBFF"/>
                </a:solidFill>
                <a:latin typeface="Consolas"/>
              </a:rPr>
              <a:t>DHI</a:t>
            </a:r>
            <a:r>
              <a:rPr sz="1650">
                <a:solidFill>
                  <a:srgbClr val="FBFCFD"/>
                </a:solidFill>
              </a:rPr>
              <a:t> (33) — c/u con incertidumbre y desviación estándar de muestras de 1 s.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POA CMP22</a:t>
            </a:r>
            <a:r>
              <a:rPr sz="1650">
                <a:solidFill>
                  <a:srgbClr val="FBFCFD"/>
                </a:solidFill>
              </a:rPr>
              <a:t> (1): referencia para verificación del recurso.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65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650">
                <a:solidFill>
                  <a:srgbClr val="FBFCFD"/>
                </a:solidFill>
              </a:rPr>
              <a:t>, lluvia acumulada, humedad relativa, T dorso del módulo, T gabinete MT5, horarios de mantenimiento (</a:t>
            </a:r>
            <a:r>
              <a:rPr sz="1550">
                <a:solidFill>
                  <a:srgbClr val="7FDBFF"/>
                </a:solidFill>
                <a:latin typeface="Consolas"/>
              </a:rPr>
              <a:t>99:99</a:t>
            </a:r>
            <a:r>
              <a:rPr sz="165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