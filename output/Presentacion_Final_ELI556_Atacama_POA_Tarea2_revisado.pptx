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Irradiación excepcional:</a:t>
            </a:r>
            <a:r>
              <a:rPr sz="18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Cielos limpios y altitud:</a:t>
            </a:r>
            <a:r>
              <a:rPr sz="18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Sitio simulado:</a:t>
            </a:r>
            <a:r>
              <a:rPr sz="18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Base experimental:</a:t>
            </a:r>
            <a:r>
              <a:rPr sz="18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Calentamiento severo:</a:t>
            </a:r>
            <a:r>
              <a:rPr sz="18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Degradación térmica:</a:t>
            </a:r>
            <a:r>
              <a:rPr sz="18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Objetivo:</a:t>
            </a:r>
            <a:r>
              <a:rPr sz="18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800" b="1">
                <a:solidFill>
                  <a:srgbClr val="FBFCFD"/>
                </a:solidFill>
              </a:rPr>
              <a:t>m-Si</a:t>
            </a:r>
            <a:r>
              <a:rPr sz="1800">
                <a:solidFill>
                  <a:srgbClr val="FBFCFD"/>
                </a:solidFill>
              </a:rPr>
              <a:t> o </a:t>
            </a:r>
            <a:r>
              <a:rPr sz="1800" b="1">
                <a:solidFill>
                  <a:srgbClr val="FBFCFD"/>
                </a:solidFill>
              </a:rPr>
              <a:t>HIT</a:t>
            </a:r>
            <a:r>
              <a:rPr sz="18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Pregunta guía:</a:t>
            </a:r>
            <a:r>
              <a:rPr sz="18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55648"/>
          <a:ext cx="11002973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647700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/>
                      <a:r>
                        <a:rPr sz="165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/>
                      <a:r>
                        <a:rPr sz="165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/>
                      <a:r>
                        <a:rPr sz="165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/>
                      <a:r>
                        <a:rPr sz="165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/>
                      <a:r>
                        <a:rPr sz="165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742432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600">
                <a:solidFill>
                  <a:srgbClr val="7FDBFF"/>
                </a:solidFill>
                <a:latin typeface="Consolas"/>
              </a:rPr>
              <a:t>mSi0166</a:t>
            </a:r>
            <a:r>
              <a:rPr sz="1700">
                <a:solidFill>
                  <a:srgbClr val="9AA5B1"/>
                </a:solidFill>
              </a:rPr>
              <a:t> y </a:t>
            </a:r>
            <a:r>
              <a:rPr sz="1600">
                <a:solidFill>
                  <a:srgbClr val="7FDBFF"/>
                </a:solidFill>
                <a:latin typeface="Consolas"/>
              </a:rPr>
              <a:t>HIT05667</a:t>
            </a:r>
            <a:r>
              <a:rPr sz="170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600">
                <a:solidFill>
                  <a:srgbClr val="FBFCFD"/>
                </a:solidFill>
              </a:rPr>
              <a:t> circuito equivalente con pérdidas óhmicas en serie (R</a:t>
            </a:r>
            <a:r>
              <a:rPr sz="1200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) y fugas shunt (R</a:t>
            </a:r>
            <a:r>
              <a:rPr sz="1200">
                <a:solidFill>
                  <a:srgbClr val="FBFCFD"/>
                </a:solidFill>
              </a:rPr>
              <a:t>sh</a:t>
            </a:r>
            <a:r>
              <a:rPr sz="160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60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Transposición de Perez (1990):</a:t>
            </a:r>
            <a:r>
              <a:rPr sz="160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Escalamiento De Soto (2006):</a:t>
            </a:r>
            <a:r>
              <a:rPr sz="160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Marco revisado NO aplicado:</a:t>
            </a:r>
            <a:r>
              <a:rPr sz="160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591" y="1783080"/>
            <a:ext cx="539496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4175" y="4251960"/>
            <a:ext cx="51905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Componentes del circuito equivalente (SDM):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</a:t>
            </a:r>
            <a:r>
              <a:rPr sz="1100" b="1">
                <a:solidFill>
                  <a:srgbClr val="FBFCFD"/>
                </a:solidFill>
              </a:rPr>
              <a:t>L</a:t>
            </a:r>
            <a:r>
              <a:rPr sz="1500" b="1">
                <a:solidFill>
                  <a:srgbClr val="FBFCFD"/>
                </a:solidFill>
              </a:rPr>
              <a:t> (Corriente fotogenerada):</a:t>
            </a:r>
            <a:r>
              <a:rPr sz="1500">
                <a:solidFill>
                  <a:srgbClr val="FBFCFD"/>
                </a:solidFill>
              </a:rPr>
              <a:t> proporcional a la irradiancia.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Diodo (D):</a:t>
            </a:r>
            <a:r>
              <a:rPr sz="1500">
                <a:solidFill>
                  <a:srgbClr val="FBFCFD"/>
                </a:solidFill>
              </a:rPr>
              <a:t> representa la recombinación en la unión P-N.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sh</a:t>
            </a:r>
            <a:r>
              <a:rPr sz="1500" b="1">
                <a:solidFill>
                  <a:srgbClr val="FBFCFD"/>
                </a:solidFill>
              </a:rPr>
              <a:t> (Resistencia shunt):</a:t>
            </a:r>
            <a:r>
              <a:rPr sz="1500">
                <a:solidFill>
                  <a:srgbClr val="FBFCFD"/>
                </a:solidFill>
              </a:rPr>
              <a:t> corriente de fuga interna.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</a:t>
            </a:r>
            <a:r>
              <a:rPr sz="1500" b="1">
                <a:solidFill>
                  <a:srgbClr val="FBFCFD"/>
                </a:solidFill>
              </a:rPr>
              <a:t> (Resistencia serie):</a:t>
            </a:r>
            <a:r>
              <a:rPr sz="1500">
                <a:solidFill>
                  <a:srgbClr val="FBFCFD"/>
                </a:solidFill>
              </a:rPr>
              <a:t> pérdidas óhmicas de contacto.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 / V:</a:t>
            </a:r>
            <a:r>
              <a:rPr sz="1500">
                <a:solidFill>
                  <a:srgbClr val="FBFCFD"/>
                </a:solidFill>
              </a:rPr>
              <a:t> corriente y voltaje de salida entregados.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687" y="1188720"/>
            <a:ext cx="7132320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Flujo lógico de la simulación:</a:t>
            </a:r>
            <a:r>
              <a:rPr sz="17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(Fase 4) para graficar, documentar y exportar los resultados (Fases 5-7).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Campaña experimental del </a:t>
            </a:r>
            <a:r>
              <a:rPr sz="1800" b="1">
                <a:solidFill>
                  <a:srgbClr val="FBFCFD"/>
                </a:solidFill>
              </a:rPr>
              <a:t>NREL</a:t>
            </a:r>
            <a:r>
              <a:rPr sz="18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Sitio: </a:t>
            </a:r>
            <a:r>
              <a:rPr sz="1800" b="1">
                <a:solidFill>
                  <a:srgbClr val="FBFCFD"/>
                </a:solidFill>
              </a:rPr>
              <a:t>Cocoa, Florida</a:t>
            </a:r>
            <a:r>
              <a:rPr sz="18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Cada registro = una curva I-V completa</a:t>
            </a:r>
            <a:r>
              <a:rPr sz="18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mSi0166</a:t>
            </a:r>
            <a:r>
              <a:rPr sz="18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  </a:t>
            </a:r>
            <a:r>
              <a:rPr sz="1800" b="1">
                <a:solidFill>
                  <a:srgbClr val="FBFCFD"/>
                </a:solidFill>
              </a:rPr>
              <a:t>36,765 curvas</a:t>
            </a:r>
            <a:r>
              <a:rPr sz="18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HIT05667</a:t>
            </a:r>
            <a:r>
              <a:rPr sz="18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  </a:t>
            </a:r>
            <a:r>
              <a:rPr sz="1800" b="1">
                <a:solidFill>
                  <a:srgbClr val="FBFCFD"/>
                </a:solidFill>
              </a:rPr>
              <a:t>38,377 curvas</a:t>
            </a:r>
            <a:r>
              <a:rPr sz="18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Eléctricas:</a:t>
            </a:r>
            <a:r>
              <a:rPr sz="185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Meteorológicas:</a:t>
            </a:r>
            <a:r>
              <a:rPr sz="185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Referencia POA:</a:t>
            </a:r>
            <a:r>
              <a:rPr sz="185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Calidad / operación:</a:t>
            </a:r>
            <a:r>
              <a:rPr sz="185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Usadas (11 columnas):</a:t>
            </a:r>
            <a:r>
              <a:rPr sz="185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Verificación:</a:t>
            </a:r>
            <a:r>
              <a:rPr sz="185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Descartadas:</a:t>
            </a:r>
            <a:r>
              <a:rPr sz="185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97" y="1097280"/>
            <a:ext cx="104013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Estructura y lectura de datos:</a:t>
            </a:r>
            <a:r>
              <a:rPr sz="17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97" y="1097280"/>
            <a:ext cx="104013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600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Proceso de ingesta y depuración:</a:t>
            </a:r>
            <a:r>
              <a:rPr sz="1700">
                <a:solidFill>
                  <a:srgbClr val="FBFCFD"/>
                </a:solidFill>
              </a:rPr>
              <a:t> El gran volumen de datos (~110 MB por archivo) y el ancho de fila variable debido a la cola de curvas I-V impiden el uso de métodos convencionales como </a:t>
            </a:r>
            <a:r>
              <a:rPr sz="160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700">
                <a:solidFill>
                  <a:srgbClr val="FBFCFD"/>
                </a:solidFill>
              </a:rPr>
              <a:t>. El pipeline implementa un lector en flujo (streaming) nativo que indexa selectivamente solo las 11 variables útiles. Posteriormente, se reemplazan los valores centinela </a:t>
            </a:r>
            <a:r>
              <a:rPr sz="1600">
                <a:solidFill>
                  <a:srgbClr val="7FDBFF"/>
                </a:solidFill>
                <a:latin typeface="Consolas"/>
              </a:rPr>
              <a:t>-9999</a:t>
            </a:r>
            <a:r>
              <a:rPr sz="1700">
                <a:solidFill>
                  <a:srgbClr val="FBFCFD"/>
                </a:solidFill>
              </a:rPr>
              <a:t> por </a:t>
            </a:r>
            <a:r>
              <a:rPr sz="1600">
                <a:solidFill>
                  <a:srgbClr val="7FDBFF"/>
                </a:solidFill>
                <a:latin typeface="Consolas"/>
              </a:rPr>
              <a:t>NaN</a:t>
            </a:r>
            <a:r>
              <a:rPr sz="1700">
                <a:solidFill>
                  <a:srgbClr val="FBFCFD"/>
                </a:solidFill>
              </a:rPr>
              <a:t>, se descartan filas nulas y se recortan irradiancias negativas, logrando un 97.0 % (m-Si) y 97.2 % (HIT) de registros útiles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88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T</a:t>
            </a:r>
            <a:r>
              <a:rPr sz="1550">
                <a:solidFill>
                  <a:srgbClr val="FBFCFD"/>
                </a:solidFill>
              </a:rPr>
              <a:t>c</a:t>
            </a:r>
            <a:r>
              <a:rPr sz="195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886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T</a:t>
            </a:r>
            <a:r>
              <a:rPr sz="1550">
                <a:solidFill>
                  <a:srgbClr val="FBFCFD"/>
                </a:solidFill>
              </a:rPr>
              <a:t>c</a:t>
            </a:r>
            <a:r>
              <a:rPr sz="195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60175" cy="13258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11094415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Límite explícito del método:</a:t>
            </a:r>
            <a:r>
              <a:rPr sz="17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00" b="1">
                <a:solidFill>
                  <a:srgbClr val="FBFCFD"/>
                </a:solidFill>
              </a:rPr>
              <a:t>magnitudes medidas</a:t>
            </a:r>
            <a:r>
              <a:rPr sz="170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14" y="1234440"/>
            <a:ext cx="9806666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Proceso de emulación temporal:</a:t>
            </a:r>
            <a:r>
              <a:rPr sz="170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37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Superposición de mediciones:</a:t>
            </a:r>
            <a:r>
              <a:rPr sz="1750">
                <a:solidFill>
                  <a:srgbClr val="FBFCFD"/>
                </a:solidFill>
              </a:rPr>
              <a:t> Las curvas de irradiancia diaria de los 11 archivos se superponen con exactitud, confirmando la consistencia del instrumental experimental.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Rango temporal:</a:t>
            </a:r>
            <a:r>
              <a:rPr sz="1750">
                <a:solidFill>
                  <a:srgbClr val="FBFCFD"/>
                </a:solidFill>
              </a:rPr>
              <a:t> Campaña desde el </a:t>
            </a:r>
            <a:r>
              <a:rPr sz="1750" b="1">
                <a:solidFill>
                  <a:srgbClr val="FBFCFD"/>
                </a:solidFill>
              </a:rPr>
              <a:t>21 de enero de 2011</a:t>
            </a:r>
            <a:r>
              <a:rPr sz="1750">
                <a:solidFill>
                  <a:srgbClr val="FBFCFD"/>
                </a:solidFill>
              </a:rPr>
              <a:t> hasta el </a:t>
            </a:r>
            <a:r>
              <a:rPr sz="1750" b="1">
                <a:solidFill>
                  <a:srgbClr val="FBFCFD"/>
                </a:solidFill>
              </a:rPr>
              <a:t>4 de marzo de 2012</a:t>
            </a:r>
            <a:r>
              <a:rPr sz="17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Tratamiento:</a:t>
            </a:r>
            <a:r>
              <a:rPr sz="1750">
                <a:solidFill>
                  <a:srgbClr val="FBFCFD"/>
                </a:solidFill>
              </a:rPr>
              <a:t> Se calcula la mediana diaria suavizada con una ventana de 7 días por cada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375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Validación previa:</a:t>
            </a:r>
            <a:r>
              <a:rPr sz="1750">
                <a:solidFill>
                  <a:srgbClr val="FBFCFD"/>
                </a:solidFill>
              </a:rPr>
              <a:t> El objetivo es validar la homogeneidad física de la radiación medida </a:t>
            </a:r>
            <a:r>
              <a:rPr sz="1750" b="1">
                <a:solidFill>
                  <a:srgbClr val="FBFCFD"/>
                </a:solidFill>
              </a:rPr>
              <a:t>antes</a:t>
            </a:r>
            <a:r>
              <a:rPr sz="1750">
                <a:solidFill>
                  <a:srgbClr val="FBFCFD"/>
                </a:solidFill>
              </a:rPr>
              <a:t> de procesar la emulación geográfica y el modelado de celdas.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Evidencia de soiling y mantenimiento:</a:t>
            </a:r>
            <a:r>
              <a:rPr sz="1750">
                <a:solidFill>
                  <a:srgbClr val="FBFCFD"/>
                </a:solidFill>
              </a:rPr>
              <a:t> La perfecta coincidencia de las curvas demuestra que no hay desviaciones locales significativas en los sensores de referencia.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Alineación de sensores:</a:t>
            </a:r>
            <a:r>
              <a:rPr sz="1750">
                <a:solidFill>
                  <a:srgbClr val="FBFCFD"/>
                </a:solidFill>
              </a:rPr>
              <a:t> Se asegura que la irradiancia incidente en los 11 planos de módulo sea idéntica para una comparación tecnológica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21" y="1234440"/>
            <a:ext cx="9196251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Estimación de la radiación y temperatura:</a:t>
            </a:r>
            <a:r>
              <a:rPr sz="170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and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Caracterización física de los módulos:</a:t>
            </a:r>
            <a:r>
              <a:rPr sz="17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83480"/>
            <a:ext cx="5251399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>
                <a:solidFill>
                  <a:srgbClr val="FBFCFD"/>
                </a:solidFill>
              </a:rPr>
              <a:t>• I</a:t>
            </a:r>
            <a:r>
              <a:rPr sz="1300">
                <a:solidFill>
                  <a:srgbClr val="FBFCFD"/>
                </a:solidFill>
              </a:rPr>
              <a:t>0</a:t>
            </a:r>
            <a:r>
              <a:rPr sz="1700">
                <a:solidFill>
                  <a:srgbClr val="FBFCFD"/>
                </a:solidFill>
              </a:rPr>
              <a:t> de HIT es </a:t>
            </a:r>
            <a:r>
              <a:rPr sz="1700" b="1">
                <a:solidFill>
                  <a:srgbClr val="FBFCFD"/>
                </a:solidFill>
              </a:rPr>
              <a:t>un orden de magnitud menor</a:t>
            </a:r>
            <a:r>
              <a:rPr sz="1700">
                <a:solidFill>
                  <a:srgbClr val="FBFCFD"/>
                </a:solidFill>
              </a:rPr>
              <a:t> → menor recombinación → mayor V</a:t>
            </a:r>
            <a:r>
              <a:rPr sz="1300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15000"/>
              </a:lnSpc>
            </a:pPr>
            <a:r>
              <a:rPr sz="1700">
                <a:solidFill>
                  <a:srgbClr val="FBFCFD"/>
                </a:solidFill>
              </a:rPr>
              <a:t>•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Cálculo de la producción eléctrica anual:</a:t>
            </a:r>
            <a:r>
              <a:rPr sz="17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65–73 °C de operación recurrente</a:t>
            </a:r>
            <a:r>
              <a:rPr sz="175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Estrés térmico evidenciado:</a:t>
            </a:r>
            <a:r>
              <a:rPr sz="170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Enfriamiento convectivo limitado:</a:t>
            </a:r>
            <a:r>
              <a:rPr sz="170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Consecuencia en voltaje [De Soto et al., 2006]:</a:t>
            </a:r>
            <a:r>
              <a:rPr sz="1700">
                <a:solidFill>
                  <a:srgbClr val="FBFCFD"/>
                </a:solidFill>
              </a:rPr>
              <a:t> el calentamiento eleva I</a:t>
            </a:r>
            <a:r>
              <a:rPr sz="1300">
                <a:solidFill>
                  <a:srgbClr val="FBFCFD"/>
                </a:solidFill>
              </a:rPr>
              <a:t>0</a:t>
            </a:r>
            <a:r>
              <a:rPr sz="1700">
                <a:solidFill>
                  <a:srgbClr val="FBFCFD"/>
                </a:solidFill>
              </a:rPr>
              <a:t> exponencialmente, deprimiendo V</a:t>
            </a:r>
            <a:r>
              <a:rPr sz="1300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R² ≈ 0.99</a:t>
            </a:r>
            <a:r>
              <a:rPr sz="1750">
                <a:solidFill>
                  <a:srgbClr val="FBFCFD"/>
                </a:solidFill>
              </a:rPr>
              <a:t>  | 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Misma meteorología:</a:t>
            </a:r>
            <a:r>
              <a:rPr sz="1700">
                <a:solidFill>
                  <a:srgbClr val="FBFCFD"/>
                </a:solidFill>
              </a:rPr>
              <a:t> cada punto compara la P</a:t>
            </a:r>
            <a:r>
              <a:rPr sz="1300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700" b="1">
                <a:solidFill>
                  <a:srgbClr val="FBFCFD"/>
                </a:solidFill>
              </a:rPr>
              <a:t>medida</a:t>
            </a:r>
            <a:r>
              <a:rPr sz="1700">
                <a:solidFill>
                  <a:srgbClr val="FBFCFD"/>
                </a:solidFill>
              </a:rPr>
              <a:t> por el trazador NREL con la </a:t>
            </a:r>
            <a:r>
              <a:rPr sz="1700" b="1">
                <a:solidFill>
                  <a:srgbClr val="FBFCFD"/>
                </a:solidFill>
              </a:rPr>
              <a:t>simulada</a:t>
            </a:r>
            <a:r>
              <a:rPr sz="1700">
                <a:solidFill>
                  <a:srgbClr val="FBFCFD"/>
                </a:solidFill>
              </a:rPr>
              <a:t> por el SDM bajo el mismo G y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Fidelidad del circuito:</a:t>
            </a:r>
            <a:r>
              <a:rPr sz="170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Zonas de discrepancia:</a:t>
            </a:r>
            <a:r>
              <a:rPr sz="170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700">
                <a:solidFill>
                  <a:srgbClr val="FBFCFD"/>
                </a:solidFill>
              </a:rPr>
              <a:t> 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Problema mal condicionado:</a:t>
            </a:r>
            <a:r>
              <a:rPr sz="1700">
                <a:solidFill>
                  <a:srgbClr val="FBFCFD"/>
                </a:solidFill>
              </a:rPr>
              <a:t> múltiples pares (R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Mitigación aplicada:</a:t>
            </a:r>
            <a:r>
              <a:rPr sz="1700">
                <a:solidFill>
                  <a:srgbClr val="FBFCFD"/>
                </a:solidFill>
              </a:rPr>
              <a:t> bounds estrictos en el optimizador — 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sh</a:t>
            </a:r>
            <a:r>
              <a:rPr sz="1700" b="1">
                <a:solidFill>
                  <a:srgbClr val="FBFCFD"/>
                </a:solidFill>
              </a:rPr>
              <a:t> e irradiancia:</a:t>
            </a:r>
            <a:r>
              <a:rPr sz="1700">
                <a:solidFill>
                  <a:srgbClr val="FBFCFD"/>
                </a:solidFill>
              </a:rPr>
              <a:t> la relación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= R</a:t>
            </a:r>
            <a:r>
              <a:rPr sz="1300">
                <a:solidFill>
                  <a:srgbClr val="FBFCFD"/>
                </a:solidFill>
              </a:rPr>
              <a:t>sh,ref</a:t>
            </a:r>
            <a:r>
              <a:rPr sz="1700">
                <a:solidFill>
                  <a:srgbClr val="FBFCFD"/>
                </a:solidFill>
              </a:rPr>
              <a:t>·(S</a:t>
            </a:r>
            <a:r>
              <a:rPr sz="1300">
                <a:solidFill>
                  <a:srgbClr val="FBFCFD"/>
                </a:solidFill>
              </a:rPr>
              <a:t>ref</a:t>
            </a:r>
            <a:r>
              <a:rPr sz="170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</a:t>
            </a:r>
            <a:r>
              <a:rPr sz="1700" b="1">
                <a:solidFill>
                  <a:srgbClr val="FBFCFD"/>
                </a:solidFill>
              </a:rPr>
              <a:t> constante con la temperatura:</a:t>
            </a:r>
            <a:r>
              <a:rPr sz="1700">
                <a:solidFill>
                  <a:srgbClr val="FBFCFD"/>
                </a:solidFill>
              </a:rPr>
              <a:t> ignora el cambio de resistividad del semiconductor con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Bandgap lineal con la temperatura:</a:t>
            </a:r>
            <a:r>
              <a:rPr sz="1700">
                <a:solidFill>
                  <a:srgbClr val="FBFCFD"/>
                </a:solidFill>
              </a:rPr>
              <a:t> se asume dE</a:t>
            </a:r>
            <a:r>
              <a:rPr sz="1300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m-Si: </a:t>
            </a:r>
            <a:r>
              <a:rPr sz="1750" b="1">
                <a:solidFill>
                  <a:srgbClr val="FBFCFD"/>
                </a:solidFill>
              </a:rPr>
              <a:t>−0.40 %/°C</a:t>
            </a:r>
            <a:r>
              <a:rPr sz="175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HIT: </a:t>
            </a:r>
            <a:r>
              <a:rPr sz="1750" b="1">
                <a:solidFill>
                  <a:srgbClr val="FBFCFD"/>
                </a:solidFill>
              </a:rPr>
              <a:t>−0.26 %/°C</a:t>
            </a:r>
            <a:r>
              <a:rPr sz="175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HIT (naranja):</a:t>
            </a:r>
            <a:r>
              <a:rPr sz="170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m-Si (azul):</a:t>
            </a:r>
            <a:r>
              <a:rPr sz="170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Consecuencia:</a:t>
            </a:r>
            <a:r>
              <a:rPr sz="170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559292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02152"/>
            <a:ext cx="548319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9200"/>
            <a:ext cx="5190591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Recurso escalado:</a:t>
            </a:r>
            <a:r>
              <a:rPr sz="18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ΔPR +2.39 pts → ≈ +60 kWh/kWp·año → </a:t>
            </a:r>
            <a:r>
              <a:rPr sz="1800" b="1">
                <a:solidFill>
                  <a:srgbClr val="FBFCFD"/>
                </a:solidFill>
              </a:rPr>
              <a:t>~6,000 MWh</a:t>
            </a:r>
            <a:r>
              <a:rPr sz="18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Precio de venta ≈ 45 USD/MWh → </a:t>
            </a:r>
            <a:r>
              <a:rPr sz="1800" b="1">
                <a:solidFill>
                  <a:srgbClr val="FBFCFD"/>
                </a:solidFill>
              </a:rPr>
              <a:t>~USD 270k/año</a:t>
            </a:r>
            <a:r>
              <a:rPr sz="18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La prima CAPEX de los módulos HIT se </a:t>
            </a:r>
            <a:r>
              <a:rPr sz="1800" b="1">
                <a:solidFill>
                  <a:srgbClr val="FBFCFD"/>
                </a:solidFill>
              </a:rPr>
              <a:t>amortiza con holgura</a:t>
            </a:r>
            <a:r>
              <a:rPr sz="18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Magnitudes de Florida:</a:t>
            </a:r>
            <a:r>
              <a:rPr sz="17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Cobertura temporal:</a:t>
            </a:r>
            <a:r>
              <a:rPr sz="17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α</a:t>
            </a:r>
            <a:r>
              <a:rPr sz="1350" b="1">
                <a:solidFill>
                  <a:srgbClr val="FBFCFD"/>
                </a:solidFill>
              </a:rPr>
              <a:t>Isc</a:t>
            </a:r>
            <a:r>
              <a:rPr sz="1750" b="1">
                <a:solidFill>
                  <a:srgbClr val="FBFCFD"/>
                </a:solidFill>
              </a:rPr>
              <a:t> de literatura:</a:t>
            </a:r>
            <a:r>
              <a:rPr sz="17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Sin pérdidas ópticas/espectrales:</a:t>
            </a:r>
            <a:r>
              <a:rPr sz="17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Albedo fijo 0.25</a:t>
            </a:r>
            <a:r>
              <a:rPr sz="1750">
                <a:solidFill>
                  <a:srgbClr val="FBFCFD"/>
                </a:solidFill>
              </a:rPr>
              <a:t> (default pvlib) y </a:t>
            </a:r>
            <a:r>
              <a:rPr sz="1750" b="1">
                <a:solidFill>
                  <a:srgbClr val="FBFCFD"/>
                </a:solidFill>
              </a:rPr>
              <a:t>viento fijo 1 m/s</a:t>
            </a:r>
            <a:r>
              <a:rPr sz="17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P</a:t>
            </a:r>
            <a:r>
              <a:rPr sz="1350" b="1">
                <a:solidFill>
                  <a:srgbClr val="FBFCFD"/>
                </a:solidFill>
              </a:rPr>
              <a:t>STC</a:t>
            </a:r>
            <a:r>
              <a:rPr sz="1750" b="1">
                <a:solidFill>
                  <a:srgbClr val="FBFCFD"/>
                </a:solidFill>
              </a:rPr>
              <a:t> del SDM</a:t>
            </a:r>
            <a:r>
              <a:rPr sz="17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Sin soiling ni mismatch:</a:t>
            </a:r>
            <a:r>
              <a:rPr sz="17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1. </a:t>
            </a:r>
            <a:r>
              <a:rPr sz="1750" b="1">
                <a:solidFill>
                  <a:srgbClr val="FBFCFD"/>
                </a:solidFill>
              </a:rPr>
              <a:t>Fidelidad metodológica:</a:t>
            </a:r>
            <a:r>
              <a:rPr sz="17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2. </a:t>
            </a:r>
            <a:r>
              <a:rPr sz="1750" b="1">
                <a:solidFill>
                  <a:srgbClr val="FBFCFD"/>
                </a:solidFill>
              </a:rPr>
              <a:t>Pipeline de datos robusto:</a:t>
            </a:r>
            <a:r>
              <a:rPr sz="17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3. </a:t>
            </a:r>
            <a:r>
              <a:rPr sz="1750" b="1">
                <a:solidFill>
                  <a:srgbClr val="FBFCFD"/>
                </a:solidFill>
              </a:rPr>
              <a:t>Ajuste robusto:</a:t>
            </a:r>
            <a:r>
              <a:rPr sz="17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4. </a:t>
            </a:r>
            <a:r>
              <a:rPr sz="1750" b="1">
                <a:solidFill>
                  <a:srgbClr val="FBFCFD"/>
                </a:solidFill>
              </a:rPr>
              <a:t>HIT vencedor:</a:t>
            </a:r>
            <a:r>
              <a:rPr sz="17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Aplicar IAM y corrección espectral AM</a:t>
            </a:r>
            <a:r>
              <a:rPr sz="17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Escalar el recurso a magnitudes de Atacama</a:t>
            </a:r>
            <a:r>
              <a:rPr sz="17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Bifacialidad:</a:t>
            </a:r>
            <a:r>
              <a:rPr sz="17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Soiling desértico:</a:t>
            </a:r>
            <a:r>
              <a:rPr sz="17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Modelo de doble diodo:</a:t>
            </a:r>
            <a:r>
              <a:rPr sz="17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G</a:t>
            </a:r>
            <a:r>
              <a:rPr sz="1400">
                <a:solidFill>
                  <a:srgbClr val="F1C40F"/>
                </a:solidFill>
              </a:rPr>
              <a:t>b</a:t>
            </a:r>
            <a:r>
              <a:rPr sz="1800">
                <a:solidFill>
                  <a:srgbClr val="F1C40F"/>
                </a:solidFill>
              </a:rPr>
              <a:t> / G</a:t>
            </a:r>
            <a:r>
              <a:rPr sz="1400">
                <a:solidFill>
                  <a:srgbClr val="F1C40F"/>
                </a:solidFill>
              </a:rPr>
              <a:t>d</a:t>
            </a:r>
            <a:r>
              <a:rPr sz="180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ρ: albedo = 0.25 (default </a:t>
            </a:r>
            <a:r>
              <a:rPr sz="1700">
                <a:solidFill>
                  <a:srgbClr val="7FDBFF"/>
                </a:solidFill>
                <a:latin typeface="Consolas"/>
              </a:rPr>
              <a:t>pvlib</a:t>
            </a:r>
            <a:r>
              <a:rPr sz="180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R</a:t>
            </a:r>
            <a:r>
              <a:rPr sz="1400">
                <a:solidFill>
                  <a:srgbClr val="F1C40F"/>
                </a:solidFill>
              </a:rPr>
              <a:t>beam</a:t>
            </a:r>
            <a:r>
              <a:rPr sz="180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G</a:t>
            </a:r>
            <a:r>
              <a:rPr sz="1400">
                <a:solidFill>
                  <a:srgbClr val="F1C40F"/>
                </a:solidFill>
              </a:rPr>
              <a:t>d,perez</a:t>
            </a:r>
            <a:r>
              <a:rPr sz="180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  brillo de horizonte), evaluada por </a:t>
            </a:r>
            <a:r>
              <a:rPr sz="170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8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80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80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80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Salida: </a:t>
            </a:r>
            <a:r>
              <a:rPr sz="1700">
                <a:solidFill>
                  <a:srgbClr val="7FDBFF"/>
                </a:solidFill>
                <a:latin typeface="Consolas"/>
              </a:rPr>
              <a:t>poa_global</a:t>
            </a:r>
            <a:r>
              <a:rPr sz="1800">
                <a:solidFill>
                  <a:srgbClr val="FBFCFD"/>
                </a:solidFill>
              </a:rPr>
              <a:t> con </a:t>
            </a:r>
            <a:r>
              <a:rPr sz="1700">
                <a:solidFill>
                  <a:srgbClr val="7FDBFF"/>
                </a:solidFill>
                <a:latin typeface="Consolas"/>
              </a:rPr>
              <a:t>clip(≥0)</a:t>
            </a:r>
            <a:r>
              <a:rPr sz="180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023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023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0352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Estado en este estudio:</a:t>
            </a:r>
            <a:r>
              <a:rPr sz="1700">
                <a:solidFill>
                  <a:srgbClr val="FBFCFD"/>
                </a:solidFill>
              </a:rPr>
              <a:t> ecuaciones revisadas en la literatura pero </a:t>
            </a:r>
            <a:r>
              <a:rPr sz="1700" b="1">
                <a:solidFill>
                  <a:srgbClr val="FBFCFD"/>
                </a:solidFill>
              </a:rPr>
              <a:t>no ejecutadas por el pipeline</a:t>
            </a:r>
            <a:r>
              <a:rPr sz="170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/ T</a:t>
            </a:r>
            <a:r>
              <a:rPr sz="1400">
                <a:solidFill>
                  <a:srgbClr val="FBFCFD"/>
                </a:solidFill>
              </a:rPr>
              <a:t>a</a:t>
            </a:r>
            <a:r>
              <a:rPr sz="180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</a:t>
            </a:r>
            <a:r>
              <a:rPr sz="180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v</a:t>
            </a:r>
            <a:r>
              <a:rPr sz="1400">
                <a:solidFill>
                  <a:srgbClr val="FBFCFD"/>
                </a:solidFill>
              </a:rPr>
              <a:t>w</a:t>
            </a:r>
            <a:r>
              <a:rPr sz="180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m-Si — </a:t>
            </a:r>
            <a:r>
              <a:rPr sz="170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80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HIT — </a:t>
            </a:r>
            <a:r>
              <a:rPr sz="170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80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 b="1">
                <a:solidFill>
                  <a:srgbClr val="FBFCFD"/>
                </a:solidFill>
              </a:rPr>
              <a:t>Fuente:</a:t>
            </a:r>
            <a:r>
              <a:rPr sz="1800">
                <a:solidFill>
                  <a:srgbClr val="FBFCFD"/>
                </a:solidFill>
              </a:rPr>
              <a:t> </a:t>
            </a:r>
            <a:r>
              <a:rPr sz="170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80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7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8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s</a:t>
            </a:r>
            <a:r>
              <a:rPr sz="180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I</a:t>
            </a:r>
            <a:r>
              <a:rPr sz="180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L</a:t>
            </a:r>
            <a:r>
              <a:rPr sz="180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0</a:t>
            </a:r>
            <a:r>
              <a:rPr sz="18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 / 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k / q /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β</a:t>
            </a:r>
            <a:r>
              <a:rPr sz="1350">
                <a:solidFill>
                  <a:srgbClr val="F1C40F"/>
                </a:solidFill>
              </a:rPr>
              <a:t>Voc</a:t>
            </a:r>
            <a:r>
              <a:rPr sz="1750">
                <a:solidFill>
                  <a:srgbClr val="F1C40F"/>
                </a:solidFill>
              </a:rPr>
              <a:t> (medido): regresión lineal V</a:t>
            </a:r>
            <a:r>
              <a:rPr sz="1350">
                <a:solidFill>
                  <a:srgbClr val="F1C40F"/>
                </a:solidFill>
              </a:rPr>
              <a:t>oc</a:t>
            </a:r>
            <a:r>
              <a:rPr sz="1750">
                <a:solidFill>
                  <a:srgbClr val="F1C40F"/>
                </a:solidFill>
              </a:rPr>
              <a:t> vs T</a:t>
            </a:r>
            <a:r>
              <a:rPr sz="1350">
                <a:solidFill>
                  <a:srgbClr val="F1C40F"/>
                </a:solidFill>
              </a:rPr>
              <a:t>c</a:t>
            </a:r>
            <a:r>
              <a:rPr sz="17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α</a:t>
            </a:r>
            <a:r>
              <a:rPr sz="1350">
                <a:solidFill>
                  <a:srgbClr val="F1C40F"/>
                </a:solidFill>
              </a:rPr>
              <a:t>Isc</a:t>
            </a:r>
            <a:r>
              <a:rPr sz="17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Promedios de la ventana → I</a:t>
            </a:r>
            <a:r>
              <a:rPr sz="1350">
                <a:solidFill>
                  <a:srgbClr val="F1C40F"/>
                </a:solidFill>
              </a:rPr>
              <a:t>sc,ref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oc,ref</a:t>
            </a:r>
            <a:r>
              <a:rPr sz="1750">
                <a:solidFill>
                  <a:srgbClr val="F1C40F"/>
                </a:solidFill>
              </a:rPr>
              <a:t>, I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7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Voc</a:t>
            </a:r>
            <a:r>
              <a:rPr sz="17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Isc</a:t>
            </a:r>
            <a:r>
              <a:rPr sz="17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MPP</a:t>
            </a:r>
            <a:r>
              <a:rPr sz="1700">
                <a:solidFill>
                  <a:srgbClr val="F1C40F"/>
                </a:solidFill>
              </a:rPr>
              <a:t>: corriente correcta en (V</a:t>
            </a:r>
            <a:r>
              <a:rPr sz="1300">
                <a:solidFill>
                  <a:srgbClr val="F1C40F"/>
                </a:solidFill>
              </a:rPr>
              <a:t>mp</a:t>
            </a:r>
            <a:r>
              <a:rPr sz="1700">
                <a:solidFill>
                  <a:srgbClr val="F1C40F"/>
                </a:solidFill>
              </a:rPr>
              <a:t>, I</a:t>
            </a:r>
            <a:r>
              <a:rPr sz="1300">
                <a:solidFill>
                  <a:srgbClr val="F1C40F"/>
                </a:solidFill>
              </a:rPr>
              <a:t>mp</a:t>
            </a:r>
            <a:r>
              <a:rPr sz="17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700" b="1">
                <a:solidFill>
                  <a:srgbClr val="F1C40F"/>
                </a:solidFill>
              </a:rPr>
              <a:t>Regularización física (bounds):</a:t>
            </a:r>
            <a:r>
              <a:rPr sz="1700">
                <a:solidFill>
                  <a:srgbClr val="F1C40F"/>
                </a:solidFill>
              </a:rPr>
              <a:t>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∈ [0.001, 2] Ω · R</a:t>
            </a:r>
            <a:r>
              <a:rPr sz="1300">
                <a:solidFill>
                  <a:srgbClr val="F1C40F"/>
                </a:solidFill>
              </a:rPr>
              <a:t>sh</a:t>
            </a:r>
            <a:r>
              <a:rPr sz="1700">
                <a:solidFill>
                  <a:srgbClr val="F1C40F"/>
                </a:solidFill>
              </a:rPr>
              <a:t> ∈ [100, 10⁴] Ω · n</a:t>
            </a:r>
            <a:r>
              <a:rPr sz="1300">
                <a:solidFill>
                  <a:srgbClr val="F1C40F"/>
                </a:solidFill>
              </a:rPr>
              <a:t>I</a:t>
            </a:r>
            <a:r>
              <a:rPr sz="1700">
                <a:solidFill>
                  <a:srgbClr val="F1C40F"/>
                </a:solidFill>
              </a:rPr>
              <a:t> ∈ [1, 2] · I</a:t>
            </a:r>
            <a:r>
              <a:rPr sz="1300">
                <a:solidFill>
                  <a:srgbClr val="F1C40F"/>
                </a:solidFill>
              </a:rPr>
              <a:t>L</a:t>
            </a:r>
            <a:r>
              <a:rPr sz="1700">
                <a:solidFill>
                  <a:srgbClr val="F1C40F"/>
                </a:solidFill>
              </a:rPr>
              <a:t> ± 10 % · I</a:t>
            </a:r>
            <a:r>
              <a:rPr sz="1300">
                <a:solidFill>
                  <a:srgbClr val="F1C40F"/>
                </a:solidFill>
              </a:rPr>
              <a:t>0</a:t>
            </a:r>
            <a:r>
              <a:rPr sz="17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700" b="1">
                <a:solidFill>
                  <a:srgbClr val="F1C40F"/>
                </a:solidFill>
              </a:rPr>
              <a:t>Inicialización analítica:</a:t>
            </a:r>
            <a:r>
              <a:rPr sz="1700">
                <a:solidFill>
                  <a:srgbClr val="F1C40F"/>
                </a:solidFill>
              </a:rPr>
              <a:t> a₀ = N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·1.2·kT/q; I</a:t>
            </a:r>
            <a:r>
              <a:rPr sz="1300">
                <a:solidFill>
                  <a:srgbClr val="F1C40F"/>
                </a:solidFill>
              </a:rPr>
              <a:t>0,0</a:t>
            </a:r>
            <a:r>
              <a:rPr sz="1700">
                <a:solidFill>
                  <a:srgbClr val="F1C40F"/>
                </a:solidFill>
              </a:rPr>
              <a:t> = I</a:t>
            </a:r>
            <a:r>
              <a:rPr sz="1300">
                <a:solidFill>
                  <a:srgbClr val="F1C40F"/>
                </a:solidFill>
              </a:rPr>
              <a:t>sc</a:t>
            </a:r>
            <a:r>
              <a:rPr sz="1700">
                <a:solidFill>
                  <a:srgbClr val="F1C40F"/>
                </a:solidFill>
              </a:rPr>
              <a:t>·exp(−V</a:t>
            </a:r>
            <a:r>
              <a:rPr sz="1300">
                <a:solidFill>
                  <a:srgbClr val="F1C40F"/>
                </a:solidFill>
              </a:rPr>
              <a:t>oc</a:t>
            </a:r>
            <a:r>
              <a:rPr sz="17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1. Corriente fotogenerada (I</a:t>
            </a:r>
            <a:r>
              <a:rPr sz="1350">
                <a:solidFill>
                  <a:srgbClr val="FBFCFD"/>
                </a:solidFill>
              </a:rPr>
              <a:t>L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2. Corriente de saturación inversa (I</a:t>
            </a:r>
            <a:r>
              <a:rPr sz="1350">
                <a:solidFill>
                  <a:srgbClr val="FBFCFD"/>
                </a:solidFill>
              </a:rPr>
              <a:t>0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4. Resistencia shunt (R</a:t>
            </a:r>
            <a:r>
              <a:rPr sz="1350">
                <a:solidFill>
                  <a:srgbClr val="FBFCFD"/>
                </a:solidFill>
              </a:rPr>
              <a:t>sh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5. Energía de bandgap del Silicio (E</a:t>
            </a:r>
            <a:r>
              <a:rPr sz="1350">
                <a:solidFill>
                  <a:srgbClr val="FBFCFD"/>
                </a:solidFill>
              </a:rPr>
              <a:t>g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constante: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= R</a:t>
            </a:r>
            <a:r>
              <a:rPr sz="1300">
                <a:solidFill>
                  <a:srgbClr val="F1C40F"/>
                </a:solidFill>
              </a:rPr>
              <a:t>s,ref</a:t>
            </a:r>
            <a:r>
              <a:rPr sz="170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R</a:t>
            </a:r>
            <a:r>
              <a:rPr sz="1300">
                <a:solidFill>
                  <a:srgbClr val="F1C40F"/>
                </a:solidFill>
              </a:rPr>
              <a:t>sh</a:t>
            </a:r>
            <a:r>
              <a:rPr sz="170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g,ref</a:t>
            </a:r>
            <a:r>
              <a:rPr sz="170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S = G</a:t>
            </a:r>
            <a:r>
              <a:rPr sz="1300">
                <a:solidFill>
                  <a:srgbClr val="F1C40F"/>
                </a:solidFill>
              </a:rPr>
              <a:t>poa</a:t>
            </a:r>
            <a:r>
              <a:rPr sz="170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Implementado por </a:t>
            </a:r>
            <a:r>
              <a:rPr sz="160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7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</a:t>
            </a:r>
            <a:r>
              <a:rPr sz="1400">
                <a:solidFill>
                  <a:srgbClr val="FBFCFD"/>
                </a:solidFill>
              </a:rPr>
              <a:t>mp,t</a:t>
            </a:r>
            <a:r>
              <a:rPr sz="180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</a:t>
            </a:r>
            <a:r>
              <a:rPr sz="1400">
                <a:solidFill>
                  <a:srgbClr val="FBFCFD"/>
                </a:solidFill>
              </a:rPr>
              <a:t>STC</a:t>
            </a:r>
            <a:r>
              <a:rPr sz="1800">
                <a:solidFill>
                  <a:srgbClr val="FBFCFD"/>
                </a:solidFill>
              </a:rPr>
              <a:t>: potencia nominal del </a:t>
            </a:r>
            <a:r>
              <a:rPr sz="1800" b="1">
                <a:solidFill>
                  <a:srgbClr val="FBFCFD"/>
                </a:solidFill>
              </a:rPr>
              <a:t>mismo SDM</a:t>
            </a:r>
            <a:r>
              <a:rPr sz="180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poa,t</a:t>
            </a:r>
            <a:r>
              <a:rPr sz="180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ref</a:t>
            </a:r>
            <a:r>
              <a:rPr sz="180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Térmicas:</a:t>
            </a:r>
            <a:r>
              <a:rPr sz="1800">
                <a:solidFill>
                  <a:srgbClr val="FBFCFD"/>
                </a:solidFill>
              </a:rPr>
              <a:t> caídas por elevada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Óhmicas:</a:t>
            </a:r>
            <a:r>
              <a:rPr sz="1800">
                <a:solidFill>
                  <a:srgbClr val="FBFCFD"/>
                </a:solidFill>
              </a:rPr>
              <a:t> pérdidas resistivas en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 bajo G:</a:t>
            </a:r>
            <a:r>
              <a:rPr sz="1800">
                <a:solidFill>
                  <a:srgbClr val="FBFCFD"/>
                </a:solidFill>
              </a:rPr>
              <a:t> comportamiento no lineal a baja irradiancia (R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Time Stamp</a:t>
            </a:r>
            <a:r>
              <a:rPr sz="180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Isc</a:t>
            </a:r>
            <a:r>
              <a:rPr sz="1800">
                <a:solidFill>
                  <a:srgbClr val="FBFCFD"/>
                </a:solidFill>
              </a:rPr>
              <a:t> (5), </a:t>
            </a:r>
            <a:r>
              <a:rPr sz="1700">
                <a:solidFill>
                  <a:srgbClr val="7FDBFF"/>
                </a:solidFill>
                <a:latin typeface="Consolas"/>
              </a:rPr>
              <a:t>Pmp</a:t>
            </a:r>
            <a:r>
              <a:rPr sz="1800">
                <a:solidFill>
                  <a:srgbClr val="FBFCFD"/>
                </a:solidFill>
              </a:rPr>
              <a:t> (7), </a:t>
            </a:r>
            <a:r>
              <a:rPr sz="1700">
                <a:solidFill>
                  <a:srgbClr val="7FDBFF"/>
                </a:solidFill>
                <a:latin typeface="Consolas"/>
              </a:rPr>
              <a:t>Imp</a:t>
            </a:r>
            <a:r>
              <a:rPr sz="1800">
                <a:solidFill>
                  <a:srgbClr val="FBFCFD"/>
                </a:solidFill>
              </a:rPr>
              <a:t> (9), </a:t>
            </a:r>
            <a:r>
              <a:rPr sz="1700">
                <a:solidFill>
                  <a:srgbClr val="7FDBFF"/>
                </a:solidFill>
                <a:latin typeface="Consolas"/>
              </a:rPr>
              <a:t>Vmp</a:t>
            </a:r>
            <a:r>
              <a:rPr sz="1800">
                <a:solidFill>
                  <a:srgbClr val="FBFCFD"/>
                </a:solidFill>
              </a:rPr>
              <a:t> (11), </a:t>
            </a:r>
            <a:r>
              <a:rPr sz="1700">
                <a:solidFill>
                  <a:srgbClr val="7FDBFF"/>
                </a:solidFill>
                <a:latin typeface="Consolas"/>
              </a:rPr>
              <a:t>Voc</a:t>
            </a:r>
            <a:r>
              <a:rPr sz="180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FF</a:t>
            </a:r>
            <a:r>
              <a:rPr sz="180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800">
                <a:solidFill>
                  <a:srgbClr val="FBFCFD"/>
                </a:solidFill>
              </a:rPr>
              <a:t> (20), </a:t>
            </a:r>
            <a:r>
              <a:rPr sz="170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80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DNI</a:t>
            </a:r>
            <a:r>
              <a:rPr sz="1800">
                <a:solidFill>
                  <a:srgbClr val="FBFCFD"/>
                </a:solidFill>
              </a:rPr>
              <a:t> (27), </a:t>
            </a:r>
            <a:r>
              <a:rPr sz="1700">
                <a:solidFill>
                  <a:srgbClr val="7FDBFF"/>
                </a:solidFill>
                <a:latin typeface="Consolas"/>
              </a:rPr>
              <a:t>GHI</a:t>
            </a:r>
            <a:r>
              <a:rPr sz="1800">
                <a:solidFill>
                  <a:srgbClr val="FBFCFD"/>
                </a:solidFill>
              </a:rPr>
              <a:t> (30), </a:t>
            </a:r>
            <a:r>
              <a:rPr sz="1700">
                <a:solidFill>
                  <a:srgbClr val="7FDBFF"/>
                </a:solidFill>
                <a:latin typeface="Consolas"/>
              </a:rPr>
              <a:t>DHI</a:t>
            </a:r>
            <a:r>
              <a:rPr sz="180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POA CMP22</a:t>
            </a:r>
            <a:r>
              <a:rPr sz="180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80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80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700">
                <a:solidFill>
                  <a:srgbClr val="7FDBFF"/>
                </a:solidFill>
                <a:latin typeface="Consolas"/>
              </a:rPr>
              <a:t>99:99</a:t>
            </a:r>
            <a:r>
              <a:rPr sz="180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