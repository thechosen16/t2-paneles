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0.0 → 0.3 | 20 s]</a:t>
            </a:r>
          </a:p>
          <a:p>
            <a:r>
              <a:t>Saludo. Somos consultores técnicos: ¿qué tecnología PV conviene instalar en Atacama en 2026? Respuesta basada en datos medidos, no en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0.3 → 1.3 | 60 s]</a:t>
            </a:r>
          </a:p>
          <a:p>
            <a:r>
              <a:t>Atacama = mejor recurso solar del mundo, pero las celdas operan a 65-73 °C y el calor degrada la potencia. Objetivo: cuantificar qué tecnología resiste mejor.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1.3 → 2.2 | 50 s]</a:t>
            </a:r>
          </a:p>
          <a:p>
            <a:r>
              <a:t>De las 5 familias del dataset elegimos los 2 extremos térmicos comercialmente viables: m-Si (estándar, sensible) vs HIT (premium, tolerante).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2.2 → 3.0 | 50 s]</a:t>
            </a:r>
          </a:p>
          <a:p>
            <a:r>
              <a:t>Cuatro modelos publicados encadenados: Perez (POA), Sandia (Tc), De Soto SDM (eléctrico) y su escalamiento. IAM/AM revisados pero NO aplicados — honestidad.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3.0 → 4.0 | 60 s]</a:t>
            </a:r>
          </a:p>
          <a:p>
            <a:r>
              <a:t>Mapa del trabajo: 5 fases automatizadas desde 1.2 GB de CSV crudos hasta el PR. Esta lámina es la guía de las secciones siguientes.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4.0 → 4.8 | 50 s]</a:t>
            </a:r>
          </a:p>
          <a:p>
            <a:r>
              <a:t>La base: 11 módulos medidos en simultáneo cada 5 min por NREL. Usamos 11 columnas de 43; cada registro es una curva I-V real con su meteorología.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4.8 → 5.6 | 45 s]</a:t>
            </a:r>
          </a:p>
          <a:p>
            <a:r>
              <a:t>Los archivos no se pueden abrir con read_csv: fila variable + sentinelas -9999. Lector streaming propio → 97 % de registros útiles.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5.6 → 6.3 | 45 s]</a:t>
            </a:r>
          </a:p>
          <a:p>
            <a:r>
              <a:t>Trazabilidad completa: de 420 mil curvas brutas a 73 mil registros simulados. Cada filtro tiene número y razón.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6.3 → 7.3 | 60 s]</a:t>
            </a:r>
          </a:p>
          <a:p>
            <a:r>
              <a:t>Idea clave de la emulación: +6 meses alinea los solsticios entre hemisferios. Sin esto, simularíamos un Atacama con verano en julio.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7.3 → 8.1 | 45 s]</a:t>
            </a:r>
          </a:p>
          <a:p>
            <a:r>
              <a:t>Implementación: reescribir metadatos de sitio + desfase de fechas. Las magnitudes físicas NO se tocan — límite declarado del método.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8.1 → 8.8 | 40 s]</a:t>
            </a:r>
          </a:p>
          <a:p>
            <a:r>
              <a:t>Verificación previa: las 11 curvas POA del piranómetro patrón se superponen → los sensores son consistentes y la comparación entre módulos es justa.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8.8 → 9.5 | 45 s]</a:t>
            </a:r>
          </a:p>
          <a:p>
            <a:r>
              <a:t>Fase 2: Perez transpone GHI/DNI/DHI al plano del panel; Sandia estima la temperatura de celda con viento conservador de 1 m/s.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9.5 → 10.2 | 40 s]</a:t>
            </a:r>
          </a:p>
          <a:p>
            <a:r>
              <a:t>Para no expertos: en un día despejado la celda sigue al sol y supera los 60 °C. Cada grado sobre 25 °C cuesta potencia — eso es lo que vamos a medir.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10.2 → 10.9 | 45 s]</a:t>
            </a:r>
          </a:p>
          <a:p>
            <a:r>
              <a:t>Fase 3: coeficientes térmicos por regresión (β medido; α de literatura porque la regresión salió negativa) y ajuste de los 5 parámetros con bounds físicos.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10.9 → 11.9 | 60 s]</a:t>
            </a:r>
          </a:p>
          <a:p>
            <a:r>
              <a:t>Parámetros extraídos: el I0 de HIT es 10 veces menor (menos recombinación). Honestidad: Rs y Rsh quedan en su inicialización — lo discutimos en la lámina Rs-n.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11.9 → 12.6 | 40 s]</a:t>
            </a:r>
          </a:p>
          <a:p>
            <a:r>
              <a:t>Fase 4: para cada registro 5-min se escala el circuito con De Soto y se resuelve la potencia máxima con Lambert W. De ahí sale el PR 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12.6 → 13.5 | 55 s]</a:t>
            </a:r>
          </a:p>
          <a:p>
            <a:r>
              <a:t>Antes de comparar tecnologías, validamos el modelo: R² 0.99 contra la potencia medida por el trazador. Mismo G y Tc en ambos ejes — valida el circuito, no compara sitios.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13.5 → 14.5 | 60 s]</a:t>
            </a:r>
          </a:p>
          <a:p>
            <a:r>
              <a:t>Punto conflictual exigido por la pauta: Rs y n están acoplados (mal condicionado). Mitigación: bounds + inicialización analítica. Evidencia: nI=1.20 en ambas tecnologías.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14.5 → 15.4 | 55 s]</a:t>
            </a:r>
          </a:p>
          <a:p>
            <a:r>
              <a:t>El gráfico clave: la pendiente térmica de m-Si es el doble de empinada. El calor castiga justo al mediodía, cuando más energía hay en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15.4 → 16.6 | 70 s]</a:t>
            </a:r>
          </a:p>
          <a:p>
            <a:r>
              <a:t>Veredicto: HIT 86.92 % vs m-Si 84.53 % → +2.39 puntos. En 100 MWp son ~6,000 MWh y ~USD 270k al año. La prima CAPEX de HIT se justifica.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16.6 → 17.2 | 40 s]</a:t>
            </a:r>
          </a:p>
          <a:p>
            <a:r>
              <a:t>Cierre de consultoría: cada requisito de la pauta tiene método, lámina de evidencia y resultado. Nada quedó sin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17.2 → 18.2 | 60 s]</a:t>
            </a:r>
          </a:p>
          <a:p>
            <a:r>
              <a:t>Transparencia: las magnitudes siguen siendo de Florida (comparación válida, valores absolutos conservadores), α de literatura, sin pérdidas ópticas ni de planta.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18.2 → 19.2 | 60 s]</a:t>
            </a:r>
          </a:p>
          <a:p>
            <a:r>
              <a:t>HIT gana por física (menor coeficiente térmico) con metodología validada. Futuro: aplicar IAM/AM, escalar recurso a TMY de Atacama, soiling y doble diodo.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19.2 → 19.4 | 10 s]</a:t>
            </a:r>
          </a:p>
          <a:p>
            <a:r>
              <a:t>Referencias disponibles. Gracias — abrimos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Irradiación excepcional:</a:t>
            </a:r>
            <a:r>
              <a:rPr sz="1750">
                <a:solidFill>
                  <a:srgbClr val="FBFCFD"/>
                </a:solidFill>
              </a:rPr>
              <a:t> GHI anual &gt; 2,900 kWh/m² en el norte de Chile (máxima mundial) — motivación del sitio.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Cielos limpios y altitud:</a:t>
            </a:r>
            <a:r>
              <a:rPr sz="1750">
                <a:solidFill>
                  <a:srgbClr val="FBFCFD"/>
                </a:solidFill>
              </a:rPr>
              <a:t> baja atenuación atmosférica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Sitio simulado:</a:t>
            </a:r>
            <a:r>
              <a:rPr sz="175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Base experimental:</a:t>
            </a:r>
            <a:r>
              <a:rPr sz="1750">
                <a:solidFill>
                  <a:srgbClr val="FBFCFD"/>
                </a:solidFill>
              </a:rPr>
              <a:t> mediciones NREL (Cocoa, Florida) emuladas estacionalmente al hemisferio sur (Limitaciones, Lám. 22).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Calentamiento severo:</a:t>
            </a:r>
            <a:r>
              <a:rPr sz="175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Degradación térmica:</a:t>
            </a:r>
            <a:r>
              <a:rPr sz="1750">
                <a:solidFill>
                  <a:srgbClr val="FBFCFD"/>
                </a:solidFill>
              </a:rPr>
              <a:t> la potencia máxima y el voltaje de circuito abierto caen al subir la temperatura de celda (T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Objetivo:</a:t>
            </a:r>
            <a:r>
              <a:rPr sz="1750">
                <a:solidFill>
                  <a:srgbClr val="FBFCFD"/>
                </a:solidFill>
              </a:rPr>
              <a:t> modelar registro a registro (cadencia 5 min) qué tecnología — </a:t>
            </a:r>
            <a:r>
              <a:rPr sz="1750" b="1">
                <a:solidFill>
                  <a:srgbClr val="FBFCFD"/>
                </a:solidFill>
              </a:rPr>
              <a:t>m-Si</a:t>
            </a:r>
            <a:r>
              <a:rPr sz="1750">
                <a:solidFill>
                  <a:srgbClr val="FBFCFD"/>
                </a:solidFill>
              </a:rPr>
              <a:t> o </a:t>
            </a:r>
            <a:r>
              <a:rPr sz="1750" b="1">
                <a:solidFill>
                  <a:srgbClr val="FBFCFD"/>
                </a:solidFill>
              </a:rPr>
              <a:t>HIT</a:t>
            </a:r>
            <a:r>
              <a:rPr sz="1750">
                <a:solidFill>
                  <a:srgbClr val="FBFCFD"/>
                </a:solidFill>
              </a:rPr>
              <a:t> — resiste mejor el estrés térmico desértico durante 2026, y traducirlo a PR anual.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91640"/>
          <a:ext cx="110029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502920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34924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500">
                <a:solidFill>
                  <a:srgbClr val="FBFCFD"/>
                </a:solidFill>
              </a:rPr>
              <a:t> circuito equivalente con pérdidas óhmicas en serie (R</a:t>
            </a:r>
            <a:r>
              <a:rPr sz="1100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) y fugas shunt (R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). (Anexo IV, Lám. 28)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500">
                <a:solidFill>
                  <a:srgbClr val="FBFCFD"/>
                </a:solidFill>
              </a:rPr>
              <a:t> estima la temperatura interna de celda desde POA y viento. (Anexo III, Lám. 27)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Transposición de Perez (1990):</a:t>
            </a:r>
            <a:r>
              <a:rPr sz="1500">
                <a:solidFill>
                  <a:srgbClr val="FBFCFD"/>
                </a:solidFill>
              </a:rPr>
              <a:t> lleva GHI/DNI/DHI al plano inclinado con cielo difuso anisotrópico. (Anexo I, Lám. 25)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Escalamiento De Soto (2006):</a:t>
            </a:r>
            <a:r>
              <a:rPr sz="1500">
                <a:solidFill>
                  <a:srgbClr val="FBFCFD"/>
                </a:solidFill>
              </a:rPr>
              <a:t> traslada los 5 parámetros desde STC a condiciones operacionales vía bandgap. (Anexo VI, Lám. 30)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Marco revisado NO aplicado:</a:t>
            </a:r>
            <a:r>
              <a:rPr sz="1500">
                <a:solidFill>
                  <a:srgbClr val="FBFCFD"/>
                </a:solidFill>
              </a:rPr>
              <a:t> modificadores ópticos IAM y espectral AM [King et al., 2004] — se documentan en (Anexo II, Lám. 26)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591" y="1783080"/>
            <a:ext cx="539496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4175" y="4251960"/>
            <a:ext cx="51905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Componentes del circuito equivalente (SDM):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</a:t>
            </a:r>
            <a:r>
              <a:rPr sz="1100" b="1">
                <a:solidFill>
                  <a:srgbClr val="FBFCFD"/>
                </a:solidFill>
              </a:rPr>
              <a:t>L</a:t>
            </a:r>
            <a:r>
              <a:rPr sz="1500" b="1">
                <a:solidFill>
                  <a:srgbClr val="FBFCFD"/>
                </a:solidFill>
              </a:rPr>
              <a:t> (Corriente fotogenerada):</a:t>
            </a:r>
            <a:r>
              <a:rPr sz="1500">
                <a:solidFill>
                  <a:srgbClr val="FBFCFD"/>
                </a:solidFill>
              </a:rPr>
              <a:t> proporcional a la irradiancia.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Diodo (D):</a:t>
            </a:r>
            <a:r>
              <a:rPr sz="1500">
                <a:solidFill>
                  <a:srgbClr val="FBFCFD"/>
                </a:solidFill>
              </a:rPr>
              <a:t> representa la recombinación en la unión P-N.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sh</a:t>
            </a:r>
            <a:r>
              <a:rPr sz="1500" b="1">
                <a:solidFill>
                  <a:srgbClr val="FBFCFD"/>
                </a:solidFill>
              </a:rPr>
              <a:t> (Resistencia shunt):</a:t>
            </a:r>
            <a:r>
              <a:rPr sz="1500">
                <a:solidFill>
                  <a:srgbClr val="FBFCFD"/>
                </a:solidFill>
              </a:rPr>
              <a:t> corriente de fuga interna.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</a:t>
            </a:r>
            <a:r>
              <a:rPr sz="1500" b="1">
                <a:solidFill>
                  <a:srgbClr val="FBFCFD"/>
                </a:solidFill>
              </a:rPr>
              <a:t> (Resistencia serie):</a:t>
            </a:r>
            <a:r>
              <a:rPr sz="1500">
                <a:solidFill>
                  <a:srgbClr val="FBFCFD"/>
                </a:solidFill>
              </a:rPr>
              <a:t> pérdidas óhmicas de contacto.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 / V:</a:t>
            </a:r>
            <a:r>
              <a:rPr sz="1500">
                <a:solidFill>
                  <a:srgbClr val="FBFCFD"/>
                </a:solidFill>
              </a:rPr>
              <a:t> corriente y voltaje de salida entregados.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33250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Flujo lógico de la simulación (Fases 0-4):</a:t>
            </a:r>
            <a:r>
              <a:rPr sz="17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dinámica (Fase 4) para obtener las series temporales de potencia y 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Campaña del </a:t>
            </a:r>
            <a:r>
              <a:rPr sz="1650" b="1">
                <a:solidFill>
                  <a:srgbClr val="FBFCFD"/>
                </a:solidFill>
              </a:rPr>
              <a:t>NREL</a:t>
            </a:r>
            <a:r>
              <a:rPr sz="1650">
                <a:solidFill>
                  <a:srgbClr val="FBFCFD"/>
                </a:solidFill>
              </a:rPr>
              <a:t> para validar modelos PV [Marion et al., 2014] en </a:t>
            </a:r>
            <a:r>
              <a:rPr sz="1650" b="1">
                <a:solidFill>
                  <a:srgbClr val="FBFCFD"/>
                </a:solidFill>
              </a:rPr>
              <a:t>Cocoa, Florida</a:t>
            </a:r>
            <a:r>
              <a:rPr sz="1650">
                <a:solidFill>
                  <a:srgbClr val="FBFCFD"/>
                </a:solidFill>
              </a:rPr>
              <a:t> (28.39° N,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Cada registro = una curva I-V completa</a:t>
            </a:r>
            <a:r>
              <a:rPr sz="1650">
                <a:solidFill>
                  <a:srgbClr val="FBFCFD"/>
                </a:solidFill>
              </a:rPr>
              <a:t> + meteorología instantánea + incertidumbres.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Seleccionados: </a:t>
            </a:r>
            <a:r>
              <a:rPr sz="1550">
                <a:solidFill>
                  <a:srgbClr val="7FDBFF"/>
                </a:solidFill>
                <a:latin typeface="Consolas"/>
              </a:rPr>
              <a:t>mSi0166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36,765 curvas</a:t>
            </a:r>
            <a:r>
              <a:rPr sz="1650">
                <a:solidFill>
                  <a:srgbClr val="FBFCFD"/>
                </a:solidFill>
              </a:rPr>
              <a:t>) y </a:t>
            </a:r>
            <a:r>
              <a:rPr sz="1550">
                <a:solidFill>
                  <a:srgbClr val="7FDBFF"/>
                </a:solidFill>
                <a:latin typeface="Consolas"/>
              </a:rPr>
              <a:t>HIT05667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38,377 curvas</a:t>
            </a:r>
            <a:r>
              <a:rPr sz="1650">
                <a:solidFill>
                  <a:srgbClr val="FBFCFD"/>
                </a:solidFill>
              </a:rPr>
              <a:t>) — criterio en Lám. 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variables usamos?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Usadas (11 columnas):</a:t>
            </a:r>
            <a:r>
              <a:rPr sz="165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Verificación:</a:t>
            </a:r>
            <a:r>
              <a:rPr sz="1650">
                <a:solidFill>
                  <a:srgbClr val="FBFCFD"/>
                </a:solidFill>
              </a:rPr>
              <a:t> POA del piranómetro CMP22 clase A (Lám. 11).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Descartadas:</a:t>
            </a:r>
            <a:r>
              <a:rPr sz="1650">
                <a:solidFill>
                  <a:srgbClr val="FBFCFD"/>
                </a:solidFill>
              </a:rPr>
              <a:t> cola de pares I-V crudos y columnas de QA — diccionario completo en (Anexo VIII, Lám. 32).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290945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FBFCFD"/>
                </a:solidFill>
              </a:rPr>
              <a:t>Proceso de ingesta y depuración:</a:t>
            </a:r>
            <a:r>
              <a:rPr sz="1650">
                <a:solidFill>
                  <a:srgbClr val="FBFCFD"/>
                </a:solidFill>
              </a:rPr>
              <a:t> Cada fila del CSV mezcla 43 columnas fijas con una cola de pares I-V de largo variable y sentinelas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— anatomía detallada en (Anexo IX, Lám. 33) —, lo que impide </a:t>
            </a:r>
            <a:r>
              <a:rPr sz="155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650">
                <a:solidFill>
                  <a:srgbClr val="FBFCFD"/>
                </a:solidFill>
              </a:rPr>
              <a:t> directo. El pipeline implementa un lector en flujo (streaming) que indexa solo las 11 variables útiles; luego reemplaza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por </a:t>
            </a:r>
            <a:r>
              <a:rPr sz="1550">
                <a:solidFill>
                  <a:srgbClr val="7FDBFF"/>
                </a:solidFill>
                <a:latin typeface="Consolas"/>
              </a:rPr>
              <a:t>NaN</a:t>
            </a:r>
            <a:r>
              <a:rPr sz="1650">
                <a:solidFill>
                  <a:srgbClr val="FBFCFD"/>
                </a:solidFill>
              </a:rPr>
              <a:t>, descarta filas nulas y recorta irradiancias negativas, conservando </a:t>
            </a:r>
            <a:r>
              <a:rPr sz="1650" b="1">
                <a:solidFill>
                  <a:srgbClr val="FBFCFD"/>
                </a:solidFill>
              </a:rPr>
              <a:t>97.0 % (m-Si) y 97.2 % (HIT)</a:t>
            </a:r>
            <a:r>
              <a:rPr sz="1650">
                <a:solidFill>
                  <a:srgbClr val="FBFCFD"/>
                </a:solidFill>
              </a:rPr>
              <a:t> de registros útiles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912" y="1188720"/>
            <a:ext cx="9169869" cy="3291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572000"/>
            <a:ext cx="11460175" cy="1078992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08576"/>
            <a:ext cx="11094415" cy="1005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Proceso de emulación temporal:</a:t>
            </a:r>
            <a:r>
              <a:rPr sz="1550">
                <a:solidFill>
                  <a:srgbClr val="FBFCFD"/>
                </a:solidFill>
              </a:rPr>
              <a:t> el código reescribe el sitio en los metadatos (lat −22.91°, 2,400 m, tilt 22.9°, azimut 0° N) y aplica un desfase de +6 meses a las fechas, proyectando el año a 2026: verano e invierno coinciden con el hemisferio sur </a:t>
            </a:r>
            <a:r>
              <a:rPr sz="1550" b="1">
                <a:solidFill>
                  <a:srgbClr val="FBFCFD"/>
                </a:solidFill>
              </a:rPr>
              <a:t>sin alterar los valores físicos medidos</a:t>
            </a:r>
            <a:r>
              <a:rPr sz="1550">
                <a:solidFill>
                  <a:srgbClr val="FBFCFD"/>
                </a:solidFill>
              </a:rPr>
              <a:t> — contraste climático completo en (Anexo X, Lám. 34).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742432"/>
            <a:ext cx="11460175" cy="71323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7900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Límite explícito del método:</a:t>
            </a:r>
            <a:r>
              <a:rPr sz="1550">
                <a:solidFill>
                  <a:srgbClr val="FBFCFD"/>
                </a:solidFill>
              </a:rPr>
              <a:t> se alinean estaciones y geometría solar; las </a:t>
            </a:r>
            <a:r>
              <a:rPr sz="1550" b="1">
                <a:solidFill>
                  <a:srgbClr val="FBFCFD"/>
                </a:solidFill>
              </a:rPr>
              <a:t>magnitudes medidas</a:t>
            </a:r>
            <a:r>
              <a:rPr sz="1550">
                <a:solidFill>
                  <a:srgbClr val="FBFCFD"/>
                </a:solidFill>
              </a:rPr>
              <a:t> de irradiancia y clima siguen siendo las de Florida (ver Limitaciones, Lám. 22).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Medido (POA CMP22)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máxima medida en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pic>
        <p:nvPicPr>
          <p:cNvPr id="14" name="Picture 13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875" y="2697480"/>
            <a:ext cx="6527945" cy="3291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6053328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Las 11 curvas se superponen → consistencia instrumental antes de emular y modelar — notas metodológicas en (Anexo XI, Lám. 35).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21" y="1234440"/>
            <a:ext cx="9196251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Estimación de la radiación y temperatura:</a:t>
            </a:r>
            <a:r>
              <a:rPr sz="170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 intermedio: Un Día Despejado de Verano (28-ene-2026)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707" y="1188720"/>
            <a:ext cx="7738280" cy="3703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983480"/>
            <a:ext cx="1146017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0056"/>
            <a:ext cx="1109441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El puente entre el dato y la física:</a:t>
            </a:r>
            <a:r>
              <a:rPr sz="1550">
                <a:solidFill>
                  <a:srgbClr val="FBFCFD"/>
                </a:solidFill>
              </a:rPr>
              <a:t> la temperatura de celda sigue fielmente a la irradiancia: al mediodía la POA roza los </a:t>
            </a:r>
            <a:r>
              <a:rPr sz="1550" b="1">
                <a:solidFill>
                  <a:srgbClr val="FBFCFD"/>
                </a:solidFill>
              </a:rPr>
              <a:t>1,000 W/m²</a:t>
            </a:r>
            <a:r>
              <a:rPr sz="1550">
                <a:solidFill>
                  <a:srgbClr val="FBFCFD"/>
                </a:solidFill>
              </a:rPr>
              <a:t> y la celda supera los </a:t>
            </a:r>
            <a:r>
              <a:rPr sz="1550" b="1">
                <a:solidFill>
                  <a:srgbClr val="FBFCFD"/>
                </a:solidFill>
              </a:rPr>
              <a:t>60 °C</a:t>
            </a:r>
            <a:r>
              <a:rPr sz="1550">
                <a:solidFill>
                  <a:srgbClr val="FBFCFD"/>
                </a:solidFill>
              </a:rPr>
              <a:t> — 35 °C sobre la condición nominal STC. En los días extremos del año la celda llega a </a:t>
            </a:r>
            <a:r>
              <a:rPr sz="1550" b="1">
                <a:solidFill>
                  <a:srgbClr val="FBFCFD"/>
                </a:solidFill>
              </a:rPr>
              <a:t>70–73 °C</a:t>
            </a:r>
            <a:r>
              <a:rPr sz="1550">
                <a:solidFill>
                  <a:srgbClr val="FBFCFD"/>
                </a:solidFill>
              </a:rPr>
              <a:t> y HIT acumula 461 registros sobre 65 °C — distribución en (Anexo XII, Lám. 36). Cada grado extra recorta la potencia útil; cuantificar ese recorte por tecnología es el objetivo de la sección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Caracterización física de los módulos:</a:t>
            </a:r>
            <a:r>
              <a:rPr sz="17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39069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2.769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4.14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a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(V) → 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1.110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2.220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 A / 22.5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70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7889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788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37360"/>
            <a:ext cx="516636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160520"/>
            <a:ext cx="5653735" cy="21031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160520"/>
            <a:ext cx="73152" cy="21031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2519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800600"/>
            <a:ext cx="5251399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I</a:t>
            </a:r>
            <a:r>
              <a:rPr sz="1000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 de HIT es </a:t>
            </a:r>
            <a:r>
              <a:rPr sz="1400" b="1">
                <a:solidFill>
                  <a:srgbClr val="FBFCFD"/>
                </a:solidFill>
              </a:rPr>
              <a:t>un orden de magnitud menor</a:t>
            </a:r>
            <a:r>
              <a:rPr sz="1400">
                <a:solidFill>
                  <a:srgbClr val="FBFCFD"/>
                </a:solidFill>
              </a:rPr>
              <a:t> → menor recombinación → mayor V</a:t>
            </a:r>
            <a:r>
              <a:rPr sz="1000">
                <a:solidFill>
                  <a:srgbClr val="FBFCFD"/>
                </a:solidFill>
              </a:rPr>
              <a:t>oc</a:t>
            </a:r>
            <a:r>
              <a:rPr sz="14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R</a:t>
            </a:r>
            <a:r>
              <a:rPr sz="1000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y R</a:t>
            </a:r>
            <a:r>
              <a:rPr sz="1000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quedan </a:t>
            </a:r>
            <a:r>
              <a:rPr sz="1400" b="1">
                <a:solidFill>
                  <a:srgbClr val="FBFCFD"/>
                </a:solidFill>
              </a:rPr>
              <a:t>anclados a su inicialización</a:t>
            </a:r>
            <a:r>
              <a:rPr sz="1400">
                <a:solidFill>
                  <a:srgbClr val="FBFCFD"/>
                </a:solidFill>
              </a:rPr>
              <a:t>: con solo 3 condiciones (Isc, Voc, MPP) el residuo apenas depende de ellos — evidencia del mal condicionamiento que se discute en Lám. 18.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Cálculo de la producción eléctrica anual:</a:t>
            </a:r>
            <a:r>
              <a:rPr sz="17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R² ≈ 0.99</a:t>
            </a:r>
            <a:r>
              <a:rPr sz="1750">
                <a:solidFill>
                  <a:srgbClr val="FBFCFD"/>
                </a:solidFill>
              </a:rPr>
              <a:t>  | 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Misma meteorología:</a:t>
            </a:r>
            <a:r>
              <a:rPr sz="1500">
                <a:solidFill>
                  <a:srgbClr val="FBFCFD"/>
                </a:solidFill>
              </a:rPr>
              <a:t> cada punto compara la P</a:t>
            </a:r>
            <a:r>
              <a:rPr sz="1100">
                <a:solidFill>
                  <a:srgbClr val="FBFCFD"/>
                </a:solidFill>
              </a:rPr>
              <a:t>mp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500" b="1">
                <a:solidFill>
                  <a:srgbClr val="FBFCFD"/>
                </a:solidFill>
              </a:rPr>
              <a:t>medida</a:t>
            </a:r>
            <a:r>
              <a:rPr sz="1500">
                <a:solidFill>
                  <a:srgbClr val="FBFCFD"/>
                </a:solidFill>
              </a:rPr>
              <a:t> por el trazador NREL con la </a:t>
            </a:r>
            <a:r>
              <a:rPr sz="1500" b="1">
                <a:solidFill>
                  <a:srgbClr val="FBFCFD"/>
                </a:solidFill>
              </a:rPr>
              <a:t>simulada</a:t>
            </a:r>
            <a:r>
              <a:rPr sz="1500">
                <a:solidFill>
                  <a:srgbClr val="FBFCFD"/>
                </a:solidFill>
              </a:rPr>
              <a:t> por el SDM bajo el mismo G y T</a:t>
            </a:r>
            <a:r>
              <a:rPr sz="1100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 — no es una comparación entre sitios.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Fidelidad del circuito:</a:t>
            </a:r>
            <a:r>
              <a:rPr sz="1500">
                <a:solidFill>
                  <a:srgbClr val="FBFCFD"/>
                </a:solidFill>
              </a:rPr>
              <a:t> R² ≈ 0.99 confirma que los 5 parámetros reproducen el comportamiento eléctrico real.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Discrepancia:</a:t>
            </a:r>
            <a:r>
              <a:rPr sz="1500">
                <a:solidFill>
                  <a:srgbClr val="FBFCFD"/>
                </a:solidFill>
              </a:rPr>
              <a:t> leve dispersión a baja irradiancia (idealización 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∝ 1/G).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550">
                <a:solidFill>
                  <a:srgbClr val="FBFCFD"/>
                </a:solidFill>
              </a:rPr>
              <a:t>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Problema mal condicionado:</a:t>
            </a:r>
            <a:r>
              <a:rPr sz="1550">
                <a:solidFill>
                  <a:srgbClr val="FBFCFD"/>
                </a:solidFill>
              </a:rPr>
              <a:t> múltiples pares (R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Mitigación aplicada:</a:t>
            </a:r>
            <a:r>
              <a:rPr sz="1550">
                <a:solidFill>
                  <a:srgbClr val="FBFCFD"/>
                </a:solidFill>
              </a:rPr>
              <a:t> bounds físicos en el optimizador —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∈ [0.001, 2] Ω,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∈ [0.6, 2.4] — más inicialización analítica (a₀ = N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·1.2·kT/q).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Evidencia en este estudio:</a:t>
            </a:r>
            <a:r>
              <a:rPr sz="1550">
                <a:solidFill>
                  <a:srgbClr val="FBFCFD"/>
                </a:solidFill>
              </a:rPr>
              <a:t>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≈ 1.20 en ambas tecnologías y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/R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 anclados a su inicialización (Lám. 15): el ajuste con 3 condiciones no los identifica de forma única.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sh</a:t>
            </a:r>
            <a:r>
              <a:rPr sz="1700" b="1">
                <a:solidFill>
                  <a:srgbClr val="FBFCFD"/>
                </a:solidFill>
              </a:rPr>
              <a:t> e irradiancia:</a:t>
            </a:r>
            <a:r>
              <a:rPr sz="1700">
                <a:solidFill>
                  <a:srgbClr val="FBFCFD"/>
                </a:solidFill>
              </a:rPr>
              <a:t> la relación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= R</a:t>
            </a:r>
            <a:r>
              <a:rPr sz="1300">
                <a:solidFill>
                  <a:srgbClr val="FBFCFD"/>
                </a:solidFill>
              </a:rPr>
              <a:t>sh,ref</a:t>
            </a:r>
            <a:r>
              <a:rPr sz="1700">
                <a:solidFill>
                  <a:srgbClr val="FBFCFD"/>
                </a:solidFill>
              </a:rPr>
              <a:t>·(S</a:t>
            </a:r>
            <a:r>
              <a:rPr sz="1300">
                <a:solidFill>
                  <a:srgbClr val="FBFCFD"/>
                </a:solidFill>
              </a:rPr>
              <a:t>ref</a:t>
            </a:r>
            <a:r>
              <a:rPr sz="170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</a:t>
            </a:r>
            <a:r>
              <a:rPr sz="1700" b="1">
                <a:solidFill>
                  <a:srgbClr val="FBFCFD"/>
                </a:solidFill>
              </a:rPr>
              <a:t> constante con la temperatura:</a:t>
            </a:r>
            <a:r>
              <a:rPr sz="1700">
                <a:solidFill>
                  <a:srgbClr val="FBFCFD"/>
                </a:solidFill>
              </a:rPr>
              <a:t> ignora el cambio de resistividad del semiconductor con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Bandgap lineal con la temperatura:</a:t>
            </a:r>
            <a:r>
              <a:rPr sz="1700">
                <a:solidFill>
                  <a:srgbClr val="FBFCFD"/>
                </a:solidFill>
              </a:rPr>
              <a:t> se asume dE</a:t>
            </a:r>
            <a:r>
              <a:rPr sz="1300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m-Si: </a:t>
            </a:r>
            <a:r>
              <a:rPr sz="1750" b="1">
                <a:solidFill>
                  <a:srgbClr val="FBFCFD"/>
                </a:solidFill>
              </a:rPr>
              <a:t>−0.40 %/°C</a:t>
            </a:r>
            <a:r>
              <a:rPr sz="175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HIT: </a:t>
            </a:r>
            <a:r>
              <a:rPr sz="1750" b="1">
                <a:solidFill>
                  <a:srgbClr val="FBFCFD"/>
                </a:solidFill>
              </a:rPr>
              <a:t>−0.26 %/°C</a:t>
            </a:r>
            <a:r>
              <a:rPr sz="175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(naranja):</a:t>
            </a:r>
            <a:r>
              <a:rPr sz="160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(azul):</a:t>
            </a:r>
            <a:r>
              <a:rPr sz="160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Consecuencia:</a:t>
            </a:r>
            <a:r>
              <a:rPr sz="1600">
                <a:solidFill>
                  <a:srgbClr val="FBFCFD"/>
                </a:solidFill>
              </a:rPr>
              <a:t> esta divergencia térmica explica mecánicamente la brecha de PR anual entre tecnologías (Anexo VII, Lám. 31).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Veredicto Técnico: Performance Ratio y Lectura Económica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559292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548319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97680"/>
            <a:ext cx="5592927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29768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389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 y económica (100 MWp)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937760"/>
            <a:ext cx="5190591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>
                <a:solidFill>
                  <a:srgbClr val="FBFCFD"/>
                </a:solidFill>
              </a:rPr>
              <a:t>• El menor coeficiente térmico de HIT (−0.26 vs −0.40 %/°C) protege la potencia al mediodía desértico.</a:t>
            </a:r>
          </a:p>
          <a:p>
            <a:pPr algn="l">
              <a:lnSpc>
                <a:spcPct val="105000"/>
              </a:lnSpc>
            </a:pPr>
            <a:r>
              <a:rPr sz="1400">
                <a:solidFill>
                  <a:srgbClr val="FBFCFD"/>
                </a:solidFill>
              </a:rPr>
              <a:t>• +2.39 pts ≈ </a:t>
            </a:r>
            <a:r>
              <a:rPr sz="1400" b="1">
                <a:solidFill>
                  <a:srgbClr val="FBFCFD"/>
                </a:solidFill>
              </a:rPr>
              <a:t>+6,000 MWh y +USD 270k/año</a:t>
            </a:r>
            <a:r>
              <a:rPr sz="1400">
                <a:solidFill>
                  <a:srgbClr val="FBFCFD"/>
                </a:solidFill>
              </a:rPr>
              <a:t> (recurso escalado); ~3,300 MWh sin escalar — supuestos en (Anexo XIII, Lám. 37).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51460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Síntesis: Qué Pidió la Tarea 2 y Cómo se Resolvió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SÍNTESIS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Mapa de cumplimiento — requisito de la pauta → evidencia en esta presentación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37360"/>
          <a:ext cx="1100297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3397"/>
                <a:gridCol w="3342675"/>
                <a:gridCol w="2089172"/>
                <a:gridCol w="2367728"/>
              </a:tblGrid>
              <a:tr h="63354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Requisito (pauta Tarea 2)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Cómo se resolvió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Evidencia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Resultado clave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Recurso solar: transposición G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poa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Perez vía </a:t>
                      </a:r>
                      <a:r>
                        <a:rPr sz="1250">
                          <a:solidFill>
                            <a:srgbClr val="7FDBFF"/>
                          </a:solidFill>
                          <a:latin typeface="Consolas"/>
                        </a:rPr>
                        <a:t>pvlib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(</a:t>
                      </a:r>
                      <a:r>
                        <a:rPr sz="1250">
                          <a:solidFill>
                            <a:srgbClr val="7FDBFF"/>
                          </a:solidFill>
                          <a:latin typeface="Consolas"/>
                        </a:rPr>
                        <a:t>get_total_irradiance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12 · Anexo 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POA 5-min, año 2026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Perfil térmico T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— ec. (1)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Sandia/SAPM, viento 1 m/s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13 · Anexo III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T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pico 70–73 °C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SDM 5 parámetros De Soto — ec. (2)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7FDBFF"/>
                          </a:solidFill>
                          <a:latin typeface="Consolas"/>
                        </a:rPr>
                        <a:t>minimize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+ bounds físicos en SRC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15 · Anexos V–VI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R² ≈ 0.99 vs medición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Discusión R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– n (puntos conflictuales)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Mal condicionamiento + mitigación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= 1.20; bounds activos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PR anual 2026 — ec. (3)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Σ P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mp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/ Σ P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·G/1000 (IEC 61724-1)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20 · Anexo VII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HIT 86.92 % · m-Si 84.53 %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52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Supuestos propuestos y justificados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tilt 22.9° = lat · azimut 0° N · viento 1 m/s · albedo 0.25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10 y 22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Declarados + limitaciones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Magnitudes de Florida:</a:t>
            </a:r>
            <a:r>
              <a:rPr sz="17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Cobertura temporal:</a:t>
            </a:r>
            <a:r>
              <a:rPr sz="17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α</a:t>
            </a:r>
            <a:r>
              <a:rPr sz="1350" b="1">
                <a:solidFill>
                  <a:srgbClr val="FBFCFD"/>
                </a:solidFill>
              </a:rPr>
              <a:t>Isc</a:t>
            </a:r>
            <a:r>
              <a:rPr sz="1750" b="1">
                <a:solidFill>
                  <a:srgbClr val="FBFCFD"/>
                </a:solidFill>
              </a:rPr>
              <a:t> de literatura:</a:t>
            </a:r>
            <a:r>
              <a:rPr sz="17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Sin pérdidas ópticas/espectrales:</a:t>
            </a:r>
            <a:r>
              <a:rPr sz="1750">
                <a:solidFill>
                  <a:srgbClr val="FBFCFD"/>
                </a:solidFill>
              </a:rPr>
              <a:t> IAM y corrección AM revisados pero no aplicados (Anexo II, Lám. 26) — su omisión sobreestima levemente la energía en ángulos rasantes (amanecer/ocaso).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Albedo fijo 0.25</a:t>
            </a:r>
            <a:r>
              <a:rPr sz="1750">
                <a:solidFill>
                  <a:srgbClr val="FBFCFD"/>
                </a:solidFill>
              </a:rPr>
              <a:t> (default pvlib) y </a:t>
            </a:r>
            <a:r>
              <a:rPr sz="1750" b="1">
                <a:solidFill>
                  <a:srgbClr val="FBFCFD"/>
                </a:solidFill>
              </a:rPr>
              <a:t>viento fijo 1 m/s</a:t>
            </a:r>
            <a:r>
              <a:rPr sz="17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P</a:t>
            </a:r>
            <a:r>
              <a:rPr sz="1350" b="1">
                <a:solidFill>
                  <a:srgbClr val="FBFCFD"/>
                </a:solidFill>
              </a:rPr>
              <a:t>STC</a:t>
            </a:r>
            <a:r>
              <a:rPr sz="1750" b="1">
                <a:solidFill>
                  <a:srgbClr val="FBFCFD"/>
                </a:solidFill>
              </a:rPr>
              <a:t> del SDM</a:t>
            </a:r>
            <a:r>
              <a:rPr sz="17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Sin soiling ni mismatch:</a:t>
            </a:r>
            <a:r>
              <a:rPr sz="17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1. </a:t>
            </a:r>
            <a:r>
              <a:rPr sz="1600" b="1">
                <a:solidFill>
                  <a:srgbClr val="FBFCFD"/>
                </a:solidFill>
              </a:rPr>
              <a:t>Fidelidad metodológica:</a:t>
            </a:r>
            <a:r>
              <a:rPr sz="1600">
                <a:solidFill>
                  <a:srgbClr val="FBFCFD"/>
                </a:solidFill>
              </a:rPr>
              <a:t> la emulación por traslación temporal (+6 meses, año 2026) mantuvo la coherencia de solsticios y permitió simular Atacama con datos experimentales reales.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2. </a:t>
            </a:r>
            <a:r>
              <a:rPr sz="1600" b="1">
                <a:solidFill>
                  <a:srgbClr val="FBFCFD"/>
                </a:solidFill>
              </a:rPr>
              <a:t>Pipeline de datos robusto:</a:t>
            </a:r>
            <a:r>
              <a:rPr sz="160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3. </a:t>
            </a:r>
            <a:r>
              <a:rPr sz="1600" b="1">
                <a:solidFill>
                  <a:srgbClr val="FBFCFD"/>
                </a:solidFill>
              </a:rPr>
              <a:t>Ajuste robusto:</a:t>
            </a:r>
            <a:r>
              <a:rPr sz="160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200">
                <a:solidFill>
                  <a:srgbClr val="FBFCFD"/>
                </a:solidFill>
              </a:rPr>
              <a:t>STC</a:t>
            </a:r>
            <a:r>
              <a:rPr sz="16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4. </a:t>
            </a:r>
            <a:r>
              <a:rPr sz="1600" b="1">
                <a:solidFill>
                  <a:srgbClr val="FBFCFD"/>
                </a:solidFill>
              </a:rPr>
              <a:t>HIT vencedor:</a:t>
            </a:r>
            <a:r>
              <a:rPr sz="1600">
                <a:solidFill>
                  <a:srgbClr val="FBFCFD"/>
                </a:solidFill>
              </a:rPr>
              <a:t> +2.39 puntos de PR anual (86.92 % vs 84.53 %) por su menor coeficiente térmico — superior para plantas desérticas.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Aplicar IAM y corrección espectral AM</a:t>
            </a:r>
            <a:r>
              <a:rPr sz="1600">
                <a:solidFill>
                  <a:srgbClr val="FBFCFD"/>
                </a:solidFill>
              </a:rPr>
              <a:t> ya documentados (Anexo II, Lám. 26), cerrando la brecha óptica del pipeline actual.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Escalar el recurso a magnitudes de Atacama</a:t>
            </a:r>
            <a:r>
              <a:rPr sz="160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Bifacialidad:</a:t>
            </a:r>
            <a:r>
              <a:rPr sz="160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Soiling desértico:</a:t>
            </a:r>
            <a:r>
              <a:rPr sz="160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doble diodo:</a:t>
            </a:r>
            <a:r>
              <a:rPr sz="160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b</a:t>
            </a:r>
            <a:r>
              <a:rPr sz="1600">
                <a:solidFill>
                  <a:srgbClr val="F1C40F"/>
                </a:solidFill>
              </a:rPr>
              <a:t> / G</a:t>
            </a:r>
            <a:r>
              <a:rPr sz="1200">
                <a:solidFill>
                  <a:srgbClr val="F1C40F"/>
                </a:solidFill>
              </a:rPr>
              <a:t>d</a:t>
            </a:r>
            <a:r>
              <a:rPr sz="160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ρ: albedo = 0.25 (default </a:t>
            </a:r>
            <a:r>
              <a:rPr sz="1500">
                <a:solidFill>
                  <a:srgbClr val="7FDBFF"/>
                </a:solidFill>
                <a:latin typeface="Consolas"/>
              </a:rPr>
              <a:t>pvlib</a:t>
            </a:r>
            <a:r>
              <a:rPr sz="160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R</a:t>
            </a:r>
            <a:r>
              <a:rPr sz="1200">
                <a:solidFill>
                  <a:srgbClr val="F1C40F"/>
                </a:solidFill>
              </a:rPr>
              <a:t>beam</a:t>
            </a:r>
            <a:r>
              <a:rPr sz="160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d,perez</a:t>
            </a:r>
            <a:r>
              <a:rPr sz="160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  brillo de horizonte), evaluada por </a:t>
            </a:r>
            <a:r>
              <a:rPr sz="150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00">
                <a:solidFill>
                  <a:srgbClr val="FBFCFD"/>
                </a:solidFill>
              </a:rPr>
              <a:t> → cenit y azimut aparentes del sol registro a registro.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0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600">
                <a:solidFill>
                  <a:srgbClr val="FBFCFD"/>
                </a:solidFill>
              </a:rPr>
              <a:t> →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Salida: </a:t>
            </a:r>
            <a:r>
              <a:rPr sz="1500">
                <a:solidFill>
                  <a:srgbClr val="7FDBFF"/>
                </a:solidFill>
                <a:latin typeface="Consolas"/>
              </a:rPr>
              <a:t>poa_global</a:t>
            </a:r>
            <a:r>
              <a:rPr sz="1600">
                <a:solidFill>
                  <a:srgbClr val="FBFCFD"/>
                </a:solidFill>
              </a:rPr>
              <a:t> con </a:t>
            </a:r>
            <a:r>
              <a:rPr sz="1500">
                <a:solidFill>
                  <a:srgbClr val="7FDBFF"/>
                </a:solidFill>
                <a:latin typeface="Consolas"/>
              </a:rPr>
              <a:t>clip(≥0)</a:t>
            </a:r>
            <a:r>
              <a:rPr sz="1600">
                <a:solidFill>
                  <a:srgbClr val="FBFCFD"/>
                </a:solidFill>
              </a:rPr>
              <a:t>, irradiancia efectiva del SDM (sin modificadores ópticos —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023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023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0352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Estado en este estudio:</a:t>
            </a:r>
            <a:r>
              <a:rPr sz="1700">
                <a:solidFill>
                  <a:srgbClr val="FBFCFD"/>
                </a:solidFill>
              </a:rPr>
              <a:t> ecuaciones revisadas en la literatura pero </a:t>
            </a:r>
            <a:r>
              <a:rPr sz="1700" b="1">
                <a:solidFill>
                  <a:srgbClr val="FBFCFD"/>
                </a:solidFill>
              </a:rPr>
              <a:t>no ejecutadas por el pipeline</a:t>
            </a:r>
            <a:r>
              <a:rPr sz="170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/ T</a:t>
            </a:r>
            <a:r>
              <a:rPr sz="1400">
                <a:solidFill>
                  <a:srgbClr val="FBFCFD"/>
                </a:solidFill>
              </a:rPr>
              <a:t>a</a:t>
            </a:r>
            <a:r>
              <a:rPr sz="180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</a:t>
            </a:r>
            <a:r>
              <a:rPr sz="180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v</a:t>
            </a:r>
            <a:r>
              <a:rPr sz="1400">
                <a:solidFill>
                  <a:srgbClr val="FBFCFD"/>
                </a:solidFill>
              </a:rPr>
              <a:t>w</a:t>
            </a:r>
            <a:r>
              <a:rPr sz="180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m-Si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50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HIT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50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FBFCFD"/>
                </a:solidFill>
              </a:rPr>
              <a:t>Fuente: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50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s</a:t>
            </a:r>
            <a:r>
              <a:rPr sz="180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I</a:t>
            </a:r>
            <a:r>
              <a:rPr sz="1800">
                <a:solidFill>
                  <a:srgbClr val="F1C40F"/>
                </a:solidFill>
              </a:rPr>
              <a:t>: factor de idealidad del diodo, acotado a [0.6, 2.4] (ajustado: 1.20 en ambas tecnologías).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L</a:t>
            </a:r>
            <a:r>
              <a:rPr sz="180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0</a:t>
            </a:r>
            <a:r>
              <a:rPr sz="18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 / 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k / q /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β</a:t>
            </a:r>
            <a:r>
              <a:rPr sz="1350">
                <a:solidFill>
                  <a:srgbClr val="F1C40F"/>
                </a:solidFill>
              </a:rPr>
              <a:t>Voc</a:t>
            </a:r>
            <a:r>
              <a:rPr sz="1750">
                <a:solidFill>
                  <a:srgbClr val="F1C40F"/>
                </a:solidFill>
              </a:rPr>
              <a:t> (medido): regresión lineal V</a:t>
            </a:r>
            <a:r>
              <a:rPr sz="1350">
                <a:solidFill>
                  <a:srgbClr val="F1C40F"/>
                </a:solidFill>
              </a:rPr>
              <a:t>oc</a:t>
            </a:r>
            <a:r>
              <a:rPr sz="1750">
                <a:solidFill>
                  <a:srgbClr val="F1C40F"/>
                </a:solidFill>
              </a:rPr>
              <a:t> vs T</a:t>
            </a:r>
            <a:r>
              <a:rPr sz="1350">
                <a:solidFill>
                  <a:srgbClr val="F1C40F"/>
                </a:solidFill>
              </a:rPr>
              <a:t>c</a:t>
            </a:r>
            <a:r>
              <a:rPr sz="17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α</a:t>
            </a:r>
            <a:r>
              <a:rPr sz="1350">
                <a:solidFill>
                  <a:srgbClr val="F1C40F"/>
                </a:solidFill>
              </a:rPr>
              <a:t>Isc</a:t>
            </a:r>
            <a:r>
              <a:rPr sz="17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Promedios de la ventana → I</a:t>
            </a:r>
            <a:r>
              <a:rPr sz="1350">
                <a:solidFill>
                  <a:srgbClr val="F1C40F"/>
                </a:solidFill>
              </a:rPr>
              <a:t>sc,ref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oc,ref</a:t>
            </a:r>
            <a:r>
              <a:rPr sz="1750">
                <a:solidFill>
                  <a:srgbClr val="F1C40F"/>
                </a:solidFill>
              </a:rPr>
              <a:t>, I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7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Bounds físicos: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a ∈ [0.5, 2]·a₀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3 ecuaciones, 5 incógnitas: la unicidad la dan bounds + inicialización (R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,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quedan ≈ iniciales).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1. Corriente fotogenerada (I</a:t>
            </a:r>
            <a:r>
              <a:rPr sz="1350">
                <a:solidFill>
                  <a:srgbClr val="FBFCFD"/>
                </a:solidFill>
              </a:rPr>
              <a:t>L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2. Corriente de saturación inversa (I</a:t>
            </a:r>
            <a:r>
              <a:rPr sz="1350">
                <a:solidFill>
                  <a:srgbClr val="FBFCFD"/>
                </a:solidFill>
              </a:rPr>
              <a:t>0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4. Resistencia shunt (R</a:t>
            </a:r>
            <a:r>
              <a:rPr sz="1350">
                <a:solidFill>
                  <a:srgbClr val="FBFCFD"/>
                </a:solidFill>
              </a:rPr>
              <a:t>sh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5. Energía de bandgap del Silicio (E</a:t>
            </a:r>
            <a:r>
              <a:rPr sz="1350">
                <a:solidFill>
                  <a:srgbClr val="FBFCFD"/>
                </a:solidFill>
              </a:rPr>
              <a:t>g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(Si, 25 °C); S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 (Anexo II).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mp,t</a:t>
            </a:r>
            <a:r>
              <a:rPr sz="150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STC</a:t>
            </a:r>
            <a:r>
              <a:rPr sz="1500">
                <a:solidFill>
                  <a:srgbClr val="FBFCFD"/>
                </a:solidFill>
              </a:rPr>
              <a:t>: potencia nominal del </a:t>
            </a:r>
            <a:r>
              <a:rPr sz="1500" b="1">
                <a:solidFill>
                  <a:srgbClr val="FBFCFD"/>
                </a:solidFill>
              </a:rPr>
              <a:t>mismo SDM</a:t>
            </a:r>
            <a:r>
              <a:rPr sz="150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poa,t</a:t>
            </a:r>
            <a:r>
              <a:rPr sz="150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Térmicas:</a:t>
            </a:r>
            <a:r>
              <a:rPr sz="1800">
                <a:solidFill>
                  <a:srgbClr val="FBFCFD"/>
                </a:solidFill>
              </a:rPr>
              <a:t> caídas por elevada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Óhmicas:</a:t>
            </a:r>
            <a:r>
              <a:rPr sz="1800">
                <a:solidFill>
                  <a:srgbClr val="FBFCFD"/>
                </a:solidFill>
              </a:rPr>
              <a:t> pérdidas resistivas en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 bajo G:</a:t>
            </a:r>
            <a:r>
              <a:rPr sz="1800">
                <a:solidFill>
                  <a:srgbClr val="FBFCFD"/>
                </a:solidFill>
              </a:rPr>
              <a:t> comportamiento no lineal a baja irradiancia (R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Time Stamp</a:t>
            </a:r>
            <a:r>
              <a:rPr sz="15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Isc</a:t>
            </a:r>
            <a:r>
              <a:rPr sz="1550">
                <a:solidFill>
                  <a:srgbClr val="FBFCFD"/>
                </a:solidFill>
              </a:rPr>
              <a:t> (5), </a:t>
            </a:r>
            <a:r>
              <a:rPr sz="1450">
                <a:solidFill>
                  <a:srgbClr val="7FDBFF"/>
                </a:solidFill>
                <a:latin typeface="Consolas"/>
              </a:rPr>
              <a:t>Pmp</a:t>
            </a:r>
            <a:r>
              <a:rPr sz="1550">
                <a:solidFill>
                  <a:srgbClr val="FBFCFD"/>
                </a:solidFill>
              </a:rPr>
              <a:t> (7), </a:t>
            </a:r>
            <a:r>
              <a:rPr sz="1450">
                <a:solidFill>
                  <a:srgbClr val="7FDBFF"/>
                </a:solidFill>
                <a:latin typeface="Consolas"/>
              </a:rPr>
              <a:t>Imp</a:t>
            </a:r>
            <a:r>
              <a:rPr sz="1550">
                <a:solidFill>
                  <a:srgbClr val="FBFCFD"/>
                </a:solidFill>
              </a:rPr>
              <a:t> (9), </a:t>
            </a:r>
            <a:r>
              <a:rPr sz="1450">
                <a:solidFill>
                  <a:srgbClr val="7FDBFF"/>
                </a:solidFill>
                <a:latin typeface="Consolas"/>
              </a:rPr>
              <a:t>Vmp</a:t>
            </a:r>
            <a:r>
              <a:rPr sz="1550">
                <a:solidFill>
                  <a:srgbClr val="FBFCFD"/>
                </a:solidFill>
              </a:rPr>
              <a:t> (11), </a:t>
            </a:r>
            <a:r>
              <a:rPr sz="1450">
                <a:solidFill>
                  <a:srgbClr val="7FDBFF"/>
                </a:solidFill>
                <a:latin typeface="Consolas"/>
              </a:rPr>
              <a:t>Voc</a:t>
            </a:r>
            <a:r>
              <a:rPr sz="15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FF</a:t>
            </a:r>
            <a:r>
              <a:rPr sz="15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550">
                <a:solidFill>
                  <a:srgbClr val="FBFCFD"/>
                </a:solidFill>
              </a:rPr>
              <a:t> (20), </a:t>
            </a:r>
            <a:r>
              <a:rPr sz="14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5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DNI</a:t>
            </a:r>
            <a:r>
              <a:rPr sz="1550">
                <a:solidFill>
                  <a:srgbClr val="FBFCFD"/>
                </a:solidFill>
              </a:rPr>
              <a:t> (27), </a:t>
            </a:r>
            <a:r>
              <a:rPr sz="1450">
                <a:solidFill>
                  <a:srgbClr val="7FDBFF"/>
                </a:solidFill>
                <a:latin typeface="Consolas"/>
              </a:rPr>
              <a:t>GHI</a:t>
            </a:r>
            <a:r>
              <a:rPr sz="1550">
                <a:solidFill>
                  <a:srgbClr val="FBFCFD"/>
                </a:solidFill>
              </a:rPr>
              <a:t> (30), </a:t>
            </a:r>
            <a:r>
              <a:rPr sz="1450">
                <a:solidFill>
                  <a:srgbClr val="7FDBFF"/>
                </a:solidFill>
                <a:latin typeface="Consolas"/>
              </a:rPr>
              <a:t>DHI</a:t>
            </a:r>
            <a:r>
              <a:rPr sz="1550">
                <a:solidFill>
                  <a:srgbClr val="FBFCFD"/>
                </a:solidFill>
              </a:rPr>
              <a:t> (33) — c/u con incertidumbre y desv. estándar de muestras de 1 s.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POA CMP22</a:t>
            </a:r>
            <a:r>
              <a:rPr sz="1550">
                <a:solidFill>
                  <a:srgbClr val="FBFCFD"/>
                </a:solidFill>
              </a:rPr>
              <a:t> (1): referencia para verificar 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5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550">
                <a:solidFill>
                  <a:srgbClr val="FBFCFD"/>
                </a:solidFill>
              </a:rPr>
              <a:t>, lluvia, humedad relativa, T dorso, T gabinete MT5, horarios de mantención (</a:t>
            </a:r>
            <a:r>
              <a:rPr sz="1450">
                <a:solidFill>
                  <a:srgbClr val="7FDBFF"/>
                </a:solidFill>
                <a:latin typeface="Consolas"/>
              </a:rPr>
              <a:t>99:99</a:t>
            </a:r>
            <a:r>
              <a:rPr sz="15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IX: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6" y="1143000"/>
            <a:ext cx="11051381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Estructura y lectura de datos:</a:t>
            </a:r>
            <a:r>
              <a:rPr sz="17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88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886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60175" cy="13258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11094415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Límite explícito del método:</a:t>
            </a:r>
            <a:r>
              <a:rPr sz="17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00" b="1">
                <a:solidFill>
                  <a:srgbClr val="FBFCFD"/>
                </a:solidFill>
              </a:rPr>
              <a:t>magnitudes medidas</a:t>
            </a:r>
            <a:r>
              <a:rPr sz="1700">
                <a:solidFill>
                  <a:srgbClr val="FBFCFD"/>
                </a:solidFill>
              </a:rPr>
              <a:t> de irradiancia y clima siguen siendo las de Florida (ver Limitaciones, Lám. 22).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24912"/>
            <a:ext cx="73152" cy="358444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Superposición de mediciones:</a:t>
            </a:r>
            <a:r>
              <a:rPr sz="1500">
                <a:solidFill>
                  <a:srgbClr val="FBFCFD"/>
                </a:solidFill>
              </a:rPr>
              <a:t> Las curvas de irradiancia diaria se superponen con exactitud, confirmando la consistencia instrumental.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Rango temporal:</a:t>
            </a:r>
            <a:r>
              <a:rPr sz="1500">
                <a:solidFill>
                  <a:srgbClr val="FBFCFD"/>
                </a:solidFill>
              </a:rPr>
              <a:t> Campaña desde el </a:t>
            </a:r>
            <a:r>
              <a:rPr sz="1500" b="1">
                <a:solidFill>
                  <a:srgbClr val="FBFCFD"/>
                </a:solidFill>
              </a:rPr>
              <a:t>21 de enero de 2011</a:t>
            </a:r>
            <a:r>
              <a:rPr sz="1500">
                <a:solidFill>
                  <a:srgbClr val="FBFCFD"/>
                </a:solidFill>
              </a:rPr>
              <a:t> al </a:t>
            </a:r>
            <a:r>
              <a:rPr sz="1500" b="1">
                <a:solidFill>
                  <a:srgbClr val="FBFCFD"/>
                </a:solidFill>
              </a:rPr>
              <a:t>4 de marzo de 2012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Tratamiento:</a:t>
            </a:r>
            <a:r>
              <a:rPr sz="1500">
                <a:solidFill>
                  <a:srgbClr val="FBFCFD"/>
                </a:solidFill>
              </a:rPr>
              <a:t> Mediana diaria suavizada (ventana 7 días) por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24912"/>
            <a:ext cx="73152" cy="35844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Validación previa:</a:t>
            </a:r>
            <a:r>
              <a:rPr sz="1500">
                <a:solidFill>
                  <a:srgbClr val="FBFCFD"/>
                </a:solidFill>
              </a:rPr>
              <a:t> Confirmar la homogeneidad física de la radiación </a:t>
            </a:r>
            <a:r>
              <a:rPr sz="1500" b="1">
                <a:solidFill>
                  <a:srgbClr val="FBFCFD"/>
                </a:solidFill>
              </a:rPr>
              <a:t>antes</a:t>
            </a:r>
            <a:r>
              <a:rPr sz="1500">
                <a:solidFill>
                  <a:srgbClr val="FBFCFD"/>
                </a:solidFill>
              </a:rPr>
              <a:t> de la emulación geográfica y el modelado.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Soiling y mantenimiento:</a:t>
            </a:r>
            <a:r>
              <a:rPr sz="1500">
                <a:solidFill>
                  <a:srgbClr val="FBFCFD"/>
                </a:solidFill>
              </a:rPr>
              <a:t> La coincidencia de curvas demuestra que no hay desviaciones locales significativas en los sensores de referencia.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Alineación de sensores:</a:t>
            </a:r>
            <a:r>
              <a:rPr sz="1500">
                <a:solidFill>
                  <a:srgbClr val="FBFCFD"/>
                </a:solidFill>
              </a:rPr>
              <a:t> Garantizar que la irradiancia incidente en los 11 planos sea idéntica para una comparación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XII: Distribución Anual de Temperatura de Celda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65–73 °C de operación recurrente</a:t>
            </a:r>
            <a:r>
              <a:rPr sz="165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Estrés térmico evidenciado:</a:t>
            </a:r>
            <a:r>
              <a:rPr sz="1550">
                <a:solidFill>
                  <a:srgbClr val="FBFCFD"/>
                </a:solidFill>
              </a:rPr>
              <a:t>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Enfriamiento convectivo limitado:</a:t>
            </a:r>
            <a:r>
              <a:rPr sz="1550">
                <a:solidFill>
                  <a:srgbClr val="FBFCFD"/>
                </a:solidFill>
              </a:rPr>
              <a:t> viento de 1 m/s en SAPM —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Consecuencia en voltaje:</a:t>
            </a:r>
            <a:r>
              <a:rPr sz="1550">
                <a:solidFill>
                  <a:srgbClr val="FBFCFD"/>
                </a:solidFill>
              </a:rPr>
              <a:t> el calor eleva 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 exponencialmente, deprimiendo V</a:t>
            </a:r>
            <a:r>
              <a:rPr sz="1150">
                <a:solidFill>
                  <a:srgbClr val="FBFCFD"/>
                </a:solidFill>
              </a:rPr>
              <a:t>oc</a:t>
            </a:r>
            <a:r>
              <a:rPr sz="1550">
                <a:solidFill>
                  <a:srgbClr val="FBFCFD"/>
                </a:solidFill>
              </a:rPr>
              <a:t> y la potencia útil [De Soto et al., 2006].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XIII: Lectura Económica Detallada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Recurso escalado:</a:t>
            </a:r>
            <a:r>
              <a:rPr sz="18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ΔPR +2.39 pts → ≈ +60 kWh/kWp·año → </a:t>
            </a:r>
            <a:r>
              <a:rPr sz="1800" b="1">
                <a:solidFill>
                  <a:srgbClr val="FBFCFD"/>
                </a:solidFill>
              </a:rPr>
              <a:t>~6,000 MWh</a:t>
            </a:r>
            <a:r>
              <a:rPr sz="18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Precio de venta ≈ 45 USD/MWh → </a:t>
            </a:r>
            <a:r>
              <a:rPr sz="1800" b="1">
                <a:solidFill>
                  <a:srgbClr val="FBFCFD"/>
                </a:solidFill>
              </a:rPr>
              <a:t>~USD 270k/año</a:t>
            </a:r>
            <a:r>
              <a:rPr sz="18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La prima CAPEX de los módulos HIT se </a:t>
            </a:r>
            <a:r>
              <a:rPr sz="1800" b="1">
                <a:solidFill>
                  <a:srgbClr val="FBFCFD"/>
                </a:solidFill>
              </a:rPr>
              <a:t>amortiza con holgura</a:t>
            </a:r>
            <a:r>
              <a:rPr sz="18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37/37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