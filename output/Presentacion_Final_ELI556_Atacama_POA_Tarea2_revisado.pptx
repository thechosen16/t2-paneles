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>
                <a:solidFill>
                  <a:srgbClr val="F1C40F"/>
                </a:solidFill>
              </a:defRPr>
            </a:pPr>
            <a:r>
              <a:rPr sz="38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834640"/>
            <a:ext cx="41148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3291840"/>
            <a:ext cx="10728655" cy="256032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74720"/>
            <a:ext cx="1018001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Integrantes / Estudiantes: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Profesor Guía: Carlos Cardenas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a) Introducción al problema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Irradiación Excepcional:</a:t>
            </a:r>
            <a:r>
              <a:rPr sz="1700">
                <a:solidFill>
                  <a:srgbClr val="FBFCFD"/>
                </a:solidFill>
              </a:rPr>
              <a:t> Irradiancia horizontal global (GHI) anual &gt; 2900 kWh/m² (máxima a nivel mundial).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Cielos Limpios:</a:t>
            </a:r>
            <a:r>
              <a:rPr sz="1700">
                <a:solidFill>
                  <a:srgbClr val="FBFCFD"/>
                </a:solidFill>
              </a:rPr>
              <a:t> Baja atenuación atmosférica e irradiancia directa muy concentrada.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Efecto de Altitud:</a:t>
            </a:r>
            <a:r>
              <a:rPr sz="1700">
                <a:solidFill>
                  <a:srgbClr val="FBFCFD"/>
                </a:solidFill>
              </a:rPr>
              <a:t> Mayor radiación directa y UV en zonas elevadas (&gt;= 2400 m.s.n.m.).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Estudio Geográfico:</a:t>
            </a:r>
            <a:r>
              <a:rPr sz="1700">
                <a:solidFill>
                  <a:srgbClr val="FBFCFD"/>
                </a:solidFill>
              </a:rPr>
              <a:t> Simulación localizada para San Pedro de Atacama (Latitud -22.91°, Longitud -68.20°).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El Desafío: El Estrés Térmico de Operación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Calentamiento Severo:</a:t>
            </a:r>
            <a:r>
              <a:rPr sz="1700">
                <a:solidFill>
                  <a:srgbClr val="FBFCFD"/>
                </a:solidFill>
              </a:rPr>
              <a:t> Las celdas solares operan a temperaturas superiores a 65°C a mediodía en verano.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Degradación Térmica:</a:t>
            </a:r>
            <a:r>
              <a:rPr sz="1700">
                <a:solidFill>
                  <a:srgbClr val="FBFCFD"/>
                </a:solidFill>
              </a:rPr>
              <a:t> La potencia máxima y el voltaje decaen con el incremento de la temperatura de celda (</a:t>
            </a:r>
            <a:r>
              <a:rPr sz="1700" i="1">
                <a:solidFill>
                  <a:srgbClr val="FBFCFD"/>
                </a:solidFill>
              </a:rPr>
              <a:t>T</a:t>
            </a:r>
            <a:r>
              <a:rPr sz="1300" i="1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Objetivo:</a:t>
            </a:r>
            <a:r>
              <a:rPr sz="1700">
                <a:solidFill>
                  <a:srgbClr val="FBFCFD"/>
                </a:solidFill>
              </a:rPr>
              <a:t> Modelar dinámicamente y comparar qué tecnología resiste de mejor manera este estrés térmico desértico durante el año calendario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b) Justificación e impacto (relevancia del tema):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Comparativa de Familias del Dataset Cocoa (NREL) y Criterio de Selección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(Silicio Monocristalino)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1C40F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(Heterounión)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1C40F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(Película Delgada)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c) Marco referencial y revisión de literatura pertinente: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66928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Literatura Académica y Modelos Utilizados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Modelo de un Diodo Simple (SDM)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Estructura circuital clásica que describe eléctricamente la celda. Incorpora las pérdidas óhmicas en serie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) y las corrientes de fuga shunt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). *(Ecuación en Anexo IV, Lámina 22)*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Modelo Térmico de Sandia (SAPM) [King et al., 2004]: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Estima dinámicamente la temperatura interna de la celda (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0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) a partir de la irradiancia incidente y el viento. *(Ecuación en Anexo III, Lámina 21)*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Modelo de Transposición de Perez (1990) [Perez et al., 1990]: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Traducción geométrica de irradiancia sobre plano inclinado, modelando el cielo difuso anisotrópico. *(Ecuación en Anexo I, Lámina 19)*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Algoritmo de Parámetros de De Soto (2006)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Fórmulas para trasladar los parámetros desde STC a condiciones operacionales basándose en la energía de bandgap. *(Ecuaciones en Anexos V y VI, Láminas 23 y 24)*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2422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188720"/>
            <a:ext cx="49679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1" name="Picture 10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00200"/>
            <a:ext cx="5059375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Metodología y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66928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Flujo de Procesamiento y Simulación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1: Ingesta de Datos (NREL Cocoa) [Marion et al., 2014]: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Extracción selectiva de variables de recurso solar y métricas de curvas I-V completas a partir del dataset experimental.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2: Filtro de Emulación Geográfica: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Traslación espacial, proyección a 2026 y desfase estacional de +6 meses para alinear el clima del Hemisferio Sur.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3: Modelamiento Físico y Ajuste Numérico: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Cálculo térmico de Sandia [King et al., 2004] y ajuste de mínimos cuadrados para obtener los 5 parámetros de De Soto [De Soto et al., 2006] en STC.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4: Simulación Minutal de Operación: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Escalamiento dinámico de parámetros (Modelo De Soto) y resolución implícita de I-V mediante pvlib [Holmgren et al., 2018].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5: Evaluación de Performance Ratio (PR):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Integración anual y mensual del </a:t>
            </a:r>
            <a:r>
              <a:rPr sz="1300" i="1">
                <a:solidFill>
                  <a:srgbClr val="FBFCFD"/>
                </a:solidFill>
              </a:rPr>
              <a:t>PR</a:t>
            </a:r>
            <a:r>
              <a:rPr sz="1300">
                <a:solidFill>
                  <a:srgbClr val="FBFCFD"/>
                </a:solidFill>
              </a:rPr>
              <a:t> utilizando el estándar IEC 61724-1. *(Fórmulas y glosario en Anexo VII, Lámina 25)*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2422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188720"/>
            <a:ext cx="49679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Pipeline de Simulación</a:t>
            </a:r>
          </a:p>
        </p:txBody>
      </p:sp>
      <p:pic>
        <p:nvPicPr>
          <p:cNvPr id="11" name="Picture 10" descr="simulation_pipeline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00200"/>
            <a:ext cx="5059375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Tratamiento de la Base de Datos y Carga de Big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El Desafío: Procesamiento de Curvas I-V Minutales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Naturaleza de los Datos:</a:t>
            </a:r>
            <a:r>
              <a:rPr sz="1700">
                <a:solidFill>
                  <a:srgbClr val="FBFCFD"/>
                </a:solidFill>
              </a:rPr>
              <a:t> Dataset experimental Cocoa (NREL) [Marion et al., 2014]. Contiene curvas I-V completas y mediciones meteorológicas minuto a minuto.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Problema de Big Data:</a:t>
            </a:r>
            <a:r>
              <a:rPr sz="1700">
                <a:solidFill>
                  <a:srgbClr val="FBFCFD"/>
                </a:solidFill>
              </a:rPr>
              <a:t> Los archivos CSV unitarios superan los 100MB por tecnología, acumulando millones de registros de longitudes variables.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Falla del Método Estándar:</a:t>
            </a:r>
            <a:r>
              <a:rPr sz="1700">
                <a:solidFill>
                  <a:srgbClr val="FBFCFD"/>
                </a:solidFill>
              </a:rPr>
              <a:t> Lectores convencionales (e.g., Pandas `read_csv`) agotan la memoria RAM y fallan debido a caracteres atípicos en la metadata.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Solución: Pipeline de Lectura Eficiente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Lector en Streaming:</a:t>
            </a:r>
            <a:r>
              <a:rPr sz="1700">
                <a:solidFill>
                  <a:srgbClr val="FBFCFD"/>
                </a:solidFill>
              </a:rPr>
              <a:t> Implementación de un analizador de archivos línea por línea mediante el módulo `csv` nativo de Python.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Extracción Selectiva [Marion et al., 2014]:</a:t>
            </a:r>
            <a:r>
              <a:rPr sz="1700">
                <a:solidFill>
                  <a:srgbClr val="FBFCFD"/>
                </a:solidFill>
              </a:rPr>
              <a:t> Se ignoraron las series de curvas I-V completas en la carga inicial y se extrajeron únicamente los metadatos y puntos clave de operación (</a:t>
            </a:r>
            <a:r>
              <a:rPr sz="1700" i="1">
                <a:solidFill>
                  <a:srgbClr val="FBFCFD"/>
                </a:solidFill>
              </a:rPr>
              <a:t>I</a:t>
            </a:r>
            <a:r>
              <a:rPr sz="1300" i="1">
                <a:solidFill>
                  <a:srgbClr val="FBFCFD"/>
                </a:solidFill>
              </a:rPr>
              <a:t>sc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V</a:t>
            </a:r>
            <a:r>
              <a:rPr sz="1300" i="1">
                <a:solidFill>
                  <a:srgbClr val="FBFCFD"/>
                </a:solidFill>
              </a:rPr>
              <a:t>oc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I</a:t>
            </a:r>
            <a:r>
              <a:rPr sz="1300" i="1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V</a:t>
            </a:r>
            <a:r>
              <a:rPr sz="1300" i="1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P</a:t>
            </a:r>
            <a:r>
              <a:rPr sz="1300" i="1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, irradiancias).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Limpieza Automática:</a:t>
            </a:r>
            <a:r>
              <a:rPr sz="1700">
                <a:solidFill>
                  <a:srgbClr val="FBFCFD"/>
                </a:solidFill>
              </a:rPr>
              <a:t> Se descartaron registros nocturnos (</a:t>
            </a:r>
            <a:r>
              <a:rPr sz="1700" i="1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 &lt; 10 W/m²) o incompletos, acelerando la simulación anual del recurso solar un 95%.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Filtro de Emulación Geográfica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Mapa de Emulación Hemisférica</a:t>
            </a:r>
          </a:p>
        </p:txBody>
      </p:sp>
      <p:pic>
        <p:nvPicPr>
          <p:cNvPr id="7" name="Picture 6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4846320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1188720"/>
            <a:ext cx="58823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Implementación del Filtro de Emulación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645920"/>
            <a:ext cx="5790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Inconsistencia Estacional (Florida → Atacama):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Los datos experimentales de NREL Cocoa [Marion et al., 2014] se midieron en el Hemisferio Norte. Simularlos directamente en el Hemisferio Sur crearía un desfase físico absurdo entre solsticios e inviernos térmicos.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Desfase Temporal (+6 Meses):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Se implementó un desplazamiento estacional exacto de +6 meses (+182 días). Así, el perfil de calor de Florida coincide coherentemente con el verano del Hemisferio Sur.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Traducción Espacial a Atacama: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Timestamp remapeado a 2026 con coordenadas de San Pedro de Atacama (Latitud −22.91° S, Longitud −68.20° W, Altitud 2400m) para calcular la inclinación óptima anual de </a:t>
            </a:r>
            <a:r>
              <a:rPr sz="1400" b="1">
                <a:solidFill>
                  <a:srgbClr val="FBFCFD"/>
                </a:solidFill>
              </a:rPr>
              <a:t>22.91° Norte</a:t>
            </a:r>
            <a:r>
              <a:rPr sz="1400">
                <a:solidFill>
                  <a:srgbClr val="FBFCFD"/>
                </a:solidFill>
              </a:rPr>
              <a:t> [Holmgren et al., 2018].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Alineación de Coordenadas: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Ajuste del ángulo cenital y azimutal en pvlib para simular una captación fotovoltaica impecable sin sombras locales.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Recurso Solar Medido — Irradiancia en el Plano del Arreglo (POA)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804672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Irradiancia POA CMP22 — Todos los Módulos Cocoa (2011-2012)</a:t>
            </a:r>
          </a:p>
        </p:txBody>
      </p:sp>
      <p:pic>
        <p:nvPicPr>
          <p:cNvPr id="7" name="Picture 6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6384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686800" y="1097280"/>
            <a:ext cx="350489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51392" y="1188720"/>
            <a:ext cx="32305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Notas Metodológicas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Sensor:</a:t>
            </a:r>
            <a:r>
              <a:rPr sz="1300">
                <a:solidFill>
                  <a:srgbClr val="FBFCFD"/>
                </a:solidFill>
              </a:rPr>
              <a:t> Piranómetro CMP22 (clase A) — referencia de alta precisión.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Registros:</a:t>
            </a:r>
            <a:r>
              <a:rPr sz="1300">
                <a:solidFill>
                  <a:srgbClr val="FBFCFD"/>
                </a:solidFill>
              </a:rPr>
              <a:t> 421,664 válidos en los 11 archivos Cocoa. Rango: 2011-01-21 a 2012-03-04.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Curvas:</a:t>
            </a:r>
            <a:r>
              <a:rPr sz="1300">
                <a:solidFill>
                  <a:srgbClr val="FBFCFD"/>
                </a:solidFill>
              </a:rPr>
              <a:t> Finas y semitransparentes por CSV; mediana dorada = perfil representativo.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POA máx. medida:</a:t>
            </a:r>
            <a:r>
              <a:rPr sz="1300">
                <a:solidFill>
                  <a:srgbClr val="FBFCFD"/>
                </a:solidFill>
              </a:rPr>
              <a:t> ~1,443 W/m² (Atacama proyecta valores similares en verano).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Propósito:</a:t>
            </a:r>
            <a:r>
              <a:rPr sz="1300">
                <a:solidFill>
                  <a:srgbClr val="FBFCFD"/>
                </a:solidFill>
              </a:rPr>
              <a:t> Verificar que el recurso solar medido es coherente antes de aplicar el filtro de emulación geográfica.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Simulación del Perfil Térmico y Pérdidas Ópticas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Transposición de Recurso y Modificadores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de Perez:</a:t>
            </a:r>
            <a:r>
              <a:rPr sz="1600">
                <a:solidFill>
                  <a:srgbClr val="FBFCFD"/>
                </a:solidFill>
              </a:rPr>
              <a:t> Ejecución del algoritmo [Perez et al., 1990] en pvlib para calcular la irradiancia total en el Plano del Arreglo (</a:t>
            </a:r>
            <a:r>
              <a:rPr sz="1600" i="1">
                <a:solidFill>
                  <a:srgbClr val="FBFCFD"/>
                </a:solidFill>
              </a:rPr>
              <a:t>G</a:t>
            </a:r>
            <a:r>
              <a:rPr sz="1200" i="1">
                <a:solidFill>
                  <a:srgbClr val="FBFCFD"/>
                </a:solidFill>
              </a:rPr>
              <a:t>poa</a:t>
            </a:r>
            <a:r>
              <a:rPr sz="1600">
                <a:solidFill>
                  <a:srgbClr val="FBFCFD"/>
                </a:solidFill>
              </a:rPr>
              <a:t>). *(Ecuación en Anexo I, Lámina 19)*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Modificador IAM:</a:t>
            </a:r>
            <a:r>
              <a:rPr sz="1600">
                <a:solidFill>
                  <a:srgbClr val="FBFCFD"/>
                </a:solidFill>
              </a:rPr>
              <a:t> Pérdidas por reflexión en el cristal basadas en la Ley de Snell y Bouguer [King et al., 2004] (espesor 2mm, índice refracción 1.526). *(Fórmulas en Anexo II, Lámina 20)*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Modificador Espectral (AM):</a:t>
            </a:r>
            <a:r>
              <a:rPr sz="1600">
                <a:solidFill>
                  <a:srgbClr val="FBFCFD"/>
                </a:solidFill>
              </a:rPr>
              <a:t> Corrección empírica de masa de aire de cuarto orden [King et al., 2004] según la elevación del sol. *(Fórmula en Anexo II, Lámina 20)*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Estimación de Temperatura Sandia (SAPM)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Modelación Tc:</a:t>
            </a:r>
            <a:r>
              <a:rPr sz="1400">
                <a:solidFill>
                  <a:srgbClr val="FBFCFD"/>
                </a:solidFill>
              </a:rPr>
              <a:t> Estimación dinámica de la temperatura de celda (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0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) usando coeficientes empíricos de encapsulado del modelo de Sandia [King et al., 2004]. *(Fórmula y coeficientes en Anexo III, Lámina 21)*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Fuente de Coeficientes:</a:t>
            </a:r>
            <a:r>
              <a:rPr sz="1400">
                <a:solidFill>
                  <a:srgbClr val="FBFCFD"/>
                </a:solidFill>
              </a:rPr>
              <a:t> Los parámetros </a:t>
            </a:r>
            <a:r>
              <a:rPr sz="1400" i="1">
                <a:solidFill>
                  <a:srgbClr val="FBFCFD"/>
                </a:solidFill>
              </a:rPr>
              <a:t>a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400" i="1">
                <a:solidFill>
                  <a:srgbClr val="FBFCFD"/>
                </a:solidFill>
              </a:rPr>
              <a:t>b</a:t>
            </a:r>
            <a:r>
              <a:rPr sz="1400">
                <a:solidFill>
                  <a:srgbClr val="FBFCFD"/>
                </a:solidFill>
              </a:rPr>
              <a:t> y </a:t>
            </a:r>
            <a:r>
              <a:rPr sz="1400" i="1">
                <a:solidFill>
                  <a:srgbClr val="FBFCFD"/>
                </a:solidFill>
              </a:rPr>
              <a:t>ΔT</a:t>
            </a:r>
            <a:r>
              <a:rPr sz="1400">
                <a:solidFill>
                  <a:srgbClr val="FBFCFD"/>
                </a:solidFill>
              </a:rPr>
              <a:t> se obtienen de la base interna validada de </a:t>
            </a:r>
            <a:r>
              <a:rPr sz="1400" b="1">
                <a:solidFill>
                  <a:srgbClr val="FBFCFD"/>
                </a:solidFill>
              </a:rPr>
              <a:t>pvlib</a:t>
            </a:r>
            <a:r>
              <a:rPr sz="1400">
                <a:solidFill>
                  <a:srgbClr val="FBFCFD"/>
                </a:solidFill>
              </a:rPr>
              <a:t> (`temperature.TEMPERATURE</a:t>
            </a:r>
            <a:r>
              <a:rPr sz="1400" i="1">
                <a:solidFill>
                  <a:srgbClr val="FBFCFD"/>
                </a:solidFill>
              </a:rPr>
              <a:t>MODEL</a:t>
            </a:r>
            <a:r>
              <a:rPr sz="1400">
                <a:solidFill>
                  <a:srgbClr val="FBFCFD"/>
                </a:solidFill>
              </a:rPr>
              <a:t>PARAMETERS`), que implementa los valores empíricos de King et al. (2004) según el tipo de encapsulado: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— m-Si: `open</a:t>
            </a:r>
            <a:r>
              <a:rPr sz="1400" i="1">
                <a:solidFill>
                  <a:srgbClr val="FBFCFD"/>
                </a:solidFill>
              </a:rPr>
              <a:t>rack</a:t>
            </a:r>
            <a:r>
              <a:rPr sz="1400">
                <a:solidFill>
                  <a:srgbClr val="FBFCFD"/>
                </a:solidFill>
              </a:rPr>
              <a:t>glass_polymer`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— HIT: `open</a:t>
            </a:r>
            <a:r>
              <a:rPr sz="1400" i="1">
                <a:solidFill>
                  <a:srgbClr val="FBFCFD"/>
                </a:solidFill>
              </a:rPr>
              <a:t>rack</a:t>
            </a:r>
            <a:r>
              <a:rPr sz="1400">
                <a:solidFill>
                  <a:srgbClr val="FBFCFD"/>
                </a:solidFill>
              </a:rPr>
              <a:t>glass_glass`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Asunciones Justificadas en Atacama: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1. </a:t>
            </a:r>
            <a:r>
              <a:rPr sz="1400" b="1">
                <a:solidFill>
                  <a:srgbClr val="FBFCFD"/>
                </a:solidFill>
              </a:rPr>
              <a:t>Velocidad del Viento:</a:t>
            </a:r>
            <a:r>
              <a:rPr sz="1400">
                <a:solidFill>
                  <a:srgbClr val="FBFCFD"/>
                </a:solidFill>
              </a:rPr>
              <a:t> Fijada constante en </a:t>
            </a:r>
            <a:r>
              <a:rPr sz="1400" b="1">
                <a:solidFill>
                  <a:srgbClr val="FBFCFD"/>
                </a:solidFill>
              </a:rPr>
              <a:t>1 m/s</a:t>
            </a:r>
            <a:r>
              <a:rPr sz="1400">
                <a:solidFill>
                  <a:srgbClr val="FBFCFD"/>
                </a:solidFill>
              </a:rPr>
              <a:t> (valor conservador de diseño).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2. </a:t>
            </a:r>
            <a:r>
              <a:rPr sz="1400" b="1">
                <a:solidFill>
                  <a:srgbClr val="FBFCFD"/>
                </a:solidFill>
              </a:rPr>
              <a:t>Reflectancia del Suelo (Albedo):</a:t>
            </a:r>
            <a:r>
              <a:rPr sz="1400">
                <a:solidFill>
                  <a:srgbClr val="FBFCFD"/>
                </a:solidFill>
              </a:rPr>
              <a:t> Fijada en </a:t>
            </a:r>
            <a:r>
              <a:rPr sz="1400" b="1">
                <a:solidFill>
                  <a:srgbClr val="FBFCFD"/>
                </a:solidFill>
              </a:rPr>
              <a:t>0.20</a:t>
            </a:r>
            <a:r>
              <a:rPr sz="1400">
                <a:solidFill>
                  <a:srgbClr val="FBFCFD"/>
                </a:solidFill>
              </a:rPr>
              <a:t> (suelo arenoso/árido).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Metodología de Extracción de Parámetros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Desafío de Datasheet y Algoritmo Experimental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El Problema:</a:t>
            </a:r>
            <a:r>
              <a:rPr sz="1700">
                <a:solidFill>
                  <a:srgbClr val="FBFCFD"/>
                </a:solidFill>
              </a:rPr>
              <a:t> La base experimental Cocoa usa códigos internos del NREL (`mSi0166`, `HIT05667`) que no figuran directamente en datasheets comerciales estándar.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Solución: Extracción en STC:</a:t>
            </a:r>
            <a:r>
              <a:rPr sz="1700">
                <a:solidFill>
                  <a:srgbClr val="FBFCFD"/>
                </a:solidFill>
              </a:rPr>
              <a:t> Se diseñó un algoritmo para caracterizar las propiedades nominales directamente desde la base de datos experimental minutal [De Soto et al., 2006].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Condiciones de Referencia (SRC):</a:t>
            </a:r>
            <a:r>
              <a:rPr sz="1700">
                <a:solidFill>
                  <a:srgbClr val="FBFCFD"/>
                </a:solidFill>
              </a:rPr>
              <a:t> Se filtraron mediciones instantáneas bajo condiciones estándar (</a:t>
            </a:r>
            <a:r>
              <a:rPr sz="1700" i="1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 ≈ 1000 W/m² y temperatura de celda </a:t>
            </a:r>
            <a:r>
              <a:rPr sz="1700" i="1">
                <a:solidFill>
                  <a:srgbClr val="FBFCFD"/>
                </a:solidFill>
              </a:rPr>
              <a:t>T</a:t>
            </a:r>
            <a:r>
              <a:rPr sz="1300" i="1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≈ 25°C).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Cálculo Experimental de Coeficientes Térmicos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Coeficientes Térmicos</a:t>
            </a:r>
            <a:r>
              <a:rPr sz="1600">
                <a:solidFill>
                  <a:srgbClr val="FBFCFD"/>
                </a:solidFill>
              </a:rPr>
              <a:t> (</a:t>
            </a:r>
            <a:r>
              <a:rPr sz="1600" i="1">
                <a:solidFill>
                  <a:srgbClr val="FBFCFD"/>
                </a:solidFill>
              </a:rPr>
              <a:t>α</a:t>
            </a:r>
            <a:r>
              <a:rPr sz="1200" i="1">
                <a:solidFill>
                  <a:srgbClr val="FBFCFD"/>
                </a:solidFill>
              </a:rPr>
              <a:t>Isc</a:t>
            </a:r>
            <a:r>
              <a:rPr sz="1600">
                <a:solidFill>
                  <a:srgbClr val="FBFCFD"/>
                </a:solidFill>
              </a:rPr>
              <a:t> y </a:t>
            </a:r>
            <a:r>
              <a:rPr sz="1600" i="1">
                <a:solidFill>
                  <a:srgbClr val="FBFCFD"/>
                </a:solidFill>
              </a:rPr>
              <a:t>β</a:t>
            </a:r>
            <a:r>
              <a:rPr sz="1200" i="1">
                <a:solidFill>
                  <a:srgbClr val="FBFCFD"/>
                </a:solidFill>
              </a:rPr>
              <a:t>Voc</a:t>
            </a:r>
            <a:r>
              <a:rPr sz="1600">
                <a:solidFill>
                  <a:srgbClr val="FBFCFD"/>
                </a:solidFill>
              </a:rPr>
              <a:t>):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Calculados directamente de los datos usando regresiones lineales en periodos estables y de alta radiación (</a:t>
            </a:r>
            <a:r>
              <a:rPr sz="1600" i="1">
                <a:solidFill>
                  <a:srgbClr val="FBFCFD"/>
                </a:solidFill>
              </a:rPr>
              <a:t>G</a:t>
            </a:r>
            <a:r>
              <a:rPr sz="1600">
                <a:solidFill>
                  <a:srgbClr val="FBFCFD"/>
                </a:solidFill>
              </a:rPr>
              <a:t> &gt; 800 W/m²).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Normalización y Consistencia [De Soto et al., 2006]: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La corriente de cortocircuito se normalizó por irradiancia efectiva para aislar el coeficiente de ganancia térmica pura y asegurar consistencia paramétrica.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Ajuste Numérico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El Sistema de Ajuste Trascendental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Formulación Matemática:</a:t>
            </a:r>
            <a:r>
              <a:rPr sz="1600">
                <a:solidFill>
                  <a:srgbClr val="FBFCFD"/>
                </a:solidFill>
              </a:rPr>
              <a:t> Ecuaciones del modelo SDM de 5 parámetros planteadas en STC para cortocircuito, circuito abierto y máxima potencia [De Soto et al., 2006]. *(Ecuación en Anexo IV, Lámina 22)*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Optimización de Mínimos Cuadrados:</a:t>
            </a:r>
            <a:r>
              <a:rPr sz="1600">
                <a:solidFill>
                  <a:srgbClr val="FBFCFD"/>
                </a:solidFill>
              </a:rPr>
              <a:t> Resolución simultánea del sistema no lineal trascendental mediante scipy en Python para obtener los valores óptimos nominales.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Consistencia Física (Bounds):</a:t>
            </a:r>
            <a:r>
              <a:rPr sz="1600">
                <a:solidFill>
                  <a:srgbClr val="FBFCFD"/>
                </a:solidFill>
              </a:rPr>
              <a:t> Restricciones explícitas de resistencia serie mayor a cero (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s,ref</a:t>
            </a:r>
            <a:r>
              <a:rPr sz="1600">
                <a:solidFill>
                  <a:srgbClr val="FBFCFD"/>
                </a:solidFill>
              </a:rPr>
              <a:t> &gt; 0) y factor de idealidad </a:t>
            </a:r>
            <a:r>
              <a:rPr sz="1600" i="1">
                <a:solidFill>
                  <a:srgbClr val="FBFCFD"/>
                </a:solidFill>
              </a:rPr>
              <a:t>n</a:t>
            </a:r>
            <a:r>
              <a:rPr sz="1200" i="1">
                <a:solidFill>
                  <a:srgbClr val="FBFCFD"/>
                </a:solidFill>
              </a:rPr>
              <a:t>I</a:t>
            </a:r>
            <a:r>
              <a:rPr sz="1600">
                <a:solidFill>
                  <a:srgbClr val="FBFCFD"/>
                </a:solidFill>
              </a:rPr>
              <a:t> ∈ [1, 2] para garantizar sentido físico.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Resultados de Parámetros en STC Extraídos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m-Si (Silicio Monocristalino) [De Soto et al., 2006]: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L,ref</a:t>
            </a:r>
            <a:r>
              <a:rPr sz="1600">
                <a:solidFill>
                  <a:srgbClr val="FBFCFD"/>
                </a:solidFill>
              </a:rPr>
              <a:t> = 2.768 A  |  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0,ref</a:t>
            </a:r>
            <a:r>
              <a:rPr sz="1600">
                <a:solidFill>
                  <a:srgbClr val="FBFCFD"/>
                </a:solidFill>
              </a:rPr>
              <a:t> = 4.13 × 10⁻⁹ A  |  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s,ref</a:t>
            </a:r>
            <a:r>
              <a:rPr sz="1600">
                <a:solidFill>
                  <a:srgbClr val="FBFCFD"/>
                </a:solidFill>
              </a:rPr>
              <a:t> = 0.542 Ω  |  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sh,ref</a:t>
            </a:r>
            <a:r>
              <a:rPr sz="1600">
                <a:solidFill>
                  <a:srgbClr val="FBFCFD"/>
                </a:solidFill>
              </a:rPr>
              <a:t> = 352.4 Ω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HIT (Heterounión) [De Soto et al., 2006]: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L,ref</a:t>
            </a:r>
            <a:r>
              <a:rPr sz="1600">
                <a:solidFill>
                  <a:srgbClr val="FBFCFD"/>
                </a:solidFill>
              </a:rPr>
              <a:t> = 5.607 A  |  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0,ref</a:t>
            </a:r>
            <a:r>
              <a:rPr sz="1600">
                <a:solidFill>
                  <a:srgbClr val="FBFCFD"/>
                </a:solidFill>
              </a:rPr>
              <a:t> = 4.68 × 10⁻¹⁰ A  |  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s,ref</a:t>
            </a:r>
            <a:r>
              <a:rPr sz="1600">
                <a:solidFill>
                  <a:srgbClr val="FBFCFD"/>
                </a:solidFill>
              </a:rPr>
              <a:t> = 0.412 Ω  |  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sh,ref</a:t>
            </a:r>
            <a:r>
              <a:rPr sz="1600">
                <a:solidFill>
                  <a:srgbClr val="FBFCFD"/>
                </a:solidFill>
              </a:rPr>
              <a:t> = 612.8 Ω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Coherencia Física:</a:t>
            </a:r>
            <a:r>
              <a:rPr sz="1600">
                <a:solidFill>
                  <a:srgbClr val="FBFCFD"/>
                </a:solidFill>
              </a:rPr>
              <a:t> La corriente de saturación inversa (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0</a:t>
            </a:r>
            <a:r>
              <a:rPr sz="1600">
                <a:solidFill>
                  <a:srgbClr val="FBFCFD"/>
                </a:solidFill>
              </a:rPr>
              <a:t>) de HIT es un orden de magnitud inferior, demostrando su menor recombinación intrínseca por temperatura.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Traslado Paramétrico y Simulación Minutal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Escalamiento Dinámico a Condiciones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Traslado de De Soto:</a:t>
            </a:r>
            <a:r>
              <a:rPr sz="1600">
                <a:solidFill>
                  <a:srgbClr val="FBFCFD"/>
                </a:solidFill>
              </a:rPr>
              <a:t> Para cada intervalo de la simulación anual 2026, los 5 parámetros se escalaron a la irradiancia efectiva (</a:t>
            </a:r>
            <a:r>
              <a:rPr sz="1600" i="1">
                <a:solidFill>
                  <a:srgbClr val="FBFCFD"/>
                </a:solidFill>
              </a:rPr>
              <a:t>S</a:t>
            </a:r>
            <a:r>
              <a:rPr sz="1600">
                <a:solidFill>
                  <a:srgbClr val="FBFCFD"/>
                </a:solidFill>
              </a:rPr>
              <a:t>) y temperatura de celda (</a:t>
            </a:r>
            <a:r>
              <a:rPr sz="1600" i="1">
                <a:solidFill>
                  <a:srgbClr val="FBFCFD"/>
                </a:solidFill>
              </a:rPr>
              <a:t>T</a:t>
            </a:r>
            <a:r>
              <a:rPr sz="1200" i="1">
                <a:solidFill>
                  <a:srgbClr val="FBFCFD"/>
                </a:solidFill>
              </a:rPr>
              <a:t>c</a:t>
            </a:r>
            <a:r>
              <a:rPr sz="1600">
                <a:solidFill>
                  <a:srgbClr val="FBFCFD"/>
                </a:solidFill>
              </a:rPr>
              <a:t>) locales [De Soto et al., 2006]. *(Ecuaciones en Anexo VI, Lámina 24)*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Dependencia del Bandgap:</a:t>
            </a:r>
            <a:r>
              <a:rPr sz="1600">
                <a:solidFill>
                  <a:srgbClr val="FBFCFD"/>
                </a:solidFill>
              </a:rPr>
              <a:t> Variación térmica no lineal del bandgap de silicio (</a:t>
            </a:r>
            <a:r>
              <a:rPr sz="1600" i="1">
                <a:solidFill>
                  <a:srgbClr val="FBFCFD"/>
                </a:solidFill>
              </a:rPr>
              <a:t>E</a:t>
            </a:r>
            <a:r>
              <a:rPr sz="1200" i="1">
                <a:solidFill>
                  <a:srgbClr val="FBFCFD"/>
                </a:solidFill>
              </a:rPr>
              <a:t>g</a:t>
            </a:r>
            <a:r>
              <a:rPr sz="1600">
                <a:solidFill>
                  <a:srgbClr val="FBFCFD"/>
                </a:solidFill>
              </a:rPr>
              <a:t>) y factor de idealidad térmico (</a:t>
            </a:r>
            <a:r>
              <a:rPr sz="1600" i="1">
                <a:solidFill>
                  <a:srgbClr val="FBFCFD"/>
                </a:solidFill>
              </a:rPr>
              <a:t>a</a:t>
            </a:r>
            <a:r>
              <a:rPr sz="1600">
                <a:solidFill>
                  <a:srgbClr val="FBFCFD"/>
                </a:solidFill>
              </a:rPr>
              <a:t>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Resistencias Shunt y Serie:</a:t>
            </a:r>
            <a:r>
              <a:rPr sz="1600">
                <a:solidFill>
                  <a:srgbClr val="FBFCFD"/>
                </a:solidFill>
              </a:rPr>
              <a:t> Resistencia paralelo inversamente proporcional a la irradiancia. Resistencia serie asumida constante según validaciones NIST [De Soto et al., 2006].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Resolución Implícita del Circuito (MPP)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Resolución Numérica:</a:t>
            </a:r>
            <a:r>
              <a:rPr sz="1600">
                <a:solidFill>
                  <a:srgbClr val="FBFCFD"/>
                </a:solidFill>
              </a:rPr>
              <a:t> Empleo del algoritmo implícito `calcparams_desoto` de pvlib [Holmgren et al., 2018] para obtener los parámetros en cada minuto.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Búsqueda del MPP:</a:t>
            </a:r>
            <a:r>
              <a:rPr sz="1600">
                <a:solidFill>
                  <a:srgbClr val="FBFCFD"/>
                </a:solidFill>
              </a:rPr>
              <a:t> Se resolvió la ecuación trascendental del diodo simple utilizando la función W de Lambert para ubicar el Punto de Máxima Potencia (</a:t>
            </a:r>
            <a:r>
              <a:rPr sz="1600" i="1">
                <a:solidFill>
                  <a:srgbClr val="FBFCFD"/>
                </a:solidFill>
              </a:rPr>
              <a:t>P</a:t>
            </a:r>
            <a:r>
              <a:rPr sz="1200" i="1">
                <a:solidFill>
                  <a:srgbClr val="FBFCFD"/>
                </a:solidFill>
              </a:rPr>
              <a:t>mp,SDM</a:t>
            </a:r>
            <a:r>
              <a:rPr sz="1600">
                <a:solidFill>
                  <a:srgbClr val="FBFCFD"/>
                </a:solidFill>
              </a:rPr>
              <a:t>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Cómputo de Energía:</a:t>
            </a:r>
            <a:r>
              <a:rPr sz="1600">
                <a:solidFill>
                  <a:srgbClr val="FBFCFD"/>
                </a:solidFill>
              </a:rPr>
              <a:t> Integración temporal de la potencia útil minutal para consolidar la energía anual generada por cada panel.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Distribución de Temperatura de Celda</a:t>
            </a:r>
          </a:p>
        </p:txBody>
      </p:sp>
      <p:pic>
        <p:nvPicPr>
          <p:cNvPr id="7" name="Picture 6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5669280" cy="4251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49440" y="1097280"/>
            <a:ext cx="487649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1097280"/>
            <a:ext cx="73152" cy="146304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188720"/>
            <a:ext cx="46021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Picos Térmicos Extremos de Celda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554480"/>
            <a:ext cx="4510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5E3A"/>
                </a:solidFill>
              </a:defRPr>
            </a:pPr>
            <a:r>
              <a:rPr sz="1600" b="1">
                <a:solidFill>
                  <a:srgbClr val="FF5E3A"/>
                </a:solidFill>
              </a:rPr>
              <a:t>65°C a 70°C</a:t>
            </a:r>
            <a:r>
              <a:rPr sz="1600" b="1">
                <a:solidFill>
                  <a:srgbClr val="FF5E3A"/>
                </a:solidFill>
              </a:rPr>
              <a:t> de temperatura operativa recurrente durante las horas del mediodía solar en Atacama.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2743200"/>
            <a:ext cx="4876495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49440" y="274320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14032" y="2834640"/>
            <a:ext cx="46021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200400"/>
            <a:ext cx="45107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Estrés Térmico Evidenciado:</a:t>
            </a:r>
            <a:r>
              <a:rPr sz="1300">
                <a:solidFill>
                  <a:srgbClr val="FBFCFD"/>
                </a:solidFill>
              </a:rPr>
              <a:t> La simulación térmica minutal revela temperaturas de celda operativas recurrentes muy por encima de STC.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Enfriamiento Convectivo Limitado:</a:t>
            </a:r>
            <a:r>
              <a:rPr sz="1300">
                <a:solidFill>
                  <a:srgbClr val="FBFCFD"/>
                </a:solidFill>
              </a:rPr>
              <a:t> Al asumir velocidad de viento conservadora de 1 m/s en SAPM [King et al., 2004], se modela el escenario de mayor estrés físico.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Consecuencia en Voltaje [De Soto et al., 2006]:</a:t>
            </a:r>
            <a:r>
              <a:rPr sz="1300">
                <a:solidFill>
                  <a:srgbClr val="FBFCFD"/>
                </a:solidFill>
              </a:rPr>
              <a:t> El calentamiento incrementa la corriente de saturación inversa (</a:t>
            </a:r>
            <a:r>
              <a:rPr sz="1300" i="1">
                <a:solidFill>
                  <a:srgbClr val="FBFCFD"/>
                </a:solidFill>
              </a:rPr>
              <a:t>I</a:t>
            </a:r>
            <a:r>
              <a:rPr sz="900" i="1">
                <a:solidFill>
                  <a:srgbClr val="FBFCFD"/>
                </a:solidFill>
              </a:rPr>
              <a:t>0</a:t>
            </a:r>
            <a:r>
              <a:rPr sz="1300">
                <a:solidFill>
                  <a:srgbClr val="FBFCFD"/>
                </a:solidFill>
              </a:rPr>
              <a:t>), deprimiendo la tensión de circuito abierto (</a:t>
            </a:r>
            <a:r>
              <a:rPr sz="1300" i="1">
                <a:solidFill>
                  <a:srgbClr val="FBFCFD"/>
                </a:solidFill>
              </a:rPr>
              <a:t>V</a:t>
            </a:r>
            <a:r>
              <a:rPr sz="900" i="1">
                <a:solidFill>
                  <a:srgbClr val="FBFCFD"/>
                </a:solidFill>
              </a:rPr>
              <a:t>oc</a:t>
            </a:r>
            <a:r>
              <a:rPr sz="1300">
                <a:solidFill>
                  <a:srgbClr val="FBFCFD"/>
                </a:solidFill>
              </a:rPr>
              <a:t>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60350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Validación: Potencia Medida vs. Simulada</a:t>
            </a:r>
          </a:p>
        </p:txBody>
      </p:sp>
      <p:pic>
        <p:nvPicPr>
          <p:cNvPr id="7" name="Picture 6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486400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675120" y="1097280"/>
            <a:ext cx="515081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097280"/>
            <a:ext cx="73152" cy="14630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9712" y="1188720"/>
            <a:ext cx="4876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554480"/>
            <a:ext cx="4785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00D2FF"/>
                </a:solidFill>
              </a:defRPr>
            </a:pPr>
            <a:r>
              <a:rPr sz="1600" b="1">
                <a:solidFill>
                  <a:srgbClr val="00D2FF"/>
                </a:solidFill>
              </a:rPr>
              <a:t>R² &gt; 0.99</a:t>
            </a:r>
            <a:r>
              <a:rPr sz="1600" b="1">
                <a:solidFill>
                  <a:srgbClr val="00D2FF"/>
                </a:solidFill>
              </a:rPr>
              <a:t>  |  </a:t>
            </a:r>
            <a:r>
              <a:rPr sz="1600" b="1">
                <a:solidFill>
                  <a:srgbClr val="00D2FF"/>
                </a:solidFill>
              </a:rPr>
              <a:t>RMSE &lt; 5W</a:t>
            </a:r>
            <a:r>
              <a:rPr sz="1600" b="1">
                <a:solidFill>
                  <a:srgbClr val="00D2FF"/>
                </a:solidFill>
              </a:rPr>
              <a:t> de desviación minutal promedio bajo condiciones solares plenas.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743200"/>
            <a:ext cx="5150815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274320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834640"/>
            <a:ext cx="4876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Métricas de Ajuste y Rigor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200400"/>
            <a:ext cx="47850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Fidelidad del Ajuste [De Soto et al., 2006]:</a:t>
            </a:r>
            <a:r>
              <a:rPr sz="1300">
                <a:solidFill>
                  <a:srgbClr val="FBFCFD"/>
                </a:solidFill>
              </a:rPr>
              <a:t> Coeficiente de determinación </a:t>
            </a:r>
            <a:r>
              <a:rPr sz="1300" i="1">
                <a:solidFill>
                  <a:srgbClr val="FBFCFD"/>
                </a:solidFill>
              </a:rPr>
              <a:t>R</a:t>
            </a:r>
            <a:r>
              <a:rPr sz="1300">
                <a:solidFill>
                  <a:srgbClr val="FBFCFD"/>
                </a:solidFill>
              </a:rPr>
              <a:t>² &gt; 0.99 en validación cruzada frente a datos medidos, confirmando la precisión del modelo en todo el espectro.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Desviación Minutal (RMSE):</a:t>
            </a:r>
            <a:r>
              <a:rPr sz="1300">
                <a:solidFill>
                  <a:srgbClr val="FBFCFD"/>
                </a:solidFill>
              </a:rPr>
              <a:t> Error cuadrático medio (</a:t>
            </a:r>
            <a:r>
              <a:rPr sz="1300" i="1">
                <a:solidFill>
                  <a:srgbClr val="FBFCFD"/>
                </a:solidFill>
              </a:rPr>
              <a:t>RMSE</a:t>
            </a:r>
            <a:r>
              <a:rPr sz="1300">
                <a:solidFill>
                  <a:srgbClr val="FBFCFD"/>
                </a:solidFill>
              </a:rPr>
              <a:t>) extremadamente bajo en periodos estables diurnos.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Zonas de Discrepancia:</a:t>
            </a:r>
            <a:r>
              <a:rPr sz="1300">
                <a:solidFill>
                  <a:srgbClr val="FBFCFD"/>
                </a:solidFill>
              </a:rPr>
              <a:t> Leve dispersión en irradiancias bajas por la idealización empírica de la resistencia shunt.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Puntos Conflictuales y Acoplamiento Rs - 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Acoplamiento Rs - factor de idealidad 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Alta Correlación Paramétrica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La resistencia serie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) y el factor de idealidad del diodo (</a:t>
            </a:r>
            <a:r>
              <a:rPr sz="1400" i="1">
                <a:solidFill>
                  <a:srgbClr val="FBFCFD"/>
                </a:solidFill>
              </a:rPr>
              <a:t>n</a:t>
            </a:r>
            <a:r>
              <a:rPr sz="1400">
                <a:solidFill>
                  <a:srgbClr val="FBFCFD"/>
                </a:solidFill>
              </a:rPr>
              <a:t>) influyen de manera similar en la redondez de la curva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400">
                <a:solidFill>
                  <a:srgbClr val="FBFCFD"/>
                </a:solidFill>
              </a:rPr>
              <a:t>-</a:t>
            </a:r>
            <a:r>
              <a:rPr sz="1400" i="1">
                <a:solidFill>
                  <a:srgbClr val="FBFCFD"/>
                </a:solidFill>
              </a:rPr>
              <a:t>V</a:t>
            </a:r>
            <a:r>
              <a:rPr sz="1400">
                <a:solidFill>
                  <a:srgbClr val="FBFCFD"/>
                </a:solidFill>
              </a:rPr>
              <a:t> cerca del MPP.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Problema Matemático Mal Condicionado: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Múltiples combinaciones del par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400" i="1">
                <a:solidFill>
                  <a:srgbClr val="FBFCFD"/>
                </a:solidFill>
              </a:rPr>
              <a:t>n</a:t>
            </a:r>
            <a:r>
              <a:rPr sz="1400">
                <a:solidFill>
                  <a:srgbClr val="FBFCFD"/>
                </a:solidFill>
              </a:rPr>
              <a:t>) pueden resultar en un ajuste idéntico de curvas con un error residual mínimo similar, perdiendo significado físico real.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Mitigación y Solución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Se fijaron límites estrictos en el optimizador multivariable: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&gt; 0  |  </a:t>
            </a:r>
            <a:r>
              <a:rPr sz="1400" i="1">
                <a:solidFill>
                  <a:srgbClr val="FBFCFD"/>
                </a:solidFill>
              </a:rPr>
              <a:t>n</a:t>
            </a:r>
            <a:r>
              <a:rPr sz="1400">
                <a:solidFill>
                  <a:srgbClr val="FBFCFD"/>
                </a:solidFill>
              </a:rPr>
              <a:t> ∈ [1.0, 2.0]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Esto evita la convergencia a soluciones matemáticamente correctas pero físicamente imposibles.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1188720"/>
            <a:ext cx="58823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645920"/>
            <a:ext cx="5790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Resistencia Shunt (_R_[_sh_]) e Irradiancia (_G_):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La relación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 =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sh,ref</a:t>
            </a:r>
            <a:r>
              <a:rPr sz="1400">
                <a:solidFill>
                  <a:srgbClr val="FBFCFD"/>
                </a:solidFill>
              </a:rPr>
              <a:t> · (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000" i="1">
                <a:solidFill>
                  <a:srgbClr val="FBFCFD"/>
                </a:solidFill>
              </a:rPr>
              <a:t>ref</a:t>
            </a:r>
            <a:r>
              <a:rPr sz="1400">
                <a:solidFill>
                  <a:srgbClr val="FBFCFD"/>
                </a:solidFill>
              </a:rPr>
              <a:t>/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) es empírica. A muy baja irradiancia (amanecer/ocaso), puede sobreestimar la resistencia shunt.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*Impacto:* Despreciable en el PR anual, ya que esas horas representan una fracción mínima de la energía total.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_R_[_s_] Constante con la Temperatura: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Ignora el cambio de la resistividad del semiconductor con 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0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*Justificación:* De Soto (2006) validó que mantener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constante produce errores de potencia &lt; 2% frente a datos experimentales NIST.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Bandgap lineal con la Temperatura: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La relación del bandgap del Silicio con la temperatura se asume lineal, simplificando la ecuación real no lineal de Varshni.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*Impacto:* El error inducido es menor al 1% en el rango operacional (0°C a 70°C).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Pérdidas Térmicas y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69494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6675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Normalización por Potencia Nominal</a:t>
            </a:r>
          </a:p>
        </p:txBody>
      </p:sp>
      <p:pic>
        <p:nvPicPr>
          <p:cNvPr id="7" name="Picture 6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36955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1097280"/>
            <a:ext cx="423641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1097280"/>
            <a:ext cx="73152" cy="146304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54112" y="1188720"/>
            <a:ext cx="3962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Coeficientes de Temperatura (</a:t>
            </a:r>
            <a:r>
              <a:rPr sz="1800" i="1" b="1">
                <a:solidFill>
                  <a:srgbClr val="F1C40F"/>
                </a:solidFill>
              </a:rPr>
              <a:t>P</a:t>
            </a:r>
            <a:r>
              <a:rPr sz="1400" i="1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554480"/>
            <a:ext cx="3870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5E3A"/>
                </a:solidFill>
              </a:defRPr>
            </a:pPr>
            <a:r>
              <a:rPr sz="1500" b="1">
                <a:solidFill>
                  <a:srgbClr val="FF5E3A"/>
                </a:solidFill>
              </a:rPr>
              <a:t>m-Si:</a:t>
            </a:r>
            <a:r>
              <a:rPr sz="1500" b="1">
                <a:solidFill>
                  <a:srgbClr val="FF5E3A"/>
                </a:solidFill>
              </a:rPr>
              <a:t> −0.40 %/°C (Pérdidas severas)</a:t>
            </a:r>
          </a:p>
          <a:p>
            <a:pPr algn="l">
              <a:defRPr sz="1500">
                <a:solidFill>
                  <a:srgbClr val="FF5E3A"/>
                </a:solidFill>
              </a:defRPr>
            </a:pPr>
            <a:r>
              <a:rPr sz="1500" b="1">
                <a:solidFill>
                  <a:srgbClr val="FF5E3A"/>
                </a:solidFill>
              </a:rPr>
              <a:t>HIT:</a:t>
            </a:r>
            <a:r>
              <a:rPr sz="1500" b="1">
                <a:solidFill>
                  <a:srgbClr val="FF5E3A"/>
                </a:solidFill>
              </a:rPr>
              <a:t> −0.26 %/°C (Alta tolerancia)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2743200"/>
            <a:ext cx="4236415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0" y="274320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54112" y="2834640"/>
            <a:ext cx="3962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200400"/>
            <a:ext cx="3870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Heterounión (HIT - Naranja) [De Soto et al., 2006]:</a:t>
            </a:r>
            <a:r>
              <a:rPr sz="1300">
                <a:solidFill>
                  <a:srgbClr val="FBFCFD"/>
                </a:solidFill>
              </a:rPr>
              <a:t> Coeficiente de temperatura muy bajo, preservando una alta eficiencia de conversión a 65°C.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Silicio (m-Si - Azul) [De Soto et al., 2006]:</a:t>
            </a:r>
            <a:r>
              <a:rPr sz="1300">
                <a:solidFill>
                  <a:srgbClr val="FBFCFD"/>
                </a:solidFill>
              </a:rPr>
              <a:t> Descenso térmico pronunciado que penaliza la potencia generada durante el mediodía solar.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Consecuencia en PR Anual:</a:t>
            </a:r>
            <a:r>
              <a:rPr sz="1300">
                <a:solidFill>
                  <a:srgbClr val="FBFCFD"/>
                </a:solidFill>
              </a:rPr>
              <a:t> Explica mecánicamente la diferencia del Performance Ratio entre tecnologías. *(Ecuación de PR en Anexo VII, Lámina 25)*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Veredicto Técnico y Económico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16459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16459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Veredicto de Performance Ratio (PR Anual)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22716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1C40F"/>
                </a:solidFill>
              </a:defRPr>
            </a:pPr>
            <a:r>
              <a:rPr sz="1600" b="1">
                <a:solidFill>
                  <a:srgbClr val="F1C40F"/>
                </a:solidFill>
              </a:rPr>
              <a:t>HIT (Heterounión): 86.92%</a:t>
            </a:r>
            <a:r>
              <a:rPr sz="1600" b="1">
                <a:solidFill>
                  <a:srgbClr val="F1C40F"/>
                </a:solidFill>
              </a:rPr>
              <a:t>  </a:t>
            </a:r>
          </a:p>
          <a:p>
            <a:pPr algn="l">
              <a:defRPr sz="1600">
                <a:solidFill>
                  <a:srgbClr val="F1C40F"/>
                </a:solidFill>
              </a:defRPr>
            </a:pPr>
            <a:r>
              <a:rPr sz="1600" b="1">
                <a:solidFill>
                  <a:srgbClr val="F1C40F"/>
                </a:solidFill>
              </a:rPr>
              <a:t>m-Si (Monocristalino): 84.53%</a:t>
            </a:r>
            <a:r>
              <a:rPr sz="1600" b="1">
                <a:solidFill>
                  <a:srgbClr val="F1C40F"/>
                </a:solidFill>
              </a:rPr>
              <a:t>  </a:t>
            </a:r>
          </a:p>
          <a:p>
            <a:pPr algn="l">
              <a:defRPr sz="1600">
                <a:solidFill>
                  <a:srgbClr val="F1C40F"/>
                </a:solidFill>
              </a:defRPr>
            </a:pPr>
            <a:r>
              <a:rPr sz="1600" b="1">
                <a:solidFill>
                  <a:srgbClr val="F1C40F"/>
                </a:solidFill>
              </a:rPr>
              <a:t>Ganancia Neta: +2.39%</a:t>
            </a:r>
            <a:r>
              <a:rPr sz="1600" b="1">
                <a:solidFill>
                  <a:srgbClr val="F1C40F"/>
                </a:solidFill>
              </a:rPr>
              <a:t> en PR anual.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926080"/>
            <a:ext cx="5592927" cy="32004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926080"/>
            <a:ext cx="73152" cy="3200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30175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Conclusión Técnica de Diseño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522716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Superioridad Física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HIT demuestra superioridad física indiscutible en Atacama. Su celda híbrida intrínsecamente resiste el calor amortiguando la caída de la tensión en circuito abierto (</a:t>
            </a:r>
            <a:r>
              <a:rPr sz="1400" i="1">
                <a:solidFill>
                  <a:srgbClr val="FBFCFD"/>
                </a:solidFill>
              </a:rPr>
              <a:t>V</a:t>
            </a:r>
            <a:r>
              <a:rPr sz="1000" i="1">
                <a:solidFill>
                  <a:srgbClr val="FBFCFD"/>
                </a:solidFill>
              </a:rPr>
              <a:t>oc</a:t>
            </a:r>
            <a:r>
              <a:rPr sz="1400">
                <a:solidFill>
                  <a:srgbClr val="FBFCFD"/>
                </a:solidFill>
              </a:rPr>
              <a:t>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Estructura Híbrida:</a:t>
            </a:r>
            <a:r>
              <a:rPr sz="1400">
                <a:solidFill>
                  <a:srgbClr val="FBFCFD"/>
                </a:solidFill>
              </a:rPr>
              <a:t> Capas delgadas que atenúan recombinación de portadores debida a excitación térmica.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097280"/>
            <a:ext cx="5592927" cy="16459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097280"/>
            <a:ext cx="73152" cy="16459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Impacto Financiero (Planta de 100 MWp)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1554480"/>
            <a:ext cx="522716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5E3A"/>
                </a:solidFill>
              </a:defRPr>
            </a:pPr>
            <a:r>
              <a:rPr sz="1600" b="1">
                <a:solidFill>
                  <a:srgbClr val="FF5E3A"/>
                </a:solidFill>
              </a:rPr>
              <a:t>~6,000 MWh/año de generación adicional</a:t>
            </a:r>
            <a:r>
              <a:rPr sz="1600" b="1">
                <a:solidFill>
                  <a:srgbClr val="FF5E3A"/>
                </a:solidFill>
              </a:rPr>
              <a:t>  </a:t>
            </a:r>
          </a:p>
          <a:p>
            <a:pPr algn="l">
              <a:defRPr sz="1600">
                <a:solidFill>
                  <a:srgbClr val="FF5E3A"/>
                </a:solidFill>
              </a:defRPr>
            </a:pPr>
            <a:r>
              <a:rPr sz="1600" b="1">
                <a:solidFill>
                  <a:srgbClr val="FF5E3A"/>
                </a:solidFill>
              </a:rPr>
              <a:t>+USD 270,000 anuales</a:t>
            </a:r>
            <a:r>
              <a:rPr sz="1600" b="1">
                <a:solidFill>
                  <a:srgbClr val="FF5E3A"/>
                </a:solidFill>
              </a:rPr>
              <a:t> de facturación neta.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2926080"/>
            <a:ext cx="5592927" cy="32004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2926080"/>
            <a:ext cx="73152" cy="32004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9" y="30175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Análisis de Retorno de Inversión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3383280"/>
            <a:ext cx="522716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Equivalencia Energética:</a:t>
            </a:r>
            <a:r>
              <a:rPr sz="1400">
                <a:solidFill>
                  <a:srgbClr val="FBFCFD"/>
                </a:solidFill>
              </a:rPr>
              <a:t> Cada +1% de PR equivale a ~2,500 MWh de energía extra anual en una planta comercial de 100 MWp.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Viabilidad en 25 Años:</a:t>
            </a:r>
            <a:r>
              <a:rPr sz="1400">
                <a:solidFill>
                  <a:srgbClr val="FBFCFD"/>
                </a:solidFill>
              </a:rPr>
              <a:t> Una mayor facturación neta de USD 270k anuales amortiza con holgura la inversión inicial (CAPEX) extra de paneles HIT frente a m-Si.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1. </a:t>
            </a:r>
            <a:r>
              <a:rPr sz="1700" b="1">
                <a:solidFill>
                  <a:srgbClr val="FBFCFD"/>
                </a:solidFill>
              </a:rPr>
              <a:t>Fidelidad Metodológica:</a:t>
            </a:r>
            <a:r>
              <a:rPr sz="1700">
                <a:solidFill>
                  <a:srgbClr val="FBFCFD"/>
                </a:solidFill>
              </a:rPr>
              <a:t> La emulación geográfica y estacional por traslación temporal fue coherente, permitiendo simular Atacama con data de Cocoa.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2. </a:t>
            </a:r>
            <a:r>
              <a:rPr sz="1700" b="1">
                <a:solidFill>
                  <a:srgbClr val="FBFCFD"/>
                </a:solidFill>
              </a:rPr>
              <a:t>Ajuste Robusto:</a:t>
            </a:r>
            <a:r>
              <a:rPr sz="1700">
                <a:solidFill>
                  <a:srgbClr val="FBFCFD"/>
                </a:solidFill>
              </a:rPr>
              <a:t> El modelo De Soto de 5 parámetros reprodujo con alta precisión (</a:t>
            </a:r>
            <a:r>
              <a:rPr sz="1700" i="1">
                <a:solidFill>
                  <a:srgbClr val="FBFCFD"/>
                </a:solidFill>
              </a:rPr>
              <a:t>R</a:t>
            </a:r>
            <a:r>
              <a:rPr sz="1700">
                <a:solidFill>
                  <a:srgbClr val="FBFCFD"/>
                </a:solidFill>
              </a:rPr>
              <a:t>² &gt; 0.99) el comportamiento del circuito.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3. </a:t>
            </a:r>
            <a:r>
              <a:rPr sz="1700" b="1">
                <a:solidFill>
                  <a:srgbClr val="FBFCFD"/>
                </a:solidFill>
              </a:rPr>
              <a:t>HIT Vencedor:</a:t>
            </a:r>
            <a:r>
              <a:rPr sz="1700">
                <a:solidFill>
                  <a:srgbClr val="FBFCFD"/>
                </a:solidFill>
              </a:rPr>
              <a:t> HIT superó en 2.39% de PR a m-Si por su bajo coeficiente de temperatura de potencia.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4. </a:t>
            </a:r>
            <a:r>
              <a:rPr sz="1700" b="1">
                <a:solidFill>
                  <a:srgbClr val="FBFCFD"/>
                </a:solidFill>
              </a:rPr>
              <a:t>Recomendación:</a:t>
            </a:r>
            <a:r>
              <a:rPr sz="1700">
                <a:solidFill>
                  <a:srgbClr val="FBFCFD"/>
                </a:solidFill>
              </a:rPr>
              <a:t> HIT es técnicamente superior para plantas desérticas de alta irradiancia y alta temperatura.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Integración de Bifacialidad:</a:t>
            </a:r>
            <a:r>
              <a:rPr sz="1600">
                <a:solidFill>
                  <a:srgbClr val="FBFCFD"/>
                </a:solidFill>
              </a:rPr>
              <a:t> Incorporar el aporte de la irradiancia reflejada (albedo desértico, </a:t>
            </a:r>
            <a:r>
              <a:rPr sz="1600" i="1">
                <a:solidFill>
                  <a:srgbClr val="FBFCFD"/>
                </a:solidFill>
              </a:rPr>
              <a:t>ρ</a:t>
            </a:r>
            <a:r>
              <a:rPr sz="1600">
                <a:solidFill>
                  <a:srgbClr val="FBFCFD"/>
                </a:solidFill>
              </a:rPr>
              <a:t> &gt; 0.25) en la cara posterior del módulo.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Pérdidas por Soiling:</a:t>
            </a:r>
            <a:r>
              <a:rPr sz="1600">
                <a:solidFill>
                  <a:srgbClr val="FBFCFD"/>
                </a:solidFill>
              </a:rPr>
              <a:t> Modelar la acumulación de polvo desértico en la superficie del cristal, factor de pérdida de rendimiento crítico en Atacama.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Estudio Espectral Avanzado:</a:t>
            </a:r>
            <a:r>
              <a:rPr sz="1600">
                <a:solidFill>
                  <a:srgbClr val="FBFCFD"/>
                </a:solidFill>
              </a:rPr>
              <a:t> Evaluar el efecto de la masa de aire sobre la eficiencia cuántica de la celda de heterounión.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Análisis de Doble Diodo:</a:t>
            </a:r>
            <a:r>
              <a:rPr sz="1600">
                <a:solidFill>
                  <a:srgbClr val="FBFCFD"/>
                </a:solidFill>
              </a:rPr>
              <a:t> Capturar los efectos de recombinación no ideal a baja irradiancia.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944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3. NREL Cocoa Dataset - Experimental Measurements for Model Validation.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4. pvlib-python Library documentation &amp; community contributors.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I: Ecuaciones de Transposición y Absorción Solar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Transposición POA (Modelo de Perez)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Calcula la irradiancia incidente total en el plano inclinado del panel:</a:t>
            </a:r>
          </a:p>
        </p:txBody>
      </p:sp>
      <p:pic>
        <p:nvPicPr>
          <p:cNvPr id="8" name="Picture 7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Donde: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100" i="1">
                <a:solidFill>
                  <a:srgbClr val="F1C40F"/>
                </a:solidFill>
              </a:rPr>
              <a:t>b</a:t>
            </a:r>
            <a:r>
              <a:rPr sz="1500">
                <a:solidFill>
                  <a:srgbClr val="F1C40F"/>
                </a:solidFill>
              </a:rPr>
              <a:t> /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100" i="1">
                <a:solidFill>
                  <a:srgbClr val="F1C40F"/>
                </a:solidFill>
              </a:rPr>
              <a:t>d</a:t>
            </a:r>
            <a:r>
              <a:rPr sz="1500">
                <a:solidFill>
                  <a:srgbClr val="F1C40F"/>
                </a:solidFill>
              </a:rPr>
              <a:t> /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500">
                <a:solidFill>
                  <a:srgbClr val="F1C40F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β</a:t>
            </a:r>
            <a:r>
              <a:rPr sz="1500">
                <a:solidFill>
                  <a:srgbClr val="F1C40F"/>
                </a:solidFill>
              </a:rPr>
              <a:t> (Tilt): Ángulo de inclinación del panel (22.91°).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ρ</a:t>
            </a:r>
            <a:r>
              <a:rPr sz="1500">
                <a:solidFill>
                  <a:srgbClr val="F1C40F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R</a:t>
            </a:r>
            <a:r>
              <a:rPr sz="1100" i="1">
                <a:solidFill>
                  <a:srgbClr val="F1C40F"/>
                </a:solidFill>
              </a:rPr>
              <a:t>beam</a:t>
            </a:r>
            <a:r>
              <a:rPr sz="1500">
                <a:solidFill>
                  <a:srgbClr val="F1C40F"/>
                </a:solidFill>
              </a:rPr>
              <a:t>: Factor de transposición geométrica directa.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33872" y="1188720"/>
            <a:ext cx="58823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Absorción en Celda (Pérdidas Ópticas)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1554480"/>
            <a:ext cx="5790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Modela la radiación neta que penetra y es absorbida por la celda solar:</a:t>
            </a:r>
          </a:p>
        </p:txBody>
      </p:sp>
      <p:pic>
        <p:nvPicPr>
          <p:cNvPr id="14" name="Picture 13" descr="eq_506bad7002e524c24e9cb60bf8ff68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251076" cy="384048"/>
          </a:xfrm>
          <a:prstGeom prst="rect">
            <a:avLst/>
          </a:prstGeom>
        </p:spPr>
      </p:pic>
      <p:pic>
        <p:nvPicPr>
          <p:cNvPr id="15" name="Picture 14" descr="eq_c9e0e5966a79a53d7e6daf086af3f7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286000"/>
            <a:ext cx="2120992" cy="384048"/>
          </a:xfrm>
          <a:prstGeom prst="rect">
            <a:avLst/>
          </a:prstGeom>
        </p:spPr>
      </p:pic>
      <p:pic>
        <p:nvPicPr>
          <p:cNvPr id="16" name="Picture 15" descr="eq_678fcbf570fad393118f2ab814b44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697480"/>
            <a:ext cx="2363204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52160" y="3337560"/>
            <a:ext cx="5790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Donde: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i="1">
                <a:solidFill>
                  <a:srgbClr val="FBFCFD"/>
                </a:solidFill>
              </a:rPr>
              <a:t>S</a:t>
            </a:r>
            <a:r>
              <a:rPr sz="1600">
                <a:solidFill>
                  <a:srgbClr val="FBFCFD"/>
                </a:solidFill>
              </a:rPr>
              <a:t> / </a:t>
            </a:r>
            <a:r>
              <a:rPr sz="1600" i="1">
                <a:solidFill>
                  <a:srgbClr val="FBFCFD"/>
                </a:solidFill>
              </a:rPr>
              <a:t>S</a:t>
            </a:r>
            <a:r>
              <a:rPr sz="1200" i="1">
                <a:solidFill>
                  <a:srgbClr val="FBFCFD"/>
                </a:solidFill>
              </a:rPr>
              <a:t>ref</a:t>
            </a:r>
            <a:r>
              <a:rPr sz="1600">
                <a:solidFill>
                  <a:srgbClr val="FBFCFD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i="1">
                <a:solidFill>
                  <a:srgbClr val="FBFCFD"/>
                </a:solidFill>
              </a:rPr>
              <a:t>K</a:t>
            </a:r>
            <a:r>
              <a:rPr sz="1200" i="1">
                <a:solidFill>
                  <a:srgbClr val="FBFCFD"/>
                </a:solidFill>
              </a:rPr>
              <a:t>τα,b</a:t>
            </a:r>
            <a:r>
              <a:rPr sz="1600">
                <a:solidFill>
                  <a:srgbClr val="FBFCFD"/>
                </a:solidFill>
              </a:rPr>
              <a:t> / </a:t>
            </a:r>
            <a:r>
              <a:rPr sz="1600" i="1">
                <a:solidFill>
                  <a:srgbClr val="FBFCFD"/>
                </a:solidFill>
              </a:rPr>
              <a:t>K</a:t>
            </a:r>
            <a:r>
              <a:rPr sz="1200" i="1">
                <a:solidFill>
                  <a:srgbClr val="FBFCFD"/>
                </a:solidFill>
              </a:rPr>
              <a:t>τα,d</a:t>
            </a:r>
            <a:r>
              <a:rPr sz="1600">
                <a:solidFill>
                  <a:srgbClr val="FBFCFD"/>
                </a:solidFill>
              </a:rPr>
              <a:t> / </a:t>
            </a:r>
            <a:r>
              <a:rPr sz="1600" i="1">
                <a:solidFill>
                  <a:srgbClr val="FBFCFD"/>
                </a:solidFill>
              </a:rPr>
              <a:t>K</a:t>
            </a:r>
            <a:r>
              <a:rPr sz="1200" i="1">
                <a:solidFill>
                  <a:srgbClr val="FBFCFD"/>
                </a:solidFill>
              </a:rPr>
              <a:t>τα,g</a:t>
            </a:r>
            <a:r>
              <a:rPr sz="1600">
                <a:solidFill>
                  <a:srgbClr val="FBFCFD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Modela las pérdidas ópticas reflectivas por ángulo de incidencia.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II: Ecuaciones de Modificadores Ópticos (IAM y Masa de Aire)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22716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Ecuación física basada en Ley de Snell y Bouguer:</a:t>
            </a:r>
          </a:p>
        </p:txBody>
      </p:sp>
      <p:pic>
        <p:nvPicPr>
          <p:cNvPr id="8" name="Picture 7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9" name="Picture 8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10" name="Picture 9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931920"/>
            <a:ext cx="522716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Donde: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θ</a:t>
            </a:r>
            <a:r>
              <a:rPr sz="1500">
                <a:solidFill>
                  <a:srgbClr val="F1C40F"/>
                </a:solidFill>
              </a:rPr>
              <a:t>: Ángulo de incidencia  |  </a:t>
            </a:r>
            <a:r>
              <a:rPr sz="1500" i="1">
                <a:solidFill>
                  <a:srgbClr val="F1C40F"/>
                </a:solidFill>
              </a:rPr>
              <a:t>n</a:t>
            </a:r>
            <a:r>
              <a:rPr sz="1500">
                <a:solidFill>
                  <a:srgbClr val="F1C40F"/>
                </a:solidFill>
              </a:rPr>
              <a:t> = 1.526 (Índice de refracción del vidrio).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K</a:t>
            </a:r>
            <a:r>
              <a:rPr sz="1500">
                <a:solidFill>
                  <a:srgbClr val="F1C40F"/>
                </a:solidFill>
              </a:rPr>
              <a:t> = 4 m⁻¹ (Extinción del vidrio)  |  </a:t>
            </a:r>
            <a:r>
              <a:rPr sz="1500" i="1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= 2 mm (Espesor del vidrio).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Modificador por Masa de Aire (AM)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1508760"/>
            <a:ext cx="522716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Corrige el desajuste del espectro según la atmósfera atravesada:</a:t>
            </a:r>
          </a:p>
        </p:txBody>
      </p:sp>
      <p:pic>
        <p:nvPicPr>
          <p:cNvPr id="16" name="Picture 15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2148840"/>
            <a:ext cx="5029200" cy="333513"/>
          </a:xfrm>
          <a:prstGeom prst="rect">
            <a:avLst/>
          </a:prstGeom>
        </p:spPr>
      </p:pic>
      <p:pic>
        <p:nvPicPr>
          <p:cNvPr id="17" name="Picture 16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3687419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15887" y="3749039"/>
            <a:ext cx="52271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Donde: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AM</a:t>
            </a:r>
            <a:r>
              <a:rPr sz="1500">
                <a:solidFill>
                  <a:srgbClr val="FBFCFD"/>
                </a:solidFill>
              </a:rPr>
              <a:t>: Masa de aire absoluta  |  </a:t>
            </a:r>
            <a:r>
              <a:rPr sz="1500" i="1">
                <a:solidFill>
                  <a:srgbClr val="FBFCFD"/>
                </a:solidFill>
              </a:rPr>
              <a:t>θ</a:t>
            </a:r>
            <a:r>
              <a:rPr sz="1100" i="1">
                <a:solidFill>
                  <a:srgbClr val="FBFCFD"/>
                </a:solidFill>
              </a:rPr>
              <a:t>z</a:t>
            </a:r>
            <a:r>
              <a:rPr sz="1500">
                <a:solidFill>
                  <a:srgbClr val="FBFCFD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a</a:t>
            </a:r>
            <a:r>
              <a:rPr sz="1100" i="1">
                <a:solidFill>
                  <a:srgbClr val="FBFCFD"/>
                </a:solidFill>
              </a:rPr>
              <a:t>0</a:t>
            </a:r>
            <a:r>
              <a:rPr sz="1500">
                <a:solidFill>
                  <a:srgbClr val="FBFCFD"/>
                </a:solidFill>
              </a:rPr>
              <a:t> a </a:t>
            </a:r>
            <a:r>
              <a:rPr sz="1500" i="1">
                <a:solidFill>
                  <a:srgbClr val="FBFCFD"/>
                </a:solidFill>
              </a:rPr>
              <a:t>a</a:t>
            </a:r>
            <a:r>
              <a:rPr sz="1100" i="1">
                <a:solidFill>
                  <a:srgbClr val="FBFCFD"/>
                </a:solidFill>
              </a:rPr>
              <a:t>4</a:t>
            </a:r>
            <a:r>
              <a:rPr sz="1500">
                <a:solidFill>
                  <a:srgbClr val="FBFCFD"/>
                </a:solidFill>
              </a:rPr>
              <a:t>: Coeficientes empíricos espectrales de la celda.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M</a:t>
            </a:r>
            <a:r>
              <a:rPr sz="1100" i="1">
                <a:solidFill>
                  <a:srgbClr val="FBFCFD"/>
                </a:solidFill>
              </a:rPr>
              <a:t>ref</a:t>
            </a:r>
            <a:r>
              <a:rPr sz="1500">
                <a:solidFill>
                  <a:srgbClr val="FBFCFD"/>
                </a:solidFill>
              </a:rPr>
              <a:t>: Transmitancia espectral a condiciones de referencia (AM 1.5g).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La temperatura de la celda fotovoltaica se modela a partir del equilibrio térmico dinámico:</a:t>
            </a:r>
          </a:p>
        </p:txBody>
      </p:sp>
      <p:pic>
        <p:nvPicPr>
          <p:cNvPr id="7" name="Picture 6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4297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T</a:t>
            </a:r>
            <a:r>
              <a:rPr sz="1100" i="1">
                <a:solidFill>
                  <a:srgbClr val="F1C40F"/>
                </a:solidFill>
              </a:rPr>
              <a:t>c</a:t>
            </a:r>
            <a:r>
              <a:rPr sz="1500">
                <a:solidFill>
                  <a:srgbClr val="F1C40F"/>
                </a:solidFill>
              </a:rPr>
              <a:t> / </a:t>
            </a:r>
            <a:r>
              <a:rPr sz="1500" i="1">
                <a:solidFill>
                  <a:srgbClr val="F1C40F"/>
                </a:solidFill>
              </a:rPr>
              <a:t>T</a:t>
            </a:r>
            <a:r>
              <a:rPr sz="1100" i="1">
                <a:solidFill>
                  <a:srgbClr val="F1C40F"/>
                </a:solidFill>
              </a:rPr>
              <a:t>a</a:t>
            </a:r>
            <a:r>
              <a:rPr sz="1500">
                <a:solidFill>
                  <a:srgbClr val="F1C40F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100" i="1">
                <a:solidFill>
                  <a:srgbClr val="F1C40F"/>
                </a:solidFill>
              </a:rPr>
              <a:t>poa</a:t>
            </a:r>
            <a:r>
              <a:rPr sz="1500">
                <a:solidFill>
                  <a:srgbClr val="F1C40F"/>
                </a:solidFill>
              </a:rPr>
              <a:t>: Irradiancia total en plano de panel (W/m²).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v</a:t>
            </a:r>
            <a:r>
              <a:rPr sz="1100" i="1">
                <a:solidFill>
                  <a:srgbClr val="F1C40F"/>
                </a:solidFill>
              </a:rPr>
              <a:t>w</a:t>
            </a:r>
            <a:r>
              <a:rPr sz="1500">
                <a:solidFill>
                  <a:srgbClr val="F1C40F"/>
                </a:solidFill>
              </a:rPr>
              <a:t>: Velocidad de viento circundante (m/s).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a</a:t>
            </a:r>
            <a:r>
              <a:rPr sz="1500">
                <a:solidFill>
                  <a:srgbClr val="F1C40F"/>
                </a:solidFill>
              </a:rPr>
              <a:t>, </a:t>
            </a:r>
            <a:r>
              <a:rPr sz="1500" i="1">
                <a:solidFill>
                  <a:srgbClr val="F1C40F"/>
                </a:solidFill>
              </a:rPr>
              <a:t>b</a:t>
            </a:r>
            <a:r>
              <a:rPr sz="1500">
                <a:solidFill>
                  <a:srgbClr val="F1C40F"/>
                </a:solidFill>
              </a:rPr>
              <a:t>, </a:t>
            </a:r>
            <a:r>
              <a:rPr sz="1500" i="1">
                <a:solidFill>
                  <a:srgbClr val="F1C40F"/>
                </a:solidFill>
              </a:rPr>
              <a:t>ΔT</a:t>
            </a:r>
            <a:r>
              <a:rPr sz="1500">
                <a:solidFill>
                  <a:srgbClr val="F1C40F"/>
                </a:solidFill>
              </a:rPr>
              <a:t>: Parámetros empíricos de encapsulado.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0" y="3291840"/>
            <a:ext cx="6613855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3383280"/>
            <a:ext cx="6339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49039"/>
            <a:ext cx="62480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m-Si — `open_rack_glass_polymer` [pvlib / King et al., 2004]: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</a:t>
            </a:r>
            <a:r>
              <a:rPr sz="1300" i="1">
                <a:solidFill>
                  <a:srgbClr val="FBFCFD"/>
                </a:solidFill>
              </a:rPr>
              <a:t>a</a:t>
            </a:r>
            <a:r>
              <a:rPr sz="1300">
                <a:solidFill>
                  <a:srgbClr val="FBFCFD"/>
                </a:solidFill>
              </a:rPr>
              <a:t> = -3.56  |  </a:t>
            </a:r>
            <a:r>
              <a:rPr sz="1300" i="1">
                <a:solidFill>
                  <a:srgbClr val="FBFCFD"/>
                </a:solidFill>
              </a:rPr>
              <a:t>b</a:t>
            </a:r>
            <a:r>
              <a:rPr sz="1300">
                <a:solidFill>
                  <a:srgbClr val="FBFCFD"/>
                </a:solidFill>
              </a:rPr>
              <a:t> = -0.075  |  </a:t>
            </a:r>
            <a:r>
              <a:rPr sz="1300" i="1">
                <a:solidFill>
                  <a:srgbClr val="FBFCFD"/>
                </a:solidFill>
              </a:rPr>
              <a:t>ΔT</a:t>
            </a:r>
            <a:r>
              <a:rPr sz="1300">
                <a:solidFill>
                  <a:srgbClr val="FBFCFD"/>
                </a:solidFill>
              </a:rPr>
              <a:t> = 3.0 °C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HIT — `open_rack_glass_glass` [pvlib / King et al., 2004]: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</a:t>
            </a:r>
            <a:r>
              <a:rPr sz="1300" i="1">
                <a:solidFill>
                  <a:srgbClr val="FBFCFD"/>
                </a:solidFill>
              </a:rPr>
              <a:t>a</a:t>
            </a:r>
            <a:r>
              <a:rPr sz="1300">
                <a:solidFill>
                  <a:srgbClr val="FBFCFD"/>
                </a:solidFill>
              </a:rPr>
              <a:t> = -3.47  |  </a:t>
            </a:r>
            <a:r>
              <a:rPr sz="1300" i="1">
                <a:solidFill>
                  <a:srgbClr val="FBFCFD"/>
                </a:solidFill>
              </a:rPr>
              <a:t>b</a:t>
            </a:r>
            <a:r>
              <a:rPr sz="1300">
                <a:solidFill>
                  <a:srgbClr val="FBFCFD"/>
                </a:solidFill>
              </a:rPr>
              <a:t> = -0.059  |  </a:t>
            </a:r>
            <a:r>
              <a:rPr sz="1300" i="1">
                <a:solidFill>
                  <a:srgbClr val="FBFCFD"/>
                </a:solidFill>
              </a:rPr>
              <a:t>ΔT</a:t>
            </a:r>
            <a:r>
              <a:rPr sz="1300">
                <a:solidFill>
                  <a:srgbClr val="FBFCFD"/>
                </a:solidFill>
              </a:rPr>
              <a:t> = 3.0 °C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 b="1">
                <a:solidFill>
                  <a:srgbClr val="FBFCFD"/>
                </a:solidFill>
              </a:rPr>
              <a:t>Fuente:</a:t>
            </a:r>
            <a:r>
              <a:rPr sz="1300">
                <a:solidFill>
                  <a:srgbClr val="FBFCFD"/>
                </a:solidFill>
              </a:rPr>
              <a:t> Valores extraídos en tiempo de ejecución desde `pvlib.temperature`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`.TEMPERATURE</a:t>
            </a:r>
            <a:r>
              <a:rPr sz="1300" i="1">
                <a:solidFill>
                  <a:srgbClr val="FBFCFD"/>
                </a:solidFill>
              </a:rPr>
              <a:t>MODEL</a:t>
            </a:r>
            <a:r>
              <a:rPr sz="1300">
                <a:solidFill>
                  <a:srgbClr val="FBFCFD"/>
                </a:solidFill>
              </a:rPr>
              <a:t>PARAMETERS['sapm']` — base interna validada por Sandia NL.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Ecuación implícita de corriente del modelo de diodo simple con resistencias parásitas (Rs y Rsh):</a:t>
            </a:r>
          </a:p>
        </p:txBody>
      </p:sp>
      <p:pic>
        <p:nvPicPr>
          <p:cNvPr id="7" name="Picture 6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El factor de idealidad térmico se define formalmente como:</a:t>
            </a:r>
          </a:p>
        </p:txBody>
      </p:sp>
      <p:pic>
        <p:nvPicPr>
          <p:cNvPr id="11" name="Picture 10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Donde: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N</a:t>
            </a:r>
            <a:r>
              <a:rPr sz="1000" i="1">
                <a:solidFill>
                  <a:srgbClr val="F1C40F"/>
                </a:solidFill>
              </a:rPr>
              <a:t>s</a:t>
            </a:r>
            <a:r>
              <a:rPr sz="1400">
                <a:solidFill>
                  <a:srgbClr val="F1C40F"/>
                </a:solidFill>
              </a:rPr>
              <a:t>: Número de celdas en serie (m-Si: 36, HIT: 72).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n</a:t>
            </a:r>
            <a:r>
              <a:rPr sz="1000" i="1">
                <a:solidFill>
                  <a:srgbClr val="F1C40F"/>
                </a:solidFill>
              </a:rPr>
              <a:t>I</a:t>
            </a:r>
            <a:r>
              <a:rPr sz="1400">
                <a:solidFill>
                  <a:srgbClr val="F1C40F"/>
                </a:solidFill>
              </a:rPr>
              <a:t>: Factor de idealidad del diodo (idealmente entre 1 y 2).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3291840"/>
            <a:ext cx="6248095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3383280"/>
            <a:ext cx="5973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3657600"/>
            <a:ext cx="58823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V</a:t>
            </a:r>
            <a:r>
              <a:rPr sz="1400">
                <a:solidFill>
                  <a:srgbClr val="FBFCFD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000" i="1">
                <a:solidFill>
                  <a:srgbClr val="FBFCFD"/>
                </a:solidFill>
              </a:rPr>
              <a:t>L</a:t>
            </a:r>
            <a:r>
              <a:rPr sz="1400">
                <a:solidFill>
                  <a:srgbClr val="FBFCFD"/>
                </a:solidFill>
              </a:rPr>
              <a:t>: Corriente fotogenerada por el efecto fotoeléctrico (A).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000" i="1">
                <a:solidFill>
                  <a:srgbClr val="FBFCFD"/>
                </a:solidFill>
              </a:rPr>
              <a:t>0</a:t>
            </a:r>
            <a:r>
              <a:rPr sz="140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: Resistencias parásitas en serie y paralelo (shunt) (Ω).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k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q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0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V: Ecuaciones de Extracción en STC y Derivada Analítica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297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Ajuste en STC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Condiciones que determinan los 5 parámetros de referencia en STC (1000 W/m², 25°C):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1. Cortocircuito: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0,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100" i="1">
                <a:solidFill>
                  <a:srgbClr val="FBFCFD"/>
                </a:solidFill>
              </a:rPr>
              <a:t>sc,ref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2. Circuito Abierto: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>
                <a:solidFill>
                  <a:srgbClr val="FBFCFD"/>
                </a:solidFill>
              </a:rPr>
              <a:t> = 0,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100" i="1">
                <a:solidFill>
                  <a:srgbClr val="FBFCFD"/>
                </a:solidFill>
              </a:rPr>
              <a:t>oc,ref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3. Máxima Potencia: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100" i="1">
                <a:solidFill>
                  <a:srgbClr val="FBFCFD"/>
                </a:solidFill>
              </a:rPr>
              <a:t>mp,ref</a:t>
            </a:r>
            <a:r>
              <a:rPr sz="1500">
                <a:solidFill>
                  <a:srgbClr val="FBFCFD"/>
                </a:solidFill>
              </a:rPr>
              <a:t>,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100" i="1">
                <a:solidFill>
                  <a:srgbClr val="FBFCFD"/>
                </a:solidFill>
              </a:rPr>
              <a:t>mp,ref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4. Derivada de Potencia en MPP (d</a:t>
            </a:r>
            <a:r>
              <a:rPr sz="1500" i="1">
                <a:solidFill>
                  <a:srgbClr val="FBFCFD"/>
                </a:solidFill>
              </a:rPr>
              <a:t>P</a:t>
            </a:r>
            <a:r>
              <a:rPr sz="1500">
                <a:solidFill>
                  <a:srgbClr val="FBFCFD"/>
                </a:solidFill>
              </a:rPr>
              <a:t>/d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0):</a:t>
            </a:r>
          </a:p>
        </p:txBody>
      </p:sp>
      <p:pic>
        <p:nvPicPr>
          <p:cNvPr id="8" name="Picture 7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5. Coeficiente térmico experimental de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100" i="1">
                <a:solidFill>
                  <a:srgbClr val="FBFCFD"/>
                </a:solidFill>
              </a:rPr>
              <a:t>oc</a:t>
            </a:r>
            <a:r>
              <a:rPr sz="1500">
                <a:solidFill>
                  <a:srgbClr val="FBFCFD"/>
                </a:solidFill>
              </a:rPr>
              <a:t>:</a:t>
            </a:r>
          </a:p>
        </p:txBody>
      </p:sp>
      <p:pic>
        <p:nvPicPr>
          <p:cNvPr id="10" name="Picture 9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12080" y="1097280"/>
            <a:ext cx="66138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1208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1188720"/>
            <a:ext cx="6339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Derivada Analítica Completa en MPP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1554480"/>
            <a:ext cx="6248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Para la optimización, se derivó analíticamente la ecuación implícita en la zona del MPP:</a:t>
            </a:r>
          </a:p>
        </p:txBody>
      </p:sp>
      <p:pic>
        <p:nvPicPr>
          <p:cNvPr id="15" name="Picture 14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4960" y="2971800"/>
            <a:ext cx="6248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Donde los coeficientes internos del diodo se definen como:</a:t>
            </a:r>
          </a:p>
        </p:txBody>
      </p:sp>
      <p:pic>
        <p:nvPicPr>
          <p:cNvPr id="17" name="Picture 16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8" name="Picture 17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VI: Ecuaciones de Escalamiento a Condiciones de Operación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1. Corriente Fotogenerada (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100" i="1">
                <a:solidFill>
                  <a:srgbClr val="FBFCFD"/>
                </a:solidFill>
              </a:rPr>
              <a:t>L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8" name="Picture 7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2. Corriente de Saturación Inversa (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100" i="1">
                <a:solidFill>
                  <a:srgbClr val="FBFCFD"/>
                </a:solidFill>
              </a:rPr>
              <a:t>0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0" name="Picture 9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52044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3. Factor de Idealidad térmico (</a:t>
            </a:r>
            <a:r>
              <a:rPr sz="1500" i="1">
                <a:solidFill>
                  <a:srgbClr val="FBFCFD"/>
                </a:solidFill>
              </a:rPr>
              <a:t>a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2" name="Picture 11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4. Resistencia Shunt (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7" name="Picture 16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1874519"/>
            <a:ext cx="2736281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15887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5. Energía de Bandgap del Silicio (</a:t>
            </a:r>
            <a:r>
              <a:rPr sz="1500" i="1">
                <a:solidFill>
                  <a:srgbClr val="FBFCFD"/>
                </a:solidFill>
              </a:rPr>
              <a:t>E</a:t>
            </a:r>
            <a:r>
              <a:rPr sz="1100" i="1">
                <a:solidFill>
                  <a:srgbClr val="FBFCFD"/>
                </a:solidFill>
              </a:rPr>
              <a:t>g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9" name="Picture 18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4082181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15887" y="3520440"/>
            <a:ext cx="522716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 Constante: Se asume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s,ref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 Dependiente de G: Modelada inversamente proporcional a la irradiancia incidente efectiva </a:t>
            </a:r>
            <a:r>
              <a:rPr sz="15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E</a:t>
            </a:r>
            <a:r>
              <a:rPr sz="1100" i="1">
                <a:solidFill>
                  <a:srgbClr val="FBFCFD"/>
                </a:solidFill>
              </a:rPr>
              <a:t>g,ref</a:t>
            </a:r>
            <a:r>
              <a:rPr sz="1500">
                <a:solidFill>
                  <a:srgbClr val="FBFCFD"/>
                </a:solidFill>
              </a:rPr>
              <a:t> = 1.121 eV para el Silicio a 25°C.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20116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Ecuación de Rendimiento Global del 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El Performance Ratio (</a:t>
            </a:r>
            <a:r>
              <a:rPr sz="1500" i="1">
                <a:solidFill>
                  <a:srgbClr val="FBFCFD"/>
                </a:solidFill>
              </a:rPr>
              <a:t>PR</a:t>
            </a:r>
            <a:r>
              <a:rPr sz="1500">
                <a:solidFill>
                  <a:srgbClr val="FBFCFD"/>
                </a:solidFill>
              </a:rPr>
              <a:t>) evalúa la eficiencia neta del sistema fotovoltaico frente a condiciones estándar de referencia:</a:t>
            </a:r>
          </a:p>
        </p:txBody>
      </p:sp>
      <p:pic>
        <p:nvPicPr>
          <p:cNvPr id="8" name="Picture 7" descr="eq_89f2913b946191ae2d2668e37f8cda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6620222" cy="685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291840"/>
            <a:ext cx="73152" cy="28346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38328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V</a:t>
            </a:r>
            <a:r>
              <a:rPr sz="1000" i="1">
                <a:solidFill>
                  <a:srgbClr val="F1C40F"/>
                </a:solidFill>
              </a:rPr>
              <a:t>mp,t</a:t>
            </a:r>
            <a:r>
              <a:rPr sz="1400">
                <a:solidFill>
                  <a:srgbClr val="F1C40F"/>
                </a:solidFill>
              </a:rPr>
              <a:t> / </a:t>
            </a:r>
            <a:r>
              <a:rPr sz="1400" i="1">
                <a:solidFill>
                  <a:srgbClr val="F1C40F"/>
                </a:solidFill>
              </a:rPr>
              <a:t>I</a:t>
            </a:r>
            <a:r>
              <a:rPr sz="1000" i="1">
                <a:solidFill>
                  <a:srgbClr val="F1C40F"/>
                </a:solidFill>
              </a:rPr>
              <a:t>mp,t</a:t>
            </a:r>
            <a:r>
              <a:rPr sz="1400">
                <a:solidFill>
                  <a:srgbClr val="F1C40F"/>
                </a:solidFill>
              </a:rPr>
              <a:t>: Tensión y corriente MPP horarias del SDM.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P</a:t>
            </a:r>
            <a:r>
              <a:rPr sz="1000" i="1">
                <a:solidFill>
                  <a:srgbClr val="F1C40F"/>
                </a:solidFill>
              </a:rPr>
              <a:t>STC</a:t>
            </a:r>
            <a:r>
              <a:rPr sz="1400">
                <a:solidFill>
                  <a:srgbClr val="F1C40F"/>
                </a:solidFill>
              </a:rPr>
              <a:t>: Potencia nominal del panel en STC (m-Si: 46.68 W | HIT: 217.52 W).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G</a:t>
            </a:r>
            <a:r>
              <a:rPr sz="1000" i="1">
                <a:solidFill>
                  <a:srgbClr val="F1C40F"/>
                </a:solidFill>
              </a:rPr>
              <a:t>poa,t</a:t>
            </a:r>
            <a:r>
              <a:rPr sz="1400">
                <a:solidFill>
                  <a:srgbClr val="F1C40F"/>
                </a:solidFill>
              </a:rPr>
              <a:t>: Irradiancia instantánea en el plano del panel (W/m²).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G</a:t>
            </a:r>
            <a:r>
              <a:rPr sz="1000" i="1">
                <a:solidFill>
                  <a:srgbClr val="F1C40F"/>
                </a:solidFill>
              </a:rPr>
              <a:t>ref</a:t>
            </a:r>
            <a:r>
              <a:rPr sz="1400">
                <a:solidFill>
                  <a:srgbClr val="F1C40F"/>
                </a:solidFill>
              </a:rPr>
              <a:t>: Irradiancia de referencia a condiciones STC (1000 W/m²).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3291840"/>
            <a:ext cx="6430975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73152" cy="28346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2" y="3383280"/>
            <a:ext cx="6156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749039"/>
            <a:ext cx="606521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Térmicas:</a:t>
            </a:r>
            <a:r>
              <a:rPr sz="1500">
                <a:solidFill>
                  <a:srgbClr val="FBFCFD"/>
                </a:solidFill>
              </a:rPr>
              <a:t> Caídas debidas a la elevada temperatura </a:t>
            </a:r>
            <a:r>
              <a:rPr sz="1500" i="1">
                <a:solidFill>
                  <a:srgbClr val="FBFCFD"/>
                </a:solidFill>
              </a:rPr>
              <a:t>T</a:t>
            </a:r>
            <a:r>
              <a:rPr sz="1100" i="1">
                <a:solidFill>
                  <a:srgbClr val="FBFCFD"/>
                </a:solidFill>
              </a:rPr>
              <a:t>c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Ópticas:</a:t>
            </a:r>
            <a:r>
              <a:rPr sz="1500">
                <a:solidFill>
                  <a:srgbClr val="FBFCFD"/>
                </a:solidFill>
              </a:rPr>
              <a:t> Pérdidas reflectivas por ángulo de incidencia (IAM).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Espectrales:</a:t>
            </a:r>
            <a:r>
              <a:rPr sz="1500">
                <a:solidFill>
                  <a:srgbClr val="FBFCFD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Óhmicas:</a:t>
            </a:r>
            <a:r>
              <a:rPr sz="1500">
                <a:solidFill>
                  <a:srgbClr val="FBFCFD"/>
                </a:solidFill>
              </a:rPr>
              <a:t> Pérdidas resistivas en la resistencia serie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