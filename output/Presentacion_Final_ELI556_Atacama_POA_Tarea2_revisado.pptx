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Irradiación excepcional:</a:t>
            </a:r>
            <a:r>
              <a:rPr sz="13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Cielos limpios y altitud:</a:t>
            </a:r>
            <a:r>
              <a:rPr sz="13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Sitio simulado:</a:t>
            </a:r>
            <a:r>
              <a:rPr sz="13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Base experimental:</a:t>
            </a:r>
            <a:r>
              <a:rPr sz="13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22).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Calentamiento severo:</a:t>
            </a:r>
            <a:r>
              <a:rPr sz="13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Degradación térmica:</a:t>
            </a:r>
            <a:r>
              <a:rPr sz="13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900">
                <a:solidFill>
                  <a:srgbClr val="FBFCFD"/>
                </a:solidFill>
              </a:rPr>
              <a:t>c</a:t>
            </a:r>
            <a:r>
              <a:rPr sz="13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Objetivo:</a:t>
            </a:r>
            <a:r>
              <a:rPr sz="13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300" b="1">
                <a:solidFill>
                  <a:srgbClr val="FBFCFD"/>
                </a:solidFill>
              </a:rPr>
              <a:t>m-Si</a:t>
            </a:r>
            <a:r>
              <a:rPr sz="1300">
                <a:solidFill>
                  <a:srgbClr val="FBFCFD"/>
                </a:solidFill>
              </a:rPr>
              <a:t> o </a:t>
            </a:r>
            <a:r>
              <a:rPr sz="1300" b="1">
                <a:solidFill>
                  <a:srgbClr val="FBFCFD"/>
                </a:solidFill>
              </a:rPr>
              <a:t>HIT</a:t>
            </a:r>
            <a:r>
              <a:rPr sz="13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Pregunta guía:</a:t>
            </a:r>
            <a:r>
              <a:rPr sz="13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100">
                <a:solidFill>
                  <a:srgbClr val="7FDBFF"/>
                </a:solidFill>
                <a:latin typeface="Consolas"/>
              </a:rPr>
              <a:t>mSi0166</a:t>
            </a:r>
            <a:r>
              <a:rPr sz="1200">
                <a:solidFill>
                  <a:srgbClr val="9AA5B1"/>
                </a:solidFill>
              </a:rPr>
              <a:t> y </a:t>
            </a:r>
            <a:r>
              <a:rPr sz="1100">
                <a:solidFill>
                  <a:srgbClr val="7FDBFF"/>
                </a:solidFill>
                <a:latin typeface="Consolas"/>
              </a:rPr>
              <a:t>HIT05667</a:t>
            </a:r>
            <a:r>
              <a:rPr sz="120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250">
                <a:solidFill>
                  <a:srgbClr val="FBFCFD"/>
                </a:solidFill>
              </a:rPr>
              <a:t> circuito equivalente con pérdidas óhmicas en serie (R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) y fugas shunt (R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). (Anexo IV, Lám. 28)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250">
                <a:solidFill>
                  <a:srgbClr val="FBFCFD"/>
                </a:solidFill>
              </a:rPr>
              <a:t> estima la temperatura interna de celda desde POA y viento. (Anexo III, Lám. 27)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Transposición de Perez (1990):</a:t>
            </a:r>
            <a:r>
              <a:rPr sz="1250">
                <a:solidFill>
                  <a:srgbClr val="FBFCFD"/>
                </a:solidFill>
              </a:rPr>
              <a:t> lleva GHI/DNI/DHI al plano inclinado con cielo difuso anisotrópico. (Anexo I, Lám. 25)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Escalamiento De Soto (2006):</a:t>
            </a:r>
            <a:r>
              <a:rPr sz="1250">
                <a:solidFill>
                  <a:srgbClr val="FBFCFD"/>
                </a:solidFill>
              </a:rPr>
              <a:t> traslada los 5 parámetros desde STC a condiciones operacionales vía bandgap. (Anexo VI, Lám. 30)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Marco revisado NO aplicado:</a:t>
            </a:r>
            <a:r>
              <a:rPr sz="1250">
                <a:solidFill>
                  <a:srgbClr val="FBFCFD"/>
                </a:solidFill>
              </a:rPr>
              <a:t> modificadores ópticos IAM y espectral AM [King et al., 2004] — se documentan en (Anexo II, Lám. 26) y quedan como trabajo futuro.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1" name="Picture 10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07008"/>
            <a:ext cx="10515600" cy="50934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¿Qué es y qué contiene?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Origen:</a:t>
            </a:r>
            <a:r>
              <a:rPr sz="1250">
                <a:solidFill>
                  <a:srgbClr val="FBFCFD"/>
                </a:solidFill>
              </a:rPr>
              <a:t> campaña experimental del NREL para validación de modelos PV [Marion et al., 2014], sitio Cocoa, Florida (28.39° N, −80.46° W, 12 m).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Alcance:</a:t>
            </a:r>
            <a:r>
              <a:rPr sz="1250">
                <a:solidFill>
                  <a:srgbClr val="FBFCFD"/>
                </a:solidFill>
              </a:rPr>
              <a:t> </a:t>
            </a:r>
            <a:r>
              <a:rPr sz="1250" b="1">
                <a:solidFill>
                  <a:srgbClr val="FBFCFD"/>
                </a:solidFill>
              </a:rPr>
              <a:t>11 módulos</a:t>
            </a:r>
            <a:r>
              <a:rPr sz="1250">
                <a:solidFill>
                  <a:srgbClr val="FBFCFD"/>
                </a:solidFill>
              </a:rPr>
              <a:t> medidos en simultáneo — 3 m-Si, 1 x-Si, 1 HIT, 1 CdTe, 2 CIGS y 3 a-Si — un archivo CSV por módulo (~1.2 GB total).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Cada registro es una curva I-V completa</a:t>
            </a:r>
            <a:r>
              <a:rPr sz="1250">
                <a:solidFill>
                  <a:srgbClr val="FBFCFD"/>
                </a:solidFill>
              </a:rPr>
              <a:t> trazada eléctricamente, más su contexto meteorológico instantáneo y métricas de incertidumbre.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Cobertura temporal:</a:t>
            </a:r>
            <a:r>
              <a:rPr sz="1250">
                <a:solidFill>
                  <a:srgbClr val="FBFCFD"/>
                </a:solidFill>
              </a:rPr>
              <a:t> 21-ene-2011 → 04-mar-2012 (≈13.5 meses), </a:t>
            </a:r>
            <a:r>
              <a:rPr sz="1250" b="1">
                <a:solidFill>
                  <a:srgbClr val="FBFCFD"/>
                </a:solidFill>
              </a:rPr>
              <a:t>1 registro cada 5 minutos, solo horas de sol</a:t>
            </a:r>
            <a:r>
              <a:rPr sz="12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Volumen seleccionado: </a:t>
            </a:r>
            <a:r>
              <a:rPr sz="1150">
                <a:solidFill>
                  <a:srgbClr val="7FDBFF"/>
                </a:solidFill>
                <a:latin typeface="Consolas"/>
              </a:rPr>
              <a:t>mSi0166</a:t>
            </a:r>
            <a:r>
              <a:rPr sz="1250">
                <a:solidFill>
                  <a:srgbClr val="FBFCFD"/>
                </a:solidFill>
              </a:rPr>
              <a:t> 36,765 curvas · </a:t>
            </a:r>
            <a:r>
              <a:rPr sz="1150">
                <a:solidFill>
                  <a:srgbClr val="7FDBFF"/>
                </a:solidFill>
                <a:latin typeface="Consolas"/>
              </a:rPr>
              <a:t>HIT05667</a:t>
            </a:r>
            <a:r>
              <a:rPr sz="1250">
                <a:solidFill>
                  <a:srgbClr val="FBFCFD"/>
                </a:solidFill>
              </a:rPr>
              <a:t> 38,377 curvas.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Eléctricas:</a:t>
            </a:r>
            <a:r>
              <a:rPr sz="1200">
                <a:solidFill>
                  <a:srgbClr val="FBFCFD"/>
                </a:solidFill>
              </a:rPr>
              <a:t> Isc, Pmp, Imp, Vmp, Voc, FF (+ incertidumbre de cada una).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Meteorológicas:</a:t>
            </a:r>
            <a:r>
              <a:rPr sz="12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Referencia POA:</a:t>
            </a:r>
            <a:r>
              <a:rPr sz="1200">
                <a:solidFill>
                  <a:srgbClr val="FBFCFD"/>
                </a:solidFill>
              </a:rPr>
              <a:t> piranómetro CMP22 (clase A) en el plano del arreglo.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Calidad/operación:</a:t>
            </a:r>
            <a:r>
              <a:rPr sz="1200">
                <a:solidFill>
                  <a:srgbClr val="FBFCFD"/>
                </a:solidFill>
              </a:rPr>
              <a:t> residual QA solar, soiling derate, mantenimiento.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3776472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3776472"/>
            <a:ext cx="73152" cy="239572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¿Con cuáles trabajamos?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4343400"/>
            <a:ext cx="5190591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Usadas (11 columnas):</a:t>
            </a:r>
            <a:r>
              <a:rPr sz="12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Verificación:</a:t>
            </a:r>
            <a:r>
              <a:rPr sz="1200">
                <a:solidFill>
                  <a:srgbClr val="FBFCFD"/>
                </a:solidFill>
              </a:rPr>
              <a:t> POA CMP22 para validar el recurso (Lám. 12).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200" b="1">
                <a:solidFill>
                  <a:srgbClr val="FBFCFD"/>
                </a:solidFill>
              </a:rPr>
              <a:t>Descartadas:</a:t>
            </a:r>
            <a:r>
              <a:rPr sz="1200">
                <a:solidFill>
                  <a:srgbClr val="FBFCFD"/>
                </a:solidFill>
              </a:rPr>
              <a:t> la cola de pares I-V crudos (longitud variable) y las columnas de QA — diccionario completo en (Anexo VIII, Lám. 32).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207008"/>
            <a:ext cx="1033272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Tratamiento de la Base de Datos — Ingesta y Limpieza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El Desafío: archivos irregulares de ~110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Naturaleza de los datos:</a:t>
            </a:r>
            <a:r>
              <a:rPr sz="1300">
                <a:solidFill>
                  <a:srgbClr val="FBFCFD"/>
                </a:solidFill>
              </a:rPr>
              <a:t> cada fila contiene 43 columnas fijas + </a:t>
            </a:r>
            <a:r>
              <a:rPr sz="1300" b="1">
                <a:solidFill>
                  <a:srgbClr val="FBFCFD"/>
                </a:solidFill>
              </a:rPr>
              <a:t>n pares (I, V) crudos</a:t>
            </a:r>
            <a:r>
              <a:rPr sz="1300">
                <a:solidFill>
                  <a:srgbClr val="FBFCFD"/>
                </a:solidFill>
              </a:rPr>
              <a:t> de la curva trazada (n ≈ 180–380) → filas de longitud variable.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Falla del método estándar:</a:t>
            </a:r>
            <a:r>
              <a:rPr sz="1300">
                <a:solidFill>
                  <a:srgbClr val="FBFCFD"/>
                </a:solidFill>
              </a:rPr>
              <a:t> </a:t>
            </a:r>
            <a:r>
              <a:rPr sz="12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300">
                <a:solidFill>
                  <a:srgbClr val="FBFCFD"/>
                </a:solidFill>
              </a:rPr>
              <a:t> no tolera el ancho variable (infiere mal el esquema) y carga ~110 MB por módulo a memoria innecesariamente.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Datos centinela:</a:t>
            </a:r>
            <a:r>
              <a:rPr sz="1300">
                <a:solidFill>
                  <a:srgbClr val="FBFCFD"/>
                </a:solidFill>
              </a:rPr>
              <a:t> los faltantes vienen codificados como </a:t>
            </a:r>
            <a:r>
              <a:rPr sz="1300" b="1">
                <a:solidFill>
                  <a:srgbClr val="FBFCFD"/>
                </a:solidFill>
              </a:rPr>
              <a:t>−9999</a:t>
            </a:r>
            <a:r>
              <a:rPr sz="1300">
                <a:solidFill>
                  <a:srgbClr val="FBFCFD"/>
                </a:solidFill>
              </a:rPr>
              <a:t>, que contaminan promedios y regresiones si no se neutralizan.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La Solución: lector en streaming (Fase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Lectura línea a línea</a:t>
            </a:r>
            <a:r>
              <a:rPr sz="1300">
                <a:solidFill>
                  <a:srgbClr val="FBFCFD"/>
                </a:solidFill>
              </a:rPr>
              <a:t> con el módulo </a:t>
            </a:r>
            <a:r>
              <a:rPr sz="1200">
                <a:solidFill>
                  <a:srgbClr val="7FDBFF"/>
                </a:solidFill>
                <a:latin typeface="Consolas"/>
              </a:rPr>
              <a:t>csv</a:t>
            </a:r>
            <a:r>
              <a:rPr sz="1300">
                <a:solidFill>
                  <a:srgbClr val="FBFCFD"/>
                </a:solidFill>
              </a:rPr>
              <a:t> nativo: se indexan solo las </a:t>
            </a:r>
            <a:r>
              <a:rPr sz="1300" b="1">
                <a:solidFill>
                  <a:srgbClr val="FBFCFD"/>
                </a:solidFill>
              </a:rPr>
              <a:t>11 columnas clave por posición fija</a:t>
            </a:r>
            <a:r>
              <a:rPr sz="1300">
                <a:solidFill>
                  <a:srgbClr val="FBFCFD"/>
                </a:solidFill>
              </a:rPr>
              <a:t> y se descarta la cola I-V al vuelo.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Limpieza:</a:t>
            </a:r>
            <a:r>
              <a:rPr sz="1300">
                <a:solidFill>
                  <a:srgbClr val="FBFCFD"/>
                </a:solidFill>
              </a:rPr>
              <a:t> </a:t>
            </a:r>
            <a:r>
              <a:rPr sz="1200">
                <a:solidFill>
                  <a:srgbClr val="7FDBFF"/>
                </a:solidFill>
                <a:latin typeface="Consolas"/>
              </a:rPr>
              <a:t>-9999 → NaN</a:t>
            </a:r>
            <a:r>
              <a:rPr sz="1300">
                <a:solidFill>
                  <a:srgbClr val="FBFCFD"/>
                </a:solidFill>
              </a:rPr>
              <a:t>, </a:t>
            </a:r>
            <a:r>
              <a:rPr sz="1200">
                <a:solidFill>
                  <a:srgbClr val="7FDBFF"/>
                </a:solidFill>
                <a:latin typeface="Consolas"/>
              </a:rPr>
              <a:t>dropna</a:t>
            </a:r>
            <a:r>
              <a:rPr sz="1300">
                <a:solidFill>
                  <a:srgbClr val="FBFCFD"/>
                </a:solidFill>
              </a:rPr>
              <a:t> sobre GHI/DNI/DHI/T_air y </a:t>
            </a:r>
            <a:r>
              <a:rPr sz="1200">
                <a:solidFill>
                  <a:srgbClr val="7FDBFF"/>
                </a:solidFill>
                <a:latin typeface="Consolas"/>
              </a:rPr>
              <a:t>clip(≥0)</a:t>
            </a:r>
            <a:r>
              <a:rPr sz="1300">
                <a:solidFill>
                  <a:srgbClr val="FBFCFD"/>
                </a:solidFill>
              </a:rPr>
              <a:t> en irradiancias.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Resultado:</a:t>
            </a:r>
            <a:r>
              <a:rPr sz="1300">
                <a:solidFill>
                  <a:srgbClr val="FBFCFD"/>
                </a:solidFill>
              </a:rPr>
              <a:t> m-Si 35,669/36,765 filas válidas (97.0 %) · HIT 37,313/38,377 (97.2 %).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• Los registros nocturnos no existen en la base (solo se midió de día); no se requirió filtro nocturno adicional.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Embudo de Datos — Trazabilidad de Registros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074920" cy="500176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23560" y="1188720"/>
            <a:ext cx="6202375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235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88152" y="1280160"/>
            <a:ext cx="59280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¿Por qué emular y no usar Cocoa directo?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4728" y="1755648"/>
            <a:ext cx="5800039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Inconsistencia estacional:</a:t>
            </a:r>
            <a:r>
              <a:rPr sz="1250">
                <a:solidFill>
                  <a:srgbClr val="FBFCFD"/>
                </a:solidFill>
              </a:rPr>
              <a:t> los datos NREL se midieron en el hemisferio norte; usarlos directos en el sur crearía un desfase físico absurdo entre solsticios e inviernos térmicos.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Desfase temporal (+6 meses):</a:t>
            </a:r>
            <a:r>
              <a:rPr sz="1250">
                <a:solidFill>
                  <a:srgbClr val="FBFCFD"/>
                </a:solidFill>
              </a:rPr>
              <a:t> desplazamiento estacional exacto (+182 días) — el perfil de calor de Florida coincide coherentemente con el verano del hemisferio sur.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Traducción espacial:</a:t>
            </a:r>
            <a:r>
              <a:rPr sz="1250">
                <a:solidFill>
                  <a:srgbClr val="FBFCFD"/>
                </a:solidFill>
              </a:rPr>
              <a:t> la metadata se reescribe con las coordenadas de San Pedro de Atacama (−22.91° S, −68.20° W, 2,400 m) y se recalculan los ángulos solares dinámicos con </a:t>
            </a:r>
            <a:r>
              <a:rPr sz="1150">
                <a:solidFill>
                  <a:srgbClr val="7FDBFF"/>
                </a:solidFill>
                <a:latin typeface="Consolas"/>
              </a:rPr>
              <a:t>pvlib</a:t>
            </a:r>
            <a:r>
              <a:rPr sz="12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Alineación de captación:</a:t>
            </a:r>
            <a:r>
              <a:rPr sz="1250">
                <a:solidFill>
                  <a:srgbClr val="FBFCFD"/>
                </a:solidFill>
              </a:rPr>
              <a:t> inclinación óptima = latitud (22.91°) y azimut 0° (orientación norte, hemisferio sur).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Límite explícito del método:</a:t>
            </a:r>
            <a:r>
              <a:rPr sz="1250">
                <a:solidFill>
                  <a:srgbClr val="FBFCFD"/>
                </a:solidFill>
              </a:rPr>
              <a:t> se alinean estaciones y geometría solar; las </a:t>
            </a:r>
            <a:r>
              <a:rPr sz="1250" b="1">
                <a:solidFill>
                  <a:srgbClr val="FBFCFD"/>
                </a:solidFill>
              </a:rPr>
              <a:t>magnitudes medidas</a:t>
            </a:r>
            <a:r>
              <a:rPr sz="1250">
                <a:solidFill>
                  <a:srgbClr val="FBFCFD"/>
                </a:solidFill>
              </a:rPr>
              <a:t> (irradiancia, temperatura, humedad) siguen siendo las de Florida (Lám. 22).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80160"/>
            <a:ext cx="11430000" cy="41031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559552"/>
            <a:ext cx="11460175" cy="841248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632704"/>
            <a:ext cx="1109441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BFCFD"/>
                </a:solidFill>
              </a:rPr>
              <a:t>Advertencias controladas:</a:t>
            </a:r>
            <a:r>
              <a:rPr sz="1250">
                <a:solidFill>
                  <a:srgbClr val="FBFCFD"/>
                </a:solidFill>
              </a:rPr>
              <a:t> (1) 29-feb se reasigna al 28-feb-2026; (2) al proyectar 13.5 meses sobre un solo año, </a:t>
            </a:r>
            <a:r>
              <a:rPr sz="1250" b="1">
                <a:solidFill>
                  <a:srgbClr val="FBFCFD"/>
                </a:solidFill>
              </a:rPr>
              <a:t>julio–septiembre 2026 promedian datos de dos veranos</a:t>
            </a:r>
            <a:r>
              <a:rPr sz="1250">
                <a:solidFill>
                  <a:srgbClr val="FBFCFD"/>
                </a:solidFill>
              </a:rPr>
              <a:t> (ene–mar 2011 y 2012); (3) las mediciones físicas no se alteran — solo cambia el eje temporal y la metadata de sitio.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Verificación del Recurso Medido — Irradiancia POA (CMP22)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72237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6949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Irradiancia POA CMP22 — 11 módulos Cocoa (2011–2012)</a:t>
            </a:r>
          </a:p>
        </p:txBody>
      </p:sp>
      <p:pic>
        <p:nvPicPr>
          <p:cNvPr id="7" name="Picture 6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10512"/>
            <a:ext cx="6766560" cy="38039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1188720"/>
            <a:ext cx="405353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1280160"/>
            <a:ext cx="37792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Notas Metodológicas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1755648"/>
            <a:ext cx="365119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Sensor:</a:t>
            </a:r>
            <a:r>
              <a:rPr sz="1250">
                <a:solidFill>
                  <a:srgbClr val="FBFCFD"/>
                </a:solidFill>
              </a:rPr>
              <a:t> piranómetro CMP22 (clase A) — referencia de alta precisión en el plano del arreglo.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Registros:</a:t>
            </a:r>
            <a:r>
              <a:rPr sz="1250">
                <a:solidFill>
                  <a:srgbClr val="FBFCFD"/>
                </a:solidFill>
              </a:rPr>
              <a:t> 421,664 válidos sumando los 11 archivos Cocoa (2011-01-21 a 2012-03-04).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Curvas:</a:t>
            </a:r>
            <a:r>
              <a:rPr sz="1250">
                <a:solidFill>
                  <a:srgbClr val="FBFCFD"/>
                </a:solidFill>
              </a:rPr>
              <a:t> mediana diaria suavizada 7 días por archivo; las 11 series se superponen porque comparten sitio y sensor.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POA máx. medida:</a:t>
            </a:r>
            <a:r>
              <a:rPr sz="1250">
                <a:solidFill>
                  <a:srgbClr val="FBFCFD"/>
                </a:solidFill>
              </a:rPr>
              <a:t> ~1,443 W/m².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Propósito:</a:t>
            </a:r>
            <a:r>
              <a:rPr sz="1250">
                <a:solidFill>
                  <a:srgbClr val="FBFCFD"/>
                </a:solidFill>
              </a:rPr>
              <a:t> verificar la consistencia del recurso medido </a:t>
            </a:r>
            <a:r>
              <a:rPr sz="1250" b="1">
                <a:solidFill>
                  <a:srgbClr val="FBFCFD"/>
                </a:solidFill>
              </a:rPr>
              <a:t>antes</a:t>
            </a:r>
            <a:r>
              <a:rPr sz="1250">
                <a:solidFill>
                  <a:srgbClr val="FBFCFD"/>
                </a:solidFill>
              </a:rPr>
              <a:t> de aplicar el filtro de emulación geográfica.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80" y="1261872"/>
            <a:ext cx="11154933" cy="4270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623560"/>
            <a:ext cx="11460175" cy="777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696712"/>
            <a:ext cx="11094415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BFCFD"/>
                </a:solidFill>
              </a:rPr>
              <a:t>Supuestos declarados:</a:t>
            </a:r>
            <a:r>
              <a:rPr sz="1250">
                <a:solidFill>
                  <a:srgbClr val="FBFCFD"/>
                </a:solidFill>
              </a:rPr>
              <a:t> viento fijo 1 m/s (escenario conservador de enfriamiento); albedo 0.25 (default de </a:t>
            </a:r>
            <a:r>
              <a:rPr sz="11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250">
                <a:solidFill>
                  <a:srgbClr val="FBFCFD"/>
                </a:solidFill>
              </a:rPr>
              <a:t>); </a:t>
            </a:r>
            <a:r>
              <a:rPr sz="1250" b="1">
                <a:solidFill>
                  <a:srgbClr val="FBFCFD"/>
                </a:solidFill>
              </a:rPr>
              <a:t>sin</a:t>
            </a:r>
            <a:r>
              <a:rPr sz="1250">
                <a:solidFill>
                  <a:srgbClr val="FBFCFD"/>
                </a:solidFill>
              </a:rPr>
              <a:t> modificadores IAM ni corrección espectral AM — la POA de Perez se usa directamente como irradiancia efectiva (Anexo II, Lám. 26). Coeficientes SAPM (Anexo III, Lám. 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49" y="1243584"/>
            <a:ext cx="10556396" cy="42885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623560"/>
            <a:ext cx="11460175" cy="8412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696712"/>
            <a:ext cx="1109441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BFCFD"/>
                </a:solidFill>
              </a:rPr>
              <a:t>Hallazgo metodológico:</a:t>
            </a:r>
            <a:r>
              <a:rPr sz="1250">
                <a:solidFill>
                  <a:srgbClr val="FBFCFD"/>
                </a:solidFill>
              </a:rPr>
              <a:t> la regresión experimental de α</a:t>
            </a:r>
            <a:r>
              <a:rPr sz="850">
                <a:solidFill>
                  <a:srgbClr val="FBFCFD"/>
                </a:solidFill>
              </a:rPr>
              <a:t>Isc</a:t>
            </a:r>
            <a:r>
              <a:rPr sz="1250">
                <a:solidFill>
                  <a:srgbClr val="FBFCFD"/>
                </a:solidFill>
              </a:rPr>
              <a:t> resultó </a:t>
            </a:r>
            <a:r>
              <a:rPr sz="1250" b="1">
                <a:solidFill>
                  <a:srgbClr val="FBFCFD"/>
                </a:solidFill>
              </a:rPr>
              <a:t>negativa</a:t>
            </a:r>
            <a:r>
              <a:rPr sz="1250">
                <a:solidFill>
                  <a:srgbClr val="FBFCFD"/>
                </a:solidFill>
              </a:rPr>
              <a:t> en ambos módulos (confundida por efectos espectrales/estacionales) → el código aplica el resguardo físico α</a:t>
            </a:r>
            <a:r>
              <a:rPr sz="850">
                <a:solidFill>
                  <a:srgbClr val="FBFCFD"/>
                </a:solidFill>
              </a:rPr>
              <a:t>Isc</a:t>
            </a:r>
            <a:r>
              <a:rPr sz="1250">
                <a:solidFill>
                  <a:srgbClr val="FBFCFD"/>
                </a:solidFill>
              </a:rPr>
              <a:t> = +0.05 %/°C (valor típico de literatura). β</a:t>
            </a:r>
            <a:r>
              <a:rPr sz="850">
                <a:solidFill>
                  <a:srgbClr val="FBFCFD"/>
                </a:solidFill>
              </a:rPr>
              <a:t>Voc</a:t>
            </a:r>
            <a:r>
              <a:rPr sz="1250">
                <a:solidFill>
                  <a:srgbClr val="FBFCFD"/>
                </a:solidFill>
              </a:rPr>
              <a:t> sí es experimental: −0.30 %/°C (m-Si) y −0.21 %/°C (HIT). Detalle del sistema de ecuaciones en (Anexo V, Lám. 29).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0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1" name="Picture 10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4910328"/>
            <a:ext cx="5251399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I</a:t>
            </a:r>
            <a:r>
              <a:rPr sz="800">
                <a:solidFill>
                  <a:srgbClr val="FBFCFD"/>
                </a:solidFill>
              </a:rPr>
              <a:t>0</a:t>
            </a:r>
            <a:r>
              <a:rPr sz="1200">
                <a:solidFill>
                  <a:srgbClr val="FBFCFD"/>
                </a:solidFill>
              </a:rPr>
              <a:t> de HIT es </a:t>
            </a:r>
            <a:r>
              <a:rPr sz="1200" b="1">
                <a:solidFill>
                  <a:srgbClr val="FBFCFD"/>
                </a:solidFill>
              </a:rPr>
              <a:t>un orden de magnitud menor</a:t>
            </a:r>
            <a:r>
              <a:rPr sz="1200">
                <a:solidFill>
                  <a:srgbClr val="FBFCFD"/>
                </a:solidFill>
              </a:rPr>
              <a:t> → menor recombinación → mayor V</a:t>
            </a:r>
            <a:r>
              <a:rPr sz="800">
                <a:solidFill>
                  <a:srgbClr val="FBFCFD"/>
                </a:solidFill>
              </a:rPr>
              <a:t>oc</a:t>
            </a:r>
            <a:r>
              <a:rPr sz="12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R</a:t>
            </a:r>
            <a:r>
              <a:rPr sz="800">
                <a:solidFill>
                  <a:srgbClr val="FBFCFD"/>
                </a:solidFill>
              </a:rPr>
              <a:t>sh</a:t>
            </a:r>
            <a:r>
              <a:rPr sz="12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49" y="1243584"/>
            <a:ext cx="10556396" cy="428853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623560"/>
            <a:ext cx="11460175" cy="777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696712"/>
            <a:ext cx="11094415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BFCFD"/>
                </a:solidFill>
              </a:rPr>
              <a:t>Energía DC anual por panel:</a:t>
            </a:r>
            <a:r>
              <a:rPr sz="1250">
                <a:solidFill>
                  <a:srgbClr val="FBFCFD"/>
                </a:solidFill>
              </a:rPr>
              <a:t> m-Si 57.8 kWh · HIT 292.6 kWh → yield específico </a:t>
            </a:r>
            <a:r>
              <a:rPr sz="1250" b="1">
                <a:solidFill>
                  <a:srgbClr val="FBFCFD"/>
                </a:solidFill>
              </a:rPr>
              <a:t>1,152 vs 1,236 kWh/kWp (+7.3 %)</a:t>
            </a:r>
            <a:r>
              <a:rPr sz="1250">
                <a:solidFill>
                  <a:srgbClr val="FBFCFD"/>
                </a:solidFill>
              </a:rPr>
              <a:t>. Ecuaciones de escalamiento en (Anexo VI, Lám. 30) y del PR en (Anexo VII, Lám. 31).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7" name="Picture 6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9168" y="1755648"/>
            <a:ext cx="45655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FBFCFD"/>
                </a:solidFill>
              </a:rPr>
              <a:t>65–73 °C de operación recurrente</a:t>
            </a:r>
            <a:r>
              <a:rPr sz="13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3355848"/>
            <a:ext cx="456559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Estrés térmico evidenciado:</a:t>
            </a:r>
            <a:r>
              <a:rPr sz="12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Enfriamiento convectivo limitado:</a:t>
            </a:r>
            <a:r>
              <a:rPr sz="12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Consecuencia en voltaje [De Soto et al., 2006]:</a:t>
            </a:r>
            <a:r>
              <a:rPr sz="1250">
                <a:solidFill>
                  <a:srgbClr val="FBFCFD"/>
                </a:solidFill>
              </a:rPr>
              <a:t> el calentamiento eleva I</a:t>
            </a:r>
            <a:r>
              <a:rPr sz="850">
                <a:solidFill>
                  <a:srgbClr val="FBFCFD"/>
                </a:solidFill>
              </a:rPr>
              <a:t>0</a:t>
            </a:r>
            <a:r>
              <a:rPr sz="1250">
                <a:solidFill>
                  <a:srgbClr val="FBFCFD"/>
                </a:solidFill>
              </a:rPr>
              <a:t> exponencialmente, deprimiendo V</a:t>
            </a:r>
            <a:r>
              <a:rPr sz="850">
                <a:solidFill>
                  <a:srgbClr val="FBFCFD"/>
                </a:solidFill>
              </a:rPr>
              <a:t>oc</a:t>
            </a:r>
            <a:r>
              <a:rPr sz="12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</a:t>
            </a:r>
            <a:r>
              <a:rPr sz="1300" b="1">
                <a:solidFill>
                  <a:srgbClr val="F1C40F"/>
                </a:solidFill>
              </a:rPr>
              <a:t>mp</a:t>
            </a:r>
            <a:r>
              <a:rPr sz="17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7" name="Picture 6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9168" y="1755648"/>
            <a:ext cx="45655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FBFCFD"/>
                </a:solidFill>
              </a:rPr>
              <a:t>R² ≈ 0.99</a:t>
            </a:r>
            <a:r>
              <a:rPr sz="1300">
                <a:solidFill>
                  <a:srgbClr val="FBFCFD"/>
                </a:solidFill>
              </a:rPr>
              <a:t>  |  RMSE ≈ 3 % de P</a:t>
            </a:r>
            <a:r>
              <a:rPr sz="900">
                <a:solidFill>
                  <a:srgbClr val="FBFCFD"/>
                </a:solidFill>
              </a:rPr>
              <a:t>STC</a:t>
            </a:r>
            <a:r>
              <a:rPr sz="13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3355848"/>
            <a:ext cx="456559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Misma meteorología:</a:t>
            </a:r>
            <a:r>
              <a:rPr sz="1250">
                <a:solidFill>
                  <a:srgbClr val="FBFCFD"/>
                </a:solidFill>
              </a:rPr>
              <a:t> cada punto compara la P</a:t>
            </a:r>
            <a:r>
              <a:rPr sz="850">
                <a:solidFill>
                  <a:srgbClr val="FBFCFD"/>
                </a:solidFill>
              </a:rPr>
              <a:t>mp</a:t>
            </a:r>
            <a:r>
              <a:rPr sz="1250">
                <a:solidFill>
                  <a:srgbClr val="FBFCFD"/>
                </a:solidFill>
              </a:rPr>
              <a:t> </a:t>
            </a:r>
            <a:r>
              <a:rPr sz="1250" b="1">
                <a:solidFill>
                  <a:srgbClr val="FBFCFD"/>
                </a:solidFill>
              </a:rPr>
              <a:t>medida</a:t>
            </a:r>
            <a:r>
              <a:rPr sz="1250">
                <a:solidFill>
                  <a:srgbClr val="FBFCFD"/>
                </a:solidFill>
              </a:rPr>
              <a:t> por el trazador NREL con la </a:t>
            </a:r>
            <a:r>
              <a:rPr sz="1250" b="1">
                <a:solidFill>
                  <a:srgbClr val="FBFCFD"/>
                </a:solidFill>
              </a:rPr>
              <a:t>simulada</a:t>
            </a:r>
            <a:r>
              <a:rPr sz="1250">
                <a:solidFill>
                  <a:srgbClr val="FBFCFD"/>
                </a:solidFill>
              </a:rPr>
              <a:t> por el SDM bajo el mismo G y T</a:t>
            </a:r>
            <a:r>
              <a:rPr sz="850">
                <a:solidFill>
                  <a:srgbClr val="FBFCFD"/>
                </a:solidFill>
              </a:rPr>
              <a:t>c</a:t>
            </a:r>
            <a:r>
              <a:rPr sz="12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Fidelidad del circuito:</a:t>
            </a:r>
            <a:r>
              <a:rPr sz="12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Zonas de discrepancia:</a:t>
            </a:r>
            <a:r>
              <a:rPr sz="12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Desarrollo y discusión: Puntos Conflictivos — Acoplamiento R</a:t>
            </a:r>
            <a:r>
              <a:rPr sz="2000" b="1">
                <a:solidFill>
                  <a:srgbClr val="F1C40F"/>
                </a:solidFill>
              </a:rPr>
              <a:t>s</a:t>
            </a:r>
            <a:r>
              <a:rPr sz="24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Acoplamiento R</a:t>
            </a:r>
            <a:r>
              <a:rPr sz="1300" b="1">
                <a:solidFill>
                  <a:srgbClr val="F1C40F"/>
                </a:solidFill>
              </a:rPr>
              <a:t>s</a:t>
            </a:r>
            <a:r>
              <a:rPr sz="17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250">
                <a:solidFill>
                  <a:srgbClr val="FBFCFD"/>
                </a:solidFill>
              </a:rPr>
              <a:t> 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Problema mal condicionado:</a:t>
            </a:r>
            <a:r>
              <a:rPr sz="1250">
                <a:solidFill>
                  <a:srgbClr val="FBFCFD"/>
                </a:solidFill>
              </a:rPr>
              <a:t> múltiples pares (R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Mitigación aplicada:</a:t>
            </a:r>
            <a:r>
              <a:rPr sz="1250">
                <a:solidFill>
                  <a:srgbClr val="FBFCFD"/>
                </a:solidFill>
              </a:rPr>
              <a:t> bounds estrictos en el optimizador — 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R</a:t>
            </a:r>
            <a:r>
              <a:rPr sz="850" b="1">
                <a:solidFill>
                  <a:srgbClr val="FBFCFD"/>
                </a:solidFill>
              </a:rPr>
              <a:t>sh</a:t>
            </a:r>
            <a:r>
              <a:rPr sz="1250" b="1">
                <a:solidFill>
                  <a:srgbClr val="FBFCFD"/>
                </a:solidFill>
              </a:rPr>
              <a:t> e irradiancia:</a:t>
            </a:r>
            <a:r>
              <a:rPr sz="1250">
                <a:solidFill>
                  <a:srgbClr val="FBFCFD"/>
                </a:solidFill>
              </a:rPr>
              <a:t> la relación 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 = R</a:t>
            </a:r>
            <a:r>
              <a:rPr sz="850">
                <a:solidFill>
                  <a:srgbClr val="FBFCFD"/>
                </a:solidFill>
              </a:rPr>
              <a:t>sh,ref</a:t>
            </a:r>
            <a:r>
              <a:rPr sz="1250">
                <a:solidFill>
                  <a:srgbClr val="FBFCFD"/>
                </a:solidFill>
              </a:rPr>
              <a:t>·(S</a:t>
            </a:r>
            <a:r>
              <a:rPr sz="850">
                <a:solidFill>
                  <a:srgbClr val="FBFCFD"/>
                </a:solidFill>
              </a:rPr>
              <a:t>ref</a:t>
            </a:r>
            <a:r>
              <a:rPr sz="12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R</a:t>
            </a:r>
            <a:r>
              <a:rPr sz="850" b="1">
                <a:solidFill>
                  <a:srgbClr val="FBFCFD"/>
                </a:solidFill>
              </a:rPr>
              <a:t>s</a:t>
            </a:r>
            <a:r>
              <a:rPr sz="1250" b="1">
                <a:solidFill>
                  <a:srgbClr val="FBFCFD"/>
                </a:solidFill>
              </a:rPr>
              <a:t> constante con la temperatura:</a:t>
            </a:r>
            <a:r>
              <a:rPr sz="1250">
                <a:solidFill>
                  <a:srgbClr val="FBFCFD"/>
                </a:solidFill>
              </a:rPr>
              <a:t> ignora el cambio de resistividad del semiconductor con T</a:t>
            </a:r>
            <a:r>
              <a:rPr sz="850">
                <a:solidFill>
                  <a:srgbClr val="FBFCFD"/>
                </a:solidFill>
              </a:rPr>
              <a:t>c</a:t>
            </a:r>
            <a:r>
              <a:rPr sz="12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Bandgap lineal con la temperatura:</a:t>
            </a:r>
            <a:r>
              <a:rPr sz="1250">
                <a:solidFill>
                  <a:srgbClr val="FBFCFD"/>
                </a:solidFill>
              </a:rPr>
              <a:t> se asume dE</a:t>
            </a:r>
            <a:r>
              <a:rPr sz="850">
                <a:solidFill>
                  <a:srgbClr val="FBFCFD"/>
                </a:solidFill>
              </a:rPr>
              <a:t>g</a:t>
            </a:r>
            <a:r>
              <a:rPr sz="12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Desarrollo y discusión: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7" name="Picture 6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Coeficientes de Temperatura (P</a:t>
            </a:r>
            <a:r>
              <a:rPr sz="1300" b="1">
                <a:solidFill>
                  <a:srgbClr val="F1C40F"/>
                </a:solidFill>
              </a:rPr>
              <a:t>mp</a:t>
            </a:r>
            <a:r>
              <a:rPr sz="17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1755648"/>
            <a:ext cx="41083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m-Si: </a:t>
            </a:r>
            <a:r>
              <a:rPr sz="1300" b="1">
                <a:solidFill>
                  <a:srgbClr val="FBFCFD"/>
                </a:solidFill>
              </a:rPr>
              <a:t>−0.40 %/°C</a:t>
            </a:r>
            <a:r>
              <a:rPr sz="13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HIT: </a:t>
            </a:r>
            <a:r>
              <a:rPr sz="1300" b="1">
                <a:solidFill>
                  <a:srgbClr val="FBFCFD"/>
                </a:solidFill>
              </a:rPr>
              <a:t>−0.26 %/°C</a:t>
            </a:r>
            <a:r>
              <a:rPr sz="13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3355848"/>
            <a:ext cx="410839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HIT (naranja):</a:t>
            </a:r>
            <a:r>
              <a:rPr sz="12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m-Si (azul):</a:t>
            </a:r>
            <a:r>
              <a:rPr sz="12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Consecuencia:</a:t>
            </a:r>
            <a:r>
              <a:rPr sz="1250">
                <a:solidFill>
                  <a:srgbClr val="FBFCFD"/>
                </a:solidFill>
              </a:rPr>
              <a:t> esta divergencia térmica explica mecánicamente la brecha de PR anual entre tecnologías (Anexo VII, Lám. 31).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1600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Veredicto de Performance Ratio (PR 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FBFCFD"/>
                </a:solidFill>
              </a:rPr>
              <a:t>HIT: 86.92 %</a:t>
            </a:r>
            <a:r>
              <a:rPr sz="1300">
                <a:solidFill>
                  <a:srgbClr val="FBFCFD"/>
                </a:solidFill>
              </a:rPr>
              <a:t>  ·  m-Si: 84.53 %  →  </a:t>
            </a:r>
            <a:r>
              <a:rPr sz="1300" b="1">
                <a:solidFill>
                  <a:srgbClr val="FBFCFD"/>
                </a:solidFill>
              </a:rPr>
              <a:t>ganancia neta +2.39 puntos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FBFCFD"/>
                </a:solidFill>
              </a:rPr>
              <a:t>PR mensual: HIT 84.9–89.4 %  ·  m-Si 82.0–88.0 %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1600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Impacto Financiero Proyectado (100 MWp)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FBFCFD"/>
                </a:solidFill>
              </a:rPr>
              <a:t>~6,000 MWh/año adicionales</a:t>
            </a:r>
            <a:r>
              <a:rPr sz="1300">
                <a:solidFill>
                  <a:srgbClr val="FBFCFD"/>
                </a:solidFill>
              </a:rPr>
              <a:t> y </a:t>
            </a:r>
            <a:r>
              <a:rPr sz="1300" b="1">
                <a:solidFill>
                  <a:srgbClr val="FBFCFD"/>
                </a:solidFill>
              </a:rPr>
              <a:t>+USD 270k/año</a:t>
            </a:r>
            <a:r>
              <a:rPr sz="1300">
                <a:solidFill>
                  <a:srgbClr val="FBFCFD"/>
                </a:solidFill>
              </a:rPr>
              <a:t> de facturación, bajo los supuestos explícitos de la derecha.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17520"/>
            <a:ext cx="5592927" cy="3154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73152" cy="3154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15" name="Picture 14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621024"/>
            <a:ext cx="5257800" cy="242316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233007" y="3017520"/>
            <a:ext cx="5592927" cy="31546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3017520"/>
            <a:ext cx="73152" cy="31546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1089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Supuestos del cálculo económico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4175" y="3584448"/>
            <a:ext cx="5190591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>
                <a:solidFill>
                  <a:srgbClr val="FBFCFD"/>
                </a:solidFill>
              </a:rPr>
              <a:t>• </a:t>
            </a:r>
            <a:r>
              <a:rPr sz="1150" b="1">
                <a:solidFill>
                  <a:srgbClr val="FBFCFD"/>
                </a:solidFill>
              </a:rPr>
              <a:t>Recurso escalado a Atacama:</a:t>
            </a:r>
            <a:r>
              <a:rPr sz="1150">
                <a:solidFill>
                  <a:srgbClr val="FBFCFD"/>
                </a:solidFill>
              </a:rPr>
              <a:t> POA ≈ 2,500 kWh/m²·año (el recurso simulado conserva magnitudes de Florida: 1,363–1,422 kWh/m²).</a:t>
            </a:r>
          </a:p>
          <a:p>
            <a:pPr algn="l">
              <a:lnSpc>
                <a:spcPct val="106000"/>
              </a:lnSpc>
            </a:pPr>
            <a:r>
              <a:rPr sz="1150">
                <a:solidFill>
                  <a:srgbClr val="FBFCFD"/>
                </a:solidFill>
              </a:rPr>
              <a:t>• ΔPR de +2.39 pts → ≈ +60 kWh/kWp·año → </a:t>
            </a:r>
            <a:r>
              <a:rPr sz="1150" b="1">
                <a:solidFill>
                  <a:srgbClr val="FBFCFD"/>
                </a:solidFill>
              </a:rPr>
              <a:t>~6,000 MWh</a:t>
            </a:r>
            <a:r>
              <a:rPr sz="115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06000"/>
              </a:lnSpc>
            </a:pPr>
            <a:r>
              <a:rPr sz="1150">
                <a:solidFill>
                  <a:srgbClr val="FBFCFD"/>
                </a:solidFill>
              </a:rPr>
              <a:t>• Precio de venta ≈ 45 USD/MWh → </a:t>
            </a:r>
            <a:r>
              <a:rPr sz="1150" b="1">
                <a:solidFill>
                  <a:srgbClr val="FBFCFD"/>
                </a:solidFill>
              </a:rPr>
              <a:t>~USD 270k/año</a:t>
            </a:r>
            <a:r>
              <a:rPr sz="11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150">
                <a:solidFill>
                  <a:srgbClr val="FBFCFD"/>
                </a:solidFill>
              </a:rPr>
              <a:t>• Con el recurso simulado sin escalar, la cifra conservadora sería ~3,300 MWh y ~USD 150k/año.</a:t>
            </a:r>
          </a:p>
          <a:p>
            <a:pPr algn="l">
              <a:lnSpc>
                <a:spcPct val="106000"/>
              </a:lnSpc>
            </a:pPr>
            <a:r>
              <a:rPr sz="1150">
                <a:solidFill>
                  <a:srgbClr val="FBFCFD"/>
                </a:solidFill>
              </a:rPr>
              <a:t>• Conclusión de diseño: la prima CAPEX de HIT se amortiza con holgura en plantas desérticas de alta irradiancia.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Magnitudes de Florida:</a:t>
            </a:r>
            <a:r>
              <a:rPr sz="12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Cobertura temporal:</a:t>
            </a:r>
            <a:r>
              <a:rPr sz="12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α</a:t>
            </a:r>
            <a:r>
              <a:rPr sz="850" b="1">
                <a:solidFill>
                  <a:srgbClr val="FBFCFD"/>
                </a:solidFill>
              </a:rPr>
              <a:t>Isc</a:t>
            </a:r>
            <a:r>
              <a:rPr sz="1250" b="1">
                <a:solidFill>
                  <a:srgbClr val="FBFCFD"/>
                </a:solidFill>
              </a:rPr>
              <a:t> de literatura:</a:t>
            </a:r>
            <a:r>
              <a:rPr sz="12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Sin pérdidas ópticas/espectrales:</a:t>
            </a:r>
            <a:r>
              <a:rPr sz="1250">
                <a:solidFill>
                  <a:srgbClr val="FBFCFD"/>
                </a:solidFill>
              </a:rPr>
              <a:t> IAM y corrección AM revisados pero no aplicados (Anexo II, Lám. 26) — su omisión sobreestima levemente la energía en ángulos rasantes (amanecer/ocaso).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Albedo fijo 0.25</a:t>
            </a:r>
            <a:r>
              <a:rPr sz="1250">
                <a:solidFill>
                  <a:srgbClr val="FBFCFD"/>
                </a:solidFill>
              </a:rPr>
              <a:t> (default pvlib) y </a:t>
            </a:r>
            <a:r>
              <a:rPr sz="1250" b="1">
                <a:solidFill>
                  <a:srgbClr val="FBFCFD"/>
                </a:solidFill>
              </a:rPr>
              <a:t>viento fijo 1 m/s</a:t>
            </a:r>
            <a:r>
              <a:rPr sz="12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P</a:t>
            </a:r>
            <a:r>
              <a:rPr sz="850" b="1">
                <a:solidFill>
                  <a:srgbClr val="FBFCFD"/>
                </a:solidFill>
              </a:rPr>
              <a:t>STC</a:t>
            </a:r>
            <a:r>
              <a:rPr sz="1250" b="1">
                <a:solidFill>
                  <a:srgbClr val="FBFCFD"/>
                </a:solidFill>
              </a:rPr>
              <a:t> del SDM</a:t>
            </a:r>
            <a:r>
              <a:rPr sz="12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Sin soiling ni mismatch:</a:t>
            </a:r>
            <a:r>
              <a:rPr sz="12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1. </a:t>
            </a:r>
            <a:r>
              <a:rPr sz="1250" b="1">
                <a:solidFill>
                  <a:srgbClr val="FBFCFD"/>
                </a:solidFill>
              </a:rPr>
              <a:t>Fidelidad metodológica:</a:t>
            </a:r>
            <a:r>
              <a:rPr sz="12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2. </a:t>
            </a:r>
            <a:r>
              <a:rPr sz="1250" b="1">
                <a:solidFill>
                  <a:srgbClr val="FBFCFD"/>
                </a:solidFill>
              </a:rPr>
              <a:t>Pipeline de datos robusto:</a:t>
            </a:r>
            <a:r>
              <a:rPr sz="12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3. </a:t>
            </a:r>
            <a:r>
              <a:rPr sz="1250" b="1">
                <a:solidFill>
                  <a:srgbClr val="FBFCFD"/>
                </a:solidFill>
              </a:rPr>
              <a:t>Ajuste robusto:</a:t>
            </a:r>
            <a:r>
              <a:rPr sz="12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850">
                <a:solidFill>
                  <a:srgbClr val="FBFCFD"/>
                </a:solidFill>
              </a:rPr>
              <a:t>STC</a:t>
            </a:r>
            <a:r>
              <a:rPr sz="12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4. </a:t>
            </a:r>
            <a:r>
              <a:rPr sz="1250" b="1">
                <a:solidFill>
                  <a:srgbClr val="FBFCFD"/>
                </a:solidFill>
              </a:rPr>
              <a:t>HIT vencedor:</a:t>
            </a:r>
            <a:r>
              <a:rPr sz="12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Aplicar IAM y corrección espectral AM</a:t>
            </a:r>
            <a:r>
              <a:rPr sz="1250">
                <a:solidFill>
                  <a:srgbClr val="FBFCFD"/>
                </a:solidFill>
              </a:rPr>
              <a:t> ya documentados (Anexo II, Lám. 26), cerrando la brecha óptica del pipeline actual.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Escalar el recurso a magnitudes de Atacama</a:t>
            </a:r>
            <a:r>
              <a:rPr sz="12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Bifacialidad:</a:t>
            </a:r>
            <a:r>
              <a:rPr sz="12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Soiling desértico:</a:t>
            </a:r>
            <a:r>
              <a:rPr sz="12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Modelo de doble diodo:</a:t>
            </a:r>
            <a:r>
              <a:rPr sz="12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3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8" name="Picture 7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G</a:t>
            </a:r>
            <a:r>
              <a:rPr sz="850">
                <a:solidFill>
                  <a:srgbClr val="F1C40F"/>
                </a:solidFill>
              </a:rPr>
              <a:t>b</a:t>
            </a:r>
            <a:r>
              <a:rPr sz="1250">
                <a:solidFill>
                  <a:srgbClr val="F1C40F"/>
                </a:solidFill>
              </a:rPr>
              <a:t> / G</a:t>
            </a:r>
            <a:r>
              <a:rPr sz="850">
                <a:solidFill>
                  <a:srgbClr val="F1C40F"/>
                </a:solidFill>
              </a:rPr>
              <a:t>d</a:t>
            </a:r>
            <a:r>
              <a:rPr sz="12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ρ: albedo = 0.25 (default </a:t>
            </a:r>
            <a:r>
              <a:rPr sz="1150">
                <a:solidFill>
                  <a:srgbClr val="7FDBFF"/>
                </a:solidFill>
                <a:latin typeface="Consolas"/>
              </a:rPr>
              <a:t>pvlib</a:t>
            </a:r>
            <a:r>
              <a:rPr sz="12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R</a:t>
            </a:r>
            <a:r>
              <a:rPr sz="850">
                <a:solidFill>
                  <a:srgbClr val="F1C40F"/>
                </a:solidFill>
              </a:rPr>
              <a:t>beam</a:t>
            </a:r>
            <a:r>
              <a:rPr sz="12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G</a:t>
            </a:r>
            <a:r>
              <a:rPr sz="850">
                <a:solidFill>
                  <a:srgbClr val="F1C40F"/>
                </a:solidFill>
              </a:rPr>
              <a:t>d,perez</a:t>
            </a:r>
            <a:r>
              <a:rPr sz="12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  brillo de horizonte), evaluada por </a:t>
            </a:r>
            <a:r>
              <a:rPr sz="11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2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4175" y="1755648"/>
            <a:ext cx="5190591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1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2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1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2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1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2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Salida: </a:t>
            </a:r>
            <a:r>
              <a:rPr sz="1150">
                <a:solidFill>
                  <a:srgbClr val="7FDBFF"/>
                </a:solidFill>
                <a:latin typeface="Consolas"/>
              </a:rPr>
              <a:t>poa_global</a:t>
            </a:r>
            <a:r>
              <a:rPr sz="1250">
                <a:solidFill>
                  <a:srgbClr val="FBFCFD"/>
                </a:solidFill>
              </a:rPr>
              <a:t> con </a:t>
            </a:r>
            <a:r>
              <a:rPr sz="1150">
                <a:solidFill>
                  <a:srgbClr val="7FDBFF"/>
                </a:solidFill>
                <a:latin typeface="Consolas"/>
              </a:rPr>
              <a:t>clip(≥0)</a:t>
            </a:r>
            <a:r>
              <a:rPr sz="12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II: Marco Teórico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7" name="Picture 6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8" name="Picture 7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Ley de Snell y Bouguer [King et al., 2004]: θ</a:t>
            </a:r>
            <a:r>
              <a:rPr sz="850">
                <a:solidFill>
                  <a:srgbClr val="F1C40F"/>
                </a:solidFill>
              </a:rPr>
              <a:t>r</a:t>
            </a:r>
            <a:r>
              <a:rPr sz="12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3" name="Picture 12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4" name="Picture 13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850">
                <a:solidFill>
                  <a:srgbClr val="F1C40F"/>
                </a:solidFill>
              </a:rPr>
              <a:t>0</a:t>
            </a:r>
            <a:r>
              <a:rPr sz="1250">
                <a:solidFill>
                  <a:srgbClr val="F1C40F"/>
                </a:solidFill>
              </a:rPr>
              <a:t>…a</a:t>
            </a:r>
            <a:r>
              <a:rPr sz="850">
                <a:solidFill>
                  <a:srgbClr val="F1C40F"/>
                </a:solidFill>
              </a:rPr>
              <a:t>4</a:t>
            </a:r>
            <a:r>
              <a:rPr sz="12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532120"/>
            <a:ext cx="11460175" cy="8686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605272"/>
            <a:ext cx="11094415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BFCFD"/>
                </a:solidFill>
              </a:rPr>
              <a:t>Estado en este estudio:</a:t>
            </a:r>
            <a:r>
              <a:rPr sz="1250">
                <a:solidFill>
                  <a:srgbClr val="FBFCFD"/>
                </a:solidFill>
              </a:rPr>
              <a:t> ecuaciones revisadas en la literatura pero </a:t>
            </a:r>
            <a:r>
              <a:rPr sz="1250" b="1">
                <a:solidFill>
                  <a:srgbClr val="FBFCFD"/>
                </a:solidFill>
              </a:rPr>
              <a:t>no ejecutadas por el pipeline</a:t>
            </a:r>
            <a:r>
              <a:rPr sz="12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8" name="Picture 7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21608"/>
            <a:ext cx="519059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T</a:t>
            </a:r>
            <a:r>
              <a:rPr sz="850">
                <a:solidFill>
                  <a:srgbClr val="FBFCFD"/>
                </a:solidFill>
              </a:rPr>
              <a:t>c</a:t>
            </a:r>
            <a:r>
              <a:rPr sz="1250">
                <a:solidFill>
                  <a:srgbClr val="FBFCFD"/>
                </a:solidFill>
              </a:rPr>
              <a:t> / T</a:t>
            </a:r>
            <a:r>
              <a:rPr sz="850">
                <a:solidFill>
                  <a:srgbClr val="FBFCFD"/>
                </a:solidFill>
              </a:rPr>
              <a:t>a</a:t>
            </a:r>
            <a:r>
              <a:rPr sz="12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G</a:t>
            </a:r>
            <a:r>
              <a:rPr sz="850">
                <a:solidFill>
                  <a:srgbClr val="FBFCFD"/>
                </a:solidFill>
              </a:rPr>
              <a:t>poa</a:t>
            </a:r>
            <a:r>
              <a:rPr sz="12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v</a:t>
            </a:r>
            <a:r>
              <a:rPr sz="850">
                <a:solidFill>
                  <a:srgbClr val="FBFCFD"/>
                </a:solidFill>
              </a:rPr>
              <a:t>w</a:t>
            </a:r>
            <a:r>
              <a:rPr sz="12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3721608"/>
            <a:ext cx="519059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m-Si — </a:t>
            </a:r>
            <a:r>
              <a:rPr sz="11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2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HIT — </a:t>
            </a:r>
            <a:r>
              <a:rPr sz="11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2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06000"/>
              </a:lnSpc>
            </a:pP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FBFCFD"/>
                </a:solidFill>
              </a:rPr>
              <a:t>Fuente:</a:t>
            </a:r>
            <a:r>
              <a:rPr sz="1250">
                <a:solidFill>
                  <a:srgbClr val="FBFCFD"/>
                </a:solidFill>
              </a:rPr>
              <a:t> </a:t>
            </a:r>
            <a:r>
              <a:rPr sz="11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2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2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3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2" name="Picture 11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N</a:t>
            </a:r>
            <a:r>
              <a:rPr sz="850">
                <a:solidFill>
                  <a:srgbClr val="F1C40F"/>
                </a:solidFill>
              </a:rPr>
              <a:t>s</a:t>
            </a:r>
            <a:r>
              <a:rPr sz="12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1C40F"/>
                </a:solidFill>
              </a:rPr>
              <a:t>• n</a:t>
            </a:r>
            <a:r>
              <a:rPr sz="850">
                <a:solidFill>
                  <a:srgbClr val="F1C40F"/>
                </a:solidFill>
              </a:rPr>
              <a:t>I</a:t>
            </a:r>
            <a:r>
              <a:rPr sz="12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21608"/>
            <a:ext cx="519059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I</a:t>
            </a:r>
            <a:r>
              <a:rPr sz="850">
                <a:solidFill>
                  <a:srgbClr val="FBFCFD"/>
                </a:solidFill>
              </a:rPr>
              <a:t>L</a:t>
            </a:r>
            <a:r>
              <a:rPr sz="12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I</a:t>
            </a:r>
            <a:r>
              <a:rPr sz="850">
                <a:solidFill>
                  <a:srgbClr val="FBFCFD"/>
                </a:solidFill>
              </a:rPr>
              <a:t>0</a:t>
            </a:r>
            <a:r>
              <a:rPr sz="12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 / 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k / q / T</a:t>
            </a:r>
            <a:r>
              <a:rPr sz="850">
                <a:solidFill>
                  <a:srgbClr val="FBFCFD"/>
                </a:solidFill>
              </a:rPr>
              <a:t>c</a:t>
            </a:r>
            <a:r>
              <a:rPr sz="12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V: Extracción en STC — Sistema de Ecuaciones y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8" name="Picture 7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9" name="Picture 8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β</a:t>
            </a:r>
            <a:r>
              <a:rPr sz="850">
                <a:solidFill>
                  <a:srgbClr val="F1C40F"/>
                </a:solidFill>
              </a:rPr>
              <a:t>Voc</a:t>
            </a:r>
            <a:r>
              <a:rPr sz="1250">
                <a:solidFill>
                  <a:srgbClr val="F1C40F"/>
                </a:solidFill>
              </a:rPr>
              <a:t>: regresión lineal V</a:t>
            </a:r>
            <a:r>
              <a:rPr sz="850">
                <a:solidFill>
                  <a:srgbClr val="F1C40F"/>
                </a:solidFill>
              </a:rPr>
              <a:t>oc</a:t>
            </a:r>
            <a:r>
              <a:rPr sz="1250">
                <a:solidFill>
                  <a:srgbClr val="F1C40F"/>
                </a:solidFill>
              </a:rPr>
              <a:t> vs T</a:t>
            </a:r>
            <a:r>
              <a:rPr sz="850">
                <a:solidFill>
                  <a:srgbClr val="F1C40F"/>
                </a:solidFill>
              </a:rPr>
              <a:t>c</a:t>
            </a:r>
            <a:r>
              <a:rPr sz="12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α</a:t>
            </a:r>
            <a:r>
              <a:rPr sz="850">
                <a:solidFill>
                  <a:srgbClr val="F1C40F"/>
                </a:solidFill>
              </a:rPr>
              <a:t>Isc</a:t>
            </a:r>
            <a:r>
              <a:rPr sz="1250">
                <a:solidFill>
                  <a:srgbClr val="F1C40F"/>
                </a:solidFill>
              </a:rPr>
              <a:t>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Promedios de la ventana → I</a:t>
            </a:r>
            <a:r>
              <a:rPr sz="850">
                <a:solidFill>
                  <a:srgbClr val="F1C40F"/>
                </a:solidFill>
              </a:rPr>
              <a:t>sc,ref</a:t>
            </a:r>
            <a:r>
              <a:rPr sz="1250">
                <a:solidFill>
                  <a:srgbClr val="F1C40F"/>
                </a:solidFill>
              </a:rPr>
              <a:t>, V</a:t>
            </a:r>
            <a:r>
              <a:rPr sz="850">
                <a:solidFill>
                  <a:srgbClr val="F1C40F"/>
                </a:solidFill>
              </a:rPr>
              <a:t>oc,ref</a:t>
            </a:r>
            <a:r>
              <a:rPr sz="1250">
                <a:solidFill>
                  <a:srgbClr val="F1C40F"/>
                </a:solidFill>
              </a:rPr>
              <a:t>, I</a:t>
            </a:r>
            <a:r>
              <a:rPr sz="850">
                <a:solidFill>
                  <a:srgbClr val="F1C40F"/>
                </a:solidFill>
              </a:rPr>
              <a:t>mp,ref</a:t>
            </a:r>
            <a:r>
              <a:rPr sz="1250">
                <a:solidFill>
                  <a:srgbClr val="F1C40F"/>
                </a:solidFill>
              </a:rPr>
              <a:t>, V</a:t>
            </a:r>
            <a:r>
              <a:rPr sz="850">
                <a:solidFill>
                  <a:srgbClr val="F1C40F"/>
                </a:solidFill>
              </a:rPr>
              <a:t>mp,ref</a:t>
            </a:r>
            <a:r>
              <a:rPr sz="12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2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5" name="Picture 14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Voc</a:t>
            </a:r>
            <a:r>
              <a:rPr sz="12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Isc</a:t>
            </a:r>
            <a:r>
              <a:rPr sz="12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MPP</a:t>
            </a:r>
            <a:r>
              <a:rPr sz="1200">
                <a:solidFill>
                  <a:srgbClr val="F1C40F"/>
                </a:solidFill>
              </a:rPr>
              <a:t>: corriente correcta en (V</a:t>
            </a:r>
            <a:r>
              <a:rPr sz="800">
                <a:solidFill>
                  <a:srgbClr val="F1C40F"/>
                </a:solidFill>
              </a:rPr>
              <a:t>mp</a:t>
            </a:r>
            <a:r>
              <a:rPr sz="1200">
                <a:solidFill>
                  <a:srgbClr val="F1C40F"/>
                </a:solidFill>
              </a:rPr>
              <a:t>, I</a:t>
            </a:r>
            <a:r>
              <a:rPr sz="800">
                <a:solidFill>
                  <a:srgbClr val="F1C40F"/>
                </a:solidFill>
              </a:rPr>
              <a:t>mp</a:t>
            </a:r>
            <a:r>
              <a:rPr sz="12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F1C40F"/>
                </a:solidFill>
              </a:rPr>
              <a:t>Regularización física (bounds):</a:t>
            </a:r>
            <a:r>
              <a:rPr sz="1200">
                <a:solidFill>
                  <a:srgbClr val="F1C40F"/>
                </a:solidFill>
              </a:rPr>
              <a:t> R</a:t>
            </a:r>
            <a:r>
              <a:rPr sz="800">
                <a:solidFill>
                  <a:srgbClr val="F1C40F"/>
                </a:solidFill>
              </a:rPr>
              <a:t>s</a:t>
            </a:r>
            <a:r>
              <a:rPr sz="1200">
                <a:solidFill>
                  <a:srgbClr val="F1C40F"/>
                </a:solidFill>
              </a:rPr>
              <a:t> ∈ [0.001, 2] Ω · R</a:t>
            </a:r>
            <a:r>
              <a:rPr sz="800">
                <a:solidFill>
                  <a:srgbClr val="F1C40F"/>
                </a:solidFill>
              </a:rPr>
              <a:t>sh</a:t>
            </a:r>
            <a:r>
              <a:rPr sz="1200">
                <a:solidFill>
                  <a:srgbClr val="F1C40F"/>
                </a:solidFill>
              </a:rPr>
              <a:t> ∈ [100, 10⁴] Ω · n</a:t>
            </a:r>
            <a:r>
              <a:rPr sz="800">
                <a:solidFill>
                  <a:srgbClr val="F1C40F"/>
                </a:solidFill>
              </a:rPr>
              <a:t>I</a:t>
            </a:r>
            <a:r>
              <a:rPr sz="1200">
                <a:solidFill>
                  <a:srgbClr val="F1C40F"/>
                </a:solidFill>
              </a:rPr>
              <a:t> ∈ [1, 2] · I</a:t>
            </a:r>
            <a:r>
              <a:rPr sz="800">
                <a:solidFill>
                  <a:srgbClr val="F1C40F"/>
                </a:solidFill>
              </a:rPr>
              <a:t>L</a:t>
            </a:r>
            <a:r>
              <a:rPr sz="1200">
                <a:solidFill>
                  <a:srgbClr val="F1C40F"/>
                </a:solidFill>
              </a:rPr>
              <a:t> ± 10 % · I</a:t>
            </a:r>
            <a:r>
              <a:rPr sz="800">
                <a:solidFill>
                  <a:srgbClr val="F1C40F"/>
                </a:solidFill>
              </a:rPr>
              <a:t>0</a:t>
            </a:r>
            <a:r>
              <a:rPr sz="12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F1C40F"/>
                </a:solidFill>
              </a:rPr>
              <a:t>Inicialización analítica:</a:t>
            </a:r>
            <a:r>
              <a:rPr sz="1200">
                <a:solidFill>
                  <a:srgbClr val="F1C40F"/>
                </a:solidFill>
              </a:rPr>
              <a:t> a₀ = N</a:t>
            </a:r>
            <a:r>
              <a:rPr sz="800">
                <a:solidFill>
                  <a:srgbClr val="F1C40F"/>
                </a:solidFill>
              </a:rPr>
              <a:t>s</a:t>
            </a:r>
            <a:r>
              <a:rPr sz="1200">
                <a:solidFill>
                  <a:srgbClr val="F1C40F"/>
                </a:solidFill>
              </a:rPr>
              <a:t>·1.2·kT/q; I</a:t>
            </a:r>
            <a:r>
              <a:rPr sz="800">
                <a:solidFill>
                  <a:srgbClr val="F1C40F"/>
                </a:solidFill>
              </a:rPr>
              <a:t>0,0</a:t>
            </a:r>
            <a:r>
              <a:rPr sz="1200">
                <a:solidFill>
                  <a:srgbClr val="F1C40F"/>
                </a:solidFill>
              </a:rPr>
              <a:t> = I</a:t>
            </a:r>
            <a:r>
              <a:rPr sz="800">
                <a:solidFill>
                  <a:srgbClr val="F1C40F"/>
                </a:solidFill>
              </a:rPr>
              <a:t>sc</a:t>
            </a:r>
            <a:r>
              <a:rPr sz="1200">
                <a:solidFill>
                  <a:srgbClr val="F1C40F"/>
                </a:solidFill>
              </a:rPr>
              <a:t>·exp(−V</a:t>
            </a:r>
            <a:r>
              <a:rPr sz="800">
                <a:solidFill>
                  <a:srgbClr val="F1C40F"/>
                </a:solidFill>
              </a:rPr>
              <a:t>oc</a:t>
            </a:r>
            <a:r>
              <a:rPr sz="12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VI: Escalamiento de Parámetros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19072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1. Corriente fotogenerada (I</a:t>
            </a:r>
            <a:r>
              <a:rPr sz="850">
                <a:solidFill>
                  <a:srgbClr val="FBFCFD"/>
                </a:solidFill>
              </a:rPr>
              <a:t>L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439151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278892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2. Corriente de saturación inversa (I</a:t>
            </a:r>
            <a:r>
              <a:rPr sz="850">
                <a:solidFill>
                  <a:srgbClr val="FBFCFD"/>
                </a:solidFill>
              </a:rPr>
              <a:t>0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0" name="Picture 9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416052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97764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2" name="Picture 11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389120"/>
            <a:ext cx="1089660" cy="502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719072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4. Resistencia shunt (R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7" name="Picture 16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03120"/>
            <a:ext cx="2757637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34175" y="283464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5. Energía de bandgap del Silicio (E</a:t>
            </a:r>
            <a:r>
              <a:rPr sz="850">
                <a:solidFill>
                  <a:srgbClr val="FBFCFD"/>
                </a:solidFill>
              </a:rPr>
              <a:t>g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9" name="Picture 18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00400"/>
            <a:ext cx="394101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4175" y="397764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R</a:t>
            </a:r>
            <a:r>
              <a:rPr sz="850">
                <a:solidFill>
                  <a:srgbClr val="F1C40F"/>
                </a:solidFill>
              </a:rPr>
              <a:t>s</a:t>
            </a:r>
            <a:r>
              <a:rPr sz="1250">
                <a:solidFill>
                  <a:srgbClr val="F1C40F"/>
                </a:solidFill>
              </a:rPr>
              <a:t> constante: R</a:t>
            </a:r>
            <a:r>
              <a:rPr sz="850">
                <a:solidFill>
                  <a:srgbClr val="F1C40F"/>
                </a:solidFill>
              </a:rPr>
              <a:t>s</a:t>
            </a:r>
            <a:r>
              <a:rPr sz="1250">
                <a:solidFill>
                  <a:srgbClr val="F1C40F"/>
                </a:solidFill>
              </a:rPr>
              <a:t> = R</a:t>
            </a:r>
            <a:r>
              <a:rPr sz="850">
                <a:solidFill>
                  <a:srgbClr val="F1C40F"/>
                </a:solidFill>
              </a:rPr>
              <a:t>s,ref</a:t>
            </a:r>
            <a:r>
              <a:rPr sz="12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R</a:t>
            </a:r>
            <a:r>
              <a:rPr sz="850">
                <a:solidFill>
                  <a:srgbClr val="F1C40F"/>
                </a:solidFill>
              </a:rPr>
              <a:t>sh</a:t>
            </a:r>
            <a:r>
              <a:rPr sz="12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E</a:t>
            </a:r>
            <a:r>
              <a:rPr sz="850">
                <a:solidFill>
                  <a:srgbClr val="F1C40F"/>
                </a:solidFill>
              </a:rPr>
              <a:t>g,ref</a:t>
            </a:r>
            <a:r>
              <a:rPr sz="12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• S = G</a:t>
            </a:r>
            <a:r>
              <a:rPr sz="850">
                <a:solidFill>
                  <a:srgbClr val="F1C40F"/>
                </a:solidFill>
              </a:rPr>
              <a:t>poa</a:t>
            </a:r>
            <a:r>
              <a:rPr sz="12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250">
                <a:solidFill>
                  <a:srgbClr val="F1C40F"/>
                </a:solidFill>
              </a:rPr>
              <a:t>Implementado por </a:t>
            </a:r>
            <a:r>
              <a:rPr sz="11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2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8" name="Picture 7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21408"/>
            <a:ext cx="4370498" cy="7132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21608"/>
            <a:ext cx="519059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P</a:t>
            </a:r>
            <a:r>
              <a:rPr sz="850">
                <a:solidFill>
                  <a:srgbClr val="FBFCFD"/>
                </a:solidFill>
              </a:rPr>
              <a:t>mp,t</a:t>
            </a:r>
            <a:r>
              <a:rPr sz="12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P</a:t>
            </a:r>
            <a:r>
              <a:rPr sz="850">
                <a:solidFill>
                  <a:srgbClr val="FBFCFD"/>
                </a:solidFill>
              </a:rPr>
              <a:t>STC</a:t>
            </a:r>
            <a:r>
              <a:rPr sz="1250">
                <a:solidFill>
                  <a:srgbClr val="FBFCFD"/>
                </a:solidFill>
              </a:rPr>
              <a:t>: potencia nominal del </a:t>
            </a:r>
            <a:r>
              <a:rPr sz="1250" b="1">
                <a:solidFill>
                  <a:srgbClr val="FBFCFD"/>
                </a:solidFill>
              </a:rPr>
              <a:t>mismo SDM</a:t>
            </a:r>
            <a:r>
              <a:rPr sz="12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G</a:t>
            </a:r>
            <a:r>
              <a:rPr sz="850">
                <a:solidFill>
                  <a:srgbClr val="FBFCFD"/>
                </a:solidFill>
              </a:rPr>
              <a:t>poa,t</a:t>
            </a:r>
            <a:r>
              <a:rPr sz="12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G</a:t>
            </a:r>
            <a:r>
              <a:rPr sz="850">
                <a:solidFill>
                  <a:srgbClr val="FBFCFD"/>
                </a:solidFill>
              </a:rPr>
              <a:t>ref</a:t>
            </a:r>
            <a:r>
              <a:rPr sz="12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3721608"/>
            <a:ext cx="519059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Térmicas:</a:t>
            </a:r>
            <a:r>
              <a:rPr sz="1250">
                <a:solidFill>
                  <a:srgbClr val="FBFCFD"/>
                </a:solidFill>
              </a:rPr>
              <a:t> caídas por elevada T</a:t>
            </a:r>
            <a:r>
              <a:rPr sz="850">
                <a:solidFill>
                  <a:srgbClr val="FBFCFD"/>
                </a:solidFill>
              </a:rPr>
              <a:t>c</a:t>
            </a:r>
            <a:r>
              <a:rPr sz="12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Óhmicas:</a:t>
            </a:r>
            <a:r>
              <a:rPr sz="1250">
                <a:solidFill>
                  <a:srgbClr val="FBFCFD"/>
                </a:solidFill>
              </a:rPr>
              <a:t> pérdidas resistivas en R</a:t>
            </a:r>
            <a:r>
              <a:rPr sz="850">
                <a:solidFill>
                  <a:srgbClr val="FBFCFD"/>
                </a:solidFill>
              </a:rPr>
              <a:t>s</a:t>
            </a:r>
            <a:r>
              <a:rPr sz="12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</a:t>
            </a:r>
            <a:r>
              <a:rPr sz="1250" b="1">
                <a:solidFill>
                  <a:srgbClr val="FBFCFD"/>
                </a:solidFill>
              </a:rPr>
              <a:t>De bajo G:</a:t>
            </a:r>
            <a:r>
              <a:rPr sz="1250">
                <a:solidFill>
                  <a:srgbClr val="FBFCFD"/>
                </a:solidFill>
              </a:rPr>
              <a:t> comportamiento no lineal a baja irradiancia (R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6000"/>
              </a:lnSpc>
            </a:pPr>
            <a:r>
              <a:rPr sz="12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19059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Time Stamp</a:t>
            </a:r>
            <a:r>
              <a:rPr sz="120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43400"/>
            <a:ext cx="519059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Isc</a:t>
            </a:r>
            <a:r>
              <a:rPr sz="1200">
                <a:solidFill>
                  <a:srgbClr val="FBFCFD"/>
                </a:solidFill>
              </a:rPr>
              <a:t> (5), </a:t>
            </a:r>
            <a:r>
              <a:rPr sz="1100">
                <a:solidFill>
                  <a:srgbClr val="7FDBFF"/>
                </a:solidFill>
                <a:latin typeface="Consolas"/>
              </a:rPr>
              <a:t>Pmp</a:t>
            </a:r>
            <a:r>
              <a:rPr sz="1200">
                <a:solidFill>
                  <a:srgbClr val="FBFCFD"/>
                </a:solidFill>
              </a:rPr>
              <a:t> (7), </a:t>
            </a:r>
            <a:r>
              <a:rPr sz="1100">
                <a:solidFill>
                  <a:srgbClr val="7FDBFF"/>
                </a:solidFill>
                <a:latin typeface="Consolas"/>
              </a:rPr>
              <a:t>Imp</a:t>
            </a:r>
            <a:r>
              <a:rPr sz="1200">
                <a:solidFill>
                  <a:srgbClr val="FBFCFD"/>
                </a:solidFill>
              </a:rPr>
              <a:t> (9), </a:t>
            </a:r>
            <a:r>
              <a:rPr sz="1100">
                <a:solidFill>
                  <a:srgbClr val="7FDBFF"/>
                </a:solidFill>
                <a:latin typeface="Consolas"/>
              </a:rPr>
              <a:t>Vmp</a:t>
            </a:r>
            <a:r>
              <a:rPr sz="1200">
                <a:solidFill>
                  <a:srgbClr val="FBFCFD"/>
                </a:solidFill>
              </a:rPr>
              <a:t> (11), </a:t>
            </a:r>
            <a:r>
              <a:rPr sz="1100">
                <a:solidFill>
                  <a:srgbClr val="7FDBFF"/>
                </a:solidFill>
                <a:latin typeface="Consolas"/>
              </a:rPr>
              <a:t>Voc</a:t>
            </a:r>
            <a:r>
              <a:rPr sz="120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FF</a:t>
            </a:r>
            <a:r>
              <a:rPr sz="120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55648"/>
            <a:ext cx="519059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200">
                <a:solidFill>
                  <a:srgbClr val="FBFCFD"/>
                </a:solidFill>
              </a:rPr>
              <a:t> (20), </a:t>
            </a:r>
            <a:r>
              <a:rPr sz="110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20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DNI</a:t>
            </a:r>
            <a:r>
              <a:rPr sz="1200">
                <a:solidFill>
                  <a:srgbClr val="FBFCFD"/>
                </a:solidFill>
              </a:rPr>
              <a:t> (27), </a:t>
            </a:r>
            <a:r>
              <a:rPr sz="1100">
                <a:solidFill>
                  <a:srgbClr val="7FDBFF"/>
                </a:solidFill>
                <a:latin typeface="Consolas"/>
              </a:rPr>
              <a:t>GHI</a:t>
            </a:r>
            <a:r>
              <a:rPr sz="1200">
                <a:solidFill>
                  <a:srgbClr val="FBFCFD"/>
                </a:solidFill>
              </a:rPr>
              <a:t> (30), </a:t>
            </a:r>
            <a:r>
              <a:rPr sz="1100">
                <a:solidFill>
                  <a:srgbClr val="7FDBFF"/>
                </a:solidFill>
                <a:latin typeface="Consolas"/>
              </a:rPr>
              <a:t>DHI</a:t>
            </a:r>
            <a:r>
              <a:rPr sz="120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POA CMP22</a:t>
            </a:r>
            <a:r>
              <a:rPr sz="120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4175" y="4343400"/>
            <a:ext cx="519059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20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FBFCFD"/>
                </a:solidFill>
              </a:rPr>
              <a:t>• </a:t>
            </a:r>
            <a:r>
              <a:rPr sz="110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20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100">
                <a:solidFill>
                  <a:srgbClr val="7FDBFF"/>
                </a:solidFill>
                <a:latin typeface="Consolas"/>
              </a:rPr>
              <a:t>99:99</a:t>
            </a:r>
            <a:r>
              <a:rPr sz="120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