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Tratamiento de datos experimentales NREL y modelamiento dinámico m-Si vs HIT — Año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880360"/>
            <a:ext cx="4114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698480" cy="251460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BFCFD"/>
                </a:solidFill>
              </a:rPr>
              <a:t>Integrantes / Estudiantes: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/>
          </a:p>
          <a:p>
            <a:pPr algn="l"/>
            <a:r>
              <a:rPr sz="1500">
                <a:solidFill>
                  <a:srgbClr val="FBFCFD"/>
                </a:solidFill>
              </a:rPr>
              <a:t>Profesor Guía: Carlos Cardenas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a) Introducción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Irradiación excepcional:</a:t>
            </a:r>
            <a:r>
              <a:rPr sz="1800">
                <a:solidFill>
                  <a:srgbClr val="FBFCFD"/>
                </a:solidFill>
              </a:rPr>
              <a:t> GHI anual &gt; 2,900 kWh/m² en el norte de Chile (máxima a nivel mundial) — motivación del sitio de estudio.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Cielos limpios y altitud:</a:t>
            </a:r>
            <a:r>
              <a:rPr sz="1800">
                <a:solidFill>
                  <a:srgbClr val="FBFCFD"/>
                </a:solidFill>
              </a:rPr>
              <a:t> Baja atenuación atmosférica e irradiancia directa concentrada a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Sitio simulado:</a:t>
            </a:r>
            <a:r>
              <a:rPr sz="1800">
                <a:solidFill>
                  <a:srgbClr val="FBFCFD"/>
                </a:solidFill>
              </a:rPr>
              <a:t> San Pedro de Atacama (lat −22.91°, lon −68.20°, UTC−4).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Base experimental:</a:t>
            </a:r>
            <a:r>
              <a:rPr sz="1800">
                <a:solidFill>
                  <a:srgbClr val="FBFCFD"/>
                </a:solidFill>
              </a:rPr>
              <a:t> mediciones de campo NREL (Cocoa, Florida) emuladas estacionalmente al hemisferio sur — magnitudes de irradiancia conservan su origen (ver Limitaciones, Lám. 26).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Estrés Térmico de Operación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Calentamiento severo:</a:t>
            </a:r>
            <a:r>
              <a:rPr sz="1800">
                <a:solidFill>
                  <a:srgbClr val="FBFCFD"/>
                </a:solidFill>
              </a:rPr>
              <a:t> Las celdas operan sobre 65 °C al mediodía solar de verano (máx. simulado: 73.4 °C en HIT).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Degradación térmica:</a:t>
            </a:r>
            <a:r>
              <a:rPr sz="1800">
                <a:solidFill>
                  <a:srgbClr val="FBFCFD"/>
                </a:solidFill>
              </a:rPr>
              <a:t> La potencia máxima y el voltaje de circuito abierto caen al aumentar la temperatura de celda (T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Objetivo:</a:t>
            </a:r>
            <a:r>
              <a:rPr sz="1800">
                <a:solidFill>
                  <a:srgbClr val="FBFCFD"/>
                </a:solidFill>
              </a:rPr>
              <a:t> Modelar dinámicamente registro a registro (cadencia 5 min) y cuantificar qué tecnología — </a:t>
            </a:r>
            <a:r>
              <a:rPr sz="1800" b="1">
                <a:solidFill>
                  <a:srgbClr val="FBFCFD"/>
                </a:solidFill>
              </a:rPr>
              <a:t>m-Si</a:t>
            </a:r>
            <a:r>
              <a:rPr sz="1800">
                <a:solidFill>
                  <a:srgbClr val="FBFCFD"/>
                </a:solidFill>
              </a:rPr>
              <a:t> o </a:t>
            </a:r>
            <a:r>
              <a:rPr sz="1800" b="1">
                <a:solidFill>
                  <a:srgbClr val="FBFCFD"/>
                </a:solidFill>
              </a:rPr>
              <a:t>HIT</a:t>
            </a:r>
            <a:r>
              <a:rPr sz="1800">
                <a:solidFill>
                  <a:srgbClr val="FBFCFD"/>
                </a:solidFill>
              </a:rPr>
              <a:t> — resiste mejor el estrés térmico desértico durante 2026.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Pregunta guía:</a:t>
            </a:r>
            <a:r>
              <a:rPr sz="1800">
                <a:solidFill>
                  <a:srgbClr val="FBFCFD"/>
                </a:solidFill>
              </a:rPr>
              <a:t> ¿la ventaja térmica de la heterounión justifica su CAPEX premium en una planta utility-scale?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b) Justificación e impacto: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JUSTIFICACIÓN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212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212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Familias disponibles en el Dataset Cocoa (NREL) y criterio de selección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91640"/>
          <a:ext cx="1100297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059"/>
                <a:gridCol w="1209118"/>
                <a:gridCol w="1692765"/>
                <a:gridCol w="3143707"/>
                <a:gridCol w="2297324"/>
              </a:tblGrid>
              <a:tr h="502920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Tecnología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Eficiencia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Coef. Temp. (Pmp)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Comportamiento en Desierto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Decisión / Rol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m-Si / x-Si
(Silicio Monocristalino)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17% - 21%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−0.40 %/°C (Malo)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SELECCIONADO (Línea Base)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HIT
(Heterounión)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20% - 22%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−0.26 %/°C (Excelente)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SELECCIONADO (Premium)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CdTe
(Teluro de Cadmio)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15% - 18%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−0.28 %/°C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(Menor contraste)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CIGS
(Película Delgada)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14% - 16%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−0.35 %/°C (Bueno)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(Sin contraste extremo)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a-Si
(Silicio Amorfo)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6% - 10%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−0.20 %/°C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(Inviable comercial)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34924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9AA5B1"/>
                </a:solidFill>
              </a:rPr>
              <a:t>Criterio: máximo contraste térmico entre tecnologías comerciales viables, con datos experimentales completos en el dataset (</a:t>
            </a:r>
            <a:r>
              <a:rPr sz="1450">
                <a:solidFill>
                  <a:srgbClr val="7FDBFF"/>
                </a:solidFill>
                <a:latin typeface="Consolas"/>
              </a:rPr>
              <a:t>mSi0166</a:t>
            </a:r>
            <a:r>
              <a:rPr sz="1550">
                <a:solidFill>
                  <a:srgbClr val="9AA5B1"/>
                </a:solidFill>
              </a:rPr>
              <a:t> y </a:t>
            </a:r>
            <a:r>
              <a:rPr sz="1450">
                <a:solidFill>
                  <a:srgbClr val="7FDBFF"/>
                </a:solidFill>
                <a:latin typeface="Consolas"/>
              </a:rPr>
              <a:t>HIT05667</a:t>
            </a:r>
            <a:r>
              <a:rPr sz="1550">
                <a:solidFill>
                  <a:srgbClr val="9AA5B1"/>
                </a:solidFill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c) Marco referencial y revisión de literatura: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MARCO TEÓRICO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Literatura Académica y Modelos APLICADOS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Modelo de un Diodo Simple (SDM) [De Soto et al., 2006]:</a:t>
            </a:r>
            <a:r>
              <a:rPr sz="1600">
                <a:solidFill>
                  <a:srgbClr val="FBFCFD"/>
                </a:solidFill>
              </a:rPr>
              <a:t> circuito equivalente con pérdidas óhmicas en serie (R</a:t>
            </a:r>
            <a:r>
              <a:rPr sz="1200">
                <a:solidFill>
                  <a:srgbClr val="FBFCFD"/>
                </a:solidFill>
              </a:rPr>
              <a:t>s</a:t>
            </a:r>
            <a:r>
              <a:rPr sz="1600">
                <a:solidFill>
                  <a:srgbClr val="FBFCFD"/>
                </a:solidFill>
              </a:rPr>
              <a:t>) y fugas shunt (R</a:t>
            </a:r>
            <a:r>
              <a:rPr sz="1200">
                <a:solidFill>
                  <a:srgbClr val="FBFCFD"/>
                </a:solidFill>
              </a:rPr>
              <a:t>sh</a:t>
            </a:r>
            <a:r>
              <a:rPr sz="1600">
                <a:solidFill>
                  <a:srgbClr val="FBFCFD"/>
                </a:solidFill>
              </a:rPr>
              <a:t>). (Anexo IV, Lám. 32)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Modelo Térmico de Sandia (SAPM) [King et al., 2004]:</a:t>
            </a:r>
            <a:r>
              <a:rPr sz="1600">
                <a:solidFill>
                  <a:srgbClr val="FBFCFD"/>
                </a:solidFill>
              </a:rPr>
              <a:t> estima la temperatura interna de celda desde POA y viento. (Anexo III, Lám. 31)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Transposición de Perez (1990):</a:t>
            </a:r>
            <a:r>
              <a:rPr sz="1600">
                <a:solidFill>
                  <a:srgbClr val="FBFCFD"/>
                </a:solidFill>
              </a:rPr>
              <a:t> lleva GHI/DNI/DHI al plano inclinado con cielo difuso anisotrópico. (Anexo I, Lám. 29)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Escalamiento De Soto (2006):</a:t>
            </a:r>
            <a:r>
              <a:rPr sz="1600">
                <a:solidFill>
                  <a:srgbClr val="FBFCFD"/>
                </a:solidFill>
              </a:rPr>
              <a:t> traslada los 5 parámetros desde STC a condiciones operacionales vía bandgap. (Anexo VI, Lám. 34)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Marco revisado NO aplicado:</a:t>
            </a:r>
            <a:r>
              <a:rPr sz="1600">
                <a:solidFill>
                  <a:srgbClr val="FBFCFD"/>
                </a:solidFill>
              </a:rPr>
              <a:t> modificadores ópticos IAM y espectral AM [King et al., 2004] — se documentan en (Anexo II, Lám. 30) y quedan como trabajo futuro.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2" name="Picture 11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591" y="1783080"/>
            <a:ext cx="539496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4175" y="4251960"/>
            <a:ext cx="519059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Componentes del circuito equivalente (SDM):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</a:t>
            </a:r>
            <a:r>
              <a:rPr sz="1100" b="1">
                <a:solidFill>
                  <a:srgbClr val="FBFCFD"/>
                </a:solidFill>
              </a:rPr>
              <a:t>L</a:t>
            </a:r>
            <a:r>
              <a:rPr sz="1500" b="1">
                <a:solidFill>
                  <a:srgbClr val="FBFCFD"/>
                </a:solidFill>
              </a:rPr>
              <a:t> (Corriente fotogenerada):</a:t>
            </a:r>
            <a:r>
              <a:rPr sz="1500">
                <a:solidFill>
                  <a:srgbClr val="FBFCFD"/>
                </a:solidFill>
              </a:rPr>
              <a:t> proporcional a la irradiancia.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Diodo (D):</a:t>
            </a:r>
            <a:r>
              <a:rPr sz="1500">
                <a:solidFill>
                  <a:srgbClr val="FBFCFD"/>
                </a:solidFill>
              </a:rPr>
              <a:t> representa la recombinación en la unión P-N.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sh</a:t>
            </a:r>
            <a:r>
              <a:rPr sz="1500" b="1">
                <a:solidFill>
                  <a:srgbClr val="FBFCFD"/>
                </a:solidFill>
              </a:rPr>
              <a:t> (Resistencia shunt):</a:t>
            </a:r>
            <a:r>
              <a:rPr sz="1500">
                <a:solidFill>
                  <a:srgbClr val="FBFCFD"/>
                </a:solidFill>
              </a:rPr>
              <a:t> corriente de fuga interna.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</a:t>
            </a:r>
            <a:r>
              <a:rPr sz="1500" b="1">
                <a:solidFill>
                  <a:srgbClr val="FBFCFD"/>
                </a:solidFill>
              </a:rPr>
              <a:t> (Resistencia serie):</a:t>
            </a:r>
            <a:r>
              <a:rPr sz="1500">
                <a:solidFill>
                  <a:srgbClr val="FBFCFD"/>
                </a:solidFill>
              </a:rPr>
              <a:t> pérdidas óhmicas de contacto.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 / V:</a:t>
            </a:r>
            <a:r>
              <a:rPr sz="1500">
                <a:solidFill>
                  <a:srgbClr val="FBFCFD"/>
                </a:solidFill>
              </a:rPr>
              <a:t> corriente y voltaje de salida entregados.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Arquitectura del Pipeline de Simulación (Fases 0–4)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pelin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188720"/>
            <a:ext cx="11430000" cy="33250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12064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5721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Flujo lógico de la simulación (Fases 0-4):</a:t>
            </a:r>
            <a:r>
              <a:rPr sz="1700">
                <a:solidFill>
                  <a:srgbClr val="FBFCFD"/>
                </a:solidFill>
              </a:rPr>
              <a:t> El proceso inicia con la exploración y emulación estacional de los datos (Fases 0-1) para adaptarlos al hemisferio sur. Luego, se limpia y calcula el recurso solar efectivo (Fase 2) y se extraen los parámetros físicos de los módulos (Fase 3). Finalmente, se realiza la simulación horaria dinámica (Fase 4) para obtener las series temporales de potencia y PR.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La Base de Datos Original — NREL Cocoa, Florida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módulos PV medidos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simultáneo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1095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1095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959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cadencia de medición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(solo horas de sol)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6431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~420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1295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curvas I-V completas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(ene-2011 → mar-2012)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11767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~1.2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631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 11 archivos CSV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(uno por módulo)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3152" cy="3429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Campaña experimental del </a:t>
            </a:r>
            <a:r>
              <a:rPr sz="1800" b="1">
                <a:solidFill>
                  <a:srgbClr val="FBFCFD"/>
                </a:solidFill>
              </a:rPr>
              <a:t>NREL</a:t>
            </a:r>
            <a:r>
              <a:rPr sz="1800">
                <a:solidFill>
                  <a:srgbClr val="FBFCFD"/>
                </a:solidFill>
              </a:rPr>
              <a:t> para validación de modelos PV [Marion et al., 2014].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Sitio: </a:t>
            </a:r>
            <a:r>
              <a:rPr sz="1800" b="1">
                <a:solidFill>
                  <a:srgbClr val="FBFCFD"/>
                </a:solidFill>
              </a:rPr>
              <a:t>Cocoa, Florida</a:t>
            </a:r>
            <a:r>
              <a:rPr sz="1800">
                <a:solidFill>
                  <a:srgbClr val="FBFCFD"/>
                </a:solidFill>
              </a:rPr>
              <a:t> (28.39° N, −80.46° W, 12 m.s.n.m.).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Tecnologías: 3 m-Si, 1 x-Si, 1 HIT, 1 CdTe, 2 CIGS y 3 a-Si.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Cada registro = una curva I-V completa</a:t>
            </a:r>
            <a:r>
              <a:rPr sz="1800">
                <a:solidFill>
                  <a:srgbClr val="FBFCFD"/>
                </a:solidFill>
              </a:rPr>
              <a:t> + contexto meteorológico instantáneo + incertidumbres.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274320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Volumen seleccionado para la tarea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mSi0166</a:t>
            </a:r>
            <a:r>
              <a:rPr sz="1800">
                <a:solidFill>
                  <a:srgbClr val="FBFCFD"/>
                </a:solidFill>
              </a:rPr>
              <a:t> — Silicio monocristalino: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  </a:t>
            </a:r>
            <a:r>
              <a:rPr sz="1800" b="1">
                <a:solidFill>
                  <a:srgbClr val="FBFCFD"/>
                </a:solidFill>
              </a:rPr>
              <a:t>36,765 curvas</a:t>
            </a:r>
            <a:r>
              <a:rPr sz="1800">
                <a:solidFill>
                  <a:srgbClr val="FBFCFD"/>
                </a:solidFill>
              </a:rPr>
              <a:t> (~102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HIT05667</a:t>
            </a:r>
            <a:r>
              <a:rPr sz="1800">
                <a:solidFill>
                  <a:srgbClr val="FBFCFD"/>
                </a:solidFill>
              </a:rPr>
              <a:t> — Heterounión: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  </a:t>
            </a:r>
            <a:r>
              <a:rPr sz="1800" b="1">
                <a:solidFill>
                  <a:srgbClr val="FBFCFD"/>
                </a:solidFill>
              </a:rPr>
              <a:t>38,377 curvas</a:t>
            </a:r>
            <a:r>
              <a:rPr sz="1800">
                <a:solidFill>
                  <a:srgbClr val="FBFCFD"/>
                </a:solidFill>
              </a:rPr>
              <a:t> (~109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Criterio: máximo contraste térmico entre tecnologías viables (detalle en Lám. 3).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¿Qué Variables Hay y Con Cuáles Trabajamos?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Variables disponibles por registro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Eléctricas:</a:t>
            </a:r>
            <a:r>
              <a:rPr sz="1850">
                <a:solidFill>
                  <a:srgbClr val="FBFCFD"/>
                </a:solidFill>
              </a:rPr>
              <a:t> Isc, Pmp, Imp, Vmp, Voc, FF — cada una con su incertidumbre.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Meteorológicas:</a:t>
            </a:r>
            <a:r>
              <a:rPr sz="1850">
                <a:solidFill>
                  <a:srgbClr val="FBFCFD"/>
                </a:solidFill>
              </a:rPr>
              <a:t> GHI, DNI, DHI, T bulbo seco, humedad relativa, presión, precipitación.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Referencia POA:</a:t>
            </a:r>
            <a:r>
              <a:rPr sz="1850">
                <a:solidFill>
                  <a:srgbClr val="FBFCFD"/>
                </a:solidFill>
              </a:rPr>
              <a:t> piranómetro CMP22 (clase A) montado en el plano del arreglo.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Calidad / operación:</a:t>
            </a:r>
            <a:r>
              <a:rPr sz="1850">
                <a:solidFill>
                  <a:srgbClr val="FBFCFD"/>
                </a:solidFill>
              </a:rPr>
              <a:t> residual QA solar, soiling derate, horarios de mantenimiento.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Decisión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Usadas (11 columnas):</a:t>
            </a:r>
            <a:r>
              <a:rPr sz="1850">
                <a:solidFill>
                  <a:srgbClr val="FBFCFD"/>
                </a:solidFill>
              </a:rPr>
              <a:t> timestamp, Isc, Pmp, Imp, Vmp, Voc, T bulbo seco, presión, DNI, GHI, DHI.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Verificación:</a:t>
            </a:r>
            <a:r>
              <a:rPr sz="1850">
                <a:solidFill>
                  <a:srgbClr val="FBFCFD"/>
                </a:solidFill>
              </a:rPr>
              <a:t> POA CMP22 para validar el recurso medido (Lám. 14).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Descartadas:</a:t>
            </a:r>
            <a:r>
              <a:rPr sz="1850">
                <a:solidFill>
                  <a:srgbClr val="FBFCFD"/>
                </a:solidFill>
              </a:rPr>
              <a:t> cola de pares I-V crudos (ancho variable) y columnas de QA.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Diccionario completo de columnas en (Anexo VIII, Lám. 36).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Anatomía del Archivo CSV y Decisiones de Ingesta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tructura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6" y="1143000"/>
            <a:ext cx="11051381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12064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5721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Estructura y lectura de datos:</a:t>
            </a:r>
            <a:r>
              <a:rPr sz="1700">
                <a:solidFill>
                  <a:srgbClr val="FBFCFD"/>
                </a:solidFill>
              </a:rPr>
              <a:t> Los archivos originales del NREL contienen una cabecera de metadatos y registros cada 5 minutos. Dado que cada fila incluye las curvas eléctricas crudas completas, su tamaño es variable y pesado (~110 MB). Para optimizar la memoria, el código lee el archivo en flujo (streaming) e indexa únicamente las 11 variables meteorológicas y eléctricas necesarias, descartando el resto al vuelo.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Ingesta y Limpieza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gesta_limpie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7280"/>
            <a:ext cx="11430000" cy="290945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Proceso de ingesta y depuración:</a:t>
            </a:r>
            <a:r>
              <a:rPr sz="1700">
                <a:solidFill>
                  <a:srgbClr val="FBFCFD"/>
                </a:solidFill>
              </a:rPr>
              <a:t> El gran volumen de datos (~110 MB por archivo) y el ancho de fila variable debido a la cola de curvas I-V impiden el uso de métodos convencionales como </a:t>
            </a:r>
            <a:r>
              <a:rPr sz="1600">
                <a:solidFill>
                  <a:srgbClr val="7FDBFF"/>
                </a:solidFill>
                <a:latin typeface="Consolas"/>
              </a:rPr>
              <a:t>pandas.read_csv</a:t>
            </a:r>
            <a:r>
              <a:rPr sz="1700">
                <a:solidFill>
                  <a:srgbClr val="FBFCFD"/>
                </a:solidFill>
              </a:rPr>
              <a:t>. El pipeline implementa un lector en flujo (streaming) nativo que indexa selectivamente solo las 11 variables útiles. Posteriormente, se reemplazan los valores centinela </a:t>
            </a:r>
            <a:r>
              <a:rPr sz="1600">
                <a:solidFill>
                  <a:srgbClr val="7FDBFF"/>
                </a:solidFill>
                <a:latin typeface="Consolas"/>
              </a:rPr>
              <a:t>-9999</a:t>
            </a:r>
            <a:r>
              <a:rPr sz="1700">
                <a:solidFill>
                  <a:srgbClr val="FBFCFD"/>
                </a:solidFill>
              </a:rPr>
              <a:t> por </a:t>
            </a:r>
            <a:r>
              <a:rPr sz="1600">
                <a:solidFill>
                  <a:srgbClr val="7FDBFF"/>
                </a:solidFill>
                <a:latin typeface="Consolas"/>
              </a:rPr>
              <a:t>NaN</a:t>
            </a:r>
            <a:r>
              <a:rPr sz="1700">
                <a:solidFill>
                  <a:srgbClr val="FBFCFD"/>
                </a:solidFill>
              </a:rPr>
              <a:t>, se descartan filas nulas y se recortan irradiancias negativas, logrando un 97.0 % (m-Si) y 97.2 % (HIT) de registros útiles para el modelado.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Embudo de Datos — Trazabilidad por Fase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udo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07008"/>
            <a:ext cx="9966960" cy="5139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Geográfica — Concepto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705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080760"/>
            <a:ext cx="114601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¿Por qué? Usar datos del hemisferio norte sin desfasar crearía solsticios invertidos: el filtro alinea las estaciones antes de simular.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Emulación: Florida (origen de los datos) vs Atacama (sitio simulado)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3886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Cocoa, Florida — clima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Clima: subtropical húmedo (marítimo), 12 m.s.n.m.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Irradiancia difusa alta (~35–45 %) por humedad y nubosidad convectiva frecuente.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DNI máximo ~950 W/m² (atenuado).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T</a:t>
            </a:r>
            <a:r>
              <a:rPr sz="1550">
                <a:solidFill>
                  <a:srgbClr val="FBFCFD"/>
                </a:solidFill>
              </a:rPr>
              <a:t>c</a:t>
            </a:r>
            <a:r>
              <a:rPr sz="1950">
                <a:solidFill>
                  <a:srgbClr val="FBFCFD"/>
                </a:solidFill>
              </a:rPr>
              <a:t> pico de celda: ~55–60 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3886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San Pedro de Atacama — sitio emulado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Clima: hiperárido (desértico extremo), 2,400 m.s.n.m.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Irradiancia difusa muy baja (~10–15 %): cielos permanentemente limpios.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DNI máximo real &gt; 1,250 W/m² (extremo).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T</a:t>
            </a:r>
            <a:r>
              <a:rPr sz="1550">
                <a:solidFill>
                  <a:srgbClr val="FBFCFD"/>
                </a:solidFill>
              </a:rPr>
              <a:t>c</a:t>
            </a:r>
            <a:r>
              <a:rPr sz="1950">
                <a:solidFill>
                  <a:srgbClr val="FBFCFD"/>
                </a:solidFill>
              </a:rPr>
              <a:t> pico simulada: ~65–73 °C (alto estrés).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120640"/>
            <a:ext cx="11460175" cy="13258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157216"/>
            <a:ext cx="11094415" cy="1252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Límite explícito del método:</a:t>
            </a:r>
            <a:r>
              <a:rPr sz="1700">
                <a:solidFill>
                  <a:srgbClr val="FBFCFD"/>
                </a:solidFill>
              </a:rPr>
              <a:t> el filtro alinea estaciones, geometría solar e inclinación óptima (tilt = latitud, azimut 0° N); las </a:t>
            </a:r>
            <a:r>
              <a:rPr sz="1700" b="1">
                <a:solidFill>
                  <a:srgbClr val="FBFCFD"/>
                </a:solidFill>
              </a:rPr>
              <a:t>magnitudes medidas</a:t>
            </a:r>
            <a:r>
              <a:rPr sz="1700">
                <a:solidFill>
                  <a:srgbClr val="FBFCFD"/>
                </a:solidFill>
              </a:rPr>
              <a:t> de irradiancia y clima siguen siendo las de Florida (ver Limitaciones, Lám. 26).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— Implementación (Fase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14" y="1234440"/>
            <a:ext cx="9806666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Proceso de emulación temporal:</a:t>
            </a:r>
            <a:r>
              <a:rPr sz="1700">
                <a:solidFill>
                  <a:srgbClr val="FBFCFD"/>
                </a:solidFill>
              </a:rPr>
              <a:t> Para trasladar las estaciones de Florida (hemisferio norte) a San Pedro de Atacama (hemisferio sur), el código modifica la latitud y altura en los metadatos y aplica un desfase de 6 meses en las fechas. De esta manera, el verano e invierno coinciden con la realidad del sitio simulado sin alterar los valores físicos medidos. Los solapamientos de fechas se promedian y el año se proyecta a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Verificación del Recurso — Notas Metodológicas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Irradiancia POA máxima medida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el 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clase A (alta precisión)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24912"/>
            <a:ext cx="5592927" cy="3584448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24912"/>
            <a:ext cx="73152" cy="358444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1635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de Consistencia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364992"/>
            <a:ext cx="5190591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Superposición de mediciones:</a:t>
            </a:r>
            <a:r>
              <a:rPr sz="1500">
                <a:solidFill>
                  <a:srgbClr val="FBFCFD"/>
                </a:solidFill>
              </a:rPr>
              <a:t> Las curvas de irradiancia diaria se superponen con exactitud, confirmando la consistencia instrumental.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Rango temporal:</a:t>
            </a:r>
            <a:r>
              <a:rPr sz="1500">
                <a:solidFill>
                  <a:srgbClr val="FBFCFD"/>
                </a:solidFill>
              </a:rPr>
              <a:t> Campaña desde el </a:t>
            </a:r>
            <a:r>
              <a:rPr sz="1500" b="1">
                <a:solidFill>
                  <a:srgbClr val="FBFCFD"/>
                </a:solidFill>
              </a:rPr>
              <a:t>21 de enero de 2011</a:t>
            </a:r>
            <a:r>
              <a:rPr sz="1500">
                <a:solidFill>
                  <a:srgbClr val="FBFCFD"/>
                </a:solidFill>
              </a:rPr>
              <a:t> al </a:t>
            </a:r>
            <a:r>
              <a:rPr sz="1500" b="1">
                <a:solidFill>
                  <a:srgbClr val="FBFCFD"/>
                </a:solidFill>
              </a:rPr>
              <a:t>4 de marzo de 2012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Tratamiento:</a:t>
            </a:r>
            <a:r>
              <a:rPr sz="1500">
                <a:solidFill>
                  <a:srgbClr val="FBFCFD"/>
                </a:solidFill>
              </a:rPr>
              <a:t> Mediana diaria suavizada (ventana 7 días) por archivo para aislar ruidos y nubes transitorias.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24912"/>
            <a:ext cx="5592927" cy="3584448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24912"/>
            <a:ext cx="73152" cy="358444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1635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Propósito del Control de Calidad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364992"/>
            <a:ext cx="5190591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Validación previa:</a:t>
            </a:r>
            <a:r>
              <a:rPr sz="1500">
                <a:solidFill>
                  <a:srgbClr val="FBFCFD"/>
                </a:solidFill>
              </a:rPr>
              <a:t> Confirmar la homogeneidad física de la radiación </a:t>
            </a:r>
            <a:r>
              <a:rPr sz="1500" b="1">
                <a:solidFill>
                  <a:srgbClr val="FBFCFD"/>
                </a:solidFill>
              </a:rPr>
              <a:t>antes</a:t>
            </a:r>
            <a:r>
              <a:rPr sz="1500">
                <a:solidFill>
                  <a:srgbClr val="FBFCFD"/>
                </a:solidFill>
              </a:rPr>
              <a:t> de la emulación geográfica y el modelado.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Soiling y mantenimiento:</a:t>
            </a:r>
            <a:r>
              <a:rPr sz="1500">
                <a:solidFill>
                  <a:srgbClr val="FBFCFD"/>
                </a:solidFill>
              </a:rPr>
              <a:t> La coincidencia de curvas demuestra que no hay desviaciones locales significativas en los sensores de referencia.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Alineación de sensores:</a:t>
            </a:r>
            <a:r>
              <a:rPr sz="1500">
                <a:solidFill>
                  <a:srgbClr val="FBFCFD"/>
                </a:solidFill>
              </a:rPr>
              <a:t> Garantizar que la irradiancia incidente en los 11 planos sea idéntica para una comparación justa.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Recurso Solar Sintético y Perfil Térmico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721" y="1234440"/>
            <a:ext cx="9196251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Estimación de la radiación y temperatura:</a:t>
            </a:r>
            <a:r>
              <a:rPr sz="1700">
                <a:solidFill>
                  <a:srgbClr val="FBFCFD"/>
                </a:solidFill>
              </a:rPr>
              <a:t> Tras filtrar y limpiar los registros nulos, el código utiliza el modelo difuso de Perez para transponer las irradiancias al plano inclinado (POA). Luego, con el modelo de Sandia (SAPM) y asumiendo una velocidad de viento fija de 1 m/s (peor caso de ventilación), se estima la temperatura interna de operación de las celdas para cada tecnología (m-Si and HIT).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Extracción de Parámetros De Soto (Fase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Caracterización física de los módulos:</a:t>
            </a:r>
            <a:r>
              <a:rPr sz="1700">
                <a:solidFill>
                  <a:srgbClr val="FBFCFD"/>
                </a:solidFill>
              </a:rPr>
              <a:t> Para modelar el comportamiento eléctrico, se estiman los coeficientes térmicos de corriente y voltaje. Dado que la corriente arrojó coeficientes negativos debido a la estacionalidad, se aplicó un valor estándar de resguardo de +0.05 %/°C. Luego, los datos se trasladan a condiciones nominales (STC) y un optimizador no lineal ajusta los 5 parámetros de De Soto (corrientes, resistencias y factor de idealidad).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Parámetros de Referencia Extraídos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Parámetros nominales ajustados (SRC)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55648"/>
          <a:ext cx="521207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005"/>
                <a:gridCol w="1549537"/>
                <a:gridCol w="1549537"/>
              </a:tblGrid>
              <a:tr h="420624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50" b="1">
                          <a:solidFill>
                            <a:srgbClr val="F1C40F"/>
                          </a:solidFill>
                        </a:rPr>
                        <a:t>Parámetro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50" b="1">
                          <a:solidFill>
                            <a:srgbClr val="F1C40F"/>
                          </a:solidFill>
                        </a:rPr>
                        <a:t>m-Si (mSi0166)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50" b="1">
                          <a:solidFill>
                            <a:srgbClr val="F1C40F"/>
                          </a:solidFill>
                        </a:rPr>
                        <a:t>HIT (HIT05667)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L,ref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2.768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5.607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0,ref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4.13 × 10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−9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4.68 × 10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−10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s,ref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0.542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0.412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sh,ref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352.4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612.8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(celdas serie)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α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Isc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β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Voc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−0.30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−0.21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sc,ref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/ V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oc,ref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2.77 A / 22.6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5.61 A / 51.5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P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del SDM (W)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50.17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236.72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188720"/>
            <a:ext cx="5653735" cy="29718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73152" cy="2971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2801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Curvas I-V / P-V reconstruidas en SRC</a:t>
            </a:r>
          </a:p>
        </p:txBody>
      </p:sp>
      <p:pic>
        <p:nvPicPr>
          <p:cNvPr id="12" name="Picture 11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55648"/>
            <a:ext cx="5166360" cy="22494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2200" y="4343400"/>
            <a:ext cx="5653735" cy="187451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343400"/>
            <a:ext cx="73152" cy="187451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43484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física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4983480"/>
            <a:ext cx="5251399" cy="1069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>
                <a:solidFill>
                  <a:srgbClr val="FBFCFD"/>
                </a:solidFill>
              </a:rPr>
              <a:t>• I</a:t>
            </a:r>
            <a:r>
              <a:rPr sz="1300">
                <a:solidFill>
                  <a:srgbClr val="FBFCFD"/>
                </a:solidFill>
              </a:rPr>
              <a:t>0</a:t>
            </a:r>
            <a:r>
              <a:rPr sz="1700">
                <a:solidFill>
                  <a:srgbClr val="FBFCFD"/>
                </a:solidFill>
              </a:rPr>
              <a:t> de HIT es </a:t>
            </a:r>
            <a:r>
              <a:rPr sz="1700" b="1">
                <a:solidFill>
                  <a:srgbClr val="FBFCFD"/>
                </a:solidFill>
              </a:rPr>
              <a:t>un orden de magnitud menor</a:t>
            </a:r>
            <a:r>
              <a:rPr sz="1700">
                <a:solidFill>
                  <a:srgbClr val="FBFCFD"/>
                </a:solidFill>
              </a:rPr>
              <a:t> → menor recombinación → mayor V</a:t>
            </a:r>
            <a:r>
              <a:rPr sz="1300">
                <a:solidFill>
                  <a:srgbClr val="FBFCFD"/>
                </a:solidFill>
              </a:rPr>
              <a:t>oc</a:t>
            </a:r>
            <a:r>
              <a:rPr sz="1700">
                <a:solidFill>
                  <a:srgbClr val="FBFCFD"/>
                </a:solidFill>
              </a:rPr>
              <a:t> y mejor tolerancia térmica.</a:t>
            </a:r>
          </a:p>
          <a:p>
            <a:pPr algn="l">
              <a:lnSpc>
                <a:spcPct val="115000"/>
              </a:lnSpc>
            </a:pPr>
            <a:r>
              <a:rPr sz="1700">
                <a:solidFill>
                  <a:srgbClr val="FBFCFD"/>
                </a:solidFill>
              </a:rPr>
              <a:t>• R</a:t>
            </a:r>
            <a:r>
              <a:rPr sz="1300">
                <a:solidFill>
                  <a:srgbClr val="FBFCFD"/>
                </a:solidFill>
              </a:rPr>
              <a:t>sh</a:t>
            </a:r>
            <a:r>
              <a:rPr sz="1700">
                <a:solidFill>
                  <a:srgbClr val="FBFCFD"/>
                </a:solidFill>
              </a:rPr>
              <a:t> de HIT ~74 % mayor → menos fugas a baja irradiancia.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Simulación Anual y Performance Ratio (Fase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Cálculo de la producción eléctrica anual:</a:t>
            </a:r>
            <a:r>
              <a:rPr sz="1700">
                <a:solidFill>
                  <a:srgbClr val="FBFCFD"/>
                </a:solidFill>
              </a:rPr>
              <a:t> Con los parámetros calibrados, se evalúa el modelo para cada uno de los registros del año 2026. A partir de la irradiancia y temperatura de celda de cada instante, se escala el circuito de un diodo y se resuelve analíticamente la potencia útil máxima (Pmp). Finalmente, la energía anual integrada se compara con el rendimiento ideal para obtener el Performance Ratio (PR).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Distribución de Temperatura de Celda (HIT)</a:t>
            </a:r>
          </a:p>
        </p:txBody>
      </p:sp>
      <p:pic>
        <p:nvPicPr>
          <p:cNvPr id="8" name="Picture 7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Picos Térmicos Extremos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BFCFD"/>
                </a:solidFill>
              </a:rPr>
              <a:t>65–73 °C de operación recurrente</a:t>
            </a:r>
            <a:r>
              <a:rPr sz="1750">
                <a:solidFill>
                  <a:srgbClr val="FBFCFD"/>
                </a:solidFill>
              </a:rPr>
              <a:t> al mediodía solar de verano (HIT: 461 registros sobre 65 °C).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Estrés térmico evidenciado:</a:t>
            </a:r>
            <a:r>
              <a:rPr sz="1700">
                <a:solidFill>
                  <a:srgbClr val="FBFCFD"/>
                </a:solidFill>
              </a:rPr>
              <a:t> la simulación 5-minutal revela operación sostenida muy por encima de los 25 °C de STC.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Enfriamiento convectivo limitado:</a:t>
            </a:r>
            <a:r>
              <a:rPr sz="1700">
                <a:solidFill>
                  <a:srgbClr val="FBFCFD"/>
                </a:solidFill>
              </a:rPr>
              <a:t> viento de 1 m/s en SAPM [King et al., 2004] modela el escenario de mayor estrés físico.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Consecuencia en voltaje [De Soto et al., 2006]:</a:t>
            </a:r>
            <a:r>
              <a:rPr sz="1700">
                <a:solidFill>
                  <a:srgbClr val="FBFCFD"/>
                </a:solidFill>
              </a:rPr>
              <a:t> el calentamiento eleva I</a:t>
            </a:r>
            <a:r>
              <a:rPr sz="1300">
                <a:solidFill>
                  <a:srgbClr val="FBFCFD"/>
                </a:solidFill>
              </a:rPr>
              <a:t>0</a:t>
            </a:r>
            <a:r>
              <a:rPr sz="1700">
                <a:solidFill>
                  <a:srgbClr val="FBFCFD"/>
                </a:solidFill>
              </a:rPr>
              <a:t> exponencialmente, deprimiendo V</a:t>
            </a:r>
            <a:r>
              <a:rPr sz="1300">
                <a:solidFill>
                  <a:srgbClr val="FBFCFD"/>
                </a:solidFill>
              </a:rPr>
              <a:t>oc</a:t>
            </a:r>
            <a:r>
              <a:rPr sz="1700">
                <a:solidFill>
                  <a:srgbClr val="FBFCFD"/>
                </a:solidFill>
              </a:rPr>
              <a:t> y la potencia útil.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 medida vs simulada (HIT, mismas condiciones)</a:t>
            </a:r>
          </a:p>
        </p:txBody>
      </p:sp>
      <p:pic>
        <p:nvPicPr>
          <p:cNvPr id="8" name="Picture 7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BFCFD"/>
                </a:solidFill>
              </a:rPr>
              <a:t>R² ≈ 0.99</a:t>
            </a:r>
            <a:r>
              <a:rPr sz="1750">
                <a:solidFill>
                  <a:srgbClr val="FBFCFD"/>
                </a:solidFill>
              </a:rPr>
              <a:t>  |  RMSE ≈ 3 % de P</a:t>
            </a:r>
            <a:r>
              <a:rPr sz="1350">
                <a:solidFill>
                  <a:srgbClr val="FBFCFD"/>
                </a:solidFill>
              </a:rPr>
              <a:t>STC</a:t>
            </a:r>
            <a:r>
              <a:rPr sz="1750">
                <a:solidFill>
                  <a:srgbClr val="FBFCFD"/>
                </a:solidFill>
              </a:rPr>
              <a:t> (1.5 W m-Si · 6.7 W HIT).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valida exactamente este gráfico?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Misma meteorología:</a:t>
            </a:r>
            <a:r>
              <a:rPr sz="1700">
                <a:solidFill>
                  <a:srgbClr val="FBFCFD"/>
                </a:solidFill>
              </a:rPr>
              <a:t> cada punto compara la P</a:t>
            </a:r>
            <a:r>
              <a:rPr sz="1300">
                <a:solidFill>
                  <a:srgbClr val="FBFCFD"/>
                </a:solidFill>
              </a:rPr>
              <a:t>mp</a:t>
            </a:r>
            <a:r>
              <a:rPr sz="1700">
                <a:solidFill>
                  <a:srgbClr val="FBFCFD"/>
                </a:solidFill>
              </a:rPr>
              <a:t> </a:t>
            </a:r>
            <a:r>
              <a:rPr sz="1700" b="1">
                <a:solidFill>
                  <a:srgbClr val="FBFCFD"/>
                </a:solidFill>
              </a:rPr>
              <a:t>medida</a:t>
            </a:r>
            <a:r>
              <a:rPr sz="1700">
                <a:solidFill>
                  <a:srgbClr val="FBFCFD"/>
                </a:solidFill>
              </a:rPr>
              <a:t> por el trazador NREL con la </a:t>
            </a:r>
            <a:r>
              <a:rPr sz="1700" b="1">
                <a:solidFill>
                  <a:srgbClr val="FBFCFD"/>
                </a:solidFill>
              </a:rPr>
              <a:t>simulada</a:t>
            </a:r>
            <a:r>
              <a:rPr sz="1700">
                <a:solidFill>
                  <a:srgbClr val="FBFCFD"/>
                </a:solidFill>
              </a:rPr>
              <a:t> por el SDM bajo el mismo G y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del instante — no es una comparación entre sitios.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Fidelidad del circuito:</a:t>
            </a:r>
            <a:r>
              <a:rPr sz="1700">
                <a:solidFill>
                  <a:srgbClr val="FBFCFD"/>
                </a:solidFill>
              </a:rPr>
              <a:t> R² ≈ 0.99 confirma que los 5 parámetros extraídos reproducen el comportamiento eléctrico real en todo el rango.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Zonas de discrepancia:</a:t>
            </a:r>
            <a:r>
              <a:rPr sz="1700">
                <a:solidFill>
                  <a:srgbClr val="FBFCFD"/>
                </a:solidFill>
              </a:rPr>
              <a:t> leve dispersión a baja irradiancia por la idealización empírica de R</a:t>
            </a:r>
            <a:r>
              <a:rPr sz="1300">
                <a:solidFill>
                  <a:srgbClr val="FBFCFD"/>
                </a:solidFill>
              </a:rPr>
              <a:t>sh</a:t>
            </a:r>
            <a:r>
              <a:rPr sz="1700">
                <a:solidFill>
                  <a:srgbClr val="FBFCFD"/>
                </a:solidFill>
              </a:rPr>
              <a:t> ∝ 1/G.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Puntos Conflictivos — Acoplamiento R</a:t>
            </a:r>
            <a:r>
              <a:rPr sz="2100" b="1">
                <a:solidFill>
                  <a:srgbClr val="F1C40F"/>
                </a:solidFill>
              </a:rPr>
              <a:t>s</a:t>
            </a:r>
            <a:r>
              <a:rPr sz="2500" b="1">
                <a:solidFill>
                  <a:srgbClr val="F1C40F"/>
                </a:solidFill>
              </a:rPr>
              <a:t> – 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Acoplamiento R</a:t>
            </a:r>
            <a:r>
              <a:rPr sz="1400" b="1">
                <a:solidFill>
                  <a:srgbClr val="F1C40F"/>
                </a:solidFill>
              </a:rPr>
              <a:t>s</a:t>
            </a:r>
            <a:r>
              <a:rPr sz="1800" b="1">
                <a:solidFill>
                  <a:srgbClr val="F1C40F"/>
                </a:solidFill>
              </a:rPr>
              <a:t> – factor de idealidad (n)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Alta correlación paramétrica [De Soto et al., 2006]:</a:t>
            </a:r>
            <a:r>
              <a:rPr sz="1700">
                <a:solidFill>
                  <a:srgbClr val="FBFCFD"/>
                </a:solidFill>
              </a:rPr>
              <a:t> R</a:t>
            </a:r>
            <a:r>
              <a:rPr sz="1300">
                <a:solidFill>
                  <a:srgbClr val="FBFCFD"/>
                </a:solidFill>
              </a:rPr>
              <a:t>s</a:t>
            </a:r>
            <a:r>
              <a:rPr sz="1700">
                <a:solidFill>
                  <a:srgbClr val="FBFCFD"/>
                </a:solidFill>
              </a:rPr>
              <a:t> y n influyen de manera similar en la curvatura de la I-V cerca del MPP.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Problema mal condicionado:</a:t>
            </a:r>
            <a:r>
              <a:rPr sz="1700">
                <a:solidFill>
                  <a:srgbClr val="FBFCFD"/>
                </a:solidFill>
              </a:rPr>
              <a:t> múltiples pares (R</a:t>
            </a:r>
            <a:r>
              <a:rPr sz="1300">
                <a:solidFill>
                  <a:srgbClr val="FBFCFD"/>
                </a:solidFill>
              </a:rPr>
              <a:t>s</a:t>
            </a:r>
            <a:r>
              <a:rPr sz="1700">
                <a:solidFill>
                  <a:srgbClr val="FBFCFD"/>
                </a:solidFill>
              </a:rPr>
              <a:t>, n) logran un residuo mínimo casi idéntico, perdiendo significado físico.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Mitigación aplicada:</a:t>
            </a:r>
            <a:r>
              <a:rPr sz="1700">
                <a:solidFill>
                  <a:srgbClr val="FBFCFD"/>
                </a:solidFill>
              </a:rPr>
              <a:t> bounds estrictos en el optimizador — R</a:t>
            </a:r>
            <a:r>
              <a:rPr sz="1300">
                <a:solidFill>
                  <a:srgbClr val="FBFCFD"/>
                </a:solidFill>
              </a:rPr>
              <a:t>s</a:t>
            </a:r>
            <a:r>
              <a:rPr sz="1700">
                <a:solidFill>
                  <a:srgbClr val="FBFCFD"/>
                </a:solidFill>
              </a:rPr>
              <a:t> ∈ [0.001, 2] Ω y n ∈ [1.0, 2.0] — más inicialización analítica. Esto evita converger a soluciones matemáticamente correctas pero físicamente imposibles.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sh</a:t>
            </a:r>
            <a:r>
              <a:rPr sz="1700" b="1">
                <a:solidFill>
                  <a:srgbClr val="FBFCFD"/>
                </a:solidFill>
              </a:rPr>
              <a:t> e irradiancia:</a:t>
            </a:r>
            <a:r>
              <a:rPr sz="1700">
                <a:solidFill>
                  <a:srgbClr val="FBFCFD"/>
                </a:solidFill>
              </a:rPr>
              <a:t> la relación R</a:t>
            </a:r>
            <a:r>
              <a:rPr sz="1300">
                <a:solidFill>
                  <a:srgbClr val="FBFCFD"/>
                </a:solidFill>
              </a:rPr>
              <a:t>sh</a:t>
            </a:r>
            <a:r>
              <a:rPr sz="1700">
                <a:solidFill>
                  <a:srgbClr val="FBFCFD"/>
                </a:solidFill>
              </a:rPr>
              <a:t> = R</a:t>
            </a:r>
            <a:r>
              <a:rPr sz="1300">
                <a:solidFill>
                  <a:srgbClr val="FBFCFD"/>
                </a:solidFill>
              </a:rPr>
              <a:t>sh,ref</a:t>
            </a:r>
            <a:r>
              <a:rPr sz="1700">
                <a:solidFill>
                  <a:srgbClr val="FBFCFD"/>
                </a:solidFill>
              </a:rPr>
              <a:t>·(S</a:t>
            </a:r>
            <a:r>
              <a:rPr sz="1300">
                <a:solidFill>
                  <a:srgbClr val="FBFCFD"/>
                </a:solidFill>
              </a:rPr>
              <a:t>ref</a:t>
            </a:r>
            <a:r>
              <a:rPr sz="1700">
                <a:solidFill>
                  <a:srgbClr val="FBFCFD"/>
                </a:solidFill>
              </a:rPr>
              <a:t>/S) es empírica; a muy baja irradiancia puede sobreestimar la resistencia. Impacto: despreciable en el PR anual.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</a:t>
            </a:r>
            <a:r>
              <a:rPr sz="1700" b="1">
                <a:solidFill>
                  <a:srgbClr val="FBFCFD"/>
                </a:solidFill>
              </a:rPr>
              <a:t> constante con la temperatura:</a:t>
            </a:r>
            <a:r>
              <a:rPr sz="1700">
                <a:solidFill>
                  <a:srgbClr val="FBFCFD"/>
                </a:solidFill>
              </a:rPr>
              <a:t> ignora el cambio de resistividad del semiconductor con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. De Soto (2006) validó errores de potencia &lt; 2 % frente a datos NIST.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Bandgap lineal con la temperatura:</a:t>
            </a:r>
            <a:r>
              <a:rPr sz="1700">
                <a:solidFill>
                  <a:srgbClr val="FBFCFD"/>
                </a:solidFill>
              </a:rPr>
              <a:t> se asume dE</a:t>
            </a:r>
            <a:r>
              <a:rPr sz="1300">
                <a:solidFill>
                  <a:srgbClr val="FBFCFD"/>
                </a:solidFill>
              </a:rPr>
              <a:t>g</a:t>
            </a:r>
            <a:r>
              <a:rPr sz="1700">
                <a:solidFill>
                  <a:srgbClr val="FBFCFD"/>
                </a:solidFill>
              </a:rPr>
              <a:t>/dT constante (−0.0002677 eV/K), simplificando la relación real de Varshni. Error inducido &lt; 1 % en el rango operacional (0–70 °C).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Pérdidas Térmicas y Degradación de Potencia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7665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492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Potencia normalizada vs Temperatura de Celda</a:t>
            </a:r>
          </a:p>
        </p:txBody>
      </p:sp>
      <p:pic>
        <p:nvPicPr>
          <p:cNvPr id="8" name="Picture 7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6941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1188720"/>
            <a:ext cx="45107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12801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de Temperatura (P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28800"/>
            <a:ext cx="41083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m-Si: </a:t>
            </a:r>
            <a:r>
              <a:rPr sz="1750" b="1">
                <a:solidFill>
                  <a:srgbClr val="FBFCFD"/>
                </a:solidFill>
              </a:rPr>
              <a:t>−0.40 %/°C</a:t>
            </a:r>
            <a:r>
              <a:rPr sz="1750">
                <a:solidFill>
                  <a:srgbClr val="FBFCFD"/>
                </a:solidFill>
              </a:rPr>
              <a:t> (pérdidas severas)</a:t>
            </a: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HIT: </a:t>
            </a:r>
            <a:r>
              <a:rPr sz="1750" b="1">
                <a:solidFill>
                  <a:srgbClr val="FBFCFD"/>
                </a:solidFill>
              </a:rPr>
              <a:t>−0.26 %/°C</a:t>
            </a:r>
            <a:r>
              <a:rPr sz="1750">
                <a:solidFill>
                  <a:srgbClr val="FBFCFD"/>
                </a:solidFill>
              </a:rPr>
              <a:t> (alta tolerancia)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788920"/>
            <a:ext cx="45107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8803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429000"/>
            <a:ext cx="41083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HIT (naranja):</a:t>
            </a:r>
            <a:r>
              <a:rPr sz="1700">
                <a:solidFill>
                  <a:srgbClr val="FBFCFD"/>
                </a:solidFill>
              </a:rPr>
              <a:t> pendiente térmica suave — preserva alta conversión incluso a 65 °C.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m-Si (azul):</a:t>
            </a:r>
            <a:r>
              <a:rPr sz="1700">
                <a:solidFill>
                  <a:srgbClr val="FBFCFD"/>
                </a:solidFill>
              </a:rPr>
              <a:t> descenso pronunciado que penaliza la potencia justo al mediodía solar (máxima irradiancia).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Consecuencia:</a:t>
            </a:r>
            <a:r>
              <a:rPr sz="1700">
                <a:solidFill>
                  <a:srgbClr val="FBFCFD"/>
                </a:solidFill>
              </a:rPr>
              <a:t> esta divergencia térmica explica mecánicamente la brecha de PR anual entre tecnologías (Anexo VII, Lám. 35).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Veredicto Técnico —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86.92 %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84.9–89.4 %)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84.53 %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m-Si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82.0–88.0 %)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5592927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62072"/>
            <a:ext cx="559292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+2.39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502152"/>
            <a:ext cx="548319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ventaja neta de HIT en PR anual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89120"/>
            <a:ext cx="5592927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389120"/>
            <a:ext cx="73152" cy="1783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4805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técnica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29200"/>
            <a:ext cx="5190591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El menor coeficiente térmico de HIT (−0.26 vs −0.40 %/°C) protege la potencia justo cuando el recurso es máximo: el mediodía desértico.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comparativo (2026)</a:t>
            </a:r>
          </a:p>
        </p:txBody>
      </p:sp>
      <p:pic>
        <p:nvPicPr>
          <p:cNvPr id="21" name="Picture 20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377440"/>
            <a:ext cx="534924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Lectura Económica (Planta de 100 MWp)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~6,000 MWh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energía adicional anual de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(recurso escalado a Atacama)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7258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7258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+USD 270k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2122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facturación neta anual extra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(a 45 USD/MWh)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8756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8756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~3,300 MWh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620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escenario conservador con el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recurso simulado sin escalar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Supuestos explícitos del cálculo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Recurso escalado:</a:t>
            </a:r>
            <a:r>
              <a:rPr sz="1800">
                <a:solidFill>
                  <a:srgbClr val="FBFCFD"/>
                </a:solidFill>
              </a:rPr>
              <a:t> POA ≈ 2,500 kWh/m²·año en Atacama (el recurso simulado conserva magnitudes de Florida: 1,363–1,422 kWh/m²·año).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ΔPR +2.39 pts → ≈ +60 kWh/kWp·año → </a:t>
            </a:r>
            <a:r>
              <a:rPr sz="1800" b="1">
                <a:solidFill>
                  <a:srgbClr val="FBFCFD"/>
                </a:solidFill>
              </a:rPr>
              <a:t>~6,000 MWh</a:t>
            </a:r>
            <a:r>
              <a:rPr sz="1800">
                <a:solidFill>
                  <a:srgbClr val="FBFCFD"/>
                </a:solidFill>
              </a:rPr>
              <a:t> en 100 MWp.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Precio de venta ≈ 45 USD/MWh → </a:t>
            </a:r>
            <a:r>
              <a:rPr sz="1800" b="1">
                <a:solidFill>
                  <a:srgbClr val="FBFCFD"/>
                </a:solidFill>
              </a:rPr>
              <a:t>~USD 270k/año</a:t>
            </a:r>
            <a:r>
              <a:rPr sz="18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83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Conclusión de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La prima CAPEX de los módulos HIT se </a:t>
            </a:r>
            <a:r>
              <a:rPr sz="1800" b="1">
                <a:solidFill>
                  <a:srgbClr val="FBFCFD"/>
                </a:solidFill>
              </a:rPr>
              <a:t>amortiza con holgura</a:t>
            </a:r>
            <a:r>
              <a:rPr sz="1800">
                <a:solidFill>
                  <a:srgbClr val="FBFCFD"/>
                </a:solidFill>
              </a:rPr>
              <a:t> en plantas desérticas de alta irradiancia y temperatura.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El beneficio crece con el recurso: a mayor POA real, mayor el valor absoluto de cada punto de PR.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Cifras conservadoras: sin escalar el recurso, ~3,300 MWh y ~USD 150k/año siguen favoreciendo a HIT.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Limitaciones del Estudio y Alcance de Validez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Magnitudes de Florida:</a:t>
            </a:r>
            <a:r>
              <a:rPr sz="1750">
                <a:solidFill>
                  <a:srgbClr val="FBFCFD"/>
                </a:solidFill>
              </a:rPr>
              <a:t> la emulación alinea estaciones y geometría solar, pero la irradiancia, temperatura y humedad conservan los valores medidos en Cocoa (POA anual ≈ 1,400 kWh/m² vs ≳2,500 esperables en Atacama). La comparación m-Si vs HIT es válida; los valores absolutos de energía son conservadores.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Cobertura temporal:</a:t>
            </a:r>
            <a:r>
              <a:rPr sz="1750">
                <a:solidFill>
                  <a:srgbClr val="FBFCFD"/>
                </a:solidFill>
              </a:rPr>
              <a:t> cadencia 5 min, solo horas de sol; julio–septiembre 2026 promedian dos veranos (2011 y 2012).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α</a:t>
            </a:r>
            <a:r>
              <a:rPr sz="1350" b="1">
                <a:solidFill>
                  <a:srgbClr val="FBFCFD"/>
                </a:solidFill>
              </a:rPr>
              <a:t>Isc</a:t>
            </a:r>
            <a:r>
              <a:rPr sz="1750" b="1">
                <a:solidFill>
                  <a:srgbClr val="FBFCFD"/>
                </a:solidFill>
              </a:rPr>
              <a:t> de literatura:</a:t>
            </a:r>
            <a:r>
              <a:rPr sz="1750">
                <a:solidFill>
                  <a:srgbClr val="FBFCFD"/>
                </a:solidFill>
              </a:rPr>
              <a:t> la regresión experimental falló (espectro/estacionalidad) y se usó +0.05 %/°C — impacto menor: la corriente domina por G, no por 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Sin pérdidas ópticas/espectrales:</a:t>
            </a:r>
            <a:r>
              <a:rPr sz="1750">
                <a:solidFill>
                  <a:srgbClr val="FBFCFD"/>
                </a:solidFill>
              </a:rPr>
              <a:t> IAM y corrección AM revisados pero no aplicados (Anexo II, Lám. 30) — su omisión sobreestima levemente la energía en ángulos rasantes (amanecer/ocaso).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Albedo fijo 0.25</a:t>
            </a:r>
            <a:r>
              <a:rPr sz="1750">
                <a:solidFill>
                  <a:srgbClr val="FBFCFD"/>
                </a:solidFill>
              </a:rPr>
              <a:t> (default pvlib) y </a:t>
            </a:r>
            <a:r>
              <a:rPr sz="1750" b="1">
                <a:solidFill>
                  <a:srgbClr val="FBFCFD"/>
                </a:solidFill>
              </a:rPr>
              <a:t>viento fijo 1 m/s</a:t>
            </a:r>
            <a:r>
              <a:rPr sz="1750">
                <a:solidFill>
                  <a:srgbClr val="FBFCFD"/>
                </a:solidFill>
              </a:rPr>
              <a:t> — escenario térmico conservador.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P</a:t>
            </a:r>
            <a:r>
              <a:rPr sz="1350" b="1">
                <a:solidFill>
                  <a:srgbClr val="FBFCFD"/>
                </a:solidFill>
              </a:rPr>
              <a:t>STC</a:t>
            </a:r>
            <a:r>
              <a:rPr sz="1750" b="1">
                <a:solidFill>
                  <a:srgbClr val="FBFCFD"/>
                </a:solidFill>
              </a:rPr>
              <a:t> del SDM</a:t>
            </a:r>
            <a:r>
              <a:rPr sz="1750">
                <a:solidFill>
                  <a:srgbClr val="FBFCFD"/>
                </a:solidFill>
              </a:rPr>
              <a:t> (50.2 / 236.7 W) difiere ~7–9 % del promedio empírico medido (46.7 / 217.5 W): el denominador del PR usa el primero, criterio consistente entre ambas tecnologías.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Sin soiling ni mismatch:</a:t>
            </a:r>
            <a:r>
              <a:rPr sz="1750">
                <a:solidFill>
                  <a:srgbClr val="FBFCFD"/>
                </a:solidFill>
              </a:rPr>
              <a:t> pérdidas de planta real no modeladas — el PR aquí es un PR de módulo, no de planta.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1. </a:t>
            </a:r>
            <a:r>
              <a:rPr sz="1750" b="1">
                <a:solidFill>
                  <a:srgbClr val="FBFCFD"/>
                </a:solidFill>
              </a:rPr>
              <a:t>Fidelidad metodológica:</a:t>
            </a:r>
            <a:r>
              <a:rPr sz="1750">
                <a:solidFill>
                  <a:srgbClr val="FBFCFD"/>
                </a:solidFill>
              </a:rPr>
              <a:t> la emulación geográfica por traslación temporal (+6 meses, año 2026) mantuvo coherencia física de solsticios y permitió simular Atacama con datos experimentales reales.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2. </a:t>
            </a:r>
            <a:r>
              <a:rPr sz="1750" b="1">
                <a:solidFill>
                  <a:srgbClr val="FBFCFD"/>
                </a:solidFill>
              </a:rPr>
              <a:t>Pipeline de datos robusto:</a:t>
            </a:r>
            <a:r>
              <a:rPr sz="1750">
                <a:solidFill>
                  <a:srgbClr val="FBFCFD"/>
                </a:solidFill>
              </a:rPr>
              <a:t> la ingesta en streaming resolvió archivos irregulares de ~110 MB conservando el 97 % de los registros.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3. </a:t>
            </a:r>
            <a:r>
              <a:rPr sz="1750" b="1">
                <a:solidFill>
                  <a:srgbClr val="FBFCFD"/>
                </a:solidFill>
              </a:rPr>
              <a:t>Ajuste robusto:</a:t>
            </a:r>
            <a:r>
              <a:rPr sz="1750">
                <a:solidFill>
                  <a:srgbClr val="FBFCFD"/>
                </a:solidFill>
              </a:rPr>
              <a:t> el SDM de 5 parámetros reprodujo la potencia medida con R² ≈ 0.99 y RMSE ≈ 3 % de P</a:t>
            </a:r>
            <a:r>
              <a:rPr sz="1350">
                <a:solidFill>
                  <a:srgbClr val="FBFCFD"/>
                </a:solidFill>
              </a:rPr>
              <a:t>STC</a:t>
            </a:r>
            <a:r>
              <a:rPr sz="17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4. </a:t>
            </a:r>
            <a:r>
              <a:rPr sz="1750" b="1">
                <a:solidFill>
                  <a:srgbClr val="FBFCFD"/>
                </a:solidFill>
              </a:rPr>
              <a:t>HIT vencedor:</a:t>
            </a:r>
            <a:r>
              <a:rPr sz="1750">
                <a:solidFill>
                  <a:srgbClr val="FBFCFD"/>
                </a:solidFill>
              </a:rPr>
              <a:t> +2.39 puntos de PR anual (86.92 % vs 84.53 %) por su menor coeficiente térmico — técnicamente superior para plantas desérticas de alta irradiancia y temperatura.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Aplicar IAM y corrección espectral AM</a:t>
            </a:r>
            <a:r>
              <a:rPr sz="1750">
                <a:solidFill>
                  <a:srgbClr val="FBFCFD"/>
                </a:solidFill>
              </a:rPr>
              <a:t> ya documentados (Anexo II, Lám. 30), cerrando la brecha óptica del pipeline actual.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Escalar el recurso a magnitudes de Atacama</a:t>
            </a:r>
            <a:r>
              <a:rPr sz="1750">
                <a:solidFill>
                  <a:srgbClr val="FBFCFD"/>
                </a:solidFill>
              </a:rPr>
              <a:t> (TMY local o Explorador Solar) manteniendo la validación eléctrica con datos NREL.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Bifacialidad:</a:t>
            </a:r>
            <a:r>
              <a:rPr sz="1750">
                <a:solidFill>
                  <a:srgbClr val="FBFCFD"/>
                </a:solidFill>
              </a:rPr>
              <a:t> aporte del albedo desértico (ρ &gt; 0.25) en la cara posterior.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Soiling desértico:</a:t>
            </a:r>
            <a:r>
              <a:rPr sz="1750">
                <a:solidFill>
                  <a:srgbClr val="FBFCFD"/>
                </a:solidFill>
              </a:rPr>
              <a:t> acumulación de polvo, factor crítico de pérdida en Atacama.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Modelo de doble diodo:</a:t>
            </a:r>
            <a:r>
              <a:rPr sz="1750">
                <a:solidFill>
                  <a:srgbClr val="FBFCFD"/>
                </a:solidFill>
              </a:rPr>
              <a:t> capturar recombinación no ideal a baja irradiancia.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11057839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80, 78–88.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2. King, D.L., Boyson, W.E., Kratochvil, J.A. (2004). "Photovoltaic Array Performance Model." Sandia Report SAND2004-3535.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3. Marion, B. et al. (2014). "New Data Set for Validating PV Module Performance Models." NREL/CP-5J00-61610 — origen del dataset Cocoa.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4. Perez, R. et al. (1990). "Modeling daylight availability and irradiance components from direct and global irradiance." Solar Energy 44(5), 271–289.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5. Holmgren, W.F., Hansen, C.W., Mikofski, M.A. (2018). "pvlib python: a python package for modeling solar energy systems." JOSS 3(29), 884.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6. IEC 61724-1 — Photovoltaic system performance, Part 1: Monitoring.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I: Transposición de Irradiancia al Plano del Arreglo (Perez)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Forma general de transposición POA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51905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Irradiancia incidente total en el plano inclinado del panel:</a:t>
            </a:r>
          </a:p>
        </p:txBody>
      </p:sp>
      <p:pic>
        <p:nvPicPr>
          <p:cNvPr id="9" name="Picture 8" descr="eq_34a27fedfee7a2c2a78d0d77e51fe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5212080" cy="4409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29184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Donde: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G</a:t>
            </a:r>
            <a:r>
              <a:rPr sz="1400">
                <a:solidFill>
                  <a:srgbClr val="F1C40F"/>
                </a:solidFill>
              </a:rPr>
              <a:t>b</a:t>
            </a:r>
            <a:r>
              <a:rPr sz="1800">
                <a:solidFill>
                  <a:srgbClr val="F1C40F"/>
                </a:solidFill>
              </a:rPr>
              <a:t> / G</a:t>
            </a:r>
            <a:r>
              <a:rPr sz="1400">
                <a:solidFill>
                  <a:srgbClr val="F1C40F"/>
                </a:solidFill>
              </a:rPr>
              <a:t>d</a:t>
            </a:r>
            <a:r>
              <a:rPr sz="1800">
                <a:solidFill>
                  <a:srgbClr val="F1C40F"/>
                </a:solidFill>
              </a:rPr>
              <a:t> / G: irradiancia directa, difusa y global (W/m²).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β: inclinación del panel = 22.91° (latitud del sitio).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ρ: albedo = 0.25 (default </a:t>
            </a:r>
            <a:r>
              <a:rPr sz="1700">
                <a:solidFill>
                  <a:srgbClr val="7FDBFF"/>
                </a:solidFill>
                <a:latin typeface="Consolas"/>
              </a:rPr>
              <a:t>pvlib</a:t>
            </a:r>
            <a:r>
              <a:rPr sz="1800">
                <a:solidFill>
                  <a:srgbClr val="F1C40F"/>
                </a:solidFill>
              </a:rPr>
              <a:t>, suelo genérico).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R</a:t>
            </a:r>
            <a:r>
              <a:rPr sz="1400">
                <a:solidFill>
                  <a:srgbClr val="F1C40F"/>
                </a:solidFill>
              </a:rPr>
              <a:t>beam</a:t>
            </a:r>
            <a:r>
              <a:rPr sz="1800">
                <a:solidFill>
                  <a:srgbClr val="F1C40F"/>
                </a:solidFill>
              </a:rPr>
              <a:t>: factor geométrico de transposición directa.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G</a:t>
            </a:r>
            <a:r>
              <a:rPr sz="1400">
                <a:solidFill>
                  <a:srgbClr val="F1C40F"/>
                </a:solidFill>
              </a:rPr>
              <a:t>d,perez</a:t>
            </a:r>
            <a:r>
              <a:rPr sz="1800">
                <a:solidFill>
                  <a:srgbClr val="F1C40F"/>
                </a:solidFill>
              </a:rPr>
              <a:t>: difusa anisotrópica de Perez (circumsolar +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  brillo de horizonte), evaluada por </a:t>
            </a:r>
            <a:r>
              <a:rPr sz="170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80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Implementación en el código (Fase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location.get_solarposition(times)</a:t>
            </a:r>
            <a:r>
              <a:rPr sz="1800">
                <a:solidFill>
                  <a:srgbClr val="FBFCFD"/>
                </a:solidFill>
              </a:rPr>
              <a:t> → cenit y azimut aparentes del sol minuto de medición a medición.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irradiance.get_extra_radiation(times)</a:t>
            </a:r>
            <a:r>
              <a:rPr sz="1800">
                <a:solidFill>
                  <a:srgbClr val="FBFCFD"/>
                </a:solidFill>
              </a:rPr>
              <a:t> → irradiancia extraterrestre para el modelo anisotrópico.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irradiance.get_total_irradiance(tilt, az, dni, ghi, dhi, ..., model='perez')</a:t>
            </a:r>
            <a:r>
              <a:rPr sz="1800">
                <a:solidFill>
                  <a:srgbClr val="FBFCFD"/>
                </a:solidFill>
              </a:rPr>
              <a:t> → componente directa + difusa Perez + reflejada.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Salida: </a:t>
            </a:r>
            <a:r>
              <a:rPr sz="1700">
                <a:solidFill>
                  <a:srgbClr val="7FDBFF"/>
                </a:solidFill>
                <a:latin typeface="Consolas"/>
              </a:rPr>
              <a:t>poa_global</a:t>
            </a:r>
            <a:r>
              <a:rPr sz="1800">
                <a:solidFill>
                  <a:srgbClr val="FBFCFD"/>
                </a:solidFill>
              </a:rPr>
              <a:t> con </a:t>
            </a:r>
            <a:r>
              <a:rPr sz="1700">
                <a:solidFill>
                  <a:srgbClr val="7FDBFF"/>
                </a:solidFill>
                <a:latin typeface="Consolas"/>
              </a:rPr>
              <a:t>clip(≥0)</a:t>
            </a:r>
            <a:r>
              <a:rPr sz="1800">
                <a:solidFill>
                  <a:srgbClr val="FBFCFD"/>
                </a:solidFill>
              </a:rPr>
              <a:t>, usada como irradiancia efectiva del SDM (sin modificadores ópticos — ver Anexo II).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II: Marco NO Aplicado — Modificadores Ópticos (IAM y 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023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pic>
        <p:nvPicPr>
          <p:cNvPr id="8" name="Picture 7" descr="eq_6d1f128b42756e4b62f3832c66bdf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1508760" cy="502920"/>
          </a:xfrm>
          <a:prstGeom prst="rect">
            <a:avLst/>
          </a:prstGeom>
        </p:spPr>
      </p:pic>
      <p:pic>
        <p:nvPicPr>
          <p:cNvPr id="9" name="Picture 8" descr="eq_05c0d40bcefca9e6b7f6d6b4747f15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6040"/>
            <a:ext cx="5120640" cy="5304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Ley de Snell y Bouguer [King et al., 2004]: θ</a:t>
            </a:r>
            <a:r>
              <a:rPr sz="1250">
                <a:solidFill>
                  <a:srgbClr val="F1C40F"/>
                </a:solidFill>
              </a:rPr>
              <a:t>r</a:t>
            </a:r>
            <a:r>
              <a:rPr sz="1650">
                <a:solidFill>
                  <a:srgbClr val="F1C40F"/>
                </a:solidFill>
              </a:rPr>
              <a:t> = arcsin(sin θ / n), con n = 1.526 (vidrio), K = 4 m⁻¹, L = 2 mm.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0233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Espectral por Masa de Aire (AM)</a:t>
            </a:r>
          </a:p>
        </p:txBody>
      </p:sp>
      <p:pic>
        <p:nvPicPr>
          <p:cNvPr id="14" name="Picture 13" descr="eq_8c47f14bda4c8f75af6f3f5dbfb9d5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7" y="1920240"/>
            <a:ext cx="5120640" cy="381646"/>
          </a:xfrm>
          <a:prstGeom prst="rect">
            <a:avLst/>
          </a:prstGeom>
        </p:spPr>
      </p:pic>
      <p:pic>
        <p:nvPicPr>
          <p:cNvPr id="15" name="Picture 14" descr="eq_7f75a176eace2517bd6e8174171b3b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2651760"/>
            <a:ext cx="4864666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4175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Corrige el desajuste espectral según la atmósfera atravesada; a</a:t>
            </a:r>
            <a:r>
              <a:rPr sz="1250">
                <a:solidFill>
                  <a:srgbClr val="F1C40F"/>
                </a:solidFill>
              </a:rPr>
              <a:t>0</a:t>
            </a:r>
            <a:r>
              <a:rPr sz="1650">
                <a:solidFill>
                  <a:srgbClr val="F1C40F"/>
                </a:solidFill>
              </a:rPr>
              <a:t>…a</a:t>
            </a:r>
            <a:r>
              <a:rPr sz="1250">
                <a:solidFill>
                  <a:srgbClr val="F1C40F"/>
                </a:solidFill>
              </a:rPr>
              <a:t>4</a:t>
            </a:r>
            <a:r>
              <a:rPr sz="1650">
                <a:solidFill>
                  <a:srgbClr val="F1C40F"/>
                </a:solidFill>
              </a:rPr>
              <a:t> son coeficientes empíricos de cada celda [King et al., 2004].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30352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4009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Estado en este estudio:</a:t>
            </a:r>
            <a:r>
              <a:rPr sz="1700">
                <a:solidFill>
                  <a:srgbClr val="FBFCFD"/>
                </a:solidFill>
              </a:rPr>
              <a:t> ecuaciones revisadas en la literatura pero </a:t>
            </a:r>
            <a:r>
              <a:rPr sz="1700" b="1">
                <a:solidFill>
                  <a:srgbClr val="FBFCFD"/>
                </a:solidFill>
              </a:rPr>
              <a:t>no ejecutadas por el pipeline</a:t>
            </a:r>
            <a:r>
              <a:rPr sz="1700">
                <a:solidFill>
                  <a:srgbClr val="FBFCFD"/>
                </a:solidFill>
              </a:rPr>
              <a:t> (la POA de Perez ingresa directa al SDM). Su incorporación es la primera propuesta de trabajo futuro — la omisión sobreestima levemente la energía en ángulos de incidencia rasantes.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La temperatura de la celda se modela a partir del equilibrio térmico dinámico:</a:t>
            </a:r>
          </a:p>
        </p:txBody>
      </p:sp>
      <p:pic>
        <p:nvPicPr>
          <p:cNvPr id="9" name="Picture 8" descr="eq_704d169f7e3e195596ba91234cd748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48840"/>
            <a:ext cx="5486400" cy="5593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 / T</a:t>
            </a:r>
            <a:r>
              <a:rPr sz="1400">
                <a:solidFill>
                  <a:srgbClr val="FBFCFD"/>
                </a:solidFill>
              </a:rPr>
              <a:t>a</a:t>
            </a:r>
            <a:r>
              <a:rPr sz="1800">
                <a:solidFill>
                  <a:srgbClr val="FBFCFD"/>
                </a:solidFill>
              </a:rPr>
              <a:t>: temperatura de celda y ambiente (°C).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G</a:t>
            </a:r>
            <a:r>
              <a:rPr sz="1400">
                <a:solidFill>
                  <a:srgbClr val="FBFCFD"/>
                </a:solidFill>
              </a:rPr>
              <a:t>poa</a:t>
            </a:r>
            <a:r>
              <a:rPr sz="1800">
                <a:solidFill>
                  <a:srgbClr val="FBFCFD"/>
                </a:solidFill>
              </a:rPr>
              <a:t>: irradiancia total en el plano del panel (W/m²).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v</a:t>
            </a:r>
            <a:r>
              <a:rPr sz="1400">
                <a:solidFill>
                  <a:srgbClr val="FBFCFD"/>
                </a:solidFill>
              </a:rPr>
              <a:t>w</a:t>
            </a:r>
            <a:r>
              <a:rPr sz="1800">
                <a:solidFill>
                  <a:srgbClr val="FBFCFD"/>
                </a:solidFill>
              </a:rPr>
              <a:t>: velocidad de viento (fijada en 1 m/s).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a, b, ΔT: parámetros empíricos del encapsulado/montaje.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m-Si — </a:t>
            </a:r>
            <a:r>
              <a:rPr sz="1700">
                <a:solidFill>
                  <a:srgbClr val="7FDBFF"/>
                </a:solidFill>
                <a:latin typeface="Consolas"/>
              </a:rPr>
              <a:t>open_rack_glass_polymer</a:t>
            </a:r>
            <a:r>
              <a:rPr sz="1800">
                <a:solidFill>
                  <a:srgbClr val="FBFCFD"/>
                </a:solidFill>
              </a:rPr>
              <a:t>: a = −3.56 · b = −0.075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HIT — </a:t>
            </a:r>
            <a:r>
              <a:rPr sz="1700">
                <a:solidFill>
                  <a:srgbClr val="7FDBFF"/>
                </a:solidFill>
                <a:latin typeface="Consolas"/>
              </a:rPr>
              <a:t>open_rack_glass_glass</a:t>
            </a:r>
            <a:r>
              <a:rPr sz="1800">
                <a:solidFill>
                  <a:srgbClr val="FBFCFD"/>
                </a:solidFill>
              </a:rPr>
              <a:t>: a = −3.47 · b = −0.059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 b="1">
                <a:solidFill>
                  <a:srgbClr val="FBFCFD"/>
                </a:solidFill>
              </a:rPr>
              <a:t>Fuente:</a:t>
            </a:r>
            <a:r>
              <a:rPr sz="1800">
                <a:solidFill>
                  <a:srgbClr val="FBFCFD"/>
                </a:solidFill>
              </a:rPr>
              <a:t> </a:t>
            </a:r>
            <a:r>
              <a:rPr sz="1700">
                <a:solidFill>
                  <a:srgbClr val="7FDBFF"/>
                </a:solidFill>
                <a:latin typeface="Consolas"/>
              </a:rPr>
              <a:t>pvlib.temperature.TEMPERATURE_MODEL_PARAMETERS['sapm']</a:t>
            </a:r>
            <a:r>
              <a:rPr sz="1800">
                <a:solidFill>
                  <a:srgbClr val="FBFCFD"/>
                </a:solidFill>
              </a:rPr>
              <a:t> — base interna validada por Sandia NL [King et al., 2004].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Corriente implícita del modelo de diodo simple con resistencias parásitas (resuelta con la función W de Lambert en </a:t>
            </a:r>
            <a:r>
              <a:rPr sz="1700">
                <a:solidFill>
                  <a:srgbClr val="7FDBFF"/>
                </a:solidFill>
                <a:latin typeface="Consolas"/>
              </a:rPr>
              <a:t>pvlib.singlediode</a:t>
            </a:r>
            <a:r>
              <a:rPr sz="18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9187b8843e3d4b8f8620299d51df3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94560"/>
            <a:ext cx="5669280" cy="5610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pic>
        <p:nvPicPr>
          <p:cNvPr id="13" name="Picture 12" descr="eq_5faa374cb63d0aab8055d34ee94f84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1858034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709160"/>
            <a:ext cx="519059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s</a:t>
            </a:r>
            <a:r>
              <a:rPr sz="1800">
                <a:solidFill>
                  <a:srgbClr val="F1C40F"/>
                </a:solidFill>
              </a:rPr>
              <a:t>: celdas en serie (m-Si: 36, HIT: 72).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I</a:t>
            </a:r>
            <a:r>
              <a:rPr sz="1800">
                <a:solidFill>
                  <a:srgbClr val="F1C40F"/>
                </a:solidFill>
              </a:rPr>
              <a:t>: factor de idealidad del diodo, acotado a [1, 2].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 / V: corriente y voltaje de salida (A, V).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L</a:t>
            </a:r>
            <a:r>
              <a:rPr sz="1800">
                <a:solidFill>
                  <a:srgbClr val="FBFCFD"/>
                </a:solidFill>
              </a:rPr>
              <a:t>: corriente fotogenerada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0</a:t>
            </a:r>
            <a:r>
              <a:rPr sz="180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R</a:t>
            </a:r>
            <a:r>
              <a:rPr sz="1400">
                <a:solidFill>
                  <a:srgbClr val="FBFCFD"/>
                </a:solidFill>
              </a:rPr>
              <a:t>s</a:t>
            </a:r>
            <a:r>
              <a:rPr sz="1800">
                <a:solidFill>
                  <a:srgbClr val="FBFCFD"/>
                </a:solidFill>
              </a:rPr>
              <a:t> / R</a:t>
            </a:r>
            <a:r>
              <a:rPr sz="1400">
                <a:solidFill>
                  <a:srgbClr val="FBFCFD"/>
                </a:solidFill>
              </a:rPr>
              <a:t>sh</a:t>
            </a:r>
            <a:r>
              <a:rPr sz="1800">
                <a:solidFill>
                  <a:srgbClr val="FBFCFD"/>
                </a:solidFill>
              </a:rPr>
              <a:t>: resistencias parásitas serie y shunt (Ω).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k / q /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V: Extracción en STC — Ajuste Numérico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Normalización de mediciones a SRC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519059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Cada punto en la ventana 900–1100 W/m² se traslada a 1000 W/m² y 25 °C:</a:t>
            </a:r>
          </a:p>
        </p:txBody>
      </p:sp>
      <p:pic>
        <p:nvPicPr>
          <p:cNvPr id="9" name="Picture 8" descr="eq_61c29d2065817a3e119589d9276cef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747714" cy="502920"/>
          </a:xfrm>
          <a:prstGeom prst="rect">
            <a:avLst/>
          </a:prstGeom>
        </p:spPr>
      </p:pic>
      <p:pic>
        <p:nvPicPr>
          <p:cNvPr id="10" name="Picture 9" descr="eq_97d29c326b2707a2df1d24e28c71a6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39"/>
            <a:ext cx="4937760" cy="50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94760"/>
            <a:ext cx="5190591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β</a:t>
            </a:r>
            <a:r>
              <a:rPr sz="1350">
                <a:solidFill>
                  <a:srgbClr val="F1C40F"/>
                </a:solidFill>
              </a:rPr>
              <a:t>Voc</a:t>
            </a:r>
            <a:r>
              <a:rPr sz="1750">
                <a:solidFill>
                  <a:srgbClr val="F1C40F"/>
                </a:solidFill>
              </a:rPr>
              <a:t> (medido): regresión lineal V</a:t>
            </a:r>
            <a:r>
              <a:rPr sz="1350">
                <a:solidFill>
                  <a:srgbClr val="F1C40F"/>
                </a:solidFill>
              </a:rPr>
              <a:t>oc</a:t>
            </a:r>
            <a:r>
              <a:rPr sz="1750">
                <a:solidFill>
                  <a:srgbClr val="F1C40F"/>
                </a:solidFill>
              </a:rPr>
              <a:t> vs T</a:t>
            </a:r>
            <a:r>
              <a:rPr sz="1350">
                <a:solidFill>
                  <a:srgbClr val="F1C40F"/>
                </a:solidFill>
              </a:rPr>
              <a:t>c</a:t>
            </a:r>
            <a:r>
              <a:rPr sz="1750">
                <a:solidFill>
                  <a:srgbClr val="F1C40F"/>
                </a:solidFill>
              </a:rPr>
              <a:t> (ventana 800–1200 W/m²).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α</a:t>
            </a:r>
            <a:r>
              <a:rPr sz="1350">
                <a:solidFill>
                  <a:srgbClr val="F1C40F"/>
                </a:solidFill>
              </a:rPr>
              <a:t>Isc</a:t>
            </a:r>
            <a:r>
              <a:rPr sz="1750">
                <a:solidFill>
                  <a:srgbClr val="F1C40F"/>
                </a:solidFill>
              </a:rPr>
              <a:t> (literatura): la regresión resultó negativa → resguardo físico +0.05 %/°C de literatura.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Promedios de la ventana → I</a:t>
            </a:r>
            <a:r>
              <a:rPr sz="1350">
                <a:solidFill>
                  <a:srgbClr val="F1C40F"/>
                </a:solidFill>
              </a:rPr>
              <a:t>sc,ref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oc,ref</a:t>
            </a:r>
            <a:r>
              <a:rPr sz="1750">
                <a:solidFill>
                  <a:srgbClr val="F1C40F"/>
                </a:solidFill>
              </a:rPr>
              <a:t>, I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Ajuste de los 5 parámetros (lo que ejecuta el código)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1737360"/>
            <a:ext cx="51905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>
                <a:solidFill>
                  <a:srgbClr val="7FDBFF"/>
                </a:solidFill>
                <a:latin typeface="Consolas"/>
              </a:rPr>
              <a:t>scipy.optimize.minimize</a:t>
            </a:r>
            <a:r>
              <a:rPr sz="1750">
                <a:solidFill>
                  <a:srgbClr val="FBFCFD"/>
                </a:solidFill>
              </a:rPr>
              <a:t> sobre el residuo cuadrático de las 3 condiciones del SDM en SRC:</a:t>
            </a:r>
          </a:p>
        </p:txBody>
      </p:sp>
      <p:pic>
        <p:nvPicPr>
          <p:cNvPr id="16" name="Picture 15" descr="eq_b3adc907d5023ff754837ebeedf507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2423160"/>
            <a:ext cx="4052003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34175" y="324612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F1C40F"/>
                </a:solidFill>
              </a:rPr>
              <a:t>• e</a:t>
            </a:r>
            <a:r>
              <a:rPr sz="1300">
                <a:solidFill>
                  <a:srgbClr val="F1C40F"/>
                </a:solidFill>
              </a:rPr>
              <a:t>Voc</a:t>
            </a:r>
            <a:r>
              <a:rPr sz="1700">
                <a:solidFill>
                  <a:srgbClr val="F1C40F"/>
                </a:solidFill>
              </a:rPr>
              <a:t>: corriente nula en circuito abierto.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F1C40F"/>
                </a:solidFill>
              </a:rPr>
              <a:t>• e</a:t>
            </a:r>
            <a:r>
              <a:rPr sz="1300">
                <a:solidFill>
                  <a:srgbClr val="F1C40F"/>
                </a:solidFill>
              </a:rPr>
              <a:t>Isc</a:t>
            </a:r>
            <a:r>
              <a:rPr sz="1700">
                <a:solidFill>
                  <a:srgbClr val="F1C40F"/>
                </a:solidFill>
              </a:rPr>
              <a:t>: corriente de cortocircuito reproducida.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F1C40F"/>
                </a:solidFill>
              </a:rPr>
              <a:t>• e</a:t>
            </a:r>
            <a:r>
              <a:rPr sz="1300">
                <a:solidFill>
                  <a:srgbClr val="F1C40F"/>
                </a:solidFill>
              </a:rPr>
              <a:t>MPP</a:t>
            </a:r>
            <a:r>
              <a:rPr sz="1700">
                <a:solidFill>
                  <a:srgbClr val="F1C40F"/>
                </a:solidFill>
              </a:rPr>
              <a:t>: corriente correcta en (V</a:t>
            </a:r>
            <a:r>
              <a:rPr sz="1300">
                <a:solidFill>
                  <a:srgbClr val="F1C40F"/>
                </a:solidFill>
              </a:rPr>
              <a:t>mp</a:t>
            </a:r>
            <a:r>
              <a:rPr sz="1700">
                <a:solidFill>
                  <a:srgbClr val="F1C40F"/>
                </a:solidFill>
              </a:rPr>
              <a:t>, I</a:t>
            </a:r>
            <a:r>
              <a:rPr sz="1300">
                <a:solidFill>
                  <a:srgbClr val="F1C40F"/>
                </a:solidFill>
              </a:rPr>
              <a:t>mp</a:t>
            </a:r>
            <a:r>
              <a:rPr sz="1700">
                <a:solidFill>
                  <a:srgbClr val="F1C40F"/>
                </a:solidFill>
              </a:rPr>
              <a:t>).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1700" b="1">
                <a:solidFill>
                  <a:srgbClr val="F1C40F"/>
                </a:solidFill>
              </a:rPr>
              <a:t>Regularización física (bounds):</a:t>
            </a:r>
            <a:r>
              <a:rPr sz="1700">
                <a:solidFill>
                  <a:srgbClr val="F1C40F"/>
                </a:solidFill>
              </a:rPr>
              <a:t> R</a:t>
            </a:r>
            <a:r>
              <a:rPr sz="1300">
                <a:solidFill>
                  <a:srgbClr val="F1C40F"/>
                </a:solidFill>
              </a:rPr>
              <a:t>s</a:t>
            </a:r>
            <a:r>
              <a:rPr sz="1700">
                <a:solidFill>
                  <a:srgbClr val="F1C40F"/>
                </a:solidFill>
              </a:rPr>
              <a:t> ∈ [0.001, 2] Ω · R</a:t>
            </a:r>
            <a:r>
              <a:rPr sz="1300">
                <a:solidFill>
                  <a:srgbClr val="F1C40F"/>
                </a:solidFill>
              </a:rPr>
              <a:t>sh</a:t>
            </a:r>
            <a:r>
              <a:rPr sz="1700">
                <a:solidFill>
                  <a:srgbClr val="F1C40F"/>
                </a:solidFill>
              </a:rPr>
              <a:t> ∈ [100, 10⁴] Ω · n</a:t>
            </a:r>
            <a:r>
              <a:rPr sz="1300">
                <a:solidFill>
                  <a:srgbClr val="F1C40F"/>
                </a:solidFill>
              </a:rPr>
              <a:t>I</a:t>
            </a:r>
            <a:r>
              <a:rPr sz="1700">
                <a:solidFill>
                  <a:srgbClr val="F1C40F"/>
                </a:solidFill>
              </a:rPr>
              <a:t> ∈ [1, 2] · I</a:t>
            </a:r>
            <a:r>
              <a:rPr sz="1300">
                <a:solidFill>
                  <a:srgbClr val="F1C40F"/>
                </a:solidFill>
              </a:rPr>
              <a:t>L</a:t>
            </a:r>
            <a:r>
              <a:rPr sz="1700">
                <a:solidFill>
                  <a:srgbClr val="F1C40F"/>
                </a:solidFill>
              </a:rPr>
              <a:t> ± 10 % · I</a:t>
            </a:r>
            <a:r>
              <a:rPr sz="1300">
                <a:solidFill>
                  <a:srgbClr val="F1C40F"/>
                </a:solidFill>
              </a:rPr>
              <a:t>0</a:t>
            </a:r>
            <a:r>
              <a:rPr sz="1700">
                <a:solidFill>
                  <a:srgbClr val="F1C40F"/>
                </a:solidFill>
              </a:rPr>
              <a:t> ∈ [10⁻¹², 10⁻⁵] A.</a:t>
            </a:r>
          </a:p>
          <a:p>
            <a:pPr algn="l">
              <a:lnSpc>
                <a:spcPct val="118000"/>
              </a:lnSpc>
            </a:pPr>
            <a:r>
              <a:rPr sz="1700" b="1">
                <a:solidFill>
                  <a:srgbClr val="F1C40F"/>
                </a:solidFill>
              </a:rPr>
              <a:t>Inicialización analítica:</a:t>
            </a:r>
            <a:r>
              <a:rPr sz="1700">
                <a:solidFill>
                  <a:srgbClr val="F1C40F"/>
                </a:solidFill>
              </a:rPr>
              <a:t> a₀ = N</a:t>
            </a:r>
            <a:r>
              <a:rPr sz="1300">
                <a:solidFill>
                  <a:srgbClr val="F1C40F"/>
                </a:solidFill>
              </a:rPr>
              <a:t>s</a:t>
            </a:r>
            <a:r>
              <a:rPr sz="1700">
                <a:solidFill>
                  <a:srgbClr val="F1C40F"/>
                </a:solidFill>
              </a:rPr>
              <a:t>·1.2·kT/q; I</a:t>
            </a:r>
            <a:r>
              <a:rPr sz="1300">
                <a:solidFill>
                  <a:srgbClr val="F1C40F"/>
                </a:solidFill>
              </a:rPr>
              <a:t>0,0</a:t>
            </a:r>
            <a:r>
              <a:rPr sz="1700">
                <a:solidFill>
                  <a:srgbClr val="F1C40F"/>
                </a:solidFill>
              </a:rPr>
              <a:t> = I</a:t>
            </a:r>
            <a:r>
              <a:rPr sz="1300">
                <a:solidFill>
                  <a:srgbClr val="F1C40F"/>
                </a:solidFill>
              </a:rPr>
              <a:t>sc</a:t>
            </a:r>
            <a:r>
              <a:rPr sz="1700">
                <a:solidFill>
                  <a:srgbClr val="F1C40F"/>
                </a:solidFill>
              </a:rPr>
              <a:t>·exp(−V</a:t>
            </a:r>
            <a:r>
              <a:rPr sz="1300">
                <a:solidFill>
                  <a:srgbClr val="F1C40F"/>
                </a:solidFill>
              </a:rPr>
              <a:t>oc</a:t>
            </a:r>
            <a:r>
              <a:rPr sz="1700">
                <a:solidFill>
                  <a:srgbClr val="F1C40F"/>
                </a:solidFill>
              </a:rPr>
              <a:t>/a₀).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F1C40F"/>
                </a:solidFill>
              </a:rPr>
              <a:t>Sistema de 3 ecuaciones y 5 incógnitas: la unicidad la aportan los bounds + inicialización, no una derivada analítica.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VI: Escalamiento a Condiciones de Operación (De Soto)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1. Corriente fotogenerada (I</a:t>
            </a:r>
            <a:r>
              <a:rPr sz="1350">
                <a:solidFill>
                  <a:srgbClr val="FBFCFD"/>
                </a:solidFill>
              </a:rPr>
              <a:t>L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e0bf09c03378197463842c40e63c24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439151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88036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2. Corriente de saturación inversa (I</a:t>
            </a:r>
            <a:r>
              <a:rPr sz="1350">
                <a:solidFill>
                  <a:srgbClr val="FBFCFD"/>
                </a:solidFill>
              </a:rPr>
              <a:t>0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1" name="Picture 10" descr="eq_a3e1cf0edcfb4f601e8cb4052dc46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73551"/>
            <a:ext cx="416052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069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3. Factor de idealidad térmico (a):</a:t>
            </a:r>
          </a:p>
        </p:txBody>
      </p:sp>
      <p:pic>
        <p:nvPicPr>
          <p:cNvPr id="13" name="Picture 12" descr="eq_855f25f4df726f32a8627b66266d9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80560"/>
            <a:ext cx="1089660" cy="502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4. Resistencia shunt (R</a:t>
            </a:r>
            <a:r>
              <a:rPr sz="1350">
                <a:solidFill>
                  <a:srgbClr val="FBFCFD"/>
                </a:solidFill>
              </a:rPr>
              <a:t>sh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3d1d79bd526a9b74d63122a07a9441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194560"/>
            <a:ext cx="2757637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2926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5. Energía de bandgap del Silicio (E</a:t>
            </a:r>
            <a:r>
              <a:rPr sz="1350">
                <a:solidFill>
                  <a:srgbClr val="FBFCFD"/>
                </a:solidFill>
              </a:rPr>
              <a:t>g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835b1d64c566faa058ac35a3005994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291840"/>
            <a:ext cx="394101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34175" y="4069080"/>
            <a:ext cx="519059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Suposiciones físicas justificadas:</a:t>
            </a:r>
          </a:p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• R</a:t>
            </a:r>
            <a:r>
              <a:rPr sz="1300">
                <a:solidFill>
                  <a:srgbClr val="F1C40F"/>
                </a:solidFill>
              </a:rPr>
              <a:t>s</a:t>
            </a:r>
            <a:r>
              <a:rPr sz="1700">
                <a:solidFill>
                  <a:srgbClr val="F1C40F"/>
                </a:solidFill>
              </a:rPr>
              <a:t> constante: R</a:t>
            </a:r>
            <a:r>
              <a:rPr sz="1300">
                <a:solidFill>
                  <a:srgbClr val="F1C40F"/>
                </a:solidFill>
              </a:rPr>
              <a:t>s</a:t>
            </a:r>
            <a:r>
              <a:rPr sz="1700">
                <a:solidFill>
                  <a:srgbClr val="F1C40F"/>
                </a:solidFill>
              </a:rPr>
              <a:t> = R</a:t>
            </a:r>
            <a:r>
              <a:rPr sz="1300">
                <a:solidFill>
                  <a:srgbClr val="F1C40F"/>
                </a:solidFill>
              </a:rPr>
              <a:t>s,ref</a:t>
            </a:r>
            <a:r>
              <a:rPr sz="1700">
                <a:solidFill>
                  <a:srgbClr val="F1C40F"/>
                </a:solidFill>
              </a:rPr>
              <a:t> (validación NIST &lt; 2 %).</a:t>
            </a:r>
          </a:p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• R</a:t>
            </a:r>
            <a:r>
              <a:rPr sz="1300">
                <a:solidFill>
                  <a:srgbClr val="F1C40F"/>
                </a:solidFill>
              </a:rPr>
              <a:t>sh</a:t>
            </a:r>
            <a:r>
              <a:rPr sz="1700">
                <a:solidFill>
                  <a:srgbClr val="F1C40F"/>
                </a:solidFill>
              </a:rPr>
              <a:t> ∝ 1/S: empírica, dominante a baja irradiancia.</a:t>
            </a:r>
          </a:p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• E</a:t>
            </a:r>
            <a:r>
              <a:rPr sz="1300">
                <a:solidFill>
                  <a:srgbClr val="F1C40F"/>
                </a:solidFill>
              </a:rPr>
              <a:t>g,ref</a:t>
            </a:r>
            <a:r>
              <a:rPr sz="1700">
                <a:solidFill>
                  <a:srgbClr val="F1C40F"/>
                </a:solidFill>
              </a:rPr>
              <a:t> = 1.121 eV para Silicio a 25 °C.</a:t>
            </a:r>
          </a:p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• S = G</a:t>
            </a:r>
            <a:r>
              <a:rPr sz="1300">
                <a:solidFill>
                  <a:srgbClr val="F1C40F"/>
                </a:solidFill>
              </a:rPr>
              <a:t>poa</a:t>
            </a:r>
            <a:r>
              <a:rPr sz="1700">
                <a:solidFill>
                  <a:srgbClr val="F1C40F"/>
                </a:solidFill>
              </a:rPr>
              <a:t> (sin corrección espectral — Anexo II).</a:t>
            </a:r>
          </a:p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Implementado por </a:t>
            </a:r>
            <a:r>
              <a:rPr sz="1600">
                <a:solidFill>
                  <a:srgbClr val="7FDBFF"/>
                </a:solidFill>
                <a:latin typeface="Consolas"/>
              </a:rPr>
              <a:t>pvlib.pvsystem.calcparams_desoto</a:t>
            </a:r>
            <a:r>
              <a:rPr sz="170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Rendimiento Global del PR (IEC 61724-1)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Eficiencia neta del sistema frente a su comportamiento ideal en condiciones estándar:</a:t>
            </a:r>
          </a:p>
        </p:txBody>
      </p:sp>
      <p:pic>
        <p:nvPicPr>
          <p:cNvPr id="9" name="Picture 8" descr="eq_f5093d4054598633962633717f29b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48840"/>
            <a:ext cx="4370498" cy="7132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P</a:t>
            </a:r>
            <a:r>
              <a:rPr sz="1400">
                <a:solidFill>
                  <a:srgbClr val="FBFCFD"/>
                </a:solidFill>
              </a:rPr>
              <a:t>mp,t</a:t>
            </a:r>
            <a:r>
              <a:rPr sz="1800">
                <a:solidFill>
                  <a:srgbClr val="FBFCFD"/>
                </a:solidFill>
              </a:rPr>
              <a:t>: potencia MPP del SDM en el registro t (cadencia 5 min).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P</a:t>
            </a:r>
            <a:r>
              <a:rPr sz="1400">
                <a:solidFill>
                  <a:srgbClr val="FBFCFD"/>
                </a:solidFill>
              </a:rPr>
              <a:t>STC</a:t>
            </a:r>
            <a:r>
              <a:rPr sz="1800">
                <a:solidFill>
                  <a:srgbClr val="FBFCFD"/>
                </a:solidFill>
              </a:rPr>
              <a:t>: potencia nominal del </a:t>
            </a:r>
            <a:r>
              <a:rPr sz="1800" b="1">
                <a:solidFill>
                  <a:srgbClr val="FBFCFD"/>
                </a:solidFill>
              </a:rPr>
              <a:t>mismo SDM</a:t>
            </a:r>
            <a:r>
              <a:rPr sz="1800">
                <a:solidFill>
                  <a:srgbClr val="FBFCFD"/>
                </a:solidFill>
              </a:rPr>
              <a:t> evaluado a 1000 W/m² y 25 °C — m-Si: 50.17 W · HIT: 236.72 W (criterio consistente).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G</a:t>
            </a:r>
            <a:r>
              <a:rPr sz="1400">
                <a:solidFill>
                  <a:srgbClr val="FBFCFD"/>
                </a:solidFill>
              </a:rPr>
              <a:t>poa,t</a:t>
            </a:r>
            <a:r>
              <a:rPr sz="1800">
                <a:solidFill>
                  <a:srgbClr val="FBFCFD"/>
                </a:solidFill>
              </a:rPr>
              <a:t>: irradiancia instantánea en el plano del panel (W/m²).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G</a:t>
            </a:r>
            <a:r>
              <a:rPr sz="1400">
                <a:solidFill>
                  <a:srgbClr val="FBFCFD"/>
                </a:solidFill>
              </a:rPr>
              <a:t>ref</a:t>
            </a:r>
            <a:r>
              <a:rPr sz="1800">
                <a:solidFill>
                  <a:srgbClr val="FBFCFD"/>
                </a:solidFill>
              </a:rPr>
              <a:t>: irradiancia de referencia STC (1000 W/m²).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Térmicas:</a:t>
            </a:r>
            <a:r>
              <a:rPr sz="1800">
                <a:solidFill>
                  <a:srgbClr val="FBFCFD"/>
                </a:solidFill>
              </a:rPr>
              <a:t> caídas por elevada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 — dominantes en Atacama.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Óhmicas:</a:t>
            </a:r>
            <a:r>
              <a:rPr sz="1800">
                <a:solidFill>
                  <a:srgbClr val="FBFCFD"/>
                </a:solidFill>
              </a:rPr>
              <a:t> pérdidas resistivas en R</a:t>
            </a:r>
            <a:r>
              <a:rPr sz="1400">
                <a:solidFill>
                  <a:srgbClr val="FBFCFD"/>
                </a:solidFill>
              </a:rPr>
              <a:t>s</a:t>
            </a:r>
            <a:r>
              <a:rPr sz="18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De bajo G:</a:t>
            </a:r>
            <a:r>
              <a:rPr sz="1800">
                <a:solidFill>
                  <a:srgbClr val="FBFCFD"/>
                </a:solidFill>
              </a:rPr>
              <a:t> comportamiento no lineal a baja irradiancia (R</a:t>
            </a:r>
            <a:r>
              <a:rPr sz="1400">
                <a:solidFill>
                  <a:srgbClr val="FBFCFD"/>
                </a:solidFill>
              </a:rPr>
              <a:t>sh</a:t>
            </a:r>
            <a:r>
              <a:rPr sz="18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NO penaliza pérdidas ópticas/espectrales (no modeladas) ni de planta (cableado, inversor, soiling).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35/36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VIII: Diccionario de Columnas del Dataset NREL Cocoa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59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Identificación y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Time Stamp</a:t>
            </a:r>
            <a:r>
              <a:rPr sz="1800">
                <a:solidFill>
                  <a:srgbClr val="FBFCFD"/>
                </a:solidFill>
              </a:rPr>
              <a:t> (hora local estándar, paso 5 min) — col. 0.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Metadatos (líneas 1–2): módulo, ciudad, estado, zona horaria, latitud, longitud, altitud, tilt, azimut.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76472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Eléctricas (usadas → índices fijos)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Isc</a:t>
            </a:r>
            <a:r>
              <a:rPr sz="1800">
                <a:solidFill>
                  <a:srgbClr val="FBFCFD"/>
                </a:solidFill>
              </a:rPr>
              <a:t> (5), </a:t>
            </a:r>
            <a:r>
              <a:rPr sz="1700">
                <a:solidFill>
                  <a:srgbClr val="7FDBFF"/>
                </a:solidFill>
                <a:latin typeface="Consolas"/>
              </a:rPr>
              <a:t>Pmp</a:t>
            </a:r>
            <a:r>
              <a:rPr sz="1800">
                <a:solidFill>
                  <a:srgbClr val="FBFCFD"/>
                </a:solidFill>
              </a:rPr>
              <a:t> (7), </a:t>
            </a:r>
            <a:r>
              <a:rPr sz="1700">
                <a:solidFill>
                  <a:srgbClr val="7FDBFF"/>
                </a:solidFill>
                <a:latin typeface="Consolas"/>
              </a:rPr>
              <a:t>Imp</a:t>
            </a:r>
            <a:r>
              <a:rPr sz="1800">
                <a:solidFill>
                  <a:srgbClr val="FBFCFD"/>
                </a:solidFill>
              </a:rPr>
              <a:t> (9), </a:t>
            </a:r>
            <a:r>
              <a:rPr sz="1700">
                <a:solidFill>
                  <a:srgbClr val="7FDBFF"/>
                </a:solidFill>
                <a:latin typeface="Consolas"/>
              </a:rPr>
              <a:t>Vmp</a:t>
            </a:r>
            <a:r>
              <a:rPr sz="1800">
                <a:solidFill>
                  <a:srgbClr val="FBFCFD"/>
                </a:solidFill>
              </a:rPr>
              <a:t> (11), </a:t>
            </a:r>
            <a:r>
              <a:rPr sz="1700">
                <a:solidFill>
                  <a:srgbClr val="7FDBFF"/>
                </a:solidFill>
                <a:latin typeface="Consolas"/>
              </a:rPr>
              <a:t>Voc</a:t>
            </a:r>
            <a:r>
              <a:rPr sz="1800">
                <a:solidFill>
                  <a:srgbClr val="FBFCFD"/>
                </a:solidFill>
              </a:rPr>
              <a:t> (13) — cada una con su columna de incertidumbre (%).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FF</a:t>
            </a:r>
            <a:r>
              <a:rPr sz="1800">
                <a:solidFill>
                  <a:srgbClr val="FBFCFD"/>
                </a:solidFill>
              </a:rPr>
              <a:t> (15) y cola de n pares (I, V) crudos — descartadas en la ingesta.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Meteorológicas (usadas → índices fijos)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Dry bulb temperature</a:t>
            </a:r>
            <a:r>
              <a:rPr sz="1800">
                <a:solidFill>
                  <a:srgbClr val="FBFCFD"/>
                </a:solidFill>
              </a:rPr>
              <a:t> (20), </a:t>
            </a:r>
            <a:r>
              <a:rPr sz="1700">
                <a:solidFill>
                  <a:srgbClr val="7FDBFF"/>
                </a:solidFill>
                <a:latin typeface="Consolas"/>
              </a:rPr>
              <a:t>Atmospheric pressure</a:t>
            </a:r>
            <a:r>
              <a:rPr sz="1800">
                <a:solidFill>
                  <a:srgbClr val="FBFCFD"/>
                </a:solidFill>
              </a:rPr>
              <a:t> (24).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DNI</a:t>
            </a:r>
            <a:r>
              <a:rPr sz="1800">
                <a:solidFill>
                  <a:srgbClr val="FBFCFD"/>
                </a:solidFill>
              </a:rPr>
              <a:t> (27), </a:t>
            </a:r>
            <a:r>
              <a:rPr sz="1700">
                <a:solidFill>
                  <a:srgbClr val="7FDBFF"/>
                </a:solidFill>
                <a:latin typeface="Consolas"/>
              </a:rPr>
              <a:t>GHI</a:t>
            </a:r>
            <a:r>
              <a:rPr sz="1800">
                <a:solidFill>
                  <a:srgbClr val="FBFCFD"/>
                </a:solidFill>
              </a:rPr>
              <a:t> (30), </a:t>
            </a:r>
            <a:r>
              <a:rPr sz="1700">
                <a:solidFill>
                  <a:srgbClr val="7FDBFF"/>
                </a:solidFill>
                <a:latin typeface="Consolas"/>
              </a:rPr>
              <a:t>DHI</a:t>
            </a:r>
            <a:r>
              <a:rPr sz="1800">
                <a:solidFill>
                  <a:srgbClr val="FBFCFD"/>
                </a:solidFill>
              </a:rPr>
              <a:t> (33) — c/u con incertidumbre y desviación estándar de muestras de 1 s.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POA CMP22</a:t>
            </a:r>
            <a:r>
              <a:rPr sz="1800">
                <a:solidFill>
                  <a:srgbClr val="FBFCFD"/>
                </a:solidFill>
              </a:rPr>
              <a:t> (1): referencia para verificación del recurso.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76472"/>
            <a:ext cx="73152" cy="235915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Calidad y operación (no usadas)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Solar QA residual</a:t>
            </a:r>
            <a:r>
              <a:rPr sz="1800">
                <a:solidFill>
                  <a:srgbClr val="FBFCFD"/>
                </a:solidFill>
              </a:rPr>
              <a:t>: cierre Direct·cos(z) + Difusa − Global.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PV module soiling derate</a:t>
            </a:r>
            <a:r>
              <a:rPr sz="1800">
                <a:solidFill>
                  <a:srgbClr val="FBFCFD"/>
                </a:solidFill>
              </a:rPr>
              <a:t>, lluvia acumulada, humedad relativa, T dorso del módulo, T gabinete MT5, horarios de mantenimiento (</a:t>
            </a:r>
            <a:r>
              <a:rPr sz="1700">
                <a:solidFill>
                  <a:srgbClr val="7FDBFF"/>
                </a:solidFill>
                <a:latin typeface="Consolas"/>
              </a:rPr>
              <a:t>99:99</a:t>
            </a:r>
            <a:r>
              <a:rPr sz="1800">
                <a:solidFill>
                  <a:srgbClr val="FBFCFD"/>
                </a:solidFill>
              </a:rPr>
              <a:t> = sin mantención) y n.º de pares I-V.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36/36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