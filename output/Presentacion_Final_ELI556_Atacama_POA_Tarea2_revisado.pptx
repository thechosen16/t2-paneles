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 y altitud:</a:t>
            </a:r>
            <a:r>
              <a:rPr sz="17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Sitio simulado:</a:t>
            </a:r>
            <a:r>
              <a:rPr sz="17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Base experimental:</a:t>
            </a:r>
            <a:r>
              <a:rPr sz="17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700" b="1">
                <a:solidFill>
                  <a:srgbClr val="FBFCFD"/>
                </a:solidFill>
              </a:rPr>
              <a:t>m-Si</a:t>
            </a:r>
            <a:r>
              <a:rPr sz="1700">
                <a:solidFill>
                  <a:srgbClr val="FBFCFD"/>
                </a:solidFill>
              </a:rPr>
              <a:t> o </a:t>
            </a:r>
            <a:r>
              <a:rPr sz="1700" b="1">
                <a:solidFill>
                  <a:srgbClr val="FBFCFD"/>
                </a:solidFill>
              </a:rPr>
              <a:t>HIT</a:t>
            </a:r>
            <a:r>
              <a:rPr sz="17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Pregunta guía:</a:t>
            </a:r>
            <a:r>
              <a:rPr sz="17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50">
                <a:solidFill>
                  <a:srgbClr val="FBFCFD"/>
                </a:solidFill>
              </a:rPr>
              <a:t> circuito equivalente con pérdidas óhmicas en serie (R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) y fugas shunt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5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Transposición de Perez (1990):</a:t>
            </a:r>
            <a:r>
              <a:rPr sz="165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Escalamiento De Soto (2006):</a:t>
            </a:r>
            <a:r>
              <a:rPr sz="165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Marco revisado NO aplicado:</a:t>
            </a:r>
            <a:r>
              <a:rPr sz="165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127" y="1874520"/>
            <a:ext cx="3931920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188720"/>
            <a:ext cx="804672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5780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9437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Flujo lógico de la simulación:</a:t>
            </a:r>
            <a:r>
              <a:rPr sz="175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Campaña experimental del </a:t>
            </a:r>
            <a:r>
              <a:rPr sz="1700" b="1">
                <a:solidFill>
                  <a:srgbClr val="FBFCFD"/>
                </a:solidFill>
              </a:rPr>
              <a:t>NREL</a:t>
            </a:r>
            <a:r>
              <a:rPr sz="17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Sitio: </a:t>
            </a:r>
            <a:r>
              <a:rPr sz="1700" b="1">
                <a:solidFill>
                  <a:srgbClr val="FBFCFD"/>
                </a:solidFill>
              </a:rPr>
              <a:t>Cocoa, Florida</a:t>
            </a:r>
            <a:r>
              <a:rPr sz="17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Cada registro = una curva I-V completa</a:t>
            </a:r>
            <a:r>
              <a:rPr sz="17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mSi0166</a:t>
            </a:r>
            <a:r>
              <a:rPr sz="17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36,765 curvas</a:t>
            </a:r>
            <a:r>
              <a:rPr sz="17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HIT05667</a:t>
            </a:r>
            <a:r>
              <a:rPr sz="17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38,377 curvas</a:t>
            </a:r>
            <a:r>
              <a:rPr sz="17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Eléctricas:</a:t>
            </a:r>
            <a:r>
              <a:rPr sz="170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Meteorológicas:</a:t>
            </a:r>
            <a:r>
              <a:rPr sz="17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Referencia POA:</a:t>
            </a:r>
            <a:r>
              <a:rPr sz="170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Calidad / operación:</a:t>
            </a:r>
            <a:r>
              <a:rPr sz="170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Usadas (11 columnas):</a:t>
            </a:r>
            <a:r>
              <a:rPr sz="17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Verificación:</a:t>
            </a:r>
            <a:r>
              <a:rPr sz="170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Descartadas:</a:t>
            </a:r>
            <a:r>
              <a:rPr sz="170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9728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Estructura y lectura de datos:</a:t>
            </a:r>
            <a:r>
              <a:rPr sz="175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archivos irregulares de ~110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cada fila contiene 43 columnas fijas + </a:t>
            </a:r>
            <a:r>
              <a:rPr sz="1700" b="1">
                <a:solidFill>
                  <a:srgbClr val="FBFCFD"/>
                </a:solidFill>
              </a:rPr>
              <a:t>n pares (I, V) crudos</a:t>
            </a:r>
            <a:r>
              <a:rPr sz="1700">
                <a:solidFill>
                  <a:srgbClr val="FBFCFD"/>
                </a:solidFill>
              </a:rPr>
              <a:t> de la curva trazada (n ≈ 180–380) → filas de longitud variable.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00">
                <a:solidFill>
                  <a:srgbClr val="FBFCFD"/>
                </a:solidFill>
              </a:rPr>
              <a:t> no tolera el ancho variable (infiere mal el esquema) y carga ~110 MB por módulo a memoria innecesariamente.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Datos centinela:</a:t>
            </a:r>
            <a:r>
              <a:rPr sz="1700">
                <a:solidFill>
                  <a:srgbClr val="FBFCFD"/>
                </a:solidFill>
              </a:rPr>
              <a:t> los faltantes vienen codificados como </a:t>
            </a:r>
            <a:r>
              <a:rPr sz="1700" b="1">
                <a:solidFill>
                  <a:srgbClr val="FBFCFD"/>
                </a:solidFill>
              </a:rPr>
              <a:t>−9999</a:t>
            </a:r>
            <a:r>
              <a:rPr sz="1700">
                <a:solidFill>
                  <a:srgbClr val="FBFCFD"/>
                </a:solidFill>
              </a:rPr>
              <a:t>, que contaminan promedios y regresiones si no se neutralizan.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La Solución: lector en streaming (Fase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Lectura línea a línea</a:t>
            </a:r>
            <a:r>
              <a:rPr sz="1700">
                <a:solidFill>
                  <a:srgbClr val="FBFCFD"/>
                </a:solidFill>
              </a:rPr>
              <a:t> con el módulo </a:t>
            </a:r>
            <a:r>
              <a:rPr sz="1600">
                <a:solidFill>
                  <a:srgbClr val="7FDBFF"/>
                </a:solidFill>
                <a:latin typeface="Consolas"/>
              </a:rPr>
              <a:t>csv</a:t>
            </a:r>
            <a:r>
              <a:rPr sz="1700">
                <a:solidFill>
                  <a:srgbClr val="FBFCFD"/>
                </a:solidFill>
              </a:rPr>
              <a:t> nativo: se indexan solo las </a:t>
            </a:r>
            <a:r>
              <a:rPr sz="1700" b="1">
                <a:solidFill>
                  <a:srgbClr val="FBFCFD"/>
                </a:solidFill>
              </a:rPr>
              <a:t>11 columnas clave por posición fija</a:t>
            </a:r>
            <a:r>
              <a:rPr sz="1700">
                <a:solidFill>
                  <a:srgbClr val="FBFCFD"/>
                </a:solidFill>
              </a:rPr>
              <a:t> y se descarta la cola I-V al vuelo.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Limpieza: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-9999 → NaN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600">
                <a:solidFill>
                  <a:srgbClr val="7FDBFF"/>
                </a:solidFill>
                <a:latin typeface="Consolas"/>
              </a:rPr>
              <a:t>dropna</a:t>
            </a:r>
            <a:r>
              <a:rPr sz="1700">
                <a:solidFill>
                  <a:srgbClr val="FBFCFD"/>
                </a:solidFill>
              </a:rPr>
              <a:t> sobre GHI/DNI/DHI/T_air y </a:t>
            </a:r>
            <a:r>
              <a:rPr sz="1600">
                <a:solidFill>
                  <a:srgbClr val="7FDBFF"/>
                </a:solidFill>
                <a:latin typeface="Consolas"/>
              </a:rPr>
              <a:t>clip(≥0)</a:t>
            </a:r>
            <a:r>
              <a:rPr sz="1700">
                <a:solidFill>
                  <a:srgbClr val="FBFCFD"/>
                </a:solidFill>
              </a:rPr>
              <a:t> en irradiancias.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Resultado:</a:t>
            </a:r>
            <a:r>
              <a:rPr sz="1700">
                <a:solidFill>
                  <a:srgbClr val="FBFCFD"/>
                </a:solidFill>
              </a:rPr>
              <a:t> m-Si 35,669/36,765 filas válidas (97.0 %) · HIT 37,313/38,377 (97.2 %).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Los registros nocturnos no existen en la base (solo se midió de día); no se requirió filtro nocturno adicional.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97763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97763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25780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94376"/>
            <a:ext cx="11094415" cy="10241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Límite explícito del método:</a:t>
            </a:r>
            <a:r>
              <a:rPr sz="175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50" b="1">
                <a:solidFill>
                  <a:srgbClr val="FBFCFD"/>
                </a:solidFill>
              </a:rPr>
              <a:t>magnitudes medidas</a:t>
            </a:r>
            <a:r>
              <a:rPr sz="175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7" y="1234440"/>
            <a:ext cx="109529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emulación temporal:</a:t>
            </a:r>
            <a:r>
              <a:rPr sz="175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Superposición de mediciones:</a:t>
            </a:r>
            <a:r>
              <a:rPr sz="13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Rango temporal:</a:t>
            </a:r>
            <a:r>
              <a:rPr sz="1350">
                <a:solidFill>
                  <a:srgbClr val="FBFCFD"/>
                </a:solidFill>
              </a:rPr>
              <a:t> Campaña desde el </a:t>
            </a:r>
            <a:r>
              <a:rPr sz="1350" b="1">
                <a:solidFill>
                  <a:srgbClr val="FBFCFD"/>
                </a:solidFill>
              </a:rPr>
              <a:t>21 de enero de 2011</a:t>
            </a:r>
            <a:r>
              <a:rPr sz="1350">
                <a:solidFill>
                  <a:srgbClr val="FBFCFD"/>
                </a:solidFill>
              </a:rPr>
              <a:t> hasta el </a:t>
            </a:r>
            <a:r>
              <a:rPr sz="1350" b="1">
                <a:solidFill>
                  <a:srgbClr val="FBFCFD"/>
                </a:solidFill>
              </a:rPr>
              <a:t>4 de marzo de 2012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Tratamiento:</a:t>
            </a:r>
            <a:r>
              <a:rPr sz="13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Validación previa:</a:t>
            </a:r>
            <a:r>
              <a:rPr sz="13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350" b="1">
                <a:solidFill>
                  <a:srgbClr val="FBFCFD"/>
                </a:solidFill>
              </a:rPr>
              <a:t>antes</a:t>
            </a:r>
            <a:r>
              <a:rPr sz="13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Evidencia de soiling y mantenimiento:</a:t>
            </a:r>
            <a:r>
              <a:rPr sz="13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Alineación de sensores:</a:t>
            </a:r>
            <a:r>
              <a:rPr sz="13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78" y="1234440"/>
            <a:ext cx="10271137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Estimación de la radiación y temperatura:</a:t>
            </a:r>
            <a:r>
              <a:rPr sz="175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Caracterización física de los módulos:</a:t>
            </a:r>
            <a:r>
              <a:rPr sz="175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I</a:t>
            </a:r>
            <a:r>
              <a:rPr sz="900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 de HIT es </a:t>
            </a:r>
            <a:r>
              <a:rPr sz="1300" b="1">
                <a:solidFill>
                  <a:srgbClr val="FBFCFD"/>
                </a:solidFill>
              </a:rPr>
              <a:t>un orden de magnitud menor</a:t>
            </a:r>
            <a:r>
              <a:rPr sz="1300">
                <a:solidFill>
                  <a:srgbClr val="FBFCFD"/>
                </a:solidFill>
              </a:rPr>
              <a:t> → menor recombinación → mayor V</a:t>
            </a:r>
            <a:r>
              <a:rPr sz="900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R</a:t>
            </a:r>
            <a:r>
              <a:rPr sz="900">
                <a:solidFill>
                  <a:srgbClr val="FBFCFD"/>
                </a:solidFill>
              </a:rPr>
              <a:t>sh</a:t>
            </a:r>
            <a:r>
              <a:rPr sz="13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Cálculo de la producción eléctrica anual:</a:t>
            </a:r>
            <a:r>
              <a:rPr sz="175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65–73 °C de operación recurrente</a:t>
            </a:r>
            <a:r>
              <a:rPr sz="14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Estrés térmico evidenciado:</a:t>
            </a:r>
            <a:r>
              <a:rPr sz="13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Enfriamiento convectivo limitado:</a:t>
            </a:r>
            <a:r>
              <a:rPr sz="13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 en voltaje [De Soto et al., 2006]:</a:t>
            </a:r>
            <a:r>
              <a:rPr sz="1350">
                <a:solidFill>
                  <a:srgbClr val="FBFCFD"/>
                </a:solidFill>
              </a:rPr>
              <a:t> el calentamiento eleva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 exponencialmente, deprimiendo V</a:t>
            </a:r>
            <a:r>
              <a:rPr sz="950">
                <a:solidFill>
                  <a:srgbClr val="FBFCFD"/>
                </a:solidFill>
              </a:rPr>
              <a:t>oc</a:t>
            </a:r>
            <a:r>
              <a:rPr sz="13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R² ≈ 0.99</a:t>
            </a:r>
            <a:r>
              <a:rPr sz="1400">
                <a:solidFill>
                  <a:srgbClr val="FBFCFD"/>
                </a:solidFill>
              </a:rPr>
              <a:t>  |  RMSE ≈ 3 % de P</a:t>
            </a:r>
            <a:r>
              <a:rPr sz="1000">
                <a:solidFill>
                  <a:srgbClr val="FBFCFD"/>
                </a:solidFill>
              </a:rPr>
              <a:t>STC</a:t>
            </a:r>
            <a:r>
              <a:rPr sz="14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Misma meteorología:</a:t>
            </a:r>
            <a:r>
              <a:rPr sz="1350">
                <a:solidFill>
                  <a:srgbClr val="FBFCFD"/>
                </a:solidFill>
              </a:rPr>
              <a:t> cada punto compara la P</a:t>
            </a:r>
            <a:r>
              <a:rPr sz="950">
                <a:solidFill>
                  <a:srgbClr val="FBFCFD"/>
                </a:solidFill>
              </a:rPr>
              <a:t>mp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350" b="1">
                <a:solidFill>
                  <a:srgbClr val="FBFCFD"/>
                </a:solidFill>
              </a:rPr>
              <a:t>medida</a:t>
            </a:r>
            <a:r>
              <a:rPr sz="1350">
                <a:solidFill>
                  <a:srgbClr val="FBFCFD"/>
                </a:solidFill>
              </a:rPr>
              <a:t> por el trazador NREL con la </a:t>
            </a:r>
            <a:r>
              <a:rPr sz="1350" b="1">
                <a:solidFill>
                  <a:srgbClr val="FBFCFD"/>
                </a:solidFill>
              </a:rPr>
              <a:t>simulada</a:t>
            </a:r>
            <a:r>
              <a:rPr sz="1350">
                <a:solidFill>
                  <a:srgbClr val="FBFCFD"/>
                </a:solidFill>
              </a:rPr>
              <a:t> por el SDM bajo el mismo G y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Fidelidad del circuito:</a:t>
            </a:r>
            <a:r>
              <a:rPr sz="13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Zonas de discrepancia:</a:t>
            </a:r>
            <a:r>
              <a:rPr sz="13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350">
                <a:solidFill>
                  <a:srgbClr val="FBFCFD"/>
                </a:solidFill>
              </a:rPr>
              <a:t>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Problema mal condicionado:</a:t>
            </a:r>
            <a:r>
              <a:rPr sz="1350">
                <a:solidFill>
                  <a:srgbClr val="FBFCFD"/>
                </a:solidFill>
              </a:rPr>
              <a:t> múltiples pares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Mitigación aplicada:</a:t>
            </a:r>
            <a:r>
              <a:rPr sz="1350">
                <a:solidFill>
                  <a:srgbClr val="FBFCFD"/>
                </a:solidFill>
              </a:rPr>
              <a:t> bounds estrictos en el optimizador —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sh</a:t>
            </a:r>
            <a:r>
              <a:rPr sz="1350" b="1">
                <a:solidFill>
                  <a:srgbClr val="FBFCFD"/>
                </a:solidFill>
              </a:rPr>
              <a:t> e irradiancia:</a:t>
            </a:r>
            <a:r>
              <a:rPr sz="1350">
                <a:solidFill>
                  <a:srgbClr val="FBFCFD"/>
                </a:solidFill>
              </a:rPr>
              <a:t> la relación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= R</a:t>
            </a:r>
            <a:r>
              <a:rPr sz="950">
                <a:solidFill>
                  <a:srgbClr val="FBFCFD"/>
                </a:solidFill>
              </a:rPr>
              <a:t>sh,ref</a:t>
            </a:r>
            <a:r>
              <a:rPr sz="1350">
                <a:solidFill>
                  <a:srgbClr val="FBFCFD"/>
                </a:solidFill>
              </a:rPr>
              <a:t>·(S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</a:t>
            </a:r>
            <a:r>
              <a:rPr sz="1350" b="1">
                <a:solidFill>
                  <a:srgbClr val="FBFCFD"/>
                </a:solidFill>
              </a:rPr>
              <a:t> constante con la temperatura:</a:t>
            </a:r>
            <a:r>
              <a:rPr sz="1350">
                <a:solidFill>
                  <a:srgbClr val="FBFCFD"/>
                </a:solidFill>
              </a:rPr>
              <a:t> ignora el cambio de resistividad del semiconductor con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Bandgap lineal con la temperatura:</a:t>
            </a:r>
            <a:r>
              <a:rPr sz="1350">
                <a:solidFill>
                  <a:srgbClr val="FBFCFD"/>
                </a:solidFill>
              </a:rPr>
              <a:t> se asume dE</a:t>
            </a:r>
            <a:r>
              <a:rPr sz="950">
                <a:solidFill>
                  <a:srgbClr val="FBFCFD"/>
                </a:solidFill>
              </a:rPr>
              <a:t>g</a:t>
            </a:r>
            <a:r>
              <a:rPr sz="13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m-Si: </a:t>
            </a:r>
            <a:r>
              <a:rPr sz="1400" b="1">
                <a:solidFill>
                  <a:srgbClr val="FBFCFD"/>
                </a:solidFill>
              </a:rPr>
              <a:t>−0.40 %/°C</a:t>
            </a:r>
            <a:r>
              <a:rPr sz="14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HIT: </a:t>
            </a:r>
            <a:r>
              <a:rPr sz="1400" b="1">
                <a:solidFill>
                  <a:srgbClr val="FBFCFD"/>
                </a:solidFill>
              </a:rPr>
              <a:t>−0.26 %/°C</a:t>
            </a:r>
            <a:r>
              <a:rPr sz="14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HIT (naranja):</a:t>
            </a:r>
            <a:r>
              <a:rPr sz="13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m-Si (azul):</a:t>
            </a:r>
            <a:r>
              <a:rPr sz="13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Consecuencia:</a:t>
            </a:r>
            <a:r>
              <a:rPr sz="135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559292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20440"/>
            <a:ext cx="5483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Recurso escalado:</a:t>
            </a:r>
            <a:r>
              <a:rPr sz="17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ΔPR +2.39 pts → ≈ +60 kWh/kWp·año → </a:t>
            </a:r>
            <a:r>
              <a:rPr sz="1700" b="1">
                <a:solidFill>
                  <a:srgbClr val="FBFCFD"/>
                </a:solidFill>
              </a:rPr>
              <a:t>~6,000 MWh</a:t>
            </a:r>
            <a:r>
              <a:rPr sz="17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Precio de venta ≈ 45 USD/MWh → </a:t>
            </a:r>
            <a:r>
              <a:rPr sz="1700" b="1">
                <a:solidFill>
                  <a:srgbClr val="FBFCFD"/>
                </a:solidFill>
              </a:rPr>
              <a:t>~USD 270k/año</a:t>
            </a:r>
            <a:r>
              <a:rPr sz="17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La prima CAPEX de los módulos HIT se </a:t>
            </a:r>
            <a:r>
              <a:rPr sz="1700" b="1">
                <a:solidFill>
                  <a:srgbClr val="FBFCFD"/>
                </a:solidFill>
              </a:rPr>
              <a:t>amortiza con holgura</a:t>
            </a:r>
            <a:r>
              <a:rPr sz="17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Magnitudes de Florida:</a:t>
            </a:r>
            <a:r>
              <a:rPr sz="16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Cobertura temporal:</a:t>
            </a:r>
            <a:r>
              <a:rPr sz="16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α</a:t>
            </a:r>
            <a:r>
              <a:rPr sz="1250" b="1">
                <a:solidFill>
                  <a:srgbClr val="FBFCFD"/>
                </a:solidFill>
              </a:rPr>
              <a:t>Isc</a:t>
            </a:r>
            <a:r>
              <a:rPr sz="1650" b="1">
                <a:solidFill>
                  <a:srgbClr val="FBFCFD"/>
                </a:solidFill>
              </a:rPr>
              <a:t> de literatura:</a:t>
            </a:r>
            <a:r>
              <a:rPr sz="16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pérdidas ópticas/espectrales:</a:t>
            </a:r>
            <a:r>
              <a:rPr sz="16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Albedo fijo 0.25</a:t>
            </a:r>
            <a:r>
              <a:rPr sz="1650">
                <a:solidFill>
                  <a:srgbClr val="FBFCFD"/>
                </a:solidFill>
              </a:rPr>
              <a:t> (default pvlib) y </a:t>
            </a:r>
            <a:r>
              <a:rPr sz="1650" b="1">
                <a:solidFill>
                  <a:srgbClr val="FBFCFD"/>
                </a:solidFill>
              </a:rPr>
              <a:t>viento fijo 1 m/s</a:t>
            </a:r>
            <a:r>
              <a:rPr sz="16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P</a:t>
            </a:r>
            <a:r>
              <a:rPr sz="1250" b="1">
                <a:solidFill>
                  <a:srgbClr val="FBFCFD"/>
                </a:solidFill>
              </a:rPr>
              <a:t>STC</a:t>
            </a:r>
            <a:r>
              <a:rPr sz="1650" b="1">
                <a:solidFill>
                  <a:srgbClr val="FBFCFD"/>
                </a:solidFill>
              </a:rPr>
              <a:t> del SDM</a:t>
            </a:r>
            <a:r>
              <a:rPr sz="16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soiling ni mismatch:</a:t>
            </a:r>
            <a:r>
              <a:rPr sz="16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1. </a:t>
            </a:r>
            <a:r>
              <a:rPr sz="1650" b="1">
                <a:solidFill>
                  <a:srgbClr val="FBFCFD"/>
                </a:solidFill>
              </a:rPr>
              <a:t>Fidelidad metodológica:</a:t>
            </a:r>
            <a:r>
              <a:rPr sz="16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2. </a:t>
            </a:r>
            <a:r>
              <a:rPr sz="1650" b="1">
                <a:solidFill>
                  <a:srgbClr val="FBFCFD"/>
                </a:solidFill>
              </a:rPr>
              <a:t>Pipeline de datos robusto:</a:t>
            </a:r>
            <a:r>
              <a:rPr sz="16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3. </a:t>
            </a:r>
            <a:r>
              <a:rPr sz="1650" b="1">
                <a:solidFill>
                  <a:srgbClr val="FBFCFD"/>
                </a:solidFill>
              </a:rPr>
              <a:t>Ajuste robusto:</a:t>
            </a:r>
            <a:r>
              <a:rPr sz="16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4. </a:t>
            </a:r>
            <a:r>
              <a:rPr sz="1650" b="1">
                <a:solidFill>
                  <a:srgbClr val="FBFCFD"/>
                </a:solidFill>
              </a:rPr>
              <a:t>HIT vencedor:</a:t>
            </a:r>
            <a:r>
              <a:rPr sz="16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Aplicar IAM y corrección espectral AM</a:t>
            </a:r>
            <a:r>
              <a:rPr sz="16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Escalar el recurso a magnitudes de Atacama</a:t>
            </a:r>
            <a:r>
              <a:rPr sz="16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Bifacialidad:</a:t>
            </a:r>
            <a:r>
              <a:rPr sz="16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Soiling desértico:</a:t>
            </a:r>
            <a:r>
              <a:rPr sz="16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doble diodo:</a:t>
            </a:r>
            <a:r>
              <a:rPr sz="16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b</a:t>
            </a:r>
            <a:r>
              <a:rPr sz="1650">
                <a:solidFill>
                  <a:srgbClr val="F1C40F"/>
                </a:solidFill>
              </a:rPr>
              <a:t> / G</a:t>
            </a:r>
            <a:r>
              <a:rPr sz="1250">
                <a:solidFill>
                  <a:srgbClr val="F1C40F"/>
                </a:solidFill>
              </a:rPr>
              <a:t>d</a:t>
            </a:r>
            <a:r>
              <a:rPr sz="16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ρ: albedo = 0.25 (default </a:t>
            </a:r>
            <a:r>
              <a:rPr sz="1550">
                <a:solidFill>
                  <a:srgbClr val="7FDBFF"/>
                </a:solidFill>
                <a:latin typeface="Consolas"/>
              </a:rPr>
              <a:t>pvlib</a:t>
            </a:r>
            <a:r>
              <a:rPr sz="16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R</a:t>
            </a:r>
            <a:r>
              <a:rPr sz="1250">
                <a:solidFill>
                  <a:srgbClr val="F1C40F"/>
                </a:solidFill>
              </a:rPr>
              <a:t>beam</a:t>
            </a:r>
            <a:r>
              <a:rPr sz="16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d,perez</a:t>
            </a:r>
            <a:r>
              <a:rPr sz="16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  brillo de horizonte), evaluada por </a:t>
            </a:r>
            <a:r>
              <a:rPr sz="15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6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Salida: </a:t>
            </a:r>
            <a:r>
              <a:rPr sz="1550">
                <a:solidFill>
                  <a:srgbClr val="7FDBFF"/>
                </a:solidFill>
                <a:latin typeface="Consolas"/>
              </a:rPr>
              <a:t>poa_global</a:t>
            </a:r>
            <a:r>
              <a:rPr sz="1650">
                <a:solidFill>
                  <a:srgbClr val="FBFCFD"/>
                </a:solidFill>
              </a:rPr>
              <a:t> con </a:t>
            </a:r>
            <a:r>
              <a:rPr sz="1550">
                <a:solidFill>
                  <a:srgbClr val="7FDBFF"/>
                </a:solidFill>
                <a:latin typeface="Consolas"/>
              </a:rPr>
              <a:t>clip(≥0)</a:t>
            </a:r>
            <a:r>
              <a:rPr sz="16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40680"/>
            <a:ext cx="11460175" cy="10058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477256"/>
            <a:ext cx="11094415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Estado en este estudio:</a:t>
            </a:r>
            <a:r>
              <a:rPr sz="1750">
                <a:solidFill>
                  <a:srgbClr val="FBFCFD"/>
                </a:solidFill>
              </a:rPr>
              <a:t> ecuaciones revisadas en la literatura pero </a:t>
            </a:r>
            <a:r>
              <a:rPr sz="1750" b="1">
                <a:solidFill>
                  <a:srgbClr val="FBFCFD"/>
                </a:solidFill>
              </a:rPr>
              <a:t>no ejecutadas por el pipeline</a:t>
            </a:r>
            <a:r>
              <a:rPr sz="175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/ T</a:t>
            </a:r>
            <a:r>
              <a:rPr sz="1250">
                <a:solidFill>
                  <a:srgbClr val="FBFCFD"/>
                </a:solidFill>
              </a:rPr>
              <a:t>a</a:t>
            </a:r>
            <a:r>
              <a:rPr sz="16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</a:t>
            </a:r>
            <a:r>
              <a:rPr sz="16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v</a:t>
            </a:r>
            <a:r>
              <a:rPr sz="1250">
                <a:solidFill>
                  <a:srgbClr val="FBFCFD"/>
                </a:solidFill>
              </a:rPr>
              <a:t>w</a:t>
            </a:r>
            <a:r>
              <a:rPr sz="16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m-Si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6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HIT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6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Fuente:</a:t>
            </a:r>
            <a:r>
              <a:rPr sz="1650">
                <a:solidFill>
                  <a:srgbClr val="FBFCFD"/>
                </a:solidFill>
              </a:rPr>
              <a:t> </a:t>
            </a:r>
            <a:r>
              <a:rPr sz="15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6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s</a:t>
            </a:r>
            <a:r>
              <a:rPr sz="16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I</a:t>
            </a:r>
            <a:r>
              <a:rPr sz="16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L</a:t>
            </a:r>
            <a:r>
              <a:rPr sz="16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0</a:t>
            </a:r>
            <a:r>
              <a:rPr sz="16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 / 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k / q /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β</a:t>
            </a:r>
            <a:r>
              <a:rPr sz="1150">
                <a:solidFill>
                  <a:srgbClr val="F1C40F"/>
                </a:solidFill>
              </a:rPr>
              <a:t>Voc</a:t>
            </a:r>
            <a:r>
              <a:rPr sz="1550">
                <a:solidFill>
                  <a:srgbClr val="F1C40F"/>
                </a:solidFill>
              </a:rPr>
              <a:t> (medido): regresión lineal V</a:t>
            </a:r>
            <a:r>
              <a:rPr sz="1150">
                <a:solidFill>
                  <a:srgbClr val="F1C40F"/>
                </a:solidFill>
              </a:rPr>
              <a:t>oc</a:t>
            </a:r>
            <a:r>
              <a:rPr sz="1550">
                <a:solidFill>
                  <a:srgbClr val="F1C40F"/>
                </a:solidFill>
              </a:rPr>
              <a:t> vs T</a:t>
            </a:r>
            <a:r>
              <a:rPr sz="1150">
                <a:solidFill>
                  <a:srgbClr val="F1C40F"/>
                </a:solidFill>
              </a:rPr>
              <a:t>c</a:t>
            </a:r>
            <a:r>
              <a:rPr sz="15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α</a:t>
            </a:r>
            <a:r>
              <a:rPr sz="1150">
                <a:solidFill>
                  <a:srgbClr val="F1C40F"/>
                </a:solidFill>
              </a:rPr>
              <a:t>Isc</a:t>
            </a:r>
            <a:r>
              <a:rPr sz="15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Promedios de la ventana → I</a:t>
            </a:r>
            <a:r>
              <a:rPr sz="1150">
                <a:solidFill>
                  <a:srgbClr val="F1C40F"/>
                </a:solidFill>
              </a:rPr>
              <a:t>sc,ref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oc,ref</a:t>
            </a:r>
            <a:r>
              <a:rPr sz="1550">
                <a:solidFill>
                  <a:srgbClr val="F1C40F"/>
                </a:solidFill>
              </a:rPr>
              <a:t>, I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5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Regularización física (bounds):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n</a:t>
            </a:r>
            <a:r>
              <a:rPr sz="1100">
                <a:solidFill>
                  <a:srgbClr val="F1C40F"/>
                </a:solidFill>
              </a:rPr>
              <a:t>I</a:t>
            </a:r>
            <a:r>
              <a:rPr sz="1500">
                <a:solidFill>
                  <a:srgbClr val="F1C40F"/>
                </a:solidFill>
              </a:rPr>
              <a:t> ∈ [1, 2]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1. Corriente fotogenerada (I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2. Corriente de saturación inversa (I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4. Resistencia shunt (R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5. Energía de bandgap del Silicio (E</a:t>
            </a:r>
            <a:r>
              <a:rPr sz="1150">
                <a:solidFill>
                  <a:srgbClr val="FBFCFD"/>
                </a:solidFill>
              </a:rPr>
              <a:t>g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mp,t</a:t>
            </a:r>
            <a:r>
              <a:rPr sz="16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: potencia nominal del </a:t>
            </a:r>
            <a:r>
              <a:rPr sz="1650" b="1">
                <a:solidFill>
                  <a:srgbClr val="FBFCFD"/>
                </a:solidFill>
              </a:rPr>
              <a:t>mismo SDM</a:t>
            </a:r>
            <a:r>
              <a:rPr sz="16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poa,t</a:t>
            </a:r>
            <a:r>
              <a:rPr sz="16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ref</a:t>
            </a:r>
            <a:r>
              <a:rPr sz="16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Térmicas:</a:t>
            </a:r>
            <a:r>
              <a:rPr sz="1650">
                <a:solidFill>
                  <a:srgbClr val="FBFCFD"/>
                </a:solidFill>
              </a:rPr>
              <a:t> caídas por elevada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Óhmicas:</a:t>
            </a:r>
            <a:r>
              <a:rPr sz="1650">
                <a:solidFill>
                  <a:srgbClr val="FBFCFD"/>
                </a:solidFill>
              </a:rPr>
              <a:t> pérdidas resistivas en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 bajo G:</a:t>
            </a:r>
            <a:r>
              <a:rPr sz="1650">
                <a:solidFill>
                  <a:srgbClr val="FBFCFD"/>
                </a:solidFill>
              </a:rPr>
              <a:t> comportamiento no lineal a baja irradiancia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Time Stamp</a:t>
            </a:r>
            <a:r>
              <a:rPr sz="16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Isc</a:t>
            </a:r>
            <a:r>
              <a:rPr sz="1650">
                <a:solidFill>
                  <a:srgbClr val="FBFCFD"/>
                </a:solidFill>
              </a:rPr>
              <a:t> (5), </a:t>
            </a:r>
            <a:r>
              <a:rPr sz="1550">
                <a:solidFill>
                  <a:srgbClr val="7FDBFF"/>
                </a:solidFill>
                <a:latin typeface="Consolas"/>
              </a:rPr>
              <a:t>Pmp</a:t>
            </a:r>
            <a:r>
              <a:rPr sz="1650">
                <a:solidFill>
                  <a:srgbClr val="FBFCFD"/>
                </a:solidFill>
              </a:rPr>
              <a:t> (7), </a:t>
            </a:r>
            <a:r>
              <a:rPr sz="1550">
                <a:solidFill>
                  <a:srgbClr val="7FDBFF"/>
                </a:solidFill>
                <a:latin typeface="Consolas"/>
              </a:rPr>
              <a:t>Imp</a:t>
            </a:r>
            <a:r>
              <a:rPr sz="1650">
                <a:solidFill>
                  <a:srgbClr val="FBFCFD"/>
                </a:solidFill>
              </a:rPr>
              <a:t> (9), </a:t>
            </a:r>
            <a:r>
              <a:rPr sz="1550">
                <a:solidFill>
                  <a:srgbClr val="7FDBFF"/>
                </a:solidFill>
                <a:latin typeface="Consolas"/>
              </a:rPr>
              <a:t>Vmp</a:t>
            </a:r>
            <a:r>
              <a:rPr sz="1650">
                <a:solidFill>
                  <a:srgbClr val="FBFCFD"/>
                </a:solidFill>
              </a:rPr>
              <a:t> (11), </a:t>
            </a:r>
            <a:r>
              <a:rPr sz="1550">
                <a:solidFill>
                  <a:srgbClr val="7FDBFF"/>
                </a:solidFill>
                <a:latin typeface="Consolas"/>
              </a:rPr>
              <a:t>Voc</a:t>
            </a:r>
            <a:r>
              <a:rPr sz="16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FF</a:t>
            </a:r>
            <a:r>
              <a:rPr sz="16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650">
                <a:solidFill>
                  <a:srgbClr val="FBFCFD"/>
                </a:solidFill>
              </a:rPr>
              <a:t> (20), </a:t>
            </a:r>
            <a:r>
              <a:rPr sz="15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6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DNI</a:t>
            </a:r>
            <a:r>
              <a:rPr sz="1650">
                <a:solidFill>
                  <a:srgbClr val="FBFCFD"/>
                </a:solidFill>
              </a:rPr>
              <a:t> (27), </a:t>
            </a:r>
            <a:r>
              <a:rPr sz="1550">
                <a:solidFill>
                  <a:srgbClr val="7FDBFF"/>
                </a:solidFill>
                <a:latin typeface="Consolas"/>
              </a:rPr>
              <a:t>GHI</a:t>
            </a:r>
            <a:r>
              <a:rPr sz="1650">
                <a:solidFill>
                  <a:srgbClr val="FBFCFD"/>
                </a:solidFill>
              </a:rPr>
              <a:t> (30), </a:t>
            </a:r>
            <a:r>
              <a:rPr sz="1550">
                <a:solidFill>
                  <a:srgbClr val="7FDBFF"/>
                </a:solidFill>
                <a:latin typeface="Consolas"/>
              </a:rPr>
              <a:t>DHI</a:t>
            </a:r>
            <a:r>
              <a:rPr sz="165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POA CMP22</a:t>
            </a:r>
            <a:r>
              <a:rPr sz="165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6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65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550">
                <a:solidFill>
                  <a:srgbClr val="7FDBFF"/>
                </a:solidFill>
                <a:latin typeface="Consolas"/>
              </a:rPr>
              <a:t>99:99</a:t>
            </a:r>
            <a:r>
              <a:rPr sz="16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