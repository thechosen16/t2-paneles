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0.0 → 0.3 | 20 s]</a:t>
            </a:r>
          </a:p>
          <a:p>
            <a:r>
              <a:t>Saludo. Somos consultores técnicos: ¿qué tecnología PV conviene instalar en Atacama en 2026? Respuesta basada en datos medidos, no en catálogo.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0.3 → 1.3 | 60 s]</a:t>
            </a:r>
          </a:p>
          <a:p>
            <a:r>
              <a:t>Atacama = mejor recurso solar del mundo, pero las celdas operan a 65-73 °C y el calor degrada la potencia. Objetivo: cuantificar qué tecnología resiste mejor.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1.3 → 2.2 | 50 s]</a:t>
            </a:r>
          </a:p>
          <a:p>
            <a:r>
              <a:t>De las 5 familias del dataset elegimos los 2 extremos térmicos comercialmente viables: m-Si (estándar, sensible) vs HIT (premium, tolerante).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2.2 → 3.0 | 50 s]</a:t>
            </a:r>
          </a:p>
          <a:p>
            <a:r>
              <a:t>Modelos publicados encadenados: Perez (POA), Sandia (Tc), De Soto SDM (eléctrico) y su escalamiento, MÁS los modificadores ópticos IAM y espectral, ahora aplicados en Fase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3.0 → 4.0 | 60 s]</a:t>
            </a:r>
          </a:p>
          <a:p>
            <a:r>
              <a:t>Mapa del trabajo: 5 fases automatizadas desde 1.2 GB de CSV crudos hasta el PR. Esta lámina es la guía de las secciones siguientes.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4.0 → 4.8 | 50 s]</a:t>
            </a:r>
          </a:p>
          <a:p>
            <a:r>
              <a:t>La base: 11 módulos medidos en simultáneo cada 5 min por NREL. Usamos 11 columnas de 43; cada registro es una curva I-V real con su meteorología.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4.8 → 5.6 | 45 s]</a:t>
            </a:r>
          </a:p>
          <a:p>
            <a:r>
              <a:t>Los archivos no se pueden abrir con read_csv: fila variable + sentinelas -9999. Lector streaming propio → ~96 % de la ventana de 12 meses.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5.6 → 6.3 | 45 s]</a:t>
            </a:r>
          </a:p>
          <a:p>
            <a:r>
              <a:t>Trazabilidad completa: de 420 mil curvas brutas a ~64 mil registros simulados. Cada filtro tiene número y razón.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6.3 → 7.3 | 60 s]</a:t>
            </a:r>
          </a:p>
          <a:p>
            <a:r>
              <a:t>Idea clave de la emulación: +6 meses alinea los solsticios entre hemisferios. Sin esto, simularíamos un Atacama con verano en julio.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7.3 → 8.1 | 45 s]</a:t>
            </a:r>
          </a:p>
          <a:p>
            <a:r>
              <a:t>Implementación: reescribir metadatos de sitio + desfase de fechas. Las magnitudes físicas NO se tocan — límite declarado del método.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8.1 → 8.8 | 40 s]</a:t>
            </a:r>
          </a:p>
          <a:p>
            <a:r>
              <a:t>Verificación previa: las 11 curvas POA del piranómetro patrón se superponen → los sensores son consistentes y la comparación entre módulos es justa.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8.8 → 9.5 | 45 s]</a:t>
            </a:r>
          </a:p>
          <a:p>
            <a:r>
              <a:t>Fase 2: Perez transpone GHI/DNI/DHI al plano del panel; Sandia estima la temperatura de celda con viento conservador de 1 m/s.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9.5 → 10.2 | 45 s]</a:t>
            </a:r>
          </a:p>
          <a:p>
            <a:r>
              <a:t>Ahora SÍ aplicamos los modificadores ópticos: IAM físico (pérdida ~3 % en ángulos rasantes) y factor espectral (neutro en el cielo seco de Atacama). La irradiancia efectiva alimenta el modelo eléctrico — antes era trabajo futuro, ahora está ejecutado.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10.2 → 10.9 | 40 s]</a:t>
            </a:r>
          </a:p>
          <a:p>
            <a:r>
              <a:t>Para no expertos: en un día despejado la celda sigue al sol y supera los 60 °C. Cada grado sobre 25 °C cuesta potencia — eso es lo que vamos a medir.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10.9 → 11.7 | 45 s]</a:t>
            </a:r>
          </a:p>
          <a:p>
            <a:r>
              <a:t>Fase 3: coeficientes térmicos por regresión (β medido; α de literatura porque la regresión salió negativa) y ajuste de los 5 parámetros con bounds físicos.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11.7 → 12.7 | 60 s]</a:t>
            </a:r>
          </a:p>
          <a:p>
            <a:r>
              <a:t>Parámetros extraídos: el I0 de HIT es 10 veces menor (menos recombinación). Honestidad: Rs y Rsh quedan en su inicialización — lo discutimos en la lámina Rs-n.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12.7 → 13.3 | 40 s]</a:t>
            </a:r>
          </a:p>
          <a:p>
            <a:r>
              <a:t>Fase 4: para cada registro 5-min se escala el circuito con De Soto y se resuelve la potencia máxima con Lambert W. De ahí sale el PR 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13.3 → 14.2 | 55 s]</a:t>
            </a:r>
          </a:p>
          <a:p>
            <a:r>
              <a:t>Antes de comparar tecnologías, validamos el modelo: R² 0.99 contra la potencia medida por el trazador. Mismo G y Tc en ambos ejes — valida el circuito, no compara sitios.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14.2 → 15.2 | 60 s]</a:t>
            </a:r>
          </a:p>
          <a:p>
            <a:r>
              <a:t>Punto conflictual exigido por la pauta: Rs y n están acoplados (mal condicionado). Mitigación: bounds + inicialización analítica. Evidencia: nI=1.20 en ambas tecnologías.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15.2 → 16.2 | 55 s]</a:t>
            </a:r>
          </a:p>
          <a:p>
            <a:r>
              <a:t>El gráfico clave: la pendiente térmica de m-Si es el doble de empinada. El calor castiga justo al mediodía, cuando más energía hay en juego.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16.2 → 17.2 | 65 s]</a:t>
            </a:r>
          </a:p>
          <a:p>
            <a:r>
              <a:t>Veredicto del track validado (recurso emulado, R²=0.99): HIT 84.18 % vs m-Si 81.61 % → +2.57 puntos. La caída frente al deck previo es el ~3 % óptico que ahora SÍ penalizamos. La prima CAPEX de HIT se justifica.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17.2 → 18.2 | 55 s]</a:t>
            </a:r>
          </a:p>
          <a:p>
            <a:r>
              <a:t>Con el recurso REAL de Atacama (PVGIS TMY): yields ~2,360-2,390 kWh/kWp (2.3× el emulado). HIT gana +1.17 pts de PR — menos que en Florida porque el aire de altura es frío (Tc ~58-62 °C) — pero son +3,294 MWh y +USD 148k al año en 100 MWp.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18.2 → 18.8 | 40 s]</a:t>
            </a:r>
          </a:p>
          <a:p>
            <a:r>
              <a:t>Cierre de consultoría: cada requisito de la pauta tiene método, lámina de evidencia y resultado. Nada quedó sin responder.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18.8 → 19.8 | 60 s]</a:t>
            </a:r>
          </a:p>
          <a:p>
            <a:r>
              <a:t>Transparencia: resolvimos IAM/espectral, albedo 0.20, doble cobertura y recurso real. Permanece: validación eléctrica con datos de Florida, α de literatura, sin soiling ni BOS.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19.8 → 20.8 | 60 s]</a:t>
            </a:r>
          </a:p>
          <a:p>
            <a:r>
              <a:t>HIT gana por física (menor coeficiente térmico) con metodología validada e IAM/espectral aplicados. Futuro: validación in-situ, soiling, BOS y doble diodo.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20.8 → 21.0 | 10 s]</a:t>
            </a:r>
          </a:p>
          <a:p>
            <a:r>
              <a:t>Referencias disponibles. Gracias — abrimos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1C40F"/>
                </a:solidFill>
              </a:rPr>
              <a:t>Evaluación de Tecnologías Fotovoltaicas en el Desierto de Atacama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957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9AA5B1"/>
                </a:solidFill>
              </a:rPr>
              <a:t>Tratamiento de datos experimentales NREL y modelamiento dinámico m-Si vs HIT — Año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880360"/>
            <a:ext cx="4114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291840"/>
            <a:ext cx="10698480" cy="2514600"/>
          </a:xfrm>
          <a:prstGeom prst="rect">
            <a:avLst/>
          </a:prstGeom>
          <a:solidFill>
            <a:srgbClr val="1F2833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6118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FBFCFD"/>
                </a:solidFill>
              </a:rPr>
              <a:t>Integrantes / Estudiantes: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Laury Gualdron  |  Sebastian Marin  |  Alejandro Hernández</a:t>
            </a:r>
          </a:p>
          <a:p>
            <a:pPr algn="l"/>
          </a:p>
          <a:p>
            <a:pPr algn="l"/>
            <a:r>
              <a:rPr sz="1500">
                <a:solidFill>
                  <a:srgbClr val="FBFCFD"/>
                </a:solidFill>
              </a:rPr>
              <a:t>Profesor Guía: Carlos Cardenas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ELI556 — Modelamiento y Análisis de Sistemas PV  |  Grupo Alta Tensión (AT)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Fecha de presentación: Jueves, 11 de junio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1/39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a) Introducción y contextualización: El Desierto de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INTRODUCCIÓN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Contexto: El Recurso Solar más Extremo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Irradiación excepcional:</a:t>
            </a:r>
            <a:r>
              <a:rPr sz="1750">
                <a:solidFill>
                  <a:srgbClr val="FBFCFD"/>
                </a:solidFill>
              </a:rPr>
              <a:t> GHI anual &gt; 2,900 kWh/m² en el norte de Chile (máxima mundial) — motivación del sitio.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Cielos limpios y altitud:</a:t>
            </a:r>
            <a:r>
              <a:rPr sz="1750">
                <a:solidFill>
                  <a:srgbClr val="FBFCFD"/>
                </a:solidFill>
              </a:rPr>
              <a:t> baja atenuación atmosférica a 2,400 m.s.n.m.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Sitio simulado:</a:t>
            </a:r>
            <a:r>
              <a:rPr sz="1750">
                <a:solidFill>
                  <a:srgbClr val="FBFCFD"/>
                </a:solidFill>
              </a:rPr>
              <a:t> San Pedro de Atacama (lat −22.91°, lon −68.20°, UTC−4).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Base experimental:</a:t>
            </a:r>
            <a:r>
              <a:rPr sz="1750">
                <a:solidFill>
                  <a:srgbClr val="FBFCFD"/>
                </a:solidFill>
              </a:rPr>
              <a:t> mediciones NREL (Cocoa, Florida) emuladas estacionalmente al hemisferio sur (Limitaciones, Lám. 24).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 Desafío: Estrés Térmico de Operación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Calentamiento severo:</a:t>
            </a:r>
            <a:r>
              <a:rPr sz="1750">
                <a:solidFill>
                  <a:srgbClr val="FBFCFD"/>
                </a:solidFill>
              </a:rPr>
              <a:t> las celdas operan sobre 65 °C al mediodía solar de verano (máx. simulado: 73.3 °C en HIT).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Degradación térmica:</a:t>
            </a:r>
            <a:r>
              <a:rPr sz="1750">
                <a:solidFill>
                  <a:srgbClr val="FBFCFD"/>
                </a:solidFill>
              </a:rPr>
              <a:t> la potencia máxima y el voltaje de circuito abierto caen al subir la temperatura de celda (T</a:t>
            </a:r>
            <a:r>
              <a:rPr sz="1350">
                <a:solidFill>
                  <a:srgbClr val="FBFCFD"/>
                </a:solidFill>
              </a:rPr>
              <a:t>c</a:t>
            </a:r>
            <a:r>
              <a:rPr sz="1750">
                <a:solidFill>
                  <a:srgbClr val="FBFCFD"/>
                </a:solidFill>
              </a:rPr>
              <a:t>, máx. simulado 73.3 °C).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Objetivo:</a:t>
            </a:r>
            <a:r>
              <a:rPr sz="1750">
                <a:solidFill>
                  <a:srgbClr val="FBFCFD"/>
                </a:solidFill>
              </a:rPr>
              <a:t> modelar registro a registro (cadencia 5 min) qué tecnología — </a:t>
            </a:r>
            <a:r>
              <a:rPr sz="1750" b="1">
                <a:solidFill>
                  <a:srgbClr val="FBFCFD"/>
                </a:solidFill>
              </a:rPr>
              <a:t>m-Si</a:t>
            </a:r>
            <a:r>
              <a:rPr sz="1750">
                <a:solidFill>
                  <a:srgbClr val="FBFCFD"/>
                </a:solidFill>
              </a:rPr>
              <a:t> o </a:t>
            </a:r>
            <a:r>
              <a:rPr sz="1750" b="1">
                <a:solidFill>
                  <a:srgbClr val="FBFCFD"/>
                </a:solidFill>
              </a:rPr>
              <a:t>HIT</a:t>
            </a:r>
            <a:r>
              <a:rPr sz="1750">
                <a:solidFill>
                  <a:srgbClr val="FBFCFD"/>
                </a:solidFill>
              </a:rPr>
              <a:t> — resiste mejor el estrés térmico desértico durante 2026, y traducirlo a PR anual.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b) Justificación e impacto: Selección de Tecnologías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JUSTIFICACIÓN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2120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2120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Familias disponibles en el Dataset Cocoa (NREL) y criterio de selección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91640"/>
          <a:ext cx="11002973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0059"/>
                <a:gridCol w="1209118"/>
                <a:gridCol w="1692765"/>
                <a:gridCol w="3143707"/>
                <a:gridCol w="2297324"/>
              </a:tblGrid>
              <a:tr h="502920"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Tecnología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Eficiencia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Coef. Temp. (Pmp)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Comportamiento en Desierto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Decisión / Rol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m-Si / x-Si
(Silicio Monocristalino)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17% - 21%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−0.40 %/°C (Malo)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SELECCIONADO (Línea Base)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HIT
(Heterounión)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20% - 22%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−0.26 %/°C (Excelente)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SELECCIONADO (Premium)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CdTe
(Teluro de Cadmio)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15% - 18%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−0.28 %/°C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Desempeño térmico sobresaliente; toxicidad por Cadmio.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DESCARTADO (Menor contraste)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CIGS
(Película Delgada)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14% - 16%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−0.35 %/°C (Bueno)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Pérdidas moderadas; susceptible a degradación por humedad.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DESCARTADO (Sin contraste extremo)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a-Si
(Silicio Amorfo)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6% - 10%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−0.20 %/°C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Muy baja eficiencia base y alta degradación inicial.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DESCARTADO (Inviable comercial)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349240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9AA5B1"/>
                </a:solidFill>
              </a:rPr>
              <a:t>Criterio: máximo contraste térmico entre tecnologías comerciales viables, con datos experimentales completos en el dataset (</a:t>
            </a:r>
            <a:r>
              <a:rPr sz="1450">
                <a:solidFill>
                  <a:srgbClr val="7FDBFF"/>
                </a:solidFill>
                <a:latin typeface="Consolas"/>
              </a:rPr>
              <a:t>mSi0166</a:t>
            </a:r>
            <a:r>
              <a:rPr sz="1550">
                <a:solidFill>
                  <a:srgbClr val="9AA5B1"/>
                </a:solidFill>
              </a:rPr>
              <a:t> y </a:t>
            </a:r>
            <a:r>
              <a:rPr sz="1450">
                <a:solidFill>
                  <a:srgbClr val="7FDBFF"/>
                </a:solidFill>
                <a:latin typeface="Consolas"/>
              </a:rPr>
              <a:t>HIT05667</a:t>
            </a:r>
            <a:r>
              <a:rPr sz="1550">
                <a:solidFill>
                  <a:srgbClr val="9AA5B1"/>
                </a:solidFill>
              </a:rPr>
              <a:t>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c) Marco referencial y revisión de literatura: Modelos Teóricos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MARCO TEÓRICO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Literatura Académica y Modelos APLICADOS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Modelo de un Diodo Simple (SDM) [De Soto et al., 2006]:</a:t>
            </a:r>
            <a:r>
              <a:rPr sz="1500">
                <a:solidFill>
                  <a:srgbClr val="FBFCFD"/>
                </a:solidFill>
              </a:rPr>
              <a:t> circuito equivalente con pérdidas óhmicas en serie (R</a:t>
            </a:r>
            <a:r>
              <a:rPr sz="1100">
                <a:solidFill>
                  <a:srgbClr val="FBFCFD"/>
                </a:solidFill>
              </a:rPr>
              <a:t>s</a:t>
            </a:r>
            <a:r>
              <a:rPr sz="1500">
                <a:solidFill>
                  <a:srgbClr val="FBFCFD"/>
                </a:solidFill>
              </a:rPr>
              <a:t>) y fugas shunt (R</a:t>
            </a:r>
            <a:r>
              <a:rPr sz="1100">
                <a:solidFill>
                  <a:srgbClr val="FBFCFD"/>
                </a:solidFill>
              </a:rPr>
              <a:t>sh</a:t>
            </a:r>
            <a:r>
              <a:rPr sz="1500">
                <a:solidFill>
                  <a:srgbClr val="FBFCFD"/>
                </a:solidFill>
              </a:rPr>
              <a:t>). (Anexo IV, Lám. 30)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Modelo Térmico de Sandia (SAPM) [King et al., 2004]:</a:t>
            </a:r>
            <a:r>
              <a:rPr sz="1500">
                <a:solidFill>
                  <a:srgbClr val="FBFCFD"/>
                </a:solidFill>
              </a:rPr>
              <a:t> estima la temperatura interna de celda desde POA y viento. (Anexo III, Lám. 29)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Transposición de Perez (1990):</a:t>
            </a:r>
            <a:r>
              <a:rPr sz="1500">
                <a:solidFill>
                  <a:srgbClr val="FBFCFD"/>
                </a:solidFill>
              </a:rPr>
              <a:t> lleva GHI/DNI/DHI al plano inclinado con cielo difuso anisotrópico. (Anexo I, Lám. 27)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Escalamiento De Soto (2006):</a:t>
            </a:r>
            <a:r>
              <a:rPr sz="1500">
                <a:solidFill>
                  <a:srgbClr val="FBFCFD"/>
                </a:solidFill>
              </a:rPr>
              <a:t> traslada los 5 parámetros desde STC a condiciones operacionales vía bandgap. (Anexo VI, Lám. 32)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Modificadores ópticos APLICADOS:</a:t>
            </a:r>
            <a:r>
              <a:rPr sz="1500">
                <a:solidFill>
                  <a:srgbClr val="FBFCFD"/>
                </a:solidFill>
              </a:rPr>
              <a:t> IAM físico de Snell-Bouguer y factor espectral por masa de aire [King et al., 2004] — ejecutados en la Fase 2 sobre la POA. (Anexo II, Lám. 28)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Circuito Equivalente de un Diodo (SDM)</a:t>
            </a:r>
          </a:p>
        </p:txBody>
      </p:sp>
      <p:pic>
        <p:nvPicPr>
          <p:cNvPr id="12" name="Picture 11" descr="circuito_equivalente_s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3591" y="1783080"/>
            <a:ext cx="5394960" cy="2377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34175" y="4251960"/>
            <a:ext cx="5190591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Componentes del circuito equivalente (SDM):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I</a:t>
            </a:r>
            <a:r>
              <a:rPr sz="1100" b="1">
                <a:solidFill>
                  <a:srgbClr val="FBFCFD"/>
                </a:solidFill>
              </a:rPr>
              <a:t>L</a:t>
            </a:r>
            <a:r>
              <a:rPr sz="1500" b="1">
                <a:solidFill>
                  <a:srgbClr val="FBFCFD"/>
                </a:solidFill>
              </a:rPr>
              <a:t> (Corriente fotogenerada):</a:t>
            </a:r>
            <a:r>
              <a:rPr sz="1500">
                <a:solidFill>
                  <a:srgbClr val="FBFCFD"/>
                </a:solidFill>
              </a:rPr>
              <a:t> proporcional a la irradiancia.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Diodo (D):</a:t>
            </a:r>
            <a:r>
              <a:rPr sz="1500">
                <a:solidFill>
                  <a:srgbClr val="FBFCFD"/>
                </a:solidFill>
              </a:rPr>
              <a:t> representa la recombinación en la unión P-N.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R</a:t>
            </a:r>
            <a:r>
              <a:rPr sz="1100" b="1">
                <a:solidFill>
                  <a:srgbClr val="FBFCFD"/>
                </a:solidFill>
              </a:rPr>
              <a:t>sh</a:t>
            </a:r>
            <a:r>
              <a:rPr sz="1500" b="1">
                <a:solidFill>
                  <a:srgbClr val="FBFCFD"/>
                </a:solidFill>
              </a:rPr>
              <a:t> (Resistencia shunt):</a:t>
            </a:r>
            <a:r>
              <a:rPr sz="1500">
                <a:solidFill>
                  <a:srgbClr val="FBFCFD"/>
                </a:solidFill>
              </a:rPr>
              <a:t> corriente de fuga interna.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R</a:t>
            </a:r>
            <a:r>
              <a:rPr sz="1100" b="1">
                <a:solidFill>
                  <a:srgbClr val="FBFCFD"/>
                </a:solidFill>
              </a:rPr>
              <a:t>s</a:t>
            </a:r>
            <a:r>
              <a:rPr sz="1500" b="1">
                <a:solidFill>
                  <a:srgbClr val="FBFCFD"/>
                </a:solidFill>
              </a:rPr>
              <a:t> (Resistencia serie):</a:t>
            </a:r>
            <a:r>
              <a:rPr sz="1500">
                <a:solidFill>
                  <a:srgbClr val="FBFCFD"/>
                </a:solidFill>
              </a:rPr>
              <a:t> pérdidas óhmicas de contacto.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I / V:</a:t>
            </a:r>
            <a:r>
              <a:rPr sz="1500">
                <a:solidFill>
                  <a:srgbClr val="FBFCFD"/>
                </a:solidFill>
              </a:rPr>
              <a:t> corriente y voltaje de salida entregados.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Arquitectura del Pipeline de Simulación (Fases 0–4)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peline_gen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188720"/>
            <a:ext cx="11430000" cy="33250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12064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15721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Flujo lógico de la simulación (Fases 0-4):</a:t>
            </a:r>
            <a:r>
              <a:rPr sz="1700">
                <a:solidFill>
                  <a:srgbClr val="FBFCFD"/>
                </a:solidFill>
              </a:rPr>
              <a:t> El proceso inicia con la exploración y emulación estacional de los datos (Fases 0-1) para adaptarlos al hemisferio sur. Luego, se limpia y calcula el recurso solar efectivo (Fase 2) y se extraen los parámetros físicos de los módulos (Fase 3). Finalmente, se realiza la simulación horaria dinámica (Fase 4) para obtener las series temporales de potencia y PR.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La Base de Datos Original — NREL Cocoa, Florida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módulos PV medidos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en simultáneo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1095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81095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5959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cadencia de medición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(solo horas de sol)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431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6431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5E3A"/>
                </a:solidFill>
              </a:rPr>
              <a:t>~420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1295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curvas I-V completas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(ene-2011 → mar-2012)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11767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1767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2ECC71"/>
                </a:solidFill>
              </a:rPr>
              <a:t>~1.2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6631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en 11 archivos CSV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(uno por módulo)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743200"/>
            <a:ext cx="73152" cy="3429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Campaña del </a:t>
            </a:r>
            <a:r>
              <a:rPr sz="1650" b="1">
                <a:solidFill>
                  <a:srgbClr val="FBFCFD"/>
                </a:solidFill>
              </a:rPr>
              <a:t>NREL</a:t>
            </a:r>
            <a:r>
              <a:rPr sz="1650">
                <a:solidFill>
                  <a:srgbClr val="FBFCFD"/>
                </a:solidFill>
              </a:rPr>
              <a:t> para validar modelos PV [Marion et al., 2014] en </a:t>
            </a:r>
            <a:r>
              <a:rPr sz="1650" b="1">
                <a:solidFill>
                  <a:srgbClr val="FBFCFD"/>
                </a:solidFill>
              </a:rPr>
              <a:t>Cocoa, Florida</a:t>
            </a:r>
            <a:r>
              <a:rPr sz="1650">
                <a:solidFill>
                  <a:srgbClr val="FBFCFD"/>
                </a:solidFill>
              </a:rPr>
              <a:t> (28.39° N, 12 m.s.n.m.).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Cada registro = una curva I-V completa</a:t>
            </a:r>
            <a:r>
              <a:rPr sz="1650">
                <a:solidFill>
                  <a:srgbClr val="FBFCFD"/>
                </a:solidFill>
              </a:rPr>
              <a:t> + meteorología instantánea + incertidumbres.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Seleccionados: </a:t>
            </a:r>
            <a:r>
              <a:rPr sz="1550">
                <a:solidFill>
                  <a:srgbClr val="7FDBFF"/>
                </a:solidFill>
                <a:latin typeface="Consolas"/>
              </a:rPr>
              <a:t>mSi0166</a:t>
            </a:r>
            <a:r>
              <a:rPr sz="1650">
                <a:solidFill>
                  <a:srgbClr val="FBFCFD"/>
                </a:solidFill>
              </a:rPr>
              <a:t> (</a:t>
            </a:r>
            <a:r>
              <a:rPr sz="1650" b="1">
                <a:solidFill>
                  <a:srgbClr val="FBFCFD"/>
                </a:solidFill>
              </a:rPr>
              <a:t>36,765 curvas</a:t>
            </a:r>
            <a:r>
              <a:rPr sz="1650">
                <a:solidFill>
                  <a:srgbClr val="FBFCFD"/>
                </a:solidFill>
              </a:rPr>
              <a:t>) y </a:t>
            </a:r>
            <a:r>
              <a:rPr sz="1550">
                <a:solidFill>
                  <a:srgbClr val="7FDBFF"/>
                </a:solidFill>
                <a:latin typeface="Consolas"/>
              </a:rPr>
              <a:t>HIT05667</a:t>
            </a:r>
            <a:r>
              <a:rPr sz="1650">
                <a:solidFill>
                  <a:srgbClr val="FBFCFD"/>
                </a:solidFill>
              </a:rPr>
              <a:t> (</a:t>
            </a:r>
            <a:r>
              <a:rPr sz="1650" b="1">
                <a:solidFill>
                  <a:srgbClr val="FBFCFD"/>
                </a:solidFill>
              </a:rPr>
              <a:t>38,377 curvas</a:t>
            </a:r>
            <a:r>
              <a:rPr sz="1650">
                <a:solidFill>
                  <a:srgbClr val="FBFCFD"/>
                </a:solidFill>
              </a:rPr>
              <a:t>) — criterio en Lám. 3.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2743200"/>
            <a:ext cx="73152" cy="34290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7599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variables usamos?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4175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Usadas (11 columnas):</a:t>
            </a:r>
            <a:r>
              <a:rPr sz="1650">
                <a:solidFill>
                  <a:srgbClr val="FBFCFD"/>
                </a:solidFill>
              </a:rPr>
              <a:t> timestamp, Isc, Pmp, Imp, Vmp, Voc, T bulbo seco, presión, DNI, GHI, DHI.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Verificación:</a:t>
            </a:r>
            <a:r>
              <a:rPr sz="1650">
                <a:solidFill>
                  <a:srgbClr val="FBFCFD"/>
                </a:solidFill>
              </a:rPr>
              <a:t> POA del piranómetro CMP22 clase A (Lám. 11).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Descartadas:</a:t>
            </a:r>
            <a:r>
              <a:rPr sz="1650">
                <a:solidFill>
                  <a:srgbClr val="FBFCFD"/>
                </a:solidFill>
              </a:rPr>
              <a:t> cola de pares I-V crudos y columnas de QA — diccionario completo en (Anexo VIII, Lám. 34).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Ingesta y Limpieza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gesta_limpie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97280"/>
            <a:ext cx="11430000" cy="290945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4630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>
                <a:solidFill>
                  <a:srgbClr val="FBFCFD"/>
                </a:solidFill>
              </a:rPr>
              <a:t>Proceso de ingesta y depuración:</a:t>
            </a:r>
            <a:r>
              <a:rPr sz="1650">
                <a:solidFill>
                  <a:srgbClr val="FBFCFD"/>
                </a:solidFill>
              </a:rPr>
              <a:t> Cada fila del CSV mezcla 43 columnas fijas con una cola de pares I-V de largo variable y sentinelas </a:t>
            </a:r>
            <a:r>
              <a:rPr sz="1550">
                <a:solidFill>
                  <a:srgbClr val="7FDBFF"/>
                </a:solidFill>
                <a:latin typeface="Consolas"/>
              </a:rPr>
              <a:t>-9999</a:t>
            </a:r>
            <a:r>
              <a:rPr sz="1650">
                <a:solidFill>
                  <a:srgbClr val="FBFCFD"/>
                </a:solidFill>
              </a:rPr>
              <a:t> — anatomía detallada en (Anexo IX, Lám. 35) —, lo que impide </a:t>
            </a:r>
            <a:r>
              <a:rPr sz="1550">
                <a:solidFill>
                  <a:srgbClr val="7FDBFF"/>
                </a:solidFill>
                <a:latin typeface="Consolas"/>
              </a:rPr>
              <a:t>pandas.read_csv</a:t>
            </a:r>
            <a:r>
              <a:rPr sz="1650">
                <a:solidFill>
                  <a:srgbClr val="FBFCFD"/>
                </a:solidFill>
              </a:rPr>
              <a:t> directo. El pipeline implementa un lector en flujo (streaming) que indexa solo las 11 variables útiles; luego reemplaza </a:t>
            </a:r>
            <a:r>
              <a:rPr sz="1550">
                <a:solidFill>
                  <a:srgbClr val="7FDBFF"/>
                </a:solidFill>
                <a:latin typeface="Consolas"/>
              </a:rPr>
              <a:t>-9999</a:t>
            </a:r>
            <a:r>
              <a:rPr sz="1650">
                <a:solidFill>
                  <a:srgbClr val="FBFCFD"/>
                </a:solidFill>
              </a:rPr>
              <a:t> por </a:t>
            </a:r>
            <a:r>
              <a:rPr sz="1550">
                <a:solidFill>
                  <a:srgbClr val="7FDBFF"/>
                </a:solidFill>
                <a:latin typeface="Consolas"/>
              </a:rPr>
              <a:t>NaN</a:t>
            </a:r>
            <a:r>
              <a:rPr sz="1650">
                <a:solidFill>
                  <a:srgbClr val="FBFCFD"/>
                </a:solidFill>
              </a:rPr>
              <a:t>, descarta filas nulas y recorta irradiancias negativas, conservando </a:t>
            </a:r>
            <a:r>
              <a:rPr sz="1650" b="1">
                <a:solidFill>
                  <a:srgbClr val="FBFCFD"/>
                </a:solidFill>
              </a:rPr>
              <a:t>95.8 % (m-Si) y 96.1 % (HIT)</a:t>
            </a:r>
            <a:r>
              <a:rPr sz="1650">
                <a:solidFill>
                  <a:srgbClr val="FBFCFD"/>
                </a:solidFill>
              </a:rPr>
              <a:t> de la ventana de 12 meses para el modelado.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7/39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Embudo de Datos — Trazabilidad por Fase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mbudo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07008"/>
            <a:ext cx="9966960" cy="5139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Geográfica — Concepto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emu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280160"/>
            <a:ext cx="10607040" cy="4705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080760"/>
            <a:ext cx="114601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9AA5B1"/>
                </a:solidFill>
              </a:rPr>
              <a:t>¿Por qué? Usar datos del hemisferio norte sin desfasar crearía solsticios invertidos: el filtro alinea las estaciones antes de simular.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— Implementación (Fase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912" y="1188720"/>
            <a:ext cx="9169869" cy="32918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572000"/>
            <a:ext cx="11460175" cy="1078992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608576"/>
            <a:ext cx="11094415" cy="1005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BFCFD"/>
                </a:solidFill>
              </a:rPr>
              <a:t>Proceso de emulación temporal:</a:t>
            </a:r>
            <a:r>
              <a:rPr sz="1550">
                <a:solidFill>
                  <a:srgbClr val="FBFCFD"/>
                </a:solidFill>
              </a:rPr>
              <a:t> el código reescribe el sitio en los metadatos (lat −22.91°, 2,400 m, tilt 22.9°, azimut 0° N) y aplica un desfase de +6 meses a las fechas, proyectando el año a 2026 </a:t>
            </a:r>
            <a:r>
              <a:rPr sz="1550" b="1">
                <a:solidFill>
                  <a:srgbClr val="FBFCFD"/>
                </a:solidFill>
              </a:rPr>
              <a:t>sin alterar los valores físicos medidos</a:t>
            </a:r>
            <a:r>
              <a:rPr sz="1550">
                <a:solidFill>
                  <a:srgbClr val="FBFCFD"/>
                </a:solidFill>
              </a:rPr>
              <a:t>. Se conserva solo la </a:t>
            </a:r>
            <a:r>
              <a:rPr sz="1550" b="1">
                <a:solidFill>
                  <a:srgbClr val="FBFCFD"/>
                </a:solidFill>
              </a:rPr>
              <a:t>primera ventana de 12 meses</a:t>
            </a:r>
            <a:r>
              <a:rPr sz="1550">
                <a:solidFill>
                  <a:srgbClr val="FBFCFD"/>
                </a:solidFill>
              </a:rPr>
              <a:t> [ene-2011, ene-2012): así cada mes se cubre una vez y se elimina la doble cobertura de jul–sep — contraste climático en (Anexo X, Lám. 36).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742432"/>
            <a:ext cx="11460175" cy="713232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7900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BFCFD"/>
                </a:solidFill>
              </a:rPr>
              <a:t>Límite explícito del método:</a:t>
            </a:r>
            <a:r>
              <a:rPr sz="1550">
                <a:solidFill>
                  <a:srgbClr val="FBFCFD"/>
                </a:solidFill>
              </a:rPr>
              <a:t> se alinean estaciones y geometría solar; las </a:t>
            </a:r>
            <a:r>
              <a:rPr sz="1550" b="1">
                <a:solidFill>
                  <a:srgbClr val="FBFCFD"/>
                </a:solidFill>
              </a:rPr>
              <a:t>magnitudes medidas</a:t>
            </a:r>
            <a:r>
              <a:rPr sz="1550">
                <a:solidFill>
                  <a:srgbClr val="FBFCFD"/>
                </a:solidFill>
              </a:rPr>
              <a:t> de irradiancia y clima siguen siendo las de Florida (ver Limitaciones, Lám. 24).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10/39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Verificación del Recurso Medido (POA CMP22)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421,664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registros de irradiancia válidos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(11 archivos Cocoa)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4256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4256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1,443 W/m²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POA máxima medida en el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plano del arreglo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2752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5E3A"/>
                </a:solidFill>
              </a:rPr>
              <a:t>CMP22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6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piranómetro de referencia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clase A (alta precisión)</a:t>
            </a:r>
          </a:p>
        </p:txBody>
      </p:sp>
      <p:pic>
        <p:nvPicPr>
          <p:cNvPr id="14" name="Picture 13" descr="poa_irradiance_cmp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1875" y="2697480"/>
            <a:ext cx="6527945" cy="3291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5760" y="6053328"/>
            <a:ext cx="1146017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9AA5B1"/>
                </a:solidFill>
              </a:rPr>
              <a:t>Las 11 curvas se superponen → consistencia instrumental antes de emular y modelar — notas metodológicas en (Anexo XI, Lám. 37).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Recurso Solar Sintético y Perfil Térmico (Fase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7721" y="1234440"/>
            <a:ext cx="9196251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Estimación de la radiación y temperatura:</a:t>
            </a:r>
            <a:r>
              <a:rPr sz="1700">
                <a:solidFill>
                  <a:srgbClr val="FBFCFD"/>
                </a:solidFill>
              </a:rPr>
              <a:t> Tras filtrar y limpiar los registros nulos, el código transpone las irradiancias al plano inclinado (POA) con el modelo difuso de Perez (albedo </a:t>
            </a:r>
            <a:r>
              <a:rPr sz="1700" b="1">
                <a:solidFill>
                  <a:srgbClr val="FBFCFD"/>
                </a:solidFill>
              </a:rPr>
              <a:t>0.20</a:t>
            </a:r>
            <a:r>
              <a:rPr sz="1700">
                <a:solidFill>
                  <a:srgbClr val="FBFCFD"/>
                </a:solidFill>
              </a:rPr>
              <a:t>). Sobre esa POA se aplican los modificadores ópticos IAM y espectral (lámina siguiente). Luego, con el modelo de Sandia (SAPM) y viento fijo de 1 m/s (peor caso de ventilación), se estima la temperatura de celda de cada tecnología (m-Si y HIT).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12/39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Modificadores Ópticos APLICADOS — IAM y Espectral (Fase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dificadores_opt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429" y="1170432"/>
            <a:ext cx="8496835" cy="35387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00600"/>
            <a:ext cx="11460175" cy="1600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37176"/>
            <a:ext cx="11094415" cy="1527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BFCFD"/>
                </a:solidFill>
              </a:rPr>
              <a:t>Pérdidas ópticas y espectrales ahora ejecutadas en el pipeline:</a:t>
            </a:r>
            <a:r>
              <a:rPr sz="1550">
                <a:solidFill>
                  <a:srgbClr val="FBFCFD"/>
                </a:solidFill>
              </a:rPr>
              <a:t> sobre la POA de Perez (albedo </a:t>
            </a:r>
            <a:r>
              <a:rPr sz="1550" b="1">
                <a:solidFill>
                  <a:srgbClr val="FBFCFD"/>
                </a:solidFill>
              </a:rPr>
              <a:t>0.20</a:t>
            </a:r>
            <a:r>
              <a:rPr sz="1550">
                <a:solidFill>
                  <a:srgbClr val="FBFCFD"/>
                </a:solidFill>
              </a:rPr>
              <a:t>) se aplica el </a:t>
            </a:r>
            <a:r>
              <a:rPr sz="1550" b="1">
                <a:solidFill>
                  <a:srgbClr val="FBFCFD"/>
                </a:solidFill>
              </a:rPr>
              <a:t>IAM físico</a:t>
            </a:r>
            <a:r>
              <a:rPr sz="1550">
                <a:solidFill>
                  <a:srgbClr val="FBFCFD"/>
                </a:solidFill>
              </a:rPr>
              <a:t> de Snell-Bouguer (</a:t>
            </a:r>
            <a:r>
              <a:rPr sz="1450">
                <a:solidFill>
                  <a:srgbClr val="7FDBFF"/>
                </a:solidFill>
                <a:latin typeface="Consolas"/>
              </a:rPr>
              <a:t>pvlib.iam.physical</a:t>
            </a:r>
            <a:r>
              <a:rPr sz="1550">
                <a:solidFill>
                  <a:srgbClr val="FBFCFD"/>
                </a:solidFill>
              </a:rPr>
              <a:t>, n=1.526, K=4 m⁻¹, L=2 mm) a la directa y los factores de Marion a la difusa, y el </a:t>
            </a:r>
            <a:r>
              <a:rPr sz="1550" b="1">
                <a:solidFill>
                  <a:srgbClr val="FBFCFD"/>
                </a:solidFill>
              </a:rPr>
              <a:t>factor espectral</a:t>
            </a:r>
            <a:r>
              <a:rPr sz="1550">
                <a:solidFill>
                  <a:srgbClr val="FBFCFD"/>
                </a:solidFill>
              </a:rPr>
              <a:t> First Solar (</a:t>
            </a:r>
            <a:r>
              <a:rPr sz="1450">
                <a:solidFill>
                  <a:srgbClr val="7FDBFF"/>
                </a:solidFill>
                <a:latin typeface="Consolas"/>
              </a:rPr>
              <a:t>spectral_factor_firstsolar</a:t>
            </a:r>
            <a:r>
              <a:rPr sz="1550">
                <a:solidFill>
                  <a:srgbClr val="FBFCFD"/>
                </a:solidFill>
              </a:rPr>
              <a:t>, agua precipitable + masa de aire). El resultado es la </a:t>
            </a:r>
            <a:r>
              <a:rPr sz="1550" b="1">
                <a:solidFill>
                  <a:srgbClr val="FBFCFD"/>
                </a:solidFill>
              </a:rPr>
              <a:t>irradiancia efectiva</a:t>
            </a:r>
            <a:r>
              <a:rPr sz="1550">
                <a:solidFill>
                  <a:srgbClr val="FBFCFD"/>
                </a:solidFill>
              </a:rPr>
              <a:t> que fotogenera I</a:t>
            </a:r>
            <a:r>
              <a:rPr sz="1150">
                <a:solidFill>
                  <a:srgbClr val="FBFCFD"/>
                </a:solidFill>
              </a:rPr>
              <a:t>L</a:t>
            </a:r>
            <a:r>
              <a:rPr sz="1550">
                <a:solidFill>
                  <a:srgbClr val="FBFCFD"/>
                </a:solidFill>
              </a:rPr>
              <a:t> en la Fase 4. Efecto en Atacama: pérdida óptica ≈ </a:t>
            </a:r>
            <a:r>
              <a:rPr sz="1550" b="1">
                <a:solidFill>
                  <a:srgbClr val="FBFCFD"/>
                </a:solidFill>
              </a:rPr>
              <a:t>3.0 %</a:t>
            </a:r>
            <a:r>
              <a:rPr sz="1550">
                <a:solidFill>
                  <a:srgbClr val="FBFCFD"/>
                </a:solidFill>
              </a:rPr>
              <a:t> (ángulos rasantes) y espectral ≈ </a:t>
            </a:r>
            <a:r>
              <a:rPr sz="1550" b="1">
                <a:solidFill>
                  <a:srgbClr val="FBFCFD"/>
                </a:solidFill>
              </a:rPr>
              <a:t>neutra</a:t>
            </a:r>
            <a:r>
              <a:rPr sz="1550">
                <a:solidFill>
                  <a:srgbClr val="FBFCFD"/>
                </a:solidFill>
              </a:rPr>
              <a:t> (cielo seco y limpio) — ecuaciones en (Anexo II, Lám. 28).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13/39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Resultado intermedio: Un Día Despejado de Verano (28-ene-2026)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6707" y="1188720"/>
            <a:ext cx="7738280" cy="37033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983480"/>
            <a:ext cx="1146017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20056"/>
            <a:ext cx="11094415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BFCFD"/>
                </a:solidFill>
              </a:rPr>
              <a:t>El puente entre el dato y la física:</a:t>
            </a:r>
            <a:r>
              <a:rPr sz="1550">
                <a:solidFill>
                  <a:srgbClr val="FBFCFD"/>
                </a:solidFill>
              </a:rPr>
              <a:t> la temperatura de celda sigue fielmente a la irradiancia: al mediodía la POA roza los </a:t>
            </a:r>
            <a:r>
              <a:rPr sz="1550" b="1">
                <a:solidFill>
                  <a:srgbClr val="FBFCFD"/>
                </a:solidFill>
              </a:rPr>
              <a:t>1,000 W/m²</a:t>
            </a:r>
            <a:r>
              <a:rPr sz="1550">
                <a:solidFill>
                  <a:srgbClr val="FBFCFD"/>
                </a:solidFill>
              </a:rPr>
              <a:t> y la celda supera los </a:t>
            </a:r>
            <a:r>
              <a:rPr sz="1550" b="1">
                <a:solidFill>
                  <a:srgbClr val="FBFCFD"/>
                </a:solidFill>
              </a:rPr>
              <a:t>60 °C</a:t>
            </a:r>
            <a:r>
              <a:rPr sz="1550">
                <a:solidFill>
                  <a:srgbClr val="FBFCFD"/>
                </a:solidFill>
              </a:rPr>
              <a:t> — 35 °C sobre la condición nominal STC. En los días extremos del año la celda llega a </a:t>
            </a:r>
            <a:r>
              <a:rPr sz="1550" b="1">
                <a:solidFill>
                  <a:srgbClr val="FBFCFD"/>
                </a:solidFill>
              </a:rPr>
              <a:t>70–73 °C</a:t>
            </a:r>
            <a:r>
              <a:rPr sz="1550">
                <a:solidFill>
                  <a:srgbClr val="FBFCFD"/>
                </a:solidFill>
              </a:rPr>
              <a:t> y HIT acumula 430 registros sobre 65 °C — distribución en (Anexo XII, Lám. 38). Cada grado extra recorta la potencia útil; cuantificar ese recorte por tecnología es el objetivo de la sección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14/39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Extracción de Parámetros De Soto (Fase 3)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998" y="1234440"/>
            <a:ext cx="8665698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Caracterización física de los módulos:</a:t>
            </a:r>
            <a:r>
              <a:rPr sz="1700">
                <a:solidFill>
                  <a:srgbClr val="FBFCFD"/>
                </a:solidFill>
              </a:rPr>
              <a:t> Para modelar el comportamiento eléctrico, se estiman los coeficientes térmicos de corriente y voltaje. Dado que la corriente arrojó coeficientes negativos debido a la estacionalidad, se aplicó un valor estándar de resguardo de +0.05 %/°C. Luego, los datos se trasladan a condiciones nominales (STC) y un optimizador no lineal ajusta los 5 parámetros de De Soto (corrientes, resistencias y factor de idealidad).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15/39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Parámetros de Referencia Extraídos en STC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7784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Parámetros nominales ajustados (SRC)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55648"/>
          <a:ext cx="5212079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005"/>
                <a:gridCol w="1549537"/>
                <a:gridCol w="1549537"/>
              </a:tblGrid>
              <a:tr h="390698"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00" b="1">
                          <a:solidFill>
                            <a:srgbClr val="F1C40F"/>
                          </a:solidFill>
                        </a:rPr>
                        <a:t>Parámetro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00" b="1">
                          <a:solidFill>
                            <a:srgbClr val="F1C40F"/>
                          </a:solidFill>
                        </a:rPr>
                        <a:t>m-Si (mSi0166)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00" b="1">
                          <a:solidFill>
                            <a:srgbClr val="F1C40F"/>
                          </a:solidFill>
                        </a:rPr>
                        <a:t>HIT (HIT05667)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L,ref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2.770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5.620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0,ref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4.22 × 10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−9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4.42 × 10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−10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a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(V) → n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I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1.110 → 1.20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2.220 → 1.20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0.010 (≈ inicial)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0.010 (≈ inicial)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sh,ref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1,000 (≈ inicial)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1,000 (≈ inicial)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N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(celdas serie)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36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72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α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Isc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β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Voc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−0.30 (medido)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−0.22 (medido)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sc,ref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/ V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oc,ref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2.77 A / 22.5 V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5.62 A / 51.6 V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70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P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STC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del SDM (W)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50.12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237.96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172200" y="1188720"/>
            <a:ext cx="5653735" cy="27889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188720"/>
            <a:ext cx="73152" cy="27889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28016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Curvas I-V / P-V reconstruidas en SRC</a:t>
            </a:r>
          </a:p>
        </p:txBody>
      </p:sp>
      <p:pic>
        <p:nvPicPr>
          <p:cNvPr id="12" name="Picture 11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37360"/>
            <a:ext cx="5166360" cy="21031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72200" y="4160520"/>
            <a:ext cx="5653735" cy="21031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160520"/>
            <a:ext cx="73152" cy="21031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425196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física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4800600"/>
            <a:ext cx="5251399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I</a:t>
            </a:r>
            <a:r>
              <a:rPr sz="1000">
                <a:solidFill>
                  <a:srgbClr val="FBFCFD"/>
                </a:solidFill>
              </a:rPr>
              <a:t>0</a:t>
            </a:r>
            <a:r>
              <a:rPr sz="1400">
                <a:solidFill>
                  <a:srgbClr val="FBFCFD"/>
                </a:solidFill>
              </a:rPr>
              <a:t> de HIT es </a:t>
            </a:r>
            <a:r>
              <a:rPr sz="1400" b="1">
                <a:solidFill>
                  <a:srgbClr val="FBFCFD"/>
                </a:solidFill>
              </a:rPr>
              <a:t>un orden de magnitud menor</a:t>
            </a:r>
            <a:r>
              <a:rPr sz="1400">
                <a:solidFill>
                  <a:srgbClr val="FBFCFD"/>
                </a:solidFill>
              </a:rPr>
              <a:t> → menor recombinación → mayor V</a:t>
            </a:r>
            <a:r>
              <a:rPr sz="1000">
                <a:solidFill>
                  <a:srgbClr val="FBFCFD"/>
                </a:solidFill>
              </a:rPr>
              <a:t>oc</a:t>
            </a:r>
            <a:r>
              <a:rPr sz="1400">
                <a:solidFill>
                  <a:srgbClr val="FBFCFD"/>
                </a:solidFill>
              </a:rPr>
              <a:t> y mejor tolerancia térmica.</a:t>
            </a: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R</a:t>
            </a:r>
            <a:r>
              <a:rPr sz="1000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 y R</a:t>
            </a:r>
            <a:r>
              <a:rPr sz="1000">
                <a:solidFill>
                  <a:srgbClr val="FBFCFD"/>
                </a:solidFill>
              </a:rPr>
              <a:t>sh</a:t>
            </a:r>
            <a:r>
              <a:rPr sz="1400">
                <a:solidFill>
                  <a:srgbClr val="FBFCFD"/>
                </a:solidFill>
              </a:rPr>
              <a:t> quedan </a:t>
            </a:r>
            <a:r>
              <a:rPr sz="1400" b="1">
                <a:solidFill>
                  <a:srgbClr val="FBFCFD"/>
                </a:solidFill>
              </a:rPr>
              <a:t>anclados a su inicialización</a:t>
            </a:r>
            <a:r>
              <a:rPr sz="1400">
                <a:solidFill>
                  <a:srgbClr val="FBFCFD"/>
                </a:solidFill>
              </a:rPr>
              <a:t>: con solo 3 condiciones (Isc, Voc, MPP) el residuo apenas depende de ellos — evidencia del mal condicionamiento que se discute en Lám. 19.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Simulación Anual y Performance Ratio (Fase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998" y="1234440"/>
            <a:ext cx="8665698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Cálculo de la producción eléctrica anual:</a:t>
            </a:r>
            <a:r>
              <a:rPr sz="1700">
                <a:solidFill>
                  <a:srgbClr val="FBFCFD"/>
                </a:solidFill>
              </a:rPr>
              <a:t> Con los parámetros calibrados, se evalúa el modelo para cada uno de los registros del año 2026. A partir de la irradiancia y temperatura de celda de cada instante, se escala el circuito de un diodo y se resuelve analíticamente la potencia útil máxima (Pmp). Finalmente, la energía anual integrada se compara con el rendimiento ideal para obtener el Performance Ratio (PR).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Validación del Modelo Eléctrico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 medida vs simulada (HIT, mismas condiciones)</a:t>
            </a:r>
          </a:p>
        </p:txBody>
      </p:sp>
      <p:pic>
        <p:nvPicPr>
          <p:cNvPr id="8" name="Picture 7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Precisión del Modelo de 5 Parámetros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 b="1">
                <a:solidFill>
                  <a:srgbClr val="FBFCFD"/>
                </a:solidFill>
              </a:rPr>
              <a:t>R² ≈ 0.99</a:t>
            </a:r>
            <a:r>
              <a:rPr sz="1750">
                <a:solidFill>
                  <a:srgbClr val="FBFCFD"/>
                </a:solidFill>
              </a:rPr>
              <a:t>  |  RMSE ≈ 3 % de P</a:t>
            </a:r>
            <a:r>
              <a:rPr sz="1350">
                <a:solidFill>
                  <a:srgbClr val="FBFCFD"/>
                </a:solidFill>
              </a:rPr>
              <a:t>STC</a:t>
            </a:r>
            <a:r>
              <a:rPr sz="1750">
                <a:solidFill>
                  <a:srgbClr val="FBFCFD"/>
                </a:solidFill>
              </a:rPr>
              <a:t> (1.4 W m-Si · 6.5 W HIT).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valida exactamente este gráfico?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Misma meteorología:</a:t>
            </a:r>
            <a:r>
              <a:rPr sz="1500">
                <a:solidFill>
                  <a:srgbClr val="FBFCFD"/>
                </a:solidFill>
              </a:rPr>
              <a:t> cada punto compara la P</a:t>
            </a:r>
            <a:r>
              <a:rPr sz="1100">
                <a:solidFill>
                  <a:srgbClr val="FBFCFD"/>
                </a:solidFill>
              </a:rPr>
              <a:t>mp</a:t>
            </a:r>
            <a:r>
              <a:rPr sz="1500">
                <a:solidFill>
                  <a:srgbClr val="FBFCFD"/>
                </a:solidFill>
              </a:rPr>
              <a:t> </a:t>
            </a:r>
            <a:r>
              <a:rPr sz="1500" b="1">
                <a:solidFill>
                  <a:srgbClr val="FBFCFD"/>
                </a:solidFill>
              </a:rPr>
              <a:t>medida</a:t>
            </a:r>
            <a:r>
              <a:rPr sz="1500">
                <a:solidFill>
                  <a:srgbClr val="FBFCFD"/>
                </a:solidFill>
              </a:rPr>
              <a:t> por el trazador NREL con la </a:t>
            </a:r>
            <a:r>
              <a:rPr sz="1500" b="1">
                <a:solidFill>
                  <a:srgbClr val="FBFCFD"/>
                </a:solidFill>
              </a:rPr>
              <a:t>simulada</a:t>
            </a:r>
            <a:r>
              <a:rPr sz="1500">
                <a:solidFill>
                  <a:srgbClr val="FBFCFD"/>
                </a:solidFill>
              </a:rPr>
              <a:t> por el SDM bajo el mismo G y T</a:t>
            </a:r>
            <a:r>
              <a:rPr sz="1100">
                <a:solidFill>
                  <a:srgbClr val="FBFCFD"/>
                </a:solidFill>
              </a:rPr>
              <a:t>c</a:t>
            </a:r>
            <a:r>
              <a:rPr sz="1500">
                <a:solidFill>
                  <a:srgbClr val="FBFCFD"/>
                </a:solidFill>
              </a:rPr>
              <a:t> — no es una comparación entre sitios.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Fidelidad del circuito:</a:t>
            </a:r>
            <a:r>
              <a:rPr sz="1500">
                <a:solidFill>
                  <a:srgbClr val="FBFCFD"/>
                </a:solidFill>
              </a:rPr>
              <a:t> R² ≈ 0.99 confirma que los 5 parámetros reproducen el comportamiento eléctrico real.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Discrepancia:</a:t>
            </a:r>
            <a:r>
              <a:rPr sz="1500">
                <a:solidFill>
                  <a:srgbClr val="FBFCFD"/>
                </a:solidFill>
              </a:rPr>
              <a:t> leve dispersión a baja irradiancia (idealización R</a:t>
            </a:r>
            <a:r>
              <a:rPr sz="1100">
                <a:solidFill>
                  <a:srgbClr val="FBFCFD"/>
                </a:solidFill>
              </a:rPr>
              <a:t>sh</a:t>
            </a:r>
            <a:r>
              <a:rPr sz="1500">
                <a:solidFill>
                  <a:srgbClr val="FBFCFD"/>
                </a:solidFill>
              </a:rPr>
              <a:t> ∝ 1/G).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18/39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Puntos Conflictivos — Acoplamiento R</a:t>
            </a:r>
            <a:r>
              <a:rPr sz="2100" b="1">
                <a:solidFill>
                  <a:srgbClr val="F1C40F"/>
                </a:solidFill>
              </a:rPr>
              <a:t>s</a:t>
            </a:r>
            <a:r>
              <a:rPr sz="2500" b="1">
                <a:solidFill>
                  <a:srgbClr val="F1C40F"/>
                </a:solidFill>
              </a:rPr>
              <a:t> – 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Acoplamiento R</a:t>
            </a:r>
            <a:r>
              <a:rPr sz="1400" b="1">
                <a:solidFill>
                  <a:srgbClr val="F1C40F"/>
                </a:solidFill>
              </a:rPr>
              <a:t>s</a:t>
            </a:r>
            <a:r>
              <a:rPr sz="1800" b="1">
                <a:solidFill>
                  <a:srgbClr val="F1C40F"/>
                </a:solidFill>
              </a:rPr>
              <a:t> – factor de idealidad (n)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Alta correlación paramétrica [De Soto et al., 2006]:</a:t>
            </a:r>
            <a:r>
              <a:rPr sz="1550">
                <a:solidFill>
                  <a:srgbClr val="FBFCFD"/>
                </a:solidFill>
              </a:rPr>
              <a:t> R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 y n influyen de manera similar en la curvatura de la I-V cerca del MPP.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Problema mal condicionado:</a:t>
            </a:r>
            <a:r>
              <a:rPr sz="1550">
                <a:solidFill>
                  <a:srgbClr val="FBFCFD"/>
                </a:solidFill>
              </a:rPr>
              <a:t> múltiples pares (R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, n) logran un residuo mínimo casi idéntico, perdiendo significado físico.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Mitigación aplicada:</a:t>
            </a:r>
            <a:r>
              <a:rPr sz="1550">
                <a:solidFill>
                  <a:srgbClr val="FBFCFD"/>
                </a:solidFill>
              </a:rPr>
              <a:t> bounds físicos en el optimizador — R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 ∈ [0.001, 2] Ω, n</a:t>
            </a:r>
            <a:r>
              <a:rPr sz="1150">
                <a:solidFill>
                  <a:srgbClr val="FBFCFD"/>
                </a:solidFill>
              </a:rPr>
              <a:t>I</a:t>
            </a:r>
            <a:r>
              <a:rPr sz="1550">
                <a:solidFill>
                  <a:srgbClr val="FBFCFD"/>
                </a:solidFill>
              </a:rPr>
              <a:t> ∈ [0.6, 2.4] — más inicialización analítica (a₀ = N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·1.2·kT/q).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Evidencia en este estudio:</a:t>
            </a:r>
            <a:r>
              <a:rPr sz="1550">
                <a:solidFill>
                  <a:srgbClr val="FBFCFD"/>
                </a:solidFill>
              </a:rPr>
              <a:t> n</a:t>
            </a:r>
            <a:r>
              <a:rPr sz="1150">
                <a:solidFill>
                  <a:srgbClr val="FBFCFD"/>
                </a:solidFill>
              </a:rPr>
              <a:t>I</a:t>
            </a:r>
            <a:r>
              <a:rPr sz="1550">
                <a:solidFill>
                  <a:srgbClr val="FBFCFD"/>
                </a:solidFill>
              </a:rPr>
              <a:t> ≈ 1.20 en ambas tecnologías y R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/R</a:t>
            </a:r>
            <a:r>
              <a:rPr sz="1150">
                <a:solidFill>
                  <a:srgbClr val="FBFCFD"/>
                </a:solidFill>
              </a:rPr>
              <a:t>sh</a:t>
            </a:r>
            <a:r>
              <a:rPr sz="1550">
                <a:solidFill>
                  <a:srgbClr val="FBFCFD"/>
                </a:solidFill>
              </a:rPr>
              <a:t> anclados a su inicialización (Lám. 16): el ajuste con 3 condiciones no los identifica de forma única.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y Suposiciones del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</a:t>
            </a:r>
            <a:r>
              <a:rPr sz="1300" b="1">
                <a:solidFill>
                  <a:srgbClr val="FBFCFD"/>
                </a:solidFill>
              </a:rPr>
              <a:t>sh</a:t>
            </a:r>
            <a:r>
              <a:rPr sz="1700" b="1">
                <a:solidFill>
                  <a:srgbClr val="FBFCFD"/>
                </a:solidFill>
              </a:rPr>
              <a:t> e irradiancia:</a:t>
            </a:r>
            <a:r>
              <a:rPr sz="1700">
                <a:solidFill>
                  <a:srgbClr val="FBFCFD"/>
                </a:solidFill>
              </a:rPr>
              <a:t> la relación R</a:t>
            </a:r>
            <a:r>
              <a:rPr sz="1300">
                <a:solidFill>
                  <a:srgbClr val="FBFCFD"/>
                </a:solidFill>
              </a:rPr>
              <a:t>sh</a:t>
            </a:r>
            <a:r>
              <a:rPr sz="1700">
                <a:solidFill>
                  <a:srgbClr val="FBFCFD"/>
                </a:solidFill>
              </a:rPr>
              <a:t> = R</a:t>
            </a:r>
            <a:r>
              <a:rPr sz="1300">
                <a:solidFill>
                  <a:srgbClr val="FBFCFD"/>
                </a:solidFill>
              </a:rPr>
              <a:t>sh,ref</a:t>
            </a:r>
            <a:r>
              <a:rPr sz="1700">
                <a:solidFill>
                  <a:srgbClr val="FBFCFD"/>
                </a:solidFill>
              </a:rPr>
              <a:t>·(S</a:t>
            </a:r>
            <a:r>
              <a:rPr sz="1300">
                <a:solidFill>
                  <a:srgbClr val="FBFCFD"/>
                </a:solidFill>
              </a:rPr>
              <a:t>ref</a:t>
            </a:r>
            <a:r>
              <a:rPr sz="1700">
                <a:solidFill>
                  <a:srgbClr val="FBFCFD"/>
                </a:solidFill>
              </a:rPr>
              <a:t>/S) es empírica; a muy baja irradiancia puede sobreestimar la resistencia. Impacto: despreciable en el PR anual.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</a:t>
            </a:r>
            <a:r>
              <a:rPr sz="1300" b="1">
                <a:solidFill>
                  <a:srgbClr val="FBFCFD"/>
                </a:solidFill>
              </a:rPr>
              <a:t>s</a:t>
            </a:r>
            <a:r>
              <a:rPr sz="1700" b="1">
                <a:solidFill>
                  <a:srgbClr val="FBFCFD"/>
                </a:solidFill>
              </a:rPr>
              <a:t> constante con la temperatura:</a:t>
            </a:r>
            <a:r>
              <a:rPr sz="1700">
                <a:solidFill>
                  <a:srgbClr val="FBFCFD"/>
                </a:solidFill>
              </a:rPr>
              <a:t> ignora el cambio de resistividad del semiconductor con 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. De Soto (2006) validó errores de potencia &lt; 2 % frente a datos NIST.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Bandgap lineal con la temperatura:</a:t>
            </a:r>
            <a:r>
              <a:rPr sz="1700">
                <a:solidFill>
                  <a:srgbClr val="FBFCFD"/>
                </a:solidFill>
              </a:rPr>
              <a:t> se asume dE</a:t>
            </a:r>
            <a:r>
              <a:rPr sz="1300">
                <a:solidFill>
                  <a:srgbClr val="FBFCFD"/>
                </a:solidFill>
              </a:rPr>
              <a:t>g</a:t>
            </a:r>
            <a:r>
              <a:rPr sz="1700">
                <a:solidFill>
                  <a:srgbClr val="FBFCFD"/>
                </a:solidFill>
              </a:rPr>
              <a:t>/dT constante (−0.0002677 eV/K), simplificando la relación real de Varshni. Error inducido &lt; 1 % en el rango operacional (0–70 °C).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19/39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Pérdidas Térmicas y Degradación de Potencia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7665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492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Potencia normalizada vs Temperatura de Celda</a:t>
            </a:r>
          </a:p>
        </p:txBody>
      </p:sp>
      <p:pic>
        <p:nvPicPr>
          <p:cNvPr id="8" name="Picture 7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6217920" cy="36941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0" y="1188720"/>
            <a:ext cx="45107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79792" y="12801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de Temperatura (P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1828800"/>
            <a:ext cx="41083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m-Si: </a:t>
            </a:r>
            <a:r>
              <a:rPr sz="1750" b="1">
                <a:solidFill>
                  <a:srgbClr val="FBFCFD"/>
                </a:solidFill>
              </a:rPr>
              <a:t>−0.40 %/°C</a:t>
            </a:r>
            <a:r>
              <a:rPr sz="1750">
                <a:solidFill>
                  <a:srgbClr val="FBFCFD"/>
                </a:solidFill>
              </a:rPr>
              <a:t> (pérdidas severas)</a:t>
            </a: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HIT: </a:t>
            </a:r>
            <a:r>
              <a:rPr sz="1750" b="1">
                <a:solidFill>
                  <a:srgbClr val="FBFCFD"/>
                </a:solidFill>
              </a:rPr>
              <a:t>−0.26 %/°C</a:t>
            </a:r>
            <a:r>
              <a:rPr sz="1750">
                <a:solidFill>
                  <a:srgbClr val="FBFCFD"/>
                </a:solidFill>
              </a:rPr>
              <a:t> (alta tolerancia)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788920"/>
            <a:ext cx="45107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79792" y="28803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Observación Científica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8" y="3429000"/>
            <a:ext cx="41083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HIT (naranja):</a:t>
            </a:r>
            <a:r>
              <a:rPr sz="1600">
                <a:solidFill>
                  <a:srgbClr val="FBFCFD"/>
                </a:solidFill>
              </a:rPr>
              <a:t> pendiente térmica suave — preserva alta conversión incluso a 65 °C.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m-Si (azul):</a:t>
            </a:r>
            <a:r>
              <a:rPr sz="1600">
                <a:solidFill>
                  <a:srgbClr val="FBFCFD"/>
                </a:solidFill>
              </a:rPr>
              <a:t> descenso pronunciado que penaliza la potencia justo al mediodía solar (máxima irradiancia).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Consecuencia:</a:t>
            </a:r>
            <a:r>
              <a:rPr sz="1600">
                <a:solidFill>
                  <a:srgbClr val="FBFCFD"/>
                </a:solidFill>
              </a:rPr>
              <a:t> esta divergencia térmica explica mecánicamente la brecha de PR anual entre tecnologías (Anexo VII, Lám. 33).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20/39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Veredicto Técnico: Performance Ratio y Lectura Económica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84.18 %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PR anual HIT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(mensual 81.6–88.2 %)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03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03" y="126187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81.61 %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9967" y="190195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PR anual m-Si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(mensual 78.7–86.9 %)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43200"/>
            <a:ext cx="5592927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16352"/>
            <a:ext cx="559292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2ECC71"/>
                </a:solidFill>
              </a:rPr>
              <a:t>+2.57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3456432"/>
            <a:ext cx="548319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ventaja neta de HIT en PR (track validado, R² 0.99)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251960"/>
            <a:ext cx="5592927" cy="19202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251960"/>
            <a:ext cx="73152" cy="19202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34340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técnica (recurso emulado, validado)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892040"/>
            <a:ext cx="5190591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>
                <a:solidFill>
                  <a:srgbClr val="FBFCFD"/>
                </a:solidFill>
              </a:rPr>
              <a:t>• Menor coeficiente térmico de HIT (−0.26 vs −0.40 %/°C): protege la potencia al mediodía.</a:t>
            </a:r>
          </a:p>
          <a:p>
            <a:pPr algn="l">
              <a:lnSpc>
                <a:spcPct val="104000"/>
              </a:lnSpc>
            </a:pPr>
            <a:r>
              <a:rPr sz="1350">
                <a:solidFill>
                  <a:srgbClr val="FBFCFD"/>
                </a:solidFill>
              </a:rPr>
              <a:t>• El PR ya penaliza la pérdida óptica (≈3 %) y espectral.</a:t>
            </a:r>
          </a:p>
          <a:p>
            <a:pPr algn="l">
              <a:lnSpc>
                <a:spcPct val="104000"/>
              </a:lnSpc>
            </a:pPr>
            <a:r>
              <a:rPr sz="1350">
                <a:solidFill>
                  <a:srgbClr val="FBFCFD"/>
                </a:solidFill>
              </a:rPr>
              <a:t>• Economía con recurso real (Lám. 22): </a:t>
            </a:r>
            <a:r>
              <a:rPr sz="1350" b="1">
                <a:solidFill>
                  <a:srgbClr val="FBFCFD"/>
                </a:solidFill>
              </a:rPr>
              <a:t>+3,294 MWh, +USD 148k/año</a:t>
            </a:r>
            <a:r>
              <a:rPr sz="1350">
                <a:solidFill>
                  <a:srgbClr val="FBFCFD"/>
                </a:solidFill>
              </a:rPr>
              <a:t> en 100 MWp.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 mensual comparativo (2026)</a:t>
            </a:r>
          </a:p>
        </p:txBody>
      </p:sp>
      <p:pic>
        <p:nvPicPr>
          <p:cNvPr id="21" name="Picture 20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175" y="2514600"/>
            <a:ext cx="5349240" cy="2560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21/39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Resultado: Recurso REAL de Atacama (PVGIS TMY) — Magnitudes Absolutas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2,596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GHI real anual del sitio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(kWh/m²·año, PVGIS TMY)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03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03" y="126187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2,810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9967" y="190195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POA en plano inclinado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(kWh/m²·año, albedo 0.20)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4320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1635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2,389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345643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Yield HIT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(kWh/kWp·año)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45103" y="274320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5103" y="281635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2,356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9967" y="345643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Yield m-Si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(kWh/kWp·año)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51960"/>
            <a:ext cx="5592927" cy="205740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251960"/>
            <a:ext cx="73152" cy="20574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434340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con recurso real (planta 100 MWp)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892040"/>
            <a:ext cx="5190591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Fuente:</a:t>
            </a:r>
            <a:r>
              <a:rPr sz="1350">
                <a:solidFill>
                  <a:srgbClr val="FBFCFD"/>
                </a:solidFill>
              </a:rPr>
              <a:t> PVGIS (JRC, UE), base satelital SARAH — TMY horario de San Pedro de Atacama.</a:t>
            </a:r>
          </a:p>
          <a:p>
            <a:pPr algn="l">
              <a:lnSpc>
                <a:spcPct val="104000"/>
              </a:lnSpc>
            </a:pPr>
            <a:r>
              <a:rPr sz="1350">
                <a:solidFill>
                  <a:srgbClr val="FBFCFD"/>
                </a:solidFill>
              </a:rPr>
              <a:t>• HIT gana </a:t>
            </a:r>
            <a:r>
              <a:rPr sz="1350" b="1">
                <a:solidFill>
                  <a:srgbClr val="FBFCFD"/>
                </a:solidFill>
              </a:rPr>
              <a:t>+1.17 pts de PR</a:t>
            </a:r>
            <a:r>
              <a:rPr sz="1350">
                <a:solidFill>
                  <a:srgbClr val="FBFCFD"/>
                </a:solidFill>
              </a:rPr>
              <a:t>; el aire frío de altura modera la celda a ≈ 58–62 °C.</a:t>
            </a:r>
          </a:p>
          <a:p>
            <a:pPr algn="l">
              <a:lnSpc>
                <a:spcPct val="104000"/>
              </a:lnSpc>
            </a:pPr>
            <a:r>
              <a:rPr sz="1350">
                <a:solidFill>
                  <a:srgbClr val="FBFCFD"/>
                </a:solidFill>
              </a:rPr>
              <a:t>• Δyield 33 kWh/kWp → </a:t>
            </a:r>
            <a:r>
              <a:rPr sz="1350" b="1">
                <a:solidFill>
                  <a:srgbClr val="FBFCFD"/>
                </a:solidFill>
              </a:rPr>
              <a:t>+3,294 MWh, +USD 148k/año</a:t>
            </a:r>
            <a:r>
              <a:rPr sz="1350">
                <a:solidFill>
                  <a:srgbClr val="FBFCFD"/>
                </a:solidFill>
              </a:rPr>
              <a:t> (100 MWp) (Anexo XIII, Lám. 39).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 mensual con recurso real (PVGIS TMY)</a:t>
            </a:r>
          </a:p>
        </p:txBody>
      </p:sp>
      <p:pic>
        <p:nvPicPr>
          <p:cNvPr id="24" name="Picture 23" descr="pr_mensual_atacama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175" y="2423160"/>
            <a:ext cx="5349240" cy="25420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34175" y="5166359"/>
            <a:ext cx="5190591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>
                <a:solidFill>
                  <a:srgbClr val="9AA5B1"/>
                </a:solidFill>
              </a:rPr>
              <a:t>El recurso real ≈ 2.3× el emulado (Florida): la energía absoluta se dispara, y HIT mantiene la ventaja aunque el sitio sea térmicamente más benigno.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22/39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Síntesis: Qué Pidió la Tarea 2 y Cómo se Resolvió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SÍNTESIS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21208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2120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Mapa de cumplimiento — requisito de la pauta → evidencia en esta presentación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737360"/>
          <a:ext cx="11002972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3397"/>
                <a:gridCol w="3342675"/>
                <a:gridCol w="2089172"/>
                <a:gridCol w="2367728"/>
              </a:tblGrid>
              <a:tr h="633548"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 b="1">
                          <a:solidFill>
                            <a:srgbClr val="F1C40F"/>
                          </a:solidFill>
                        </a:rPr>
                        <a:t>Requisito (pauta Tarea 2)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 b="1">
                          <a:solidFill>
                            <a:srgbClr val="F1C40F"/>
                          </a:solidFill>
                        </a:rPr>
                        <a:t>Cómo se resolvió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 b="1">
                          <a:solidFill>
                            <a:srgbClr val="F1C40F"/>
                          </a:solidFill>
                        </a:rPr>
                        <a:t>Evidencia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 b="1">
                          <a:solidFill>
                            <a:srgbClr val="F1C40F"/>
                          </a:solidFill>
                        </a:rPr>
                        <a:t>Resultado clave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63354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50">
                          <a:solidFill>
                            <a:srgbClr val="FBFCFD"/>
                          </a:solidFill>
                        </a:rPr>
                        <a:t>Recurso solar: G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poa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+ óptica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Perez + IAM físico + factor espectral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Lám. 12–13 · Anexos I–II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POA efectiva 5-min, 2026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3354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50">
                          <a:solidFill>
                            <a:srgbClr val="FBFCFD"/>
                          </a:solidFill>
                        </a:rPr>
                        <a:t>Perfil térmico T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c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— ec. (1)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Sandia/SAPM, viento 1 m/s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Lám. 14 · Anexo III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T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c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pico 70–73 °C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63354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50">
                          <a:solidFill>
                            <a:srgbClr val="FBFCFD"/>
                          </a:solidFill>
                        </a:rPr>
                        <a:t>SDM 5 parámetros De Soto — ec. (2)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7FDBFF"/>
                          </a:solidFill>
                          <a:latin typeface="Consolas"/>
                        </a:rPr>
                        <a:t>minimize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+ bounds físicos en SRC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Lám. 16 · Anexos V–VI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R² ≈ 0.99 vs medición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3354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50">
                          <a:solidFill>
                            <a:srgbClr val="FBFCFD"/>
                          </a:solidFill>
                        </a:rPr>
                        <a:t>Discusión R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s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– n (puntos conflictuales)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Mal condicionamiento + mitigación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Lám. 19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n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= 1.20; bounds activos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63354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50">
                          <a:solidFill>
                            <a:srgbClr val="FBFCFD"/>
                          </a:solidFill>
                        </a:rPr>
                        <a:t>PR anual 2026 — ec. (3)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Σ P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mp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/ Σ P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STC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·G/1000 (IEC 61724-1)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Lám. 21, 22 · Anexo VII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HIT 84.18 % · m-Si 81.61 %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33552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50">
                          <a:solidFill>
                            <a:srgbClr val="FBFCFD"/>
                          </a:solidFill>
                        </a:rPr>
                        <a:t>Supuestos propuestos y justificados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tilt 22.9° = lat · azimut 0° N · viento 1 m/s · albedo 0.20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Lám. 10 y 24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Declarados + limitaciones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23/39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Limitaciones del Estudio y Alcance de Validez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Resuelto en esta versión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Modificadores ópticos APLICADOS:</a:t>
            </a:r>
            <a:r>
              <a:rPr sz="1550">
                <a:solidFill>
                  <a:srgbClr val="FBFCFD"/>
                </a:solidFill>
              </a:rPr>
              <a:t> IAM físico + factor espectral en Fase 2 (Anexo II, Lám. 28) (≈3 % de pérdida óptica ya penalizada).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Recurso REAL de Atacama:</a:t>
            </a:r>
            <a:r>
              <a:rPr sz="1550">
                <a:solidFill>
                  <a:srgbClr val="FBFCFD"/>
                </a:solidFill>
              </a:rPr>
              <a:t> track con PVGIS TMY (Lám. 22) entrega energía y economía absolutas (POA ≈ 2,810 kWh/m²·año).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Doble cobertura corregida:</a:t>
            </a:r>
            <a:r>
              <a:rPr sz="1550">
                <a:solidFill>
                  <a:srgbClr val="FBFCFD"/>
                </a:solidFill>
              </a:rPr>
              <a:t> ventana de 12 meses contiguos → cada mes se cubre una sola vez (antes jul–sep duplicaban temporada).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Albedo declarado 0.20</a:t>
            </a:r>
            <a:r>
              <a:rPr sz="1550">
                <a:solidFill>
                  <a:srgbClr val="FBFCFD"/>
                </a:solidFill>
              </a:rPr>
              <a:t> y energía integrada al paso real de 5 min.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que permanecen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Validación eléctrica con datos de Florida:</a:t>
            </a:r>
            <a:r>
              <a:rPr sz="1550">
                <a:solidFill>
                  <a:srgbClr val="FBFCFD"/>
                </a:solidFill>
              </a:rPr>
              <a:t> el R² ≈ 0.99 se valida contra mediciones de Cocoa; Atacama no tiene un módulo PV de referencia medido, por lo que el track real usa TMY satelital (PVGIS), no in-situ.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α</a:t>
            </a:r>
            <a:r>
              <a:rPr sz="1150" b="1">
                <a:solidFill>
                  <a:srgbClr val="FBFCFD"/>
                </a:solidFill>
              </a:rPr>
              <a:t>Isc</a:t>
            </a:r>
            <a:r>
              <a:rPr sz="1550" b="1">
                <a:solidFill>
                  <a:srgbClr val="FBFCFD"/>
                </a:solidFill>
              </a:rPr>
              <a:t> de literatura:</a:t>
            </a:r>
            <a:r>
              <a:rPr sz="1550">
                <a:solidFill>
                  <a:srgbClr val="FBFCFD"/>
                </a:solidFill>
              </a:rPr>
              <a:t> la regresión experimental falló y se usó +0.05 %/°C — impacto de segundo orden (la corriente la domina G).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P</a:t>
            </a:r>
            <a:r>
              <a:rPr sz="1150" b="1">
                <a:solidFill>
                  <a:srgbClr val="FBFCFD"/>
                </a:solidFill>
              </a:rPr>
              <a:t>STC</a:t>
            </a:r>
            <a:r>
              <a:rPr sz="1550" b="1">
                <a:solidFill>
                  <a:srgbClr val="FBFCFD"/>
                </a:solidFill>
              </a:rPr>
              <a:t> del SDM</a:t>
            </a:r>
            <a:r>
              <a:rPr sz="1550">
                <a:solidFill>
                  <a:srgbClr val="FBFCFD"/>
                </a:solidFill>
              </a:rPr>
              <a:t> (50.1 / 238.0 W) difiere ~7–9 % del promedio empírico (46.7 / 218.4 W); criterio consistente entre tecnologías.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Sin soiling, BOS ni mismatch:</a:t>
            </a:r>
            <a:r>
              <a:rPr sz="1550">
                <a:solidFill>
                  <a:srgbClr val="FBFCFD"/>
                </a:solidFill>
              </a:rPr>
              <a:t> PR de módulo, no de planta; modelo de un diodo.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24/39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e) Conclusiones y propuestas de trabajos futuros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Conclusiones del Estudio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1. </a:t>
            </a:r>
            <a:r>
              <a:rPr sz="1600" b="1">
                <a:solidFill>
                  <a:srgbClr val="FBFCFD"/>
                </a:solidFill>
              </a:rPr>
              <a:t>Fidelidad metodológica:</a:t>
            </a:r>
            <a:r>
              <a:rPr sz="1600">
                <a:solidFill>
                  <a:srgbClr val="FBFCFD"/>
                </a:solidFill>
              </a:rPr>
              <a:t> la emulación por traslación temporal (+6 meses, año 2026) mantuvo la coherencia de solsticios y permitió simular Atacama con datos experimentales reales.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2. </a:t>
            </a:r>
            <a:r>
              <a:rPr sz="1600" b="1">
                <a:solidFill>
                  <a:srgbClr val="FBFCFD"/>
                </a:solidFill>
              </a:rPr>
              <a:t>Pipeline de datos robusto:</a:t>
            </a:r>
            <a:r>
              <a:rPr sz="1600">
                <a:solidFill>
                  <a:srgbClr val="FBFCFD"/>
                </a:solidFill>
              </a:rPr>
              <a:t> la ingesta en streaming resolvió archivos irregulares de ~110 MB conservando ~96 % de la ventana de 12 meses.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3. </a:t>
            </a:r>
            <a:r>
              <a:rPr sz="1600" b="1">
                <a:solidFill>
                  <a:srgbClr val="FBFCFD"/>
                </a:solidFill>
              </a:rPr>
              <a:t>Ajuste robusto:</a:t>
            </a:r>
            <a:r>
              <a:rPr sz="1600">
                <a:solidFill>
                  <a:srgbClr val="FBFCFD"/>
                </a:solidFill>
              </a:rPr>
              <a:t> el SDM de 5 parámetros, con IAM y corrección espectral aplicados, reprodujo la potencia medida con R² ≈ 0.99.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4. </a:t>
            </a:r>
            <a:r>
              <a:rPr sz="1600" b="1">
                <a:solidFill>
                  <a:srgbClr val="FBFCFD"/>
                </a:solidFill>
              </a:rPr>
              <a:t>HIT vencedor:</a:t>
            </a:r>
            <a:r>
              <a:rPr sz="1600">
                <a:solidFill>
                  <a:srgbClr val="FBFCFD"/>
                </a:solidFill>
              </a:rPr>
              <a:t> +2.57 pts de PR validado (84.18 % vs 81.61 %); con el recurso real de Atacama, +3,294 MWh y +USD 148k/año en 100 MWp.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Propuestas de Trabajos Futuros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Validación in-situ:</a:t>
            </a:r>
            <a:r>
              <a:rPr sz="1600">
                <a:solidFill>
                  <a:srgbClr val="FBFCFD"/>
                </a:solidFill>
              </a:rPr>
              <a:t> contrastar contra un módulo PV medido en Atacama (estación de referencia), no solo TMY satelital.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Soiling desértico:</a:t>
            </a:r>
            <a:r>
              <a:rPr sz="1600">
                <a:solidFill>
                  <a:srgbClr val="FBFCFD"/>
                </a:solidFill>
              </a:rPr>
              <a:t> acumulación de polvo, factor crítico de pérdida en Atacama.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Pérdidas de planta (BOS):</a:t>
            </a:r>
            <a:r>
              <a:rPr sz="1600">
                <a:solidFill>
                  <a:srgbClr val="FBFCFD"/>
                </a:solidFill>
              </a:rPr>
              <a:t> cableado, inversor y mismatch para pasar de PR de módulo a PR de planta.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Bifacialidad:</a:t>
            </a:r>
            <a:r>
              <a:rPr sz="1600">
                <a:solidFill>
                  <a:srgbClr val="FBFCFD"/>
                </a:solidFill>
              </a:rPr>
              <a:t> aporte del albedo desértico en la cara posterior.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Modelo de doble diodo:</a:t>
            </a:r>
            <a:r>
              <a:rPr sz="1600">
                <a:solidFill>
                  <a:srgbClr val="FBFCFD"/>
                </a:solidFill>
              </a:rPr>
              <a:t> capturar recombinación no ideal a baja irradiancia.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25/39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Referencias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Referencias Bibliográficas Estructuradas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11057839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1. De Soto, W., Klein, S.A., Beckman, W.A. (2006). "Improvement and validation of a model for photovoltaic array performance." Solar Energy 80, 78–88.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2. King, D.L., Boyson, W.E., Kratochvil, J.A. (2004). "Photovoltaic Array Performance Model." Sandia Report SAND2004-3535.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3. Marion, B. et al. (2014). "New Data Set for Validating PV Module Performance Models." NREL/CP-5J00-61610 — origen del dataset Cocoa.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4. Perez, R. et al. (1990). "Modeling daylight availability and irradiance components from direct and global irradiance." Solar Energy 44(5), 271–289.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5. Holmgren, W.F., Hansen, C.W., Mikofski, M.A. (2018). "pvlib python: a python package for modeling solar energy systems." JOSS 3(29), 884.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6. IEC 61724-1 — Photovoltaic system performance, Part 1: Monitoring.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Agradecimientos al Departamento de Electrotecnia de la UTFSM.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26/39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I: Transposición de Irradiancia al Plano del Arreglo (Perez)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Forma general de transposición POA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519059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FBFCFD"/>
                </a:solidFill>
              </a:rPr>
              <a:t>Irradiancia incidente total en el plano inclinado del panel:</a:t>
            </a:r>
          </a:p>
        </p:txBody>
      </p:sp>
      <p:pic>
        <p:nvPicPr>
          <p:cNvPr id="9" name="Picture 8" descr="eq_34a27fedfee7a2c2a78d0d77e51fe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31720"/>
            <a:ext cx="5212080" cy="4409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29184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Donde: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G</a:t>
            </a:r>
            <a:r>
              <a:rPr sz="1200">
                <a:solidFill>
                  <a:srgbClr val="F1C40F"/>
                </a:solidFill>
              </a:rPr>
              <a:t>b</a:t>
            </a:r>
            <a:r>
              <a:rPr sz="1600">
                <a:solidFill>
                  <a:srgbClr val="F1C40F"/>
                </a:solidFill>
              </a:rPr>
              <a:t> / G</a:t>
            </a:r>
            <a:r>
              <a:rPr sz="1200">
                <a:solidFill>
                  <a:srgbClr val="F1C40F"/>
                </a:solidFill>
              </a:rPr>
              <a:t>d</a:t>
            </a:r>
            <a:r>
              <a:rPr sz="1600">
                <a:solidFill>
                  <a:srgbClr val="F1C40F"/>
                </a:solidFill>
              </a:rPr>
              <a:t> / G: irradiancia directa, difusa y global (W/m²).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β: inclinación del panel = 22.91° (latitud del sitio).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ρ: albedo = 0.20 (suelo desértico, declarado explícitamente).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R</a:t>
            </a:r>
            <a:r>
              <a:rPr sz="1200">
                <a:solidFill>
                  <a:srgbClr val="F1C40F"/>
                </a:solidFill>
              </a:rPr>
              <a:t>beam</a:t>
            </a:r>
            <a:r>
              <a:rPr sz="1600">
                <a:solidFill>
                  <a:srgbClr val="F1C40F"/>
                </a:solidFill>
              </a:rPr>
              <a:t>: factor geométrico de transposición directa.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G</a:t>
            </a:r>
            <a:r>
              <a:rPr sz="1200">
                <a:solidFill>
                  <a:srgbClr val="F1C40F"/>
                </a:solidFill>
              </a:rPr>
              <a:t>d,perez</a:t>
            </a:r>
            <a:r>
              <a:rPr sz="1600">
                <a:solidFill>
                  <a:srgbClr val="F1C40F"/>
                </a:solidFill>
              </a:rPr>
              <a:t>: difusa anisotrópica de Perez (circumsolar +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  brillo de horizonte), evaluada por </a:t>
            </a:r>
            <a:r>
              <a:rPr sz="1500">
                <a:solidFill>
                  <a:srgbClr val="7FDBFF"/>
                </a:solidFill>
                <a:latin typeface="Consolas"/>
              </a:rPr>
              <a:t>pvlib.get_total_irradiance</a:t>
            </a:r>
            <a:r>
              <a:rPr sz="160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Implementación en el código (Fase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500">
                <a:solidFill>
                  <a:srgbClr val="7FDBFF"/>
                </a:solidFill>
                <a:latin typeface="Consolas"/>
              </a:rPr>
              <a:t>location.get_solarposition(times)</a:t>
            </a:r>
            <a:r>
              <a:rPr sz="1600">
                <a:solidFill>
                  <a:srgbClr val="FBFCFD"/>
                </a:solidFill>
              </a:rPr>
              <a:t> → cenit y azimut aparentes del sol registro a registro.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500">
                <a:solidFill>
                  <a:srgbClr val="7FDBFF"/>
                </a:solidFill>
                <a:latin typeface="Consolas"/>
              </a:rPr>
              <a:t>irradiance.get_extra_radiation(times)</a:t>
            </a:r>
            <a:r>
              <a:rPr sz="1600">
                <a:solidFill>
                  <a:srgbClr val="FBFCFD"/>
                </a:solidFill>
              </a:rPr>
              <a:t> → irradiancia extraterrestre para el modelo anisotrópico.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500">
                <a:solidFill>
                  <a:srgbClr val="7FDBFF"/>
                </a:solidFill>
                <a:latin typeface="Consolas"/>
              </a:rPr>
              <a:t>irradiance.get_total_irradiance(tilt, az, dni, ghi, dhi, ..., albedo=0.20, model='perez')</a:t>
            </a:r>
            <a:r>
              <a:rPr sz="1600">
                <a:solidFill>
                  <a:srgbClr val="FBFCFD"/>
                </a:solidFill>
              </a:rPr>
              <a:t> → directa + difusa Perez + reflejada.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Salida: </a:t>
            </a:r>
            <a:r>
              <a:rPr sz="1500">
                <a:solidFill>
                  <a:srgbClr val="7FDBFF"/>
                </a:solidFill>
                <a:latin typeface="Consolas"/>
              </a:rPr>
              <a:t>poa_global</a:t>
            </a:r>
            <a:r>
              <a:rPr sz="1600">
                <a:solidFill>
                  <a:srgbClr val="FBFCFD"/>
                </a:solidFill>
              </a:rPr>
              <a:t> (banda ancha) → entra a los modificadores ópticos IAM y espectral del Anexo II para dar la irradiancia efectiva.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27/39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II: Modificadores Ópticos APLICADOS (IAM y Espectral)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02336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0233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por Ángulo de Incidencia (IAM)</a:t>
            </a:r>
          </a:p>
        </p:txBody>
      </p:sp>
      <p:pic>
        <p:nvPicPr>
          <p:cNvPr id="8" name="Picture 7" descr="eq_6d1f128b42756e4b62f3832c66bdf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74520"/>
            <a:ext cx="1508760" cy="502920"/>
          </a:xfrm>
          <a:prstGeom prst="rect">
            <a:avLst/>
          </a:prstGeom>
        </p:spPr>
      </p:pic>
      <p:pic>
        <p:nvPicPr>
          <p:cNvPr id="9" name="Picture 8" descr="eq_05c0d40bcefca9e6b7f6d6b4747f15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06040"/>
            <a:ext cx="5120640" cy="5304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657600"/>
            <a:ext cx="519059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Ley de Snell y Bouguer [King et al., 2004]: θ</a:t>
            </a:r>
            <a:r>
              <a:rPr sz="1250">
                <a:solidFill>
                  <a:srgbClr val="F1C40F"/>
                </a:solidFill>
              </a:rPr>
              <a:t>r</a:t>
            </a:r>
            <a:r>
              <a:rPr sz="1650">
                <a:solidFill>
                  <a:srgbClr val="F1C40F"/>
                </a:solidFill>
              </a:rPr>
              <a:t> = arcsin(sin θ / n), con n = 1.526 (vidrio), K = 4 m⁻¹, L = 2 mm.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02336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02336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Espectral por Masa de Aire (AM)</a:t>
            </a:r>
          </a:p>
        </p:txBody>
      </p:sp>
      <p:pic>
        <p:nvPicPr>
          <p:cNvPr id="14" name="Picture 13" descr="eq_8c47f14bda4c8f75af6f3f5dbfb9d5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047" y="1920240"/>
            <a:ext cx="5120640" cy="381646"/>
          </a:xfrm>
          <a:prstGeom prst="rect">
            <a:avLst/>
          </a:prstGeom>
        </p:spPr>
      </p:pic>
      <p:pic>
        <p:nvPicPr>
          <p:cNvPr id="15" name="Picture 14" descr="eq_7f75a176eace2517bd6e8174171b3b8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2651760"/>
            <a:ext cx="4864666" cy="594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4175" y="3657600"/>
            <a:ext cx="519059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Implementado con </a:t>
            </a:r>
            <a:r>
              <a:rPr sz="1550">
                <a:solidFill>
                  <a:srgbClr val="7FDBFF"/>
                </a:solidFill>
                <a:latin typeface="Consolas"/>
              </a:rPr>
              <a:t>pvlib.spectrum.spectral_factor_firstsolar</a:t>
            </a:r>
            <a:r>
              <a:rPr sz="1650">
                <a:solidFill>
                  <a:srgbClr val="F1C40F"/>
                </a:solidFill>
              </a:rPr>
              <a:t> (agua precipitable de humedad+T y masa de aire absoluta), módulo c-Si ('monosi').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30352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4009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Estado en este estudio: EJECUTADO en la Fase 2.</a:t>
            </a:r>
            <a:r>
              <a:rPr sz="1700">
                <a:solidFill>
                  <a:srgbClr val="FBFCFD"/>
                </a:solidFill>
              </a:rPr>
              <a:t> El IAM directo usa </a:t>
            </a:r>
            <a:r>
              <a:rPr sz="1600">
                <a:solidFill>
                  <a:srgbClr val="7FDBFF"/>
                </a:solidFill>
                <a:latin typeface="Consolas"/>
              </a:rPr>
              <a:t>pvlib.iam.physical</a:t>
            </a:r>
            <a:r>
              <a:rPr sz="1700">
                <a:solidFill>
                  <a:srgbClr val="FBFCFD"/>
                </a:solidFill>
              </a:rPr>
              <a:t> (n=1.526, K=4, L=2 mm) y la difusa los factores de Marion; el factor espectral usa First Solar. La irradiancia efectiva = POA·IAM·M alimenta el SDM. Efecto en Atacama: ≈3 % de pérdida óptica y espectral casi neutra (cielo seco y limpio).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28/39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III: Ecuaciones del Perfil Térmico (Modelo 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Sandia para Temperatura de Celda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La temperatura de la celda se modela a partir del equilibrio térmico dinámico:</a:t>
            </a:r>
          </a:p>
        </p:txBody>
      </p:sp>
      <p:pic>
        <p:nvPicPr>
          <p:cNvPr id="9" name="Picture 8" descr="eq_704d169f7e3e195596ba91234cd748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148840"/>
            <a:ext cx="5486400" cy="55938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 / T</a:t>
            </a:r>
            <a:r>
              <a:rPr sz="1400">
                <a:solidFill>
                  <a:srgbClr val="FBFCFD"/>
                </a:solidFill>
              </a:rPr>
              <a:t>a</a:t>
            </a:r>
            <a:r>
              <a:rPr sz="1800">
                <a:solidFill>
                  <a:srgbClr val="FBFCFD"/>
                </a:solidFill>
              </a:rPr>
              <a:t>: temperatura de celda y ambiente (°C).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G</a:t>
            </a:r>
            <a:r>
              <a:rPr sz="1400">
                <a:solidFill>
                  <a:srgbClr val="FBFCFD"/>
                </a:solidFill>
              </a:rPr>
              <a:t>poa</a:t>
            </a:r>
            <a:r>
              <a:rPr sz="1800">
                <a:solidFill>
                  <a:srgbClr val="FBFCFD"/>
                </a:solidFill>
              </a:rPr>
              <a:t>: irradiancia total en el plano del panel (W/m²).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v</a:t>
            </a:r>
            <a:r>
              <a:rPr sz="1400">
                <a:solidFill>
                  <a:srgbClr val="FBFCFD"/>
                </a:solidFill>
              </a:rPr>
              <a:t>w</a:t>
            </a:r>
            <a:r>
              <a:rPr sz="1800">
                <a:solidFill>
                  <a:srgbClr val="FBFCFD"/>
                </a:solidFill>
              </a:rPr>
              <a:t>: velocidad de viento (fijada en 1 m/s).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a, b, ΔT: parámetros empíricos del encapsulado/montaje.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Empíricos Utilizados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m-Si — </a:t>
            </a:r>
            <a:r>
              <a:rPr sz="1400">
                <a:solidFill>
                  <a:srgbClr val="7FDBFF"/>
                </a:solidFill>
                <a:latin typeface="Consolas"/>
              </a:rPr>
              <a:t>open_rack_glass_polymer</a:t>
            </a:r>
            <a:r>
              <a:rPr sz="1500">
                <a:solidFill>
                  <a:srgbClr val="FBFCFD"/>
                </a:solidFill>
              </a:rPr>
              <a:t>: a = −3.56 · b = −0.075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HIT — </a:t>
            </a:r>
            <a:r>
              <a:rPr sz="1400">
                <a:solidFill>
                  <a:srgbClr val="7FDBFF"/>
                </a:solidFill>
                <a:latin typeface="Consolas"/>
              </a:rPr>
              <a:t>open_rack_glass_glass</a:t>
            </a:r>
            <a:r>
              <a:rPr sz="1500">
                <a:solidFill>
                  <a:srgbClr val="FBFCFD"/>
                </a:solidFill>
              </a:rPr>
              <a:t>: a = −3.47 · b = −0.059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00" b="1">
                <a:solidFill>
                  <a:srgbClr val="FBFCFD"/>
                </a:solidFill>
              </a:rPr>
              <a:t>Fuente:</a:t>
            </a:r>
            <a:r>
              <a:rPr sz="1500">
                <a:solidFill>
                  <a:srgbClr val="FBFCFD"/>
                </a:solidFill>
              </a:rPr>
              <a:t> </a:t>
            </a:r>
            <a:r>
              <a:rPr sz="1400">
                <a:solidFill>
                  <a:srgbClr val="7FDBFF"/>
                </a:solidFill>
                <a:latin typeface="Consolas"/>
              </a:rPr>
              <a:t>pvlib.temperature.TEMPERATURE_MODEL_PARAMETERS['sapm']</a:t>
            </a:r>
            <a:r>
              <a:rPr sz="1500">
                <a:solidFill>
                  <a:srgbClr val="FBFCFD"/>
                </a:solidFill>
              </a:rPr>
              <a:t> — base interna validada por Sandia NL [King et al., 2004].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29/39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IV: Ecuaciones del Modelo Eléctrico de un Diodo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Trascendental del Circuito Equivalente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Corriente implícita del modelo de diodo simple con resistencias parásitas (resuelta con la función W de Lambert en </a:t>
            </a:r>
            <a:r>
              <a:rPr sz="1500">
                <a:solidFill>
                  <a:srgbClr val="7FDBFF"/>
                </a:solidFill>
                <a:latin typeface="Consolas"/>
              </a:rPr>
              <a:t>pvlib.singlediode</a:t>
            </a:r>
            <a:r>
              <a:rPr sz="16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9187b8843e3d4b8f8620299d51df39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194560"/>
            <a:ext cx="5669280" cy="5610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Factor de Idealidad Térmico (a)</a:t>
            </a:r>
          </a:p>
        </p:txBody>
      </p:sp>
      <p:pic>
        <p:nvPicPr>
          <p:cNvPr id="13" name="Picture 12" descr="eq_5faa374cb63d0aab8055d34ee94f84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40480"/>
            <a:ext cx="1858034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709160"/>
            <a:ext cx="519059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N</a:t>
            </a:r>
            <a:r>
              <a:rPr sz="1400">
                <a:solidFill>
                  <a:srgbClr val="F1C40F"/>
                </a:solidFill>
              </a:rPr>
              <a:t>s</a:t>
            </a:r>
            <a:r>
              <a:rPr sz="1800">
                <a:solidFill>
                  <a:srgbClr val="F1C40F"/>
                </a:solidFill>
              </a:rPr>
              <a:t>: celdas en serie (m-Si: 36, HIT: 72).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n</a:t>
            </a:r>
            <a:r>
              <a:rPr sz="1400">
                <a:solidFill>
                  <a:srgbClr val="F1C40F"/>
                </a:solidFill>
              </a:rPr>
              <a:t>I</a:t>
            </a:r>
            <a:r>
              <a:rPr sz="1800">
                <a:solidFill>
                  <a:srgbClr val="F1C40F"/>
                </a:solidFill>
              </a:rPr>
              <a:t>: factor de idealidad del diodo, acotado a [0.6, 2.4] (ajustado: 1.20 en ambas tecnologías).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Parámetros Físicos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I / V: corriente y voltaje de salida (A, V).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I</a:t>
            </a:r>
            <a:r>
              <a:rPr sz="1400">
                <a:solidFill>
                  <a:srgbClr val="FBFCFD"/>
                </a:solidFill>
              </a:rPr>
              <a:t>L</a:t>
            </a:r>
            <a:r>
              <a:rPr sz="1800">
                <a:solidFill>
                  <a:srgbClr val="FBFCFD"/>
                </a:solidFill>
              </a:rPr>
              <a:t>: corriente fotogenerada (A).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I</a:t>
            </a:r>
            <a:r>
              <a:rPr sz="1400">
                <a:solidFill>
                  <a:srgbClr val="FBFCFD"/>
                </a:solidFill>
              </a:rPr>
              <a:t>0</a:t>
            </a:r>
            <a:r>
              <a:rPr sz="1800">
                <a:solidFill>
                  <a:srgbClr val="FBFCFD"/>
                </a:solidFill>
              </a:rPr>
              <a:t>: corriente de saturación inversa de la unión P-N (A).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R</a:t>
            </a:r>
            <a:r>
              <a:rPr sz="1400">
                <a:solidFill>
                  <a:srgbClr val="FBFCFD"/>
                </a:solidFill>
              </a:rPr>
              <a:t>s</a:t>
            </a:r>
            <a:r>
              <a:rPr sz="1800">
                <a:solidFill>
                  <a:srgbClr val="FBFCFD"/>
                </a:solidFill>
              </a:rPr>
              <a:t> / R</a:t>
            </a:r>
            <a:r>
              <a:rPr sz="1400">
                <a:solidFill>
                  <a:srgbClr val="FBFCFD"/>
                </a:solidFill>
              </a:rPr>
              <a:t>sh</a:t>
            </a:r>
            <a:r>
              <a:rPr sz="1800">
                <a:solidFill>
                  <a:srgbClr val="FBFCFD"/>
                </a:solidFill>
              </a:rPr>
              <a:t>: resistencias parásitas serie y shunt (Ω).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k / q / 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: constante de Boltzmann, carga elemental y temperatura de celda (K).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30/39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V: Extracción en STC — Ajuste Numérico Real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Normalización de mediciones a SRC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37360"/>
            <a:ext cx="5190591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Cada punto en la ventana 900–1100 W/m² se traslada a 1000 W/m² y 25 °C:</a:t>
            </a:r>
          </a:p>
        </p:txBody>
      </p:sp>
      <p:pic>
        <p:nvPicPr>
          <p:cNvPr id="9" name="Picture 8" descr="eq_61c29d2065817a3e119589d9276cef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4747714" cy="502920"/>
          </a:xfrm>
          <a:prstGeom prst="rect">
            <a:avLst/>
          </a:prstGeom>
        </p:spPr>
      </p:pic>
      <p:pic>
        <p:nvPicPr>
          <p:cNvPr id="10" name="Picture 9" descr="eq_97d29c326b2707a2df1d24e28c71a6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63239"/>
            <a:ext cx="4937760" cy="5025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3794760"/>
            <a:ext cx="5190591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>
                <a:solidFill>
                  <a:srgbClr val="F1C40F"/>
                </a:solidFill>
              </a:rPr>
              <a:t>• β</a:t>
            </a:r>
            <a:r>
              <a:rPr sz="1350">
                <a:solidFill>
                  <a:srgbClr val="F1C40F"/>
                </a:solidFill>
              </a:rPr>
              <a:t>Voc</a:t>
            </a:r>
            <a:r>
              <a:rPr sz="1750">
                <a:solidFill>
                  <a:srgbClr val="F1C40F"/>
                </a:solidFill>
              </a:rPr>
              <a:t> (medido): regresión lineal V</a:t>
            </a:r>
            <a:r>
              <a:rPr sz="1350">
                <a:solidFill>
                  <a:srgbClr val="F1C40F"/>
                </a:solidFill>
              </a:rPr>
              <a:t>oc</a:t>
            </a:r>
            <a:r>
              <a:rPr sz="1750">
                <a:solidFill>
                  <a:srgbClr val="F1C40F"/>
                </a:solidFill>
              </a:rPr>
              <a:t> vs T</a:t>
            </a:r>
            <a:r>
              <a:rPr sz="1350">
                <a:solidFill>
                  <a:srgbClr val="F1C40F"/>
                </a:solidFill>
              </a:rPr>
              <a:t>c</a:t>
            </a:r>
            <a:r>
              <a:rPr sz="1750">
                <a:solidFill>
                  <a:srgbClr val="F1C40F"/>
                </a:solidFill>
              </a:rPr>
              <a:t> (ventana 800–1200 W/m²).</a:t>
            </a:r>
          </a:p>
          <a:p>
            <a:pPr algn="l">
              <a:lnSpc>
                <a:spcPct val="120000"/>
              </a:lnSpc>
            </a:pPr>
            <a:r>
              <a:rPr sz="1750">
                <a:solidFill>
                  <a:srgbClr val="F1C40F"/>
                </a:solidFill>
              </a:rPr>
              <a:t>• α</a:t>
            </a:r>
            <a:r>
              <a:rPr sz="1350">
                <a:solidFill>
                  <a:srgbClr val="F1C40F"/>
                </a:solidFill>
              </a:rPr>
              <a:t>Isc</a:t>
            </a:r>
            <a:r>
              <a:rPr sz="1750">
                <a:solidFill>
                  <a:srgbClr val="F1C40F"/>
                </a:solidFill>
              </a:rPr>
              <a:t> (literatura): la regresión resultó negativa → resguardo físico +0.05 %/°C de literatura.</a:t>
            </a:r>
          </a:p>
          <a:p>
            <a:pPr algn="l">
              <a:lnSpc>
                <a:spcPct val="120000"/>
              </a:lnSpc>
            </a:pPr>
            <a:r>
              <a:rPr sz="1750">
                <a:solidFill>
                  <a:srgbClr val="F1C40F"/>
                </a:solidFill>
              </a:rPr>
              <a:t>• Promedios de la ventana → I</a:t>
            </a:r>
            <a:r>
              <a:rPr sz="1350">
                <a:solidFill>
                  <a:srgbClr val="F1C40F"/>
                </a:solidFill>
              </a:rPr>
              <a:t>sc,ref</a:t>
            </a:r>
            <a:r>
              <a:rPr sz="1750">
                <a:solidFill>
                  <a:srgbClr val="F1C40F"/>
                </a:solidFill>
              </a:rPr>
              <a:t>, V</a:t>
            </a:r>
            <a:r>
              <a:rPr sz="1350">
                <a:solidFill>
                  <a:srgbClr val="F1C40F"/>
                </a:solidFill>
              </a:rPr>
              <a:t>oc,ref</a:t>
            </a:r>
            <a:r>
              <a:rPr sz="1750">
                <a:solidFill>
                  <a:srgbClr val="F1C40F"/>
                </a:solidFill>
              </a:rPr>
              <a:t>, I</a:t>
            </a:r>
            <a:r>
              <a:rPr sz="1350">
                <a:solidFill>
                  <a:srgbClr val="F1C40F"/>
                </a:solidFill>
              </a:rPr>
              <a:t>mp,ref</a:t>
            </a:r>
            <a:r>
              <a:rPr sz="1750">
                <a:solidFill>
                  <a:srgbClr val="F1C40F"/>
                </a:solidFill>
              </a:rPr>
              <a:t>, V</a:t>
            </a:r>
            <a:r>
              <a:rPr sz="1350">
                <a:solidFill>
                  <a:srgbClr val="F1C40F"/>
                </a:solidFill>
              </a:rPr>
              <a:t>mp,ref</a:t>
            </a:r>
            <a:r>
              <a:rPr sz="17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Ajuste de los 5 parámetros (lo que ejecuta el código)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4175" y="1737360"/>
            <a:ext cx="51905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0">
                <a:solidFill>
                  <a:srgbClr val="7FDBFF"/>
                </a:solidFill>
                <a:latin typeface="Consolas"/>
              </a:rPr>
              <a:t>scipy.optimize.minimize</a:t>
            </a:r>
            <a:r>
              <a:rPr sz="1750">
                <a:solidFill>
                  <a:srgbClr val="FBFCFD"/>
                </a:solidFill>
              </a:rPr>
              <a:t> sobre el residuo cuadrático de las 3 condiciones del SDM en SRC:</a:t>
            </a:r>
          </a:p>
        </p:txBody>
      </p:sp>
      <p:pic>
        <p:nvPicPr>
          <p:cNvPr id="16" name="Picture 15" descr="eq_b3adc907d5023ff754837ebeedf507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7" y="2423160"/>
            <a:ext cx="4052003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34175" y="324612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Voc</a:t>
            </a:r>
            <a:r>
              <a:rPr sz="1500">
                <a:solidFill>
                  <a:srgbClr val="F1C40F"/>
                </a:solidFill>
              </a:rPr>
              <a:t>: corriente nula en circuito abierto.</a:t>
            </a: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Isc</a:t>
            </a:r>
            <a:r>
              <a:rPr sz="1500">
                <a:solidFill>
                  <a:srgbClr val="F1C40F"/>
                </a:solidFill>
              </a:rPr>
              <a:t>: corriente de cortocircuito reproducida.</a:t>
            </a: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MPP</a:t>
            </a:r>
            <a:r>
              <a:rPr sz="1500">
                <a:solidFill>
                  <a:srgbClr val="F1C40F"/>
                </a:solidFill>
              </a:rPr>
              <a:t>: corriente correcta en (V</a:t>
            </a:r>
            <a:r>
              <a:rPr sz="1100">
                <a:solidFill>
                  <a:srgbClr val="F1C40F"/>
                </a:solidFill>
              </a:rPr>
              <a:t>mp</a:t>
            </a:r>
            <a:r>
              <a:rPr sz="1500">
                <a:solidFill>
                  <a:srgbClr val="F1C40F"/>
                </a:solidFill>
              </a:rPr>
              <a:t>, I</a:t>
            </a:r>
            <a:r>
              <a:rPr sz="1100">
                <a:solidFill>
                  <a:srgbClr val="F1C40F"/>
                </a:solidFill>
              </a:rPr>
              <a:t>mp</a:t>
            </a:r>
            <a:r>
              <a:rPr sz="1500">
                <a:solidFill>
                  <a:srgbClr val="F1C40F"/>
                </a:solidFill>
              </a:rPr>
              <a:t>).</a:t>
            </a:r>
          </a:p>
          <a:p>
            <a:pPr algn="l">
              <a:lnSpc>
                <a:spcPct val="112000"/>
              </a:lnSpc>
            </a:pPr>
            <a:r>
              <a:rPr sz="1500" b="1">
                <a:solidFill>
                  <a:srgbClr val="F1C40F"/>
                </a:solidFill>
              </a:rPr>
              <a:t>Bounds físicos:</a:t>
            </a:r>
            <a:r>
              <a:rPr sz="1500">
                <a:solidFill>
                  <a:srgbClr val="F1C40F"/>
                </a:solidFill>
              </a:rPr>
              <a:t> R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 ∈ [0.001, 2] Ω · R</a:t>
            </a:r>
            <a:r>
              <a:rPr sz="1100">
                <a:solidFill>
                  <a:srgbClr val="F1C40F"/>
                </a:solidFill>
              </a:rPr>
              <a:t>sh</a:t>
            </a:r>
            <a:r>
              <a:rPr sz="1500">
                <a:solidFill>
                  <a:srgbClr val="F1C40F"/>
                </a:solidFill>
              </a:rPr>
              <a:t> ∈ [100, 10⁴] Ω · a ∈ [0.5, 2]·a₀ · I</a:t>
            </a:r>
            <a:r>
              <a:rPr sz="1100">
                <a:solidFill>
                  <a:srgbClr val="F1C40F"/>
                </a:solidFill>
              </a:rPr>
              <a:t>L</a:t>
            </a:r>
            <a:r>
              <a:rPr sz="1500">
                <a:solidFill>
                  <a:srgbClr val="F1C40F"/>
                </a:solidFill>
              </a:rPr>
              <a:t> ± 10 % · I</a:t>
            </a:r>
            <a:r>
              <a:rPr sz="1100">
                <a:solidFill>
                  <a:srgbClr val="F1C40F"/>
                </a:solidFill>
              </a:rPr>
              <a:t>0</a:t>
            </a:r>
            <a:r>
              <a:rPr sz="1500">
                <a:solidFill>
                  <a:srgbClr val="F1C40F"/>
                </a:solidFill>
              </a:rPr>
              <a:t> ∈ [10⁻¹², 10⁻⁵] A.</a:t>
            </a:r>
          </a:p>
          <a:p>
            <a:pPr algn="l">
              <a:lnSpc>
                <a:spcPct val="112000"/>
              </a:lnSpc>
            </a:pPr>
            <a:r>
              <a:rPr sz="1500" b="1">
                <a:solidFill>
                  <a:srgbClr val="F1C40F"/>
                </a:solidFill>
              </a:rPr>
              <a:t>Inicialización analítica:</a:t>
            </a:r>
            <a:r>
              <a:rPr sz="1500">
                <a:solidFill>
                  <a:srgbClr val="F1C40F"/>
                </a:solidFill>
              </a:rPr>
              <a:t> a₀ = N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·1.2·kT/q; I</a:t>
            </a:r>
            <a:r>
              <a:rPr sz="1100">
                <a:solidFill>
                  <a:srgbClr val="F1C40F"/>
                </a:solidFill>
              </a:rPr>
              <a:t>0,0</a:t>
            </a:r>
            <a:r>
              <a:rPr sz="1500">
                <a:solidFill>
                  <a:srgbClr val="F1C40F"/>
                </a:solidFill>
              </a:rPr>
              <a:t> = I</a:t>
            </a:r>
            <a:r>
              <a:rPr sz="1100">
                <a:solidFill>
                  <a:srgbClr val="F1C40F"/>
                </a:solidFill>
              </a:rPr>
              <a:t>sc</a:t>
            </a:r>
            <a:r>
              <a:rPr sz="1500">
                <a:solidFill>
                  <a:srgbClr val="F1C40F"/>
                </a:solidFill>
              </a:rPr>
              <a:t>·exp(−V</a:t>
            </a:r>
            <a:r>
              <a:rPr sz="1100">
                <a:solidFill>
                  <a:srgbClr val="F1C40F"/>
                </a:solidFill>
              </a:rPr>
              <a:t>oc</a:t>
            </a:r>
            <a:r>
              <a:rPr sz="1500">
                <a:solidFill>
                  <a:srgbClr val="F1C40F"/>
                </a:solidFill>
              </a:rPr>
              <a:t>/a₀).</a:t>
            </a: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1C40F"/>
                </a:solidFill>
              </a:rPr>
              <a:t>3 ecuaciones, 5 incógnitas: la unicidad la dan bounds + inicialización (R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, R</a:t>
            </a:r>
            <a:r>
              <a:rPr sz="1100">
                <a:solidFill>
                  <a:srgbClr val="F1C40F"/>
                </a:solidFill>
              </a:rPr>
              <a:t>sh</a:t>
            </a:r>
            <a:r>
              <a:rPr sz="1500">
                <a:solidFill>
                  <a:srgbClr val="F1C40F"/>
                </a:solidFill>
              </a:rPr>
              <a:t> quedan ≈ iniciales).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31/39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VI: Escalamiento a Condiciones de Operación (De Soto)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Corrientes y Factor de Idealidad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1. Corriente fotogenerada (I</a:t>
            </a:r>
            <a:r>
              <a:rPr sz="1350">
                <a:solidFill>
                  <a:srgbClr val="FBFCFD"/>
                </a:solidFill>
              </a:rPr>
              <a:t>L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e0bf09c03378197463842c40e63c24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94560"/>
            <a:ext cx="439151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288036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2. Corriente de saturación inversa (I</a:t>
            </a:r>
            <a:r>
              <a:rPr sz="1350">
                <a:solidFill>
                  <a:srgbClr val="FBFCFD"/>
                </a:solidFill>
              </a:rPr>
              <a:t>0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1" name="Picture 10" descr="eq_a3e1cf0edcfb4f601e8cb4052dc46d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73551"/>
            <a:ext cx="416052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069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3. Factor de idealidad térmico (a):</a:t>
            </a:r>
          </a:p>
        </p:txBody>
      </p:sp>
      <p:pic>
        <p:nvPicPr>
          <p:cNvPr id="13" name="Picture 12" descr="eq_855f25f4df726f32a8627b66266d95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480560"/>
            <a:ext cx="1089660" cy="5029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Resistencias y Energía de Bandgap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4. Resistencia shunt (R</a:t>
            </a:r>
            <a:r>
              <a:rPr sz="1350">
                <a:solidFill>
                  <a:srgbClr val="FBFCFD"/>
                </a:solidFill>
              </a:rPr>
              <a:t>sh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8" name="Picture 17" descr="eq_3d1d79bd526a9b74d63122a07a9441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767" y="2194560"/>
            <a:ext cx="2757637" cy="548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34175" y="2926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5. Energía de bandgap del Silicio (E</a:t>
            </a:r>
            <a:r>
              <a:rPr sz="1350">
                <a:solidFill>
                  <a:srgbClr val="FBFCFD"/>
                </a:solidFill>
              </a:rPr>
              <a:t>g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20" name="Picture 19" descr="eq_835b1d64c566faa058ac35a3005994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8767" y="3291840"/>
            <a:ext cx="3941010" cy="502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34175" y="4069080"/>
            <a:ext cx="519059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Suposiciones físicas justificadas:</a:t>
            </a:r>
          </a:p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• R</a:t>
            </a:r>
            <a:r>
              <a:rPr sz="1150">
                <a:solidFill>
                  <a:srgbClr val="F1C40F"/>
                </a:solidFill>
              </a:rPr>
              <a:t>s</a:t>
            </a:r>
            <a:r>
              <a:rPr sz="1550">
                <a:solidFill>
                  <a:srgbClr val="F1C40F"/>
                </a:solidFill>
              </a:rPr>
              <a:t> constante: R</a:t>
            </a:r>
            <a:r>
              <a:rPr sz="1150">
                <a:solidFill>
                  <a:srgbClr val="F1C40F"/>
                </a:solidFill>
              </a:rPr>
              <a:t>s</a:t>
            </a:r>
            <a:r>
              <a:rPr sz="1550">
                <a:solidFill>
                  <a:srgbClr val="F1C40F"/>
                </a:solidFill>
              </a:rPr>
              <a:t> = R</a:t>
            </a:r>
            <a:r>
              <a:rPr sz="1150">
                <a:solidFill>
                  <a:srgbClr val="F1C40F"/>
                </a:solidFill>
              </a:rPr>
              <a:t>s,ref</a:t>
            </a:r>
            <a:r>
              <a:rPr sz="1550">
                <a:solidFill>
                  <a:srgbClr val="F1C40F"/>
                </a:solidFill>
              </a:rPr>
              <a:t> (validación NIST &lt; 2 %).</a:t>
            </a:r>
          </a:p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• R</a:t>
            </a:r>
            <a:r>
              <a:rPr sz="1150">
                <a:solidFill>
                  <a:srgbClr val="F1C40F"/>
                </a:solidFill>
              </a:rPr>
              <a:t>sh</a:t>
            </a:r>
            <a:r>
              <a:rPr sz="1550">
                <a:solidFill>
                  <a:srgbClr val="F1C40F"/>
                </a:solidFill>
              </a:rPr>
              <a:t> ∝ 1/S: empírica, dominante a baja irradiancia.</a:t>
            </a:r>
          </a:p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• E</a:t>
            </a:r>
            <a:r>
              <a:rPr sz="1150">
                <a:solidFill>
                  <a:srgbClr val="F1C40F"/>
                </a:solidFill>
              </a:rPr>
              <a:t>g,ref</a:t>
            </a:r>
            <a:r>
              <a:rPr sz="1550">
                <a:solidFill>
                  <a:srgbClr val="F1C40F"/>
                </a:solidFill>
              </a:rPr>
              <a:t> = 1.121 eV (Si, 25 °C); S = G</a:t>
            </a:r>
            <a:r>
              <a:rPr sz="1150">
                <a:solidFill>
                  <a:srgbClr val="F1C40F"/>
                </a:solidFill>
              </a:rPr>
              <a:t>poa</a:t>
            </a:r>
            <a:r>
              <a:rPr sz="1550">
                <a:solidFill>
                  <a:srgbClr val="F1C40F"/>
                </a:solidFill>
              </a:rPr>
              <a:t> (Anexo II).</a:t>
            </a:r>
          </a:p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Implementado por </a:t>
            </a:r>
            <a:r>
              <a:rPr sz="1450">
                <a:solidFill>
                  <a:srgbClr val="7FDBFF"/>
                </a:solidFill>
                <a:latin typeface="Consolas"/>
              </a:rPr>
              <a:t>pvlib.pvsystem.calcparams_desoto</a:t>
            </a:r>
            <a:r>
              <a:rPr sz="15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32/39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VII: Ecuaciones para el Cálculo del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Rendimiento Global del PR (IEC 61724-1)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Eficiencia neta del sistema frente a su comportamiento ideal en condiciones estándar:</a:t>
            </a:r>
          </a:p>
        </p:txBody>
      </p:sp>
      <p:pic>
        <p:nvPicPr>
          <p:cNvPr id="9" name="Picture 8" descr="eq_f5093d4054598633962633717f29b2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148840"/>
            <a:ext cx="4370498" cy="7132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P</a:t>
            </a:r>
            <a:r>
              <a:rPr sz="1100">
                <a:solidFill>
                  <a:srgbClr val="FBFCFD"/>
                </a:solidFill>
              </a:rPr>
              <a:t>mp,t</a:t>
            </a:r>
            <a:r>
              <a:rPr sz="1500">
                <a:solidFill>
                  <a:srgbClr val="FBFCFD"/>
                </a:solidFill>
              </a:rPr>
              <a:t>: potencia MPP del SDM en el registro t (cadencia 5 min).</a:t>
            </a: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P</a:t>
            </a:r>
            <a:r>
              <a:rPr sz="1100">
                <a:solidFill>
                  <a:srgbClr val="FBFCFD"/>
                </a:solidFill>
              </a:rPr>
              <a:t>STC</a:t>
            </a:r>
            <a:r>
              <a:rPr sz="1500">
                <a:solidFill>
                  <a:srgbClr val="FBFCFD"/>
                </a:solidFill>
              </a:rPr>
              <a:t>: potencia nominal del </a:t>
            </a:r>
            <a:r>
              <a:rPr sz="1500" b="1">
                <a:solidFill>
                  <a:srgbClr val="FBFCFD"/>
                </a:solidFill>
              </a:rPr>
              <a:t>mismo SDM</a:t>
            </a:r>
            <a:r>
              <a:rPr sz="1500">
                <a:solidFill>
                  <a:srgbClr val="FBFCFD"/>
                </a:solidFill>
              </a:rPr>
              <a:t> evaluado a 1000 W/m² y 25 °C — m-Si: 50.1 W · HIT: 238.0 W (criterio consistente).</a:t>
            </a: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G</a:t>
            </a:r>
            <a:r>
              <a:rPr sz="1100">
                <a:solidFill>
                  <a:srgbClr val="FBFCFD"/>
                </a:solidFill>
              </a:rPr>
              <a:t>poa,t</a:t>
            </a:r>
            <a:r>
              <a:rPr sz="1500">
                <a:solidFill>
                  <a:srgbClr val="FBFCFD"/>
                </a:solidFill>
              </a:rPr>
              <a:t>: irradiancia instantánea en el plano del panel (W/m²).</a:t>
            </a: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G</a:t>
            </a:r>
            <a:r>
              <a:rPr sz="1100">
                <a:solidFill>
                  <a:srgbClr val="FBFCFD"/>
                </a:solidFill>
              </a:rPr>
              <a:t>ref</a:t>
            </a:r>
            <a:r>
              <a:rPr sz="1500">
                <a:solidFill>
                  <a:srgbClr val="FBFCFD"/>
                </a:solidFill>
              </a:rPr>
              <a:t>: irradiancia de referencia STC (1000 W/m²).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Pérdidas penalizadas por el PR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Térmicas:</a:t>
            </a:r>
            <a:r>
              <a:rPr sz="1800">
                <a:solidFill>
                  <a:srgbClr val="FBFCFD"/>
                </a:solidFill>
              </a:rPr>
              <a:t> caídas por elevada 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 — dominantes en Atacama.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Óhmicas:</a:t>
            </a:r>
            <a:r>
              <a:rPr sz="1800">
                <a:solidFill>
                  <a:srgbClr val="FBFCFD"/>
                </a:solidFill>
              </a:rPr>
              <a:t> pérdidas resistivas en R</a:t>
            </a:r>
            <a:r>
              <a:rPr sz="1400">
                <a:solidFill>
                  <a:srgbClr val="FBFCFD"/>
                </a:solidFill>
              </a:rPr>
              <a:t>s</a:t>
            </a:r>
            <a:r>
              <a:rPr sz="180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De bajo G:</a:t>
            </a:r>
            <a:r>
              <a:rPr sz="1800">
                <a:solidFill>
                  <a:srgbClr val="FBFCFD"/>
                </a:solidFill>
              </a:rPr>
              <a:t> comportamiento no lineal a baja irradiancia (R</a:t>
            </a:r>
            <a:r>
              <a:rPr sz="1400">
                <a:solidFill>
                  <a:srgbClr val="FBFCFD"/>
                </a:solidFill>
              </a:rPr>
              <a:t>sh</a:t>
            </a:r>
            <a:r>
              <a:rPr sz="180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NO penaliza pérdidas ópticas/espectrales (no modeladas) ni de planta (cableado, inversor, soiling).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33/39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VIII: Diccionario de Columnas del Dataset NREL Cocoa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2359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Identificación y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Time Stamp</a:t>
            </a:r>
            <a:r>
              <a:rPr sz="1550">
                <a:solidFill>
                  <a:srgbClr val="FBFCFD"/>
                </a:solidFill>
              </a:rPr>
              <a:t> (hora local estándar, paso 5 min) — col. 0.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Metadatos (líneas 1–2): módulo, ciudad, estado, zona horaria, latitud, longitud, altitud, tilt, azimut.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776472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Eléctricas (usadas → índices fijos)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Isc</a:t>
            </a:r>
            <a:r>
              <a:rPr sz="1550">
                <a:solidFill>
                  <a:srgbClr val="FBFCFD"/>
                </a:solidFill>
              </a:rPr>
              <a:t> (5), </a:t>
            </a:r>
            <a:r>
              <a:rPr sz="1450">
                <a:solidFill>
                  <a:srgbClr val="7FDBFF"/>
                </a:solidFill>
                <a:latin typeface="Consolas"/>
              </a:rPr>
              <a:t>Pmp</a:t>
            </a:r>
            <a:r>
              <a:rPr sz="1550">
                <a:solidFill>
                  <a:srgbClr val="FBFCFD"/>
                </a:solidFill>
              </a:rPr>
              <a:t> (7), </a:t>
            </a:r>
            <a:r>
              <a:rPr sz="1450">
                <a:solidFill>
                  <a:srgbClr val="7FDBFF"/>
                </a:solidFill>
                <a:latin typeface="Consolas"/>
              </a:rPr>
              <a:t>Imp</a:t>
            </a:r>
            <a:r>
              <a:rPr sz="1550">
                <a:solidFill>
                  <a:srgbClr val="FBFCFD"/>
                </a:solidFill>
              </a:rPr>
              <a:t> (9), </a:t>
            </a:r>
            <a:r>
              <a:rPr sz="1450">
                <a:solidFill>
                  <a:srgbClr val="7FDBFF"/>
                </a:solidFill>
                <a:latin typeface="Consolas"/>
              </a:rPr>
              <a:t>Vmp</a:t>
            </a:r>
            <a:r>
              <a:rPr sz="1550">
                <a:solidFill>
                  <a:srgbClr val="FBFCFD"/>
                </a:solidFill>
              </a:rPr>
              <a:t> (11), </a:t>
            </a:r>
            <a:r>
              <a:rPr sz="1450">
                <a:solidFill>
                  <a:srgbClr val="7FDBFF"/>
                </a:solidFill>
                <a:latin typeface="Consolas"/>
              </a:rPr>
              <a:t>Voc</a:t>
            </a:r>
            <a:r>
              <a:rPr sz="1550">
                <a:solidFill>
                  <a:srgbClr val="FBFCFD"/>
                </a:solidFill>
              </a:rPr>
              <a:t> (13) — cada una con su columna de incertidumbre (%).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FF</a:t>
            </a:r>
            <a:r>
              <a:rPr sz="1550">
                <a:solidFill>
                  <a:srgbClr val="FBFCFD"/>
                </a:solidFill>
              </a:rPr>
              <a:t> (15) y cola de n pares (I, V) crudos — descartadas en la ingesta.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188720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Meteorológicas (usadas → índices fijos)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Dry bulb temperature</a:t>
            </a:r>
            <a:r>
              <a:rPr sz="1550">
                <a:solidFill>
                  <a:srgbClr val="FBFCFD"/>
                </a:solidFill>
              </a:rPr>
              <a:t> (20), </a:t>
            </a:r>
            <a:r>
              <a:rPr sz="1450">
                <a:solidFill>
                  <a:srgbClr val="7FDBFF"/>
                </a:solidFill>
                <a:latin typeface="Consolas"/>
              </a:rPr>
              <a:t>Atmospheric pressure</a:t>
            </a:r>
            <a:r>
              <a:rPr sz="1550">
                <a:solidFill>
                  <a:srgbClr val="FBFCFD"/>
                </a:solidFill>
              </a:rPr>
              <a:t> (24).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DNI</a:t>
            </a:r>
            <a:r>
              <a:rPr sz="1550">
                <a:solidFill>
                  <a:srgbClr val="FBFCFD"/>
                </a:solidFill>
              </a:rPr>
              <a:t> (27), </a:t>
            </a:r>
            <a:r>
              <a:rPr sz="1450">
                <a:solidFill>
                  <a:srgbClr val="7FDBFF"/>
                </a:solidFill>
                <a:latin typeface="Consolas"/>
              </a:rPr>
              <a:t>GHI</a:t>
            </a:r>
            <a:r>
              <a:rPr sz="1550">
                <a:solidFill>
                  <a:srgbClr val="FBFCFD"/>
                </a:solidFill>
              </a:rPr>
              <a:t> (30), </a:t>
            </a:r>
            <a:r>
              <a:rPr sz="1450">
                <a:solidFill>
                  <a:srgbClr val="7FDBFF"/>
                </a:solidFill>
                <a:latin typeface="Consolas"/>
              </a:rPr>
              <a:t>DHI</a:t>
            </a:r>
            <a:r>
              <a:rPr sz="1550">
                <a:solidFill>
                  <a:srgbClr val="FBFCFD"/>
                </a:solidFill>
              </a:rPr>
              <a:t> (33) — c/u con incertidumbre y desv. estándar de muestras de 1 s.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POA CMP22</a:t>
            </a:r>
            <a:r>
              <a:rPr sz="1550">
                <a:solidFill>
                  <a:srgbClr val="FBFCFD"/>
                </a:solidFill>
              </a:rPr>
              <a:t> (1): referencia para verificar el recurso.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3776472"/>
            <a:ext cx="73152" cy="2359152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599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Calidad y operación (no usadas)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4175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Solar QA residual</a:t>
            </a:r>
            <a:r>
              <a:rPr sz="1550">
                <a:solidFill>
                  <a:srgbClr val="FBFCFD"/>
                </a:solidFill>
              </a:rPr>
              <a:t>: cierre Direct·cos(z) + Difusa − Global.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PV module soiling derate</a:t>
            </a:r>
            <a:r>
              <a:rPr sz="1550">
                <a:solidFill>
                  <a:srgbClr val="FBFCFD"/>
                </a:solidFill>
              </a:rPr>
              <a:t>, lluvia, humedad relativa, T dorso, T gabinete MT5, horarios de mantención (</a:t>
            </a:r>
            <a:r>
              <a:rPr sz="1450">
                <a:solidFill>
                  <a:srgbClr val="7FDBFF"/>
                </a:solidFill>
                <a:latin typeface="Consolas"/>
              </a:rPr>
              <a:t>99:99</a:t>
            </a:r>
            <a:r>
              <a:rPr sz="1550">
                <a:solidFill>
                  <a:srgbClr val="FBFCFD"/>
                </a:solidFill>
              </a:rPr>
              <a:t> = sin mantención) y n.º de pares I-V.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34/39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IX: Anatomía del Archivo CSV y Decisiones de Ingesta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tructura_c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56" y="1143000"/>
            <a:ext cx="11051381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12064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15721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Estructura y lectura de datos:</a:t>
            </a:r>
            <a:r>
              <a:rPr sz="1700">
                <a:solidFill>
                  <a:srgbClr val="FBFCFD"/>
                </a:solidFill>
              </a:rPr>
              <a:t> Los archivos originales del NREL contienen una cabecera de metadatos y registros cada 5 minutos. Dado que cada fila incluye las curvas eléctricas crudas completas, su tamaño es variable y pesado (~110 MB). Para optimizar la memoria, el código lee el archivo en flujo (streaming) e indexa únicamente las 11 variables meteorológicas y eléctricas necesarias, descartando el resto al vuelo.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35/39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X: Florida (origen de los datos) vs Atacama (sitio simulado)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3886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3886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Cocoa, Florida — clima original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3081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Clima: subtropical húmedo (marítimo), 12 m.s.n.m.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Irradiancia difusa alta (~35–45 %) por humedad y nubosidad convectiva frecuente.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DNI máximo ~950 W/m² (atenuado).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T</a:t>
            </a:r>
            <a:r>
              <a:rPr sz="1350">
                <a:solidFill>
                  <a:srgbClr val="FBFCFD"/>
                </a:solidFill>
              </a:rPr>
              <a:t>c</a:t>
            </a:r>
            <a:r>
              <a:rPr sz="1750">
                <a:solidFill>
                  <a:srgbClr val="FBFCFD"/>
                </a:solidFill>
              </a:rPr>
              <a:t> pico de celda: ~55–60 °C.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3886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3886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San Pedro de Atacama — sitio emulado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3081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Clima: hiperárido (desértico extremo), 2,400 m.s.n.m.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Irradiancia difusa muy baja (~10–15 %): cielos permanentemente limpios.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DNI máximo real &gt; 1,250 W/m² (extremo).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T</a:t>
            </a:r>
            <a:r>
              <a:rPr sz="1350">
                <a:solidFill>
                  <a:srgbClr val="FBFCFD"/>
                </a:solidFill>
              </a:rPr>
              <a:t>c</a:t>
            </a:r>
            <a:r>
              <a:rPr sz="1750">
                <a:solidFill>
                  <a:srgbClr val="FBFCFD"/>
                </a:solidFill>
              </a:rPr>
              <a:t> pico simulada: ~65–73 °C (alto estrés).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120640"/>
            <a:ext cx="11460175" cy="13258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157216"/>
            <a:ext cx="11094415" cy="1252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Límite explícito del método:</a:t>
            </a:r>
            <a:r>
              <a:rPr sz="1700">
                <a:solidFill>
                  <a:srgbClr val="FBFCFD"/>
                </a:solidFill>
              </a:rPr>
              <a:t> el filtro alinea estaciones, geometría solar e inclinación óptima (tilt = latitud, azimut 0° N); las </a:t>
            </a:r>
            <a:r>
              <a:rPr sz="1700" b="1">
                <a:solidFill>
                  <a:srgbClr val="FBFCFD"/>
                </a:solidFill>
              </a:rPr>
              <a:t>magnitudes medidas</a:t>
            </a:r>
            <a:r>
              <a:rPr sz="1700">
                <a:solidFill>
                  <a:srgbClr val="FBFCFD"/>
                </a:solidFill>
              </a:rPr>
              <a:t> de irradiancia y clima siguen siendo las de Florida (ver Limitaciones, Lám. 24).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36/39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XI: Verificación del Recurso — Notas Metodológicas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421,664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Registros de irradiancia válidos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(11 archivos Cocoa)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4256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4256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1,443 W/m²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Irradiancia POA máxima medida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en el plano del arreglo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2752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5E3A"/>
                </a:solidFill>
              </a:rPr>
              <a:t>CMP22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6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Piranómetro de referencia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clase A (alta precisión)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24912"/>
            <a:ext cx="5592927" cy="3584448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24912"/>
            <a:ext cx="73152" cy="3584448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1635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de Consistencia de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364992"/>
            <a:ext cx="5190591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Superposición de mediciones:</a:t>
            </a:r>
            <a:r>
              <a:rPr sz="1500">
                <a:solidFill>
                  <a:srgbClr val="FBFCFD"/>
                </a:solidFill>
              </a:rPr>
              <a:t> Las curvas de irradiancia diaria se superponen con exactitud, confirmando la consistencia instrumental.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Rango temporal:</a:t>
            </a:r>
            <a:r>
              <a:rPr sz="1500">
                <a:solidFill>
                  <a:srgbClr val="FBFCFD"/>
                </a:solidFill>
              </a:rPr>
              <a:t> Campaña desde el </a:t>
            </a:r>
            <a:r>
              <a:rPr sz="1500" b="1">
                <a:solidFill>
                  <a:srgbClr val="FBFCFD"/>
                </a:solidFill>
              </a:rPr>
              <a:t>21 de enero de 2011</a:t>
            </a:r>
            <a:r>
              <a:rPr sz="1500">
                <a:solidFill>
                  <a:srgbClr val="FBFCFD"/>
                </a:solidFill>
              </a:rPr>
              <a:t> al </a:t>
            </a:r>
            <a:r>
              <a:rPr sz="1500" b="1">
                <a:solidFill>
                  <a:srgbClr val="FBFCFD"/>
                </a:solidFill>
              </a:rPr>
              <a:t>4 de marzo de 2012</a:t>
            </a:r>
            <a:r>
              <a:rPr sz="150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Tratamiento:</a:t>
            </a:r>
            <a:r>
              <a:rPr sz="1500">
                <a:solidFill>
                  <a:srgbClr val="FBFCFD"/>
                </a:solidFill>
              </a:rPr>
              <a:t> Mediana diaria suavizada (ventana 7 días) por archivo para aislar ruidos y nubes transitorias.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24912"/>
            <a:ext cx="5592927" cy="3584448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24912"/>
            <a:ext cx="73152" cy="358444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1635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Propósito del Control de Calidad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364992"/>
            <a:ext cx="5190591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Validación previa:</a:t>
            </a:r>
            <a:r>
              <a:rPr sz="1500">
                <a:solidFill>
                  <a:srgbClr val="FBFCFD"/>
                </a:solidFill>
              </a:rPr>
              <a:t> Confirmar la homogeneidad física de la radiación </a:t>
            </a:r>
            <a:r>
              <a:rPr sz="1500" b="1">
                <a:solidFill>
                  <a:srgbClr val="FBFCFD"/>
                </a:solidFill>
              </a:rPr>
              <a:t>antes</a:t>
            </a:r>
            <a:r>
              <a:rPr sz="1500">
                <a:solidFill>
                  <a:srgbClr val="FBFCFD"/>
                </a:solidFill>
              </a:rPr>
              <a:t> de la emulación geográfica y el modelado.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Soiling y mantenimiento:</a:t>
            </a:r>
            <a:r>
              <a:rPr sz="1500">
                <a:solidFill>
                  <a:srgbClr val="FBFCFD"/>
                </a:solidFill>
              </a:rPr>
              <a:t> La coincidencia de curvas demuestra que no hay desviaciones locales significativas en los sensores de referencia.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Alineación de sensores:</a:t>
            </a:r>
            <a:r>
              <a:rPr sz="1500">
                <a:solidFill>
                  <a:srgbClr val="FBFCFD"/>
                </a:solidFill>
              </a:rPr>
              <a:t> Garantizar que la irradiancia incidente en los 11 planos sea idéntica para una comparación justa.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37/39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XII: Distribución Anual de Temperatura de Celda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Distribución de Temperatura de Celda (HIT)</a:t>
            </a:r>
          </a:p>
        </p:txBody>
      </p:sp>
      <p:pic>
        <p:nvPicPr>
          <p:cNvPr id="8" name="Picture 7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Picos Térmicos Extremos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 b="1">
                <a:solidFill>
                  <a:srgbClr val="FBFCFD"/>
                </a:solidFill>
              </a:rPr>
              <a:t>65–73 °C de operación recurrente</a:t>
            </a:r>
            <a:r>
              <a:rPr sz="1650">
                <a:solidFill>
                  <a:srgbClr val="FBFCFD"/>
                </a:solidFill>
              </a:rPr>
              <a:t> al mediodía solar de verano (HIT: 430 registros sobre 65 °C).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Crítico de Resultados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Estrés térmico evidenciado:</a:t>
            </a:r>
            <a:r>
              <a:rPr sz="1550">
                <a:solidFill>
                  <a:srgbClr val="FBFCFD"/>
                </a:solidFill>
              </a:rPr>
              <a:t> operación sostenida muy por encima de los 25 °C de STC.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Enfriamiento convectivo limitado:</a:t>
            </a:r>
            <a:r>
              <a:rPr sz="1550">
                <a:solidFill>
                  <a:srgbClr val="FBFCFD"/>
                </a:solidFill>
              </a:rPr>
              <a:t> viento de 1 m/s en SAPM — escenario de mayor estrés físico.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Consecuencia en voltaje:</a:t>
            </a:r>
            <a:r>
              <a:rPr sz="1550">
                <a:solidFill>
                  <a:srgbClr val="FBFCFD"/>
                </a:solidFill>
              </a:rPr>
              <a:t> el calor eleva I</a:t>
            </a:r>
            <a:r>
              <a:rPr sz="1150">
                <a:solidFill>
                  <a:srgbClr val="FBFCFD"/>
                </a:solidFill>
              </a:rPr>
              <a:t>0</a:t>
            </a:r>
            <a:r>
              <a:rPr sz="1550">
                <a:solidFill>
                  <a:srgbClr val="FBFCFD"/>
                </a:solidFill>
              </a:rPr>
              <a:t> exponencialmente, deprimiendo V</a:t>
            </a:r>
            <a:r>
              <a:rPr sz="1150">
                <a:solidFill>
                  <a:srgbClr val="FBFCFD"/>
                </a:solidFill>
              </a:rPr>
              <a:t>oc</a:t>
            </a:r>
            <a:r>
              <a:rPr sz="1550">
                <a:solidFill>
                  <a:srgbClr val="FBFCFD"/>
                </a:solidFill>
              </a:rPr>
              <a:t> y la potencia útil [De Soto et al., 2006].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38/39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XIII: Lectura Económica con Recurso REAL (Planta de 100 MWp)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36371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+3,294 MWh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352745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energía adicional anual de HIT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(recurso real Atacama, 100 MWp)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7258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7258" y="1261872"/>
            <a:ext cx="36371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2ECC71"/>
                </a:solidFill>
              </a:rPr>
              <a:t>+USD 148k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2122" y="1901952"/>
            <a:ext cx="352745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facturación neta anual extra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(a 45 USD/MWh)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8756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8756" y="1261872"/>
            <a:ext cx="36371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33 kWh/kWp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3620" y="1901952"/>
            <a:ext cx="352745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diferencia de yield específico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HIT − m-Si (PVGIS TMY)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Supuestos explícitos del cálculo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29000"/>
            <a:ext cx="5190591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Recurso REAL (no escalado):</a:t>
            </a:r>
            <a:r>
              <a:rPr sz="1650">
                <a:solidFill>
                  <a:srgbClr val="FBFCFD"/>
                </a:solidFill>
              </a:rPr>
              <a:t> PVGIS TMY de San Pedro de Atacama, POA ≈ 2,810 kWh/m²·año (track de la Lám. 22).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ΔPR +1.17 pts (HIT 84.99 % vs m-Si 83.82 %) → Δyield 33 kWh/kWp·año.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33 kWh/kWp × 100,000 kWp = </a:t>
            </a:r>
            <a:r>
              <a:rPr sz="1650" b="1">
                <a:solidFill>
                  <a:srgbClr val="FBFCFD"/>
                </a:solidFill>
              </a:rPr>
              <a:t>+3,294 MWh/año</a:t>
            </a:r>
            <a:r>
              <a:rPr sz="16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Precio de venta ≈ 45 USD/MWh → </a:t>
            </a:r>
            <a:r>
              <a:rPr sz="1650" b="1">
                <a:solidFill>
                  <a:srgbClr val="FBFCFD"/>
                </a:solidFill>
              </a:rPr>
              <a:t>+USD 148k/año</a:t>
            </a:r>
            <a:r>
              <a:rPr sz="1650">
                <a:solidFill>
                  <a:srgbClr val="FBFCFD"/>
                </a:solidFill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88920"/>
            <a:ext cx="73152" cy="3383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Conclusión de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429000"/>
            <a:ext cx="5190591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La prima CAPEX de los módulos HIT se </a:t>
            </a:r>
            <a:r>
              <a:rPr sz="1650" b="1">
                <a:solidFill>
                  <a:srgbClr val="FBFCFD"/>
                </a:solidFill>
              </a:rPr>
              <a:t>amortiza</a:t>
            </a:r>
            <a:r>
              <a:rPr sz="1650">
                <a:solidFill>
                  <a:srgbClr val="FBFCFD"/>
                </a:solidFill>
              </a:rPr>
              <a:t> por su mayor yield en el recurso desértico de clase mundial (≈2,370 kWh/kWp).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La ventaja relativa de HIT es </a:t>
            </a:r>
            <a:r>
              <a:rPr sz="1650" b="1">
                <a:solidFill>
                  <a:srgbClr val="FBFCFD"/>
                </a:solidFill>
              </a:rPr>
              <a:t>menor</a:t>
            </a:r>
            <a:r>
              <a:rPr sz="1650">
                <a:solidFill>
                  <a:srgbClr val="FBFCFD"/>
                </a:solidFill>
              </a:rPr>
              <a:t> que en climas cálidos: el aire de altura de Atacama enfría la celda (≈58–62 °C), reduciendo el castigo térmico que favorece a HIT.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Aun así HIT gana en PR, energía y facturación en ambos escenarios de recurso (emulado y real).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39/39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