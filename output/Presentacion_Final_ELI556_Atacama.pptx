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A838"/>
                </a:solidFill>
              </a:defRPr>
            </a:pPr>
            <a: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Integrantes / Estudiantes:</a:t>
            </a:r>
            <a:br/>
            <a:r>
              <a:t>Laury Gualdron  |  Sebastian Marin  |  Alejandro Hernández</a:t>
            </a:r>
            <a:br/>
            <a:br/>
            <a:r>
              <a:t>Profesor Guía: Carlos Cardenas</a:t>
            </a:r>
            <a:br/>
            <a: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Irradiancia GHI anual &gt; 2900 kWh/m² (máxima mundial).</a:t>
            </a:r>
            <a:br/>
            <a:br/>
            <a:r>
              <a:t>• Cielos extremadamente limpios con baja atenuación.</a:t>
            </a:r>
            <a:br/>
            <a:br/>
            <a:r>
              <a:t>• Altitud elevada (&gt;= 2400 m.s.n.m.): mayor radiación directa y UV.</a:t>
            </a:r>
            <a:br/>
            <a:br/>
            <a: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Las celdas solares operan a temperaturas &gt; 65°C a mediodía.</a:t>
            </a:r>
            <a:br/>
            <a:br/>
            <a:r>
              <a:t>• La potencia y el voltaje decaen fuertemente con el calor.</a:t>
            </a:r>
            <a:br/>
            <a:br/>
            <a:r>
              <a:t>• La eficiencia térmica es el factor dominante en pérdidas.</a:t>
            </a:r>
            <a:br/>
            <a:br/>
            <a: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</a:defRPr>
            </a:pPr>
            <a:r>
              <a:t>1. Ingesta de Datos: Dataset NREL Cocoa (mediciones experimentales reales).</a:t>
            </a:r>
            <a:br/>
            <a:br/>
            <a:r>
              <a:t>2. Filtro de Emulación Geográfica: Traslación temporal (desfase de 6 meses) y re-localización espacial.</a:t>
            </a:r>
            <a:br/>
            <a:br/>
            <a:r>
              <a:t>3. Modelamiento Térmico: Modelo Sandia SAPM para estimación dinámica de la Temperatura de Celda (Tc).</a:t>
            </a:r>
            <a:br/>
            <a:br/>
            <a:r>
              <a:t>4. Caracterización Eléctrica: Extracción de los 5 parámetros De Soto en SRC usando Scipy Optimize.</a:t>
            </a:r>
            <a:br/>
            <a:br/>
            <a: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1. Irradiancia en Plano de Arreglo (POA):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0" cy="34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6032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2. Irradiancia Absorbida por Celdas (S):</a:t>
            </a:r>
          </a:p>
        </p:txBody>
      </p:sp>
      <p:pic>
        <p:nvPicPr>
          <p:cNvPr id="8" name="Picture 7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71800"/>
            <a:ext cx="5029200" cy="28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49039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Donde S_ref = G_ref = 1000 W/m² en condiciones de referencia (SRC).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G_b / G_d / G: Irradiancia directa, difusa y global horizontal (W/m²).</a:t>
            </a:r>
            <a:br/>
            <a:br/>
            <a:r>
              <a:t>• β (Tilt): Ángulo de inclinación del panel (22.91° optimizado).</a:t>
            </a:r>
            <a:br/>
            <a:br/>
            <a:r>
              <a:t>• ρ (Albedo): Reflectancia del suelo árido desértico (~0.20).</a:t>
            </a:r>
            <a:br/>
            <a:br/>
            <a:r>
              <a:t>• R_beam: Factor de transposición geométrica para radiación directa.</a:t>
            </a:r>
            <a:br/>
            <a:br/>
            <a:r>
              <a:t>• K_ta,b / K_ta,d / K_ta,g: Modificadores por IAM para directa, difusa y suelo.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3469175" cy="347472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6616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Donde:</a:t>
            </a:r>
            <a:br/>
            <a:r>
              <a:t>• θ: Ángulo de incidencia  |  n = 1.526 (Índice refracción vidrio).</a:t>
            </a:r>
            <a:br/>
            <a:r>
              <a:t>• K = 4 m⁻¹ (Absorción del vidrio)  |  L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96596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42316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15468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Donde:</a:t>
            </a:r>
            <a:br/>
            <a:r>
              <a:t>• AM: Masa de aire absoluta  |  θ_z: Ángulo cenital del sol.</a:t>
            </a:r>
            <a:br/>
            <a:r>
              <a:t>• a₀, a₁, a₂, a₃, a₄: Coeficientes empíricos espectrales.</a:t>
            </a:r>
            <a:br/>
            <a:r>
              <a:t>• M_ref: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La temperatura interna de la celda (Tc)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458677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0604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Donde:</a:t>
            </a:r>
            <a:br/>
            <a:r>
              <a:t>• T_c / T_a: Temperatura de celda y ambiental (°C).</a:t>
            </a:r>
            <a:br/>
            <a:r>
              <a:t>• G_poa: Irradiancia en el plano del panel (W/m²).</a:t>
            </a:r>
            <a:br/>
            <a:r>
              <a:t>• v_w: Velocidad del viento (m/s).</a:t>
            </a:r>
            <a:br/>
            <a:r>
              <a:t>• a, b, ΔT: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Los parámetros empíricos varían según la disipación del marco y capas protectoras:</a:t>
            </a:r>
            <a:br/>
            <a:br/>
            <a:r>
              <a:t>1. Silicio Monocristalino (m-Si) — glass/polymer:</a:t>
            </a:r>
            <a:br/>
            <a:r>
              <a:t>   • a = -3.56  |  b = -0.075  |  ΔT = 3.0 °C</a:t>
            </a:r>
            <a:br/>
            <a:r>
              <a:t>   → Comportamiento: Disipación estándar, mayor calentamiento.</a:t>
            </a:r>
            <a:br/>
            <a:br/>
            <a:r>
              <a:t>2. Heterounión (HIT) — glass/glass:</a:t>
            </a:r>
            <a:br/>
            <a:r>
              <a:t>   • a = -3.47  |  b = -0.059  |  ΔT = 3.0 °C</a:t>
            </a:r>
            <a:br/>
            <a: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Temperatura promedio diurna de celda: ~38°C a 45°C.</a:t>
            </a:r>
            <a:br/>
            <a:br/>
            <a:r>
              <a:t>• Picos térmicos extremos superan los 65°C a mediodía en verano.</a:t>
            </a:r>
            <a:br/>
            <a:br/>
            <a:r>
              <a:t>• Clima desértico seco reduce la convección natural del marco.</a:t>
            </a:r>
            <a:br/>
            <a:br/>
            <a:r>
              <a:t>• Las altas temperaturas aumentan la corriente de saturación inversa (Io), reduciendo severamente el Voc.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85398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0604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El factor de idealidad térmico (a)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1835474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I / V: Corriente y voltaje de salida (A, V).</a:t>
            </a:r>
            <a:br/>
            <a:r>
              <a:t>• I_L: Corriente fotogenerada por irradiancia (A).</a:t>
            </a:r>
            <a:br/>
            <a:r>
              <a:t>• I_0: Corriente de saturación inversa del diodo (A).</a:t>
            </a:r>
            <a:br/>
            <a:r>
              <a:t>• R_s: Resistencia serie de pérdidas (Ω).</a:t>
            </a:r>
            <a:br/>
            <a:r>
              <a:t>• R_sh: Resistencia paralelo o shunt de fugas (Ω).</a:t>
            </a:r>
            <a:br/>
            <a:r>
              <a:t>• N_s: Número de celdas en serie (m-Si: 36, HIT: 72).</a:t>
            </a:r>
            <a:br/>
            <a:r>
              <a:t>• n_I: Factor de idealidad del diodo.</a:t>
            </a:r>
            <a:br/>
            <a:r>
              <a:t>• k: Constante de Boltzmann (1.3806 × 10⁻²³ J/K).</a:t>
            </a:r>
            <a:br/>
            <a:r>
              <a:t>• q: Carga elemental del electrón (1.6022 × 10⁻¹⁹ C).</a:t>
            </a:r>
            <a:br/>
            <a:r>
              <a:t>• T_c: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Se extraen a_ref, I_L,ref, I_0,ref, R_s,ref, R_sh,ref en STC:</a:t>
            </a:r>
            <a:br/>
            <a:br/>
            <a:r>
              <a:t>1. Cortocircuito (I_sc): V = 0, I = I_sc,ref</a:t>
            </a:r>
            <a:br/>
            <a:r>
              <a:t>2. Circuito Abierto (V_oc): I = 0, V = V_oc,ref</a:t>
            </a:r>
            <a:br/>
            <a:r>
              <a:t>3. Máxima Potencia (MPP): I = I_mp,ref, V = V_mp,ref</a:t>
            </a:r>
            <a:br/>
            <a:r>
              <a:t>4. Pendiente en MPP (dP/dV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167196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3375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5. Coeficiente térmico de V_oc: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03320"/>
            <a:ext cx="1093670" cy="411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Para acoplar Rs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1920240"/>
            <a:ext cx="3060757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251460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880360"/>
            <a:ext cx="2193902" cy="45720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3429000"/>
            <a:ext cx="77070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38862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La optimización se realiza mediante ajuste de mínimos cuadrados con bounds físicos (R_s &gt; 0, n_I ∈ [1, 2]).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1. Factor de Idealidad:</a:t>
            </a:r>
          </a:p>
        </p:txBody>
      </p:sp>
      <p:pic>
        <p:nvPicPr>
          <p:cNvPr id="6" name="Picture 5" descr="eq_4d3e1415cb08b8bc20f12f74abe85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342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402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2. Corriente de Saturación Inversa (Io):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0175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3. Energía de Bandgap (Eg):</a:t>
            </a:r>
          </a:p>
        </p:txBody>
      </p:sp>
      <p:pic>
        <p:nvPicPr>
          <p:cNvPr id="10" name="Picture 9" descr="eq_0ed50450f33c4ace764411b1918723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37560"/>
            <a:ext cx="2671973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749039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4. Corriente Fotogenerada (IL):</a:t>
            </a:r>
          </a:p>
        </p:txBody>
      </p:sp>
      <p:pic>
        <p:nvPicPr>
          <p:cNvPr id="12" name="Picture 11" descr="eq_ff8bf6d291204b91b8f99a74fbb1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69080"/>
            <a:ext cx="426050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48056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5. Resistencia Shunt:</a:t>
            </a:r>
          </a:p>
        </p:txBody>
      </p:sp>
      <p:pic>
        <p:nvPicPr>
          <p:cNvPr id="14" name="Picture 13" descr="eq_41b6b711a3ee54ec226a0ceb62a105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00600"/>
            <a:ext cx="174127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2120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Donde Eg,ref = 1.121 eV para Silicio a 25°C.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Suposiciones Ficas Justificadas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R_s Constante: Se asume R_s = R_s,ref.</a:t>
            </a:r>
            <a:br/>
            <a:r>
              <a:t>  Justificación: De Soto (2006) demuestra mediante validaciones contra NIST que la variación térmica de R_s es de segundo orden y su efecto en la curva I-V es despreciable.</a:t>
            </a:r>
            <a:br/>
            <a:br/>
            <a:r>
              <a:t>• R_sh dependiente de la Irradiancia Absorbida:</a:t>
            </a:r>
            <a:br/>
            <a:r>
              <a:t>  Sigue la relación inversamente proporcional con S para modelar cómo el aumento de portadores minoritarios abre caminos de fuga paralelos en la celda.</a:t>
            </a:r>
            <a:br/>
            <a:br/>
            <a:r>
              <a:t>• T_ref = 298.15 K (25°C)  |  S_ref = 1000 W/m².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Coeficiente de determinación R² &gt; 0.99 para ambas tecnologías.</a:t>
            </a:r>
            <a:br/>
            <a:br/>
            <a:r>
              <a:t>• RMSE &lt; 5W en condiciones estándar.</a:t>
            </a:r>
            <a:br/>
            <a:br/>
            <a:r>
              <a:t>• Validación cruzada: El modelo de De Soto reproduce con alta fidelidad las pérdidas por temperatura en celdas de silicio.</a:t>
            </a:r>
            <a:br/>
            <a:br/>
            <a: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El Performance Ratio (PR)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172641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5176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Donde:</a:t>
            </a:r>
            <a:br/>
            <a:r>
              <a:t>• P_mp,SDM: Potencia MPP simulada hora a hora con De Soto (W).</a:t>
            </a:r>
            <a:br/>
            <a:r>
              <a:t>• P_STC: Potencia nominal a STC (m-Si: 46.68 W | HIT: 217.52 W).</a:t>
            </a:r>
            <a:br/>
            <a:r>
              <a:t>• G_poa: Irradiancia calculada en el plano del panel (W/m²).</a:t>
            </a:r>
            <a:br/>
            <a: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Indica la fracción de energía disponible que es realmente convertida en potencia útil de salida.</a:t>
            </a:r>
            <a:br/>
            <a:br/>
            <a:r>
              <a:t>• Un PR de 100% representaría un panel operando permanentemente a 25°C de temperatura de celda y sin ninguna pérdida reflectiva, de cableado o de suciedad.</a:t>
            </a:r>
            <a:br/>
            <a:br/>
            <a:r>
              <a:t>• Captura y penaliza de forma acumulativa:</a:t>
            </a:r>
            <a:br/>
            <a:r>
              <a:t>  1. Pérdidas Térmicas (elevada temperatura Tc).</a:t>
            </a:r>
            <a:br/>
            <a:r>
              <a:t>  2. Pérdidas Ópticas por Ángulo de Incidencia (IAM).</a:t>
            </a:r>
            <a:br/>
            <a:r>
              <a:t>  3. Pérdidas por Atenuación Espectral (Masa de Aire).</a:t>
            </a:r>
            <a:br/>
            <a:r>
              <a:t>  4. Pérdidas Óhmicas Internas (Resistencia Serie Rs).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HIT (Naranja): Pendiente suave. Su bajo coeficiente térmico (-0.26 %/°C) mantiene una alta eficiencia de conversión incluso a 65°C de celda.</a:t>
            </a:r>
            <a:br/>
            <a:br/>
            <a: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838"/>
                </a:solidFill>
              </a:defRPr>
            </a:pPr>
            <a:r>
              <a:t>• Performance Ratio Anual m-Si: 84.53%</a:t>
            </a:r>
            <a:br/>
            <a:br/>
            <a:r>
              <a:t>• Performance Ratio Anual HIT: 86.92%</a:t>
            </a:r>
            <a:br/>
            <a:br/>
            <a:r>
              <a:t>• Ganancia Neta en PR: +2.39% a favor de HIT.</a:t>
            </a:r>
            <a:br/>
            <a:br/>
            <a: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Para una planta solar de gran escala de 100 MWp:</a:t>
            </a:r>
            <a:br/>
            <a:br/>
            <a:r>
              <a:t>• Cada +1% de Performance Ratio anual representa aproximadamente 2,500 MWh adicionales de generación de energía.</a:t>
            </a:r>
            <a:br/>
            <a:br/>
            <a:r>
              <a:t>• La ganancia de +2.39% de la tecnología HIT equivale a ~6,000 MWh/año adicionales de facturación neta.</a:t>
            </a:r>
            <a:br/>
            <a:br/>
            <a: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A838"/>
                </a:solidFill>
              </a:defRPr>
            </a:pPr>
            <a:r>
              <a:t>1. La emulación geográfica (Cocoa → Atacama) fue coherente, permitiendo evaluar el Performance Ratio real.</a:t>
            </a:r>
            <a:br/>
            <a:br/>
            <a:r>
              <a:t>2. El modelo De Soto de 5 parámetros reprodujo con altísima precisión (R² &gt; 0.99) el desempeño medido.</a:t>
            </a:r>
            <a:br/>
            <a:br/>
            <a:r>
              <a:t>3. La tecnología HIT supera en un 2.39% de PR anual al silicio monocristalino estándar.</a:t>
            </a:r>
            <a:br/>
            <a:br/>
            <a: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Integración de Bifacialidad: Modelar la ganancia por albedo posterior del suelo desértico (ρ &gt; 0.25).</a:t>
            </a:r>
            <a:br/>
            <a:br/>
            <a:r>
              <a:t>• Estudio de doble diodo: Capturar efectos de recombinación interna a baja irradiancia.</a:t>
            </a:r>
            <a:br/>
            <a:br/>
            <a:r>
              <a:t>• Pérdidas por acumulación de polvo (soiling) en el Desierto de Atacama.</a:t>
            </a:r>
            <a:br/>
            <a:br/>
            <a: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De Soto, W., Klein, S.A., Beckman, W.A. (2006). "Improvement and validation of a model for photovoltaic array performance." Solar Energy 80 (2006) 78–88.</a:t>
            </a:r>
            <a:br/>
            <a:br/>
            <a:r>
              <a:t>• Sandia National Laboratories - Photovoltaic Array Performance Model (Sandia Report SAND2004-3535).</a:t>
            </a:r>
            <a:br/>
            <a:br/>
            <a:r>
              <a:t>• NREL Cocoa Dataset - Experimental Measurements for Model Validation.</a:t>
            </a:r>
            <a:br/>
            <a:br/>
            <a:r>
              <a:t>• pvlib-python Library documentation &amp; community contributors.</a:t>
            </a:r>
            <a:br/>
            <a:br/>
            <a:r>
              <a:t>• Marion, B. et al. (2014). "Cocoa, Florida Data Set for Validating PV Models." NREL Technical Report.</a:t>
            </a:r>
            <a:br/>
            <a:br/>
            <a: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