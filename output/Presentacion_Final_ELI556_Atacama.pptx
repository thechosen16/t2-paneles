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029200" cy="34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7" y="2011680"/>
            <a:ext cx="5029200" cy="282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0167" y="292608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500">
                <a:solidFill>
                  <a:srgbClr val="FFFFFF"/>
                </a:solidFill>
              </a:rPr>
              <a:t>[2]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01168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69748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61188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 temperatura interna de la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458677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75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Temperatura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Los parámetros empíricos varían según la disipación del marco y capas protectoras: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Silicio Monocristalino (m-Si) — glass/polymer: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-3.56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-0.075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Disipación estándar, mayor calentamiento.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Heterounión (HIT) — glass/glass: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-3.47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-0.059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385398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1089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factor de idealidad térmico (</a:t>
            </a:r>
            <a:r>
              <a:rPr sz="1600" i="1">
                <a:solidFill>
                  <a:srgbClr val="FFFFFF"/>
                </a:solidFill>
              </a:rPr>
              <a:t>a</a:t>
            </a:r>
            <a:r>
              <a:rPr sz="1600">
                <a:solidFill>
                  <a:srgbClr val="FFFFFF"/>
                </a:solidFill>
              </a:rPr>
              <a:t>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835474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: Corriente fotogenerada por irradiancia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: Corriente de saturación inversa del diodo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Resistencia serie de pérdidas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: Resistencia paralelo o shunt de fugas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Número de celdas en serie (m-Si: 36, HIT: 72).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: Factor de idealidad del diodo.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>
                <a:solidFill>
                  <a:srgbClr val="FFFFFF"/>
                </a:solidFill>
              </a:rPr>
              <a:t>: Constante de Boltzmann (1.3806 × 10⁻²³ J/K).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q</a:t>
            </a:r>
            <a:r>
              <a:rPr sz="1500">
                <a:solidFill>
                  <a:srgbClr val="FFFFFF"/>
                </a:solidFill>
              </a:rPr>
              <a:t>: Carga elemental del electrón (1.6022 × 10⁻¹⁹ C).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 (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 (MPP):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63240"/>
            <a:ext cx="167196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06240"/>
            <a:ext cx="1093670" cy="411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286000"/>
            <a:ext cx="3060757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33375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3749039"/>
            <a:ext cx="2193902" cy="45720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4389120"/>
            <a:ext cx="77070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507492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Performance Ratio (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172641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75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mp,SDM</a:t>
            </a:r>
            <a:r>
              <a:rPr sz="1500">
                <a:solidFill>
                  <a:srgbClr val="E8A838"/>
                </a:solidFill>
              </a:rPr>
              <a:t>: Potencia MPP simulada hora a hora con De Soto</a:t>
            </a:r>
            <a:r>
              <a:rPr sz="1500">
                <a:solidFill>
                  <a:srgbClr val="E8A838"/>
                </a:solidFill>
              </a:rPr>
              <a:t>[1]</a:t>
            </a:r>
            <a:r>
              <a:rPr sz="1500">
                <a:solidFill>
                  <a:srgbClr val="E8A838"/>
                </a:solidFill>
              </a:rPr>
              <a:t> (W).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STC</a:t>
            </a:r>
            <a:r>
              <a:rPr sz="1500">
                <a:solidFill>
                  <a:srgbClr val="E8A838"/>
                </a:solidFill>
              </a:rPr>
              <a:t>: Potencia nominal a STC (m-Si: 46.68 W | HIT: 217.52 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Indica la fracción de energía disponible que es realmente convertida en potencia útil de salida.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Un 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 de 100% representaría un panel operando permanentemente a 25°C de temperatura de celda y sin ninguna pérdida reflectiva, de cableado o de suciedad.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Captura y penaliza de forma acumulativa: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1. Pérdidas Térmicas (elevada temperatura 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2. Pérdidas Ópticas por Ángulo de Incidencia (IAM).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3. Pérdidas por Atenuación Espectral (Masa de Aire).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4. Pérdidas Óhmicas Internas (Resistencia Serie </a:t>
            </a:r>
            <a:r>
              <a:rPr sz="1600" i="1">
                <a:solidFill>
                  <a:srgbClr val="FFFFFF"/>
                </a:solidFill>
              </a:rPr>
              <a:t>R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