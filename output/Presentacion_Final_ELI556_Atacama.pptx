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bb06151bcf09291bead73672e21c10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920240"/>
            <a:ext cx="1669139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292608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τα,b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τα,d</a:t>
            </a:r>
            <a:r>
              <a:rPr sz="1500">
                <a:solidFill>
                  <a:srgbClr val="FFFFFF"/>
                </a:solidFill>
              </a:rPr>
              <a:t> / </a:t>
            </a:r>
            <a:r>
              <a:rPr sz="1500" i="1">
                <a:solidFill>
                  <a:srgbClr val="FFFFFF"/>
                </a:solidFill>
              </a:rPr>
              <a:t>K</a:t>
            </a:r>
            <a:r>
              <a:rPr sz="1500" i="1">
                <a:solidFill>
                  <a:srgbClr val="FFFFFF"/>
                </a:solidFill>
              </a:rPr>
              <a:t>τα,g</a:t>
            </a:r>
            <a:r>
              <a:rPr sz="15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500">
                <a:solidFill>
                  <a:srgbClr val="FFFFFF"/>
                </a:solidFill>
              </a:rPr>
              <a:t>[2]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6035040" cy="45262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Se extraen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 i="1">
                <a:solidFill>
                  <a:srgbClr val="FFFFFF"/>
                </a:solidFill>
              </a:rPr>
              <a:t>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sh,ref</a:t>
            </a:r>
            <a:r>
              <a:rPr sz="1400">
                <a:solidFill>
                  <a:srgbClr val="FFFFFF"/>
                </a:solidFill>
              </a:rPr>
              <a:t> en STC: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1. Cortocircuito: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2. Circuito Abierto: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0,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3. Máxima Potencia: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mp,ref</a:t>
            </a:r>
            <a:r>
              <a:rPr sz="1400">
                <a:solidFill>
                  <a:srgbClr val="FFFFFF"/>
                </a:solidFill>
              </a:rPr>
              <a:t>,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4. Pendiente en MPP (d</a:t>
            </a:r>
            <a:r>
              <a:rPr sz="1400" i="1">
                <a:solidFill>
                  <a:srgbClr val="FFFFFF"/>
                </a:solidFill>
              </a:rPr>
              <a:t>P</a:t>
            </a:r>
            <a:r>
              <a:rPr sz="1400">
                <a:solidFill>
                  <a:srgbClr val="FFFFFF"/>
                </a:solidFill>
              </a:rPr>
              <a:t>/d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46120"/>
            <a:ext cx="1404454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7947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5. Coeficiente térmico de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 i="1">
                <a:solidFill>
                  <a:srgbClr val="FFFFFF"/>
                </a:solidFill>
              </a:rPr>
              <a:t>oc</a:t>
            </a:r>
            <a:r>
              <a:rPr sz="14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972151" cy="365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Para acoplar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2" name="Picture 11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48840"/>
            <a:ext cx="2825314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94960" y="283464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4" name="Picture 13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246120"/>
            <a:ext cx="1974511" cy="411480"/>
          </a:xfrm>
          <a:prstGeom prst="rect">
            <a:avLst/>
          </a:prstGeom>
        </p:spPr>
      </p:pic>
      <p:pic>
        <p:nvPicPr>
          <p:cNvPr id="15" name="Picture 14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94760"/>
            <a:ext cx="6743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4960" y="4434840"/>
            <a:ext cx="5760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400" i="1">
                <a:solidFill>
                  <a:srgbClr val="E8A838"/>
                </a:solidFill>
              </a:rPr>
              <a:t>R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&gt; 0,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>
                <a:solidFill>
                  <a:srgbClr val="E8A838"/>
                </a:solidFill>
              </a:rPr>
              <a:t> ∈ </a:t>
            </a:r>
            <a:r>
              <a:rPr sz="1400">
                <a:solidFill>
                  <a:srgbClr val="E8A838"/>
                </a:solidFill>
              </a:rPr>
              <a:t>1, 2</a:t>
            </a:r>
            <a:r>
              <a:rPr sz="14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4260506" cy="3474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88920"/>
            <a:ext cx="2956947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47472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94760"/>
            <a:ext cx="69342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3891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174127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4688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788920"/>
            <a:ext cx="2671973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474720"/>
            <a:ext cx="5181447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a7cd84c1dfc4bbc488901a2df13705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1726410" cy="5029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mp,SDM</a:t>
            </a:r>
            <a:r>
              <a:rPr sz="1400">
                <a:solidFill>
                  <a:srgbClr val="E8A838"/>
                </a:solidFill>
              </a:rPr>
              <a:t>: Potencia MPP simulada hora a hora con De Soto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 (W).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</a:t>
            </a:r>
            <a:r>
              <a:rPr sz="1400">
                <a:solidFill>
                  <a:srgbClr val="E8A838"/>
                </a:solidFill>
              </a:rPr>
              <a:t>: Irradiancia calculada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1000: Irradiancia de referencia a STC (W/m²).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