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bb06151bcf09291bead73672e21c10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2459783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52160" y="333756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Donde: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 i="1">
                <a:solidFill>
                  <a:srgbClr val="FFFFFF"/>
                </a:solidFill>
              </a:rPr>
              <a:t>ref</a:t>
            </a:r>
            <a:r>
              <a:rPr sz="16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τα,b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τα,d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τα,g</a:t>
            </a:r>
            <a:r>
              <a:rPr sz="16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600">
                <a:solidFill>
                  <a:srgbClr val="FFFFFF"/>
                </a:solidFill>
              </a:rPr>
              <a:t>[2]</a:t>
            </a:r>
            <a:r>
              <a:rPr sz="16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08760"/>
            <a:ext cx="51814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749039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interna de la celda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depende de la irradiancia incidente y de la velocidad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local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1264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por Tecnología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Disipación estándar, mayor calentamiento.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Retiene más calor, pero se compensa por su bajo coeficiente térmico.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6035040" cy="45262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comportamiento eléctrico del módulo se modela mediante la ecuación trascendental del diodo: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es el número de celdas en serie (m-Si: 36, HIT: 72).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576072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5577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Corrientes fotogenerada y de saturación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 serie (pérdidas) y paralelo (fugas)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Temp.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Extracción en STC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Se extraen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 i="1">
                <a:solidFill>
                  <a:srgbClr val="FFFFFF"/>
                </a:solidFill>
              </a:rPr>
              <a:t>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sh,ref</a:t>
            </a:r>
            <a:r>
              <a:rPr sz="1400">
                <a:solidFill>
                  <a:srgbClr val="FFFFFF"/>
                </a:solidFill>
              </a:rPr>
              <a:t> en STC: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1. Cortocircuito: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0,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2. Circuito Abierto: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0,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3. Máxima Potencia: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mp,ref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4. Pendiente en MPP (d</a:t>
            </a:r>
            <a:r>
              <a:rPr sz="1400" i="1">
                <a:solidFill>
                  <a:srgbClr val="FFFFFF"/>
                </a:solidFill>
              </a:rPr>
              <a:t>P</a:t>
            </a:r>
            <a:r>
              <a:rPr sz="1400">
                <a:solidFill>
                  <a:srgbClr val="FFFFFF"/>
                </a:solidFill>
              </a:rPr>
              <a:t>/d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46120"/>
            <a:ext cx="1404454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947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5. Coeficiente térmico de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oc</a:t>
            </a:r>
            <a:r>
              <a:rPr sz="14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972151" cy="365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212080" y="1097280"/>
            <a:ext cx="61264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18872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Para acoplar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48840"/>
            <a:ext cx="2825314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94960" y="28346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Donde los coeficientes se definen como: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246120"/>
            <a:ext cx="1974511" cy="411480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794760"/>
            <a:ext cx="67437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4960" y="4434840"/>
            <a:ext cx="5760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400" i="1">
                <a:solidFill>
                  <a:srgbClr val="E8A838"/>
                </a:solidFill>
              </a:rPr>
              <a:t>R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&gt; 0,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>
                <a:solidFill>
                  <a:srgbClr val="E8A838"/>
                </a:solidFill>
              </a:rPr>
              <a:t> ∈ </a:t>
            </a:r>
            <a:r>
              <a:rPr sz="1400">
                <a:solidFill>
                  <a:srgbClr val="E8A838"/>
                </a:solidFill>
              </a:rPr>
              <a:t>1, 2</a:t>
            </a:r>
            <a:r>
              <a:rPr sz="14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4260506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688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88920"/>
            <a:ext cx="2956947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47472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94760"/>
            <a:ext cx="69342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3891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874519"/>
            <a:ext cx="174127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24688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788920"/>
            <a:ext cx="2671973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0167" y="34747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de referencia STC:</a:t>
            </a:r>
          </a:p>
        </p:txBody>
      </p:sp>
      <p:pic>
        <p:nvPicPr>
          <p:cNvPr id="6" name="Picture 5" descr="eq_a7cd84c1dfc4bbc488901a2df137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1726410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mp,SDM</a:t>
            </a:r>
            <a:r>
              <a:rPr sz="1400">
                <a:solidFill>
                  <a:srgbClr val="E8A838"/>
                </a:solidFill>
              </a:rPr>
              <a:t>: Potencia MPP simulada hora a hora con De Soto</a:t>
            </a:r>
            <a:r>
              <a:rPr sz="1400">
                <a:solidFill>
                  <a:srgbClr val="E8A838"/>
                </a:solidFill>
              </a:rPr>
              <a:t>[1]</a:t>
            </a:r>
            <a:r>
              <a:rPr sz="1400">
                <a:solidFill>
                  <a:srgbClr val="E8A838"/>
                </a:solidFill>
              </a:rPr>
              <a:t> (W).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</a:t>
            </a:r>
            <a:r>
              <a:rPr sz="1400">
                <a:solidFill>
                  <a:srgbClr val="E8A838"/>
                </a:solidFill>
              </a:rPr>
              <a:t>: Irradiancia calculada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1000: Irradiancia de referencia a STC (W/m²).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59436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Efectos reflectivos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