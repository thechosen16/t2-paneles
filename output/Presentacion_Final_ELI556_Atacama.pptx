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0"/>
            <a:ext cx="114601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E8A838"/>
                </a:solidFill>
              </a:defRPr>
            </a:pPr>
            <a:r>
              <a:rPr sz="3600" b="1">
                <a:solidFill>
                  <a:srgbClr val="E8A838"/>
                </a:solidFill>
              </a:rPr>
              <a:t>Evaluación de Tecnologías Fotovoltaicas en el Desierto de Atacama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0"/>
            <a:ext cx="114601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Integrantes / Estudiantes: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Laury Gualdron  |  Sebastian Marin  |  Alejandro Hernández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Profesor Guía: Carlos Cardenas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ELI556 — Modelamiento y Análisis de Sistemas PV  |  Grupo Alta Tensión (AT)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¿Por qué el Desierto de Atacama?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El Recurso Solar más Extremo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Irradiancia GHI anual &gt; 2900 kWh/m² (máxima mundial).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Cielos extremadamente limpios con baja atenuación.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Altitud elevada (&gt;= 2400 m.s.n.m.): mayor radiación directa y UV.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Coordenadas del estudio: Latitud -22.91°, Longitud -68.20°.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El Desafío Térmico desértico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4592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Las celdas solares operan a temperaturas &gt; 65°C a mediodía.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La potencia y el voltaje decaen fuertemente con el calor.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La eficiencia térmica es el factor dominante en pérdidas.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Pregunta: ¿Qué tecnología resiste mejor este estrés extremo?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¿Por qué m-Si y HIT? Comparativa de la Base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Familias Tecnológicas en Dataset Cocoa (NREL) </a:t>
            </a:r>
            <a:r>
              <a:rPr sz="1800" b="1">
                <a:solidFill>
                  <a:srgbClr val="E8A838"/>
                </a:solidFill>
              </a:rPr>
              <a:t>[5]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1097280"/>
                <a:gridCol w="1645920"/>
                <a:gridCol w="393192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E8A838"/>
                          </a:solidFill>
                        </a:defRPr>
                      </a:pPr>
                      <a:r>
                        <a:t>Tecnología</a:t>
                      </a:r>
                    </a:p>
                  </a:txBody>
                  <a:tcPr anchor="ctr">
                    <a:solidFill>
                      <a:srgbClr val="2C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E8A838"/>
                          </a:solidFill>
                        </a:defRPr>
                      </a:pPr>
                      <a:r>
                        <a:t>Eficiencia</a:t>
                      </a:r>
                    </a:p>
                  </a:txBody>
                  <a:tcPr anchor="ctr">
                    <a:solidFill>
                      <a:srgbClr val="2C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E8A838"/>
                          </a:solidFill>
                        </a:defRPr>
                      </a:pPr>
                      <a:r>
                        <a:t>Coef. Temp. (Pmp)</a:t>
                      </a:r>
                    </a:p>
                  </a:txBody>
                  <a:tcPr anchor="ctr">
                    <a:solidFill>
                      <a:srgbClr val="2C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E8A838"/>
                          </a:solidFill>
                        </a:defRPr>
                      </a:pPr>
                      <a:r>
                        <a:t>Comportamiento en Desierto</a:t>
                      </a:r>
                    </a:p>
                  </a:txBody>
                  <a:tcPr anchor="ctr">
                    <a:solidFill>
                      <a:srgbClr val="2C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E8A838"/>
                          </a:solidFill>
                        </a:defRPr>
                      </a:pPr>
                      <a:r>
                        <a:t>Decisión / Rol</a:t>
                      </a:r>
                    </a:p>
                  </a:txBody>
                  <a:tcPr anchor="ctr">
                    <a:solidFill>
                      <a:srgbClr val="2C2C4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m-Si / x-Si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17% - 21%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-0.40 %/°C (Malo)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Grandes pérdidas por calor (baja tolerancia).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A838"/>
                          </a:solidFill>
                        </a:defRPr>
                      </a:pPr>
                      <a:r>
                        <a:t>SELECCIONADO (Línea Base)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20% - 22%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-0.26 %/°C (Excelente)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Mantiene alta producción bajo estrés térmico.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A838"/>
                          </a:solidFill>
                        </a:defRPr>
                      </a:pPr>
                      <a:r>
                        <a:t>SELECCIONADO (Premium)</a:t>
                      </a:r>
                    </a:p>
                  </a:txBody>
                  <a:tcPr anchor="ctr">
                    <a:solidFill>
                      <a:srgbClr val="2828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CdTe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15% - 18%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-0.28 %/°C (Excelente)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Excelente desempeño, pero posee toxicidad por Cd.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BBBBBB"/>
                          </a:solidFill>
                        </a:defRPr>
                      </a:pPr>
                      <a:r>
                        <a:t>DESCARTADO (Menor contraste)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CIGS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14% - 16%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-0.35 %/°C (Bueno)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Pérdidas moderadas; susceptible a la humedad.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BBBBBB"/>
                          </a:solidFill>
                        </a:defRPr>
                      </a:pPr>
                      <a:r>
                        <a:t>DESCARTADO (Sin contraste extremo)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a-Si (Película Fina)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6% - 10%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-0.20 %/°C (Excelente)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Baja eficiencia base y fuerte degradación inicial.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BBBBBB"/>
                          </a:solidFill>
                        </a:defRPr>
                      </a:pPr>
                      <a:r>
                        <a:t>DESCARTADO (Inviable comercial)</a:t>
                      </a:r>
                    </a:p>
                  </a:txBody>
                  <a:tcPr anchor="ctr">
                    <a:solidFill>
                      <a:srgbClr val="1F1F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Metodología: Pipeline de Simulación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Flujo de Procesamiento Automatizado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FFFFFF"/>
                </a:solidFill>
              </a:defRPr>
            </a:pPr>
            <a:r>
              <a:rPr sz="1900">
                <a:solidFill>
                  <a:srgbClr val="FFFFFF"/>
                </a:solidFill>
              </a:rPr>
              <a:t>1. Ingesta de Datos: Dataset NREL Cocoa</a:t>
            </a:r>
            <a:r>
              <a:rPr sz="1900">
                <a:solidFill>
                  <a:srgbClr val="FFFFFF"/>
                </a:solidFill>
              </a:rPr>
              <a:t>[5]</a:t>
            </a:r>
            <a:r>
              <a:rPr sz="1900">
                <a:solidFill>
                  <a:srgbClr val="FFFFFF"/>
                </a:solidFill>
              </a:rPr>
              <a:t> (mediciones experimentales reales).</a:t>
            </a:r>
          </a:p>
          <a:p>
            <a:pPr algn="l">
              <a:defRPr sz="1900">
                <a:solidFill>
                  <a:srgbClr val="FFFFFF"/>
                </a:solidFill>
              </a:defRPr>
            </a:pPr>
          </a:p>
          <a:p>
            <a:pPr algn="l">
              <a:defRPr sz="1900">
                <a:solidFill>
                  <a:srgbClr val="FFFFFF"/>
                </a:solidFill>
              </a:defRPr>
            </a:pPr>
            <a:r>
              <a:rPr sz="1900">
                <a:solidFill>
                  <a:srgbClr val="FFFFFF"/>
                </a:solidFill>
              </a:rPr>
              <a:t>2. Filtro de Emulación Geográfica: Traslación temporal (desfase de 6 meses) y re-localización espacial.</a:t>
            </a:r>
          </a:p>
          <a:p>
            <a:pPr algn="l">
              <a:defRPr sz="1900">
                <a:solidFill>
                  <a:srgbClr val="FFFFFF"/>
                </a:solidFill>
              </a:defRPr>
            </a:pPr>
          </a:p>
          <a:p>
            <a:pPr algn="l">
              <a:defRPr sz="1900">
                <a:solidFill>
                  <a:srgbClr val="FFFFFF"/>
                </a:solidFill>
              </a:defRPr>
            </a:pPr>
            <a:r>
              <a:rPr sz="1900">
                <a:solidFill>
                  <a:srgbClr val="FFFFFF"/>
                </a:solidFill>
              </a:rPr>
              <a:t>3. Modelamiento Térmico: Modelo Sandia SAPM</a:t>
            </a:r>
            <a:r>
              <a:rPr sz="1900">
                <a:solidFill>
                  <a:srgbClr val="FFFFFF"/>
                </a:solidFill>
              </a:rPr>
              <a:t>[2]</a:t>
            </a:r>
            <a:r>
              <a:rPr sz="1900">
                <a:solidFill>
                  <a:srgbClr val="FFFFFF"/>
                </a:solidFill>
              </a:rPr>
              <a:t> para estimación dinámica de la Temperatura de Celda (</a:t>
            </a:r>
            <a:r>
              <a:rPr sz="1900" i="1">
                <a:solidFill>
                  <a:srgbClr val="FFFFFF"/>
                </a:solidFill>
              </a:rPr>
              <a:t>T</a:t>
            </a:r>
            <a:r>
              <a:rPr sz="1900" i="1">
                <a:solidFill>
                  <a:srgbClr val="FFFFFF"/>
                </a:solidFill>
              </a:rPr>
              <a:t>c</a:t>
            </a:r>
            <a:r>
              <a:rPr sz="1900">
                <a:solidFill>
                  <a:srgbClr val="FFFFFF"/>
                </a:solidFill>
              </a:rPr>
              <a:t>).</a:t>
            </a:r>
          </a:p>
          <a:p>
            <a:pPr algn="l">
              <a:defRPr sz="1900">
                <a:solidFill>
                  <a:srgbClr val="FFFFFF"/>
                </a:solidFill>
              </a:defRPr>
            </a:pPr>
          </a:p>
          <a:p>
            <a:pPr algn="l">
              <a:defRPr sz="1900">
                <a:solidFill>
                  <a:srgbClr val="FFFFFF"/>
                </a:solidFill>
              </a:defRPr>
            </a:pPr>
            <a:r>
              <a:rPr sz="1900">
                <a:solidFill>
                  <a:srgbClr val="FFFFFF"/>
                </a:solidFill>
              </a:rPr>
              <a:t>4. Caracterización Eléctrica: Extracción de los 5 parámetros De Soto</a:t>
            </a:r>
            <a:r>
              <a:rPr sz="1900">
                <a:solidFill>
                  <a:srgbClr val="FFFFFF"/>
                </a:solidFill>
              </a:rPr>
              <a:t>[1]</a:t>
            </a:r>
            <a:r>
              <a:rPr sz="1900">
                <a:solidFill>
                  <a:srgbClr val="FFFFFF"/>
                </a:solidFill>
              </a:rPr>
              <a:t> en SRC usando Scipy Optimize.</a:t>
            </a:r>
          </a:p>
          <a:p>
            <a:pPr algn="l">
              <a:defRPr sz="1900">
                <a:solidFill>
                  <a:srgbClr val="FFFFFF"/>
                </a:solidFill>
              </a:defRPr>
            </a:pPr>
          </a:p>
          <a:p>
            <a:pPr algn="l">
              <a:defRPr sz="1900">
                <a:solidFill>
                  <a:srgbClr val="FFFFFF"/>
                </a:solidFill>
              </a:defRPr>
            </a:pPr>
            <a:r>
              <a:rPr sz="1900">
                <a:solidFill>
                  <a:srgbClr val="FFFFFF"/>
                </a:solidFill>
              </a:rPr>
              <a:t>5. Simulación de Desempeño: Traslado de parámetros a operación y cómputo de </a:t>
            </a:r>
            <a:r>
              <a:rPr sz="1900" i="1">
                <a:solidFill>
                  <a:srgbClr val="FFFFFF"/>
                </a:solidFill>
              </a:rPr>
              <a:t>PR</a:t>
            </a:r>
            <a:r>
              <a:rPr sz="1900">
                <a:solidFill>
                  <a:srgbClr val="FFFFFF"/>
                </a:solidFill>
              </a:rPr>
              <a:t> minutal anual usando pvlib-python</a:t>
            </a:r>
            <a:r>
              <a:rPr sz="1900">
                <a:solidFill>
                  <a:srgbClr val="FFFFFF"/>
                </a:solidFill>
              </a:rPr>
              <a:t>[4]</a:t>
            </a:r>
            <a:r>
              <a:rPr sz="19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Recurso Solar: Transposición y Absorción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Fórmulas POA (Perez) y Absorción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1. Irradiancia en Plano de Arreglo (</a:t>
            </a:r>
            <a:r>
              <a:rPr sz="1600" i="1">
                <a:solidFill>
                  <a:srgbClr val="FFFFFF"/>
                </a:solidFill>
              </a:rPr>
              <a:t>POA</a:t>
            </a:r>
            <a:r>
              <a:rPr sz="1600">
                <a:solidFill>
                  <a:srgbClr val="FFFFFF"/>
                </a:solidFill>
              </a:rPr>
              <a:t>):</a:t>
            </a:r>
          </a:p>
        </p:txBody>
      </p:sp>
      <p:pic>
        <p:nvPicPr>
          <p:cNvPr id="6" name="Picture 5" descr="eq_a8e4ce8b7b155acb59ba2491ed70f4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0" cy="343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4320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2. Irradiancia Absorbida por Celdas (</a:t>
            </a:r>
            <a:r>
              <a:rPr sz="1600" i="1">
                <a:solidFill>
                  <a:srgbClr val="FFFFFF"/>
                </a:solidFill>
              </a:rPr>
              <a:t>S</a:t>
            </a:r>
            <a:r>
              <a:rPr sz="1600">
                <a:solidFill>
                  <a:srgbClr val="FFFFFF"/>
                </a:solidFill>
              </a:rPr>
              <a:t>):</a:t>
            </a:r>
          </a:p>
        </p:txBody>
      </p:sp>
      <p:pic>
        <p:nvPicPr>
          <p:cNvPr id="8" name="Picture 7" descr="eq_84c6ff8f0a6225d1da45a3b2826e84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5029200" cy="28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069080"/>
            <a:ext cx="518144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Donde </a:t>
            </a:r>
            <a:r>
              <a:rPr sz="1500" i="1">
                <a:solidFill>
                  <a:srgbClr val="E8A838"/>
                </a:solidFill>
              </a:rPr>
              <a:t>S</a:t>
            </a:r>
            <a:r>
              <a:rPr sz="1500" i="1">
                <a:solidFill>
                  <a:srgbClr val="E8A838"/>
                </a:solidFill>
              </a:rPr>
              <a:t>ref</a:t>
            </a:r>
            <a:r>
              <a:rPr sz="1500">
                <a:solidFill>
                  <a:srgbClr val="E8A838"/>
                </a:solidFill>
              </a:rPr>
              <a:t> = </a:t>
            </a:r>
            <a:r>
              <a:rPr sz="1500" i="1">
                <a:solidFill>
                  <a:srgbClr val="E8A838"/>
                </a:solidFill>
              </a:rPr>
              <a:t>G</a:t>
            </a:r>
            <a:r>
              <a:rPr sz="1500" i="1">
                <a:solidFill>
                  <a:srgbClr val="E8A838"/>
                </a:solidFill>
              </a:rPr>
              <a:t>ref</a:t>
            </a:r>
            <a:r>
              <a:rPr sz="1500">
                <a:solidFill>
                  <a:srgbClr val="E8A838"/>
                </a:solidFill>
              </a:rPr>
              <a:t> = 1000 W/m² en condiciones de referencia (SRC).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Glosario de Términos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15544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G</a:t>
            </a:r>
            <a:r>
              <a:rPr sz="1500" i="1">
                <a:solidFill>
                  <a:srgbClr val="FFFFFF"/>
                </a:solidFill>
              </a:rPr>
              <a:t>b</a:t>
            </a:r>
            <a:r>
              <a:rPr sz="1500">
                <a:solidFill>
                  <a:srgbClr val="FFFFFF"/>
                </a:solidFill>
              </a:rPr>
              <a:t> / </a:t>
            </a:r>
            <a:r>
              <a:rPr sz="1500" i="1">
                <a:solidFill>
                  <a:srgbClr val="FFFFFF"/>
                </a:solidFill>
              </a:rPr>
              <a:t>G</a:t>
            </a:r>
            <a:r>
              <a:rPr sz="1500" i="1">
                <a:solidFill>
                  <a:srgbClr val="FFFFFF"/>
                </a:solidFill>
              </a:rPr>
              <a:t>d</a:t>
            </a:r>
            <a:r>
              <a:rPr sz="1500">
                <a:solidFill>
                  <a:srgbClr val="FFFFFF"/>
                </a:solidFill>
              </a:rPr>
              <a:t> / </a:t>
            </a:r>
            <a:r>
              <a:rPr sz="1500" i="1">
                <a:solidFill>
                  <a:srgbClr val="FFFFFF"/>
                </a:solidFill>
              </a:rPr>
              <a:t>G</a:t>
            </a:r>
            <a:r>
              <a:rPr sz="1500">
                <a:solidFill>
                  <a:srgbClr val="FFFFFF"/>
                </a:solidFill>
              </a:rPr>
              <a:t>: Irradiancia directa, difusa y global horizontal (W/m²).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β</a:t>
            </a:r>
            <a:r>
              <a:rPr sz="1500">
                <a:solidFill>
                  <a:srgbClr val="FFFFFF"/>
                </a:solidFill>
              </a:rPr>
              <a:t> (Tilt): Ángulo de inclinación del panel (22.91° optimizado).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ρ</a:t>
            </a:r>
            <a:r>
              <a:rPr sz="1500">
                <a:solidFill>
                  <a:srgbClr val="FFFFFF"/>
                </a:solidFill>
              </a:rPr>
              <a:t> (Albedo): Reflectancia del suelo árido desértico (~0.20).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beam</a:t>
            </a:r>
            <a:r>
              <a:rPr sz="1500">
                <a:solidFill>
                  <a:srgbClr val="FFFFFF"/>
                </a:solidFill>
              </a:rPr>
              <a:t>: Factor de transposición geométrica para radiación directa.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K</a:t>
            </a:r>
            <a:r>
              <a:rPr sz="1500" i="1">
                <a:solidFill>
                  <a:srgbClr val="FFFFFF"/>
                </a:solidFill>
              </a:rPr>
              <a:t>τα,b</a:t>
            </a:r>
            <a:r>
              <a:rPr sz="1500">
                <a:solidFill>
                  <a:srgbClr val="FFFFFF"/>
                </a:solidFill>
              </a:rPr>
              <a:t> / </a:t>
            </a:r>
            <a:r>
              <a:rPr sz="1500" i="1">
                <a:solidFill>
                  <a:srgbClr val="FFFFFF"/>
                </a:solidFill>
              </a:rPr>
              <a:t>K</a:t>
            </a:r>
            <a:r>
              <a:rPr sz="1500" i="1">
                <a:solidFill>
                  <a:srgbClr val="FFFFFF"/>
                </a:solidFill>
              </a:rPr>
              <a:t>τα,d</a:t>
            </a:r>
            <a:r>
              <a:rPr sz="1500">
                <a:solidFill>
                  <a:srgbClr val="FFFFFF"/>
                </a:solidFill>
              </a:rPr>
              <a:t> / </a:t>
            </a:r>
            <a:r>
              <a:rPr sz="1500" i="1">
                <a:solidFill>
                  <a:srgbClr val="FFFFFF"/>
                </a:solidFill>
              </a:rPr>
              <a:t>K</a:t>
            </a:r>
            <a:r>
              <a:rPr sz="1500" i="1">
                <a:solidFill>
                  <a:srgbClr val="FFFFFF"/>
                </a:solidFill>
              </a:rPr>
              <a:t>τα,g</a:t>
            </a:r>
            <a:r>
              <a:rPr sz="1500">
                <a:solidFill>
                  <a:srgbClr val="FFFFFF"/>
                </a:solidFill>
              </a:rPr>
              <a:t>: Modificadores por IAM para directa, difusa y suelo.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Modificadores Ópticos: IAM y Masa de 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Modificador por Ángulo de Incidencia (IAM) </a:t>
            </a:r>
            <a:r>
              <a:rPr sz="1800" b="1">
                <a:solidFill>
                  <a:srgbClr val="E8A838"/>
                </a:solidFill>
              </a:rPr>
              <a:t>[2]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Ecuación física basada en Ley de Snell y Bouguer:</a:t>
            </a:r>
          </a:p>
        </p:txBody>
      </p:sp>
      <p:pic>
        <p:nvPicPr>
          <p:cNvPr id="6" name="Picture 5" descr="eq_8a7d35cd9feb6147f12570daab6547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1234440" cy="411480"/>
          </a:xfrm>
          <a:prstGeom prst="rect">
            <a:avLst/>
          </a:prstGeom>
        </p:spPr>
      </p:pic>
      <p:pic>
        <p:nvPicPr>
          <p:cNvPr id="7" name="Picture 6" descr="eq_a96da545a4088927f7bf0f7dbce72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469175" cy="347472"/>
          </a:xfrm>
          <a:prstGeom prst="rect">
            <a:avLst/>
          </a:prstGeom>
        </p:spPr>
      </p:pic>
      <p:pic>
        <p:nvPicPr>
          <p:cNvPr id="8" name="Picture 7" descr="eq_cd4ce63955ff79583978e1e85e9828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1974028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11880"/>
            <a:ext cx="51814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8A838"/>
                </a:solidFill>
              </a:defRPr>
            </a:pPr>
            <a:r>
              <a:rPr sz="1400">
                <a:solidFill>
                  <a:srgbClr val="E8A838"/>
                </a:solidFill>
              </a:rPr>
              <a:t>Donde:</a:t>
            </a:r>
          </a:p>
          <a:p>
            <a:pPr algn="l">
              <a:defRPr sz="1400">
                <a:solidFill>
                  <a:srgbClr val="E8A838"/>
                </a:solidFill>
              </a:defRPr>
            </a:pPr>
            <a:r>
              <a:rPr sz="1400">
                <a:solidFill>
                  <a:srgbClr val="E8A838"/>
                </a:solidFill>
              </a:rPr>
              <a:t>• </a:t>
            </a:r>
            <a:r>
              <a:rPr sz="1400" i="1">
                <a:solidFill>
                  <a:srgbClr val="E8A838"/>
                </a:solidFill>
              </a:rPr>
              <a:t>θ</a:t>
            </a:r>
            <a:r>
              <a:rPr sz="1400">
                <a:solidFill>
                  <a:srgbClr val="E8A838"/>
                </a:solidFill>
              </a:rPr>
              <a:t>: Ángulo de incidencia  |  </a:t>
            </a:r>
            <a:r>
              <a:rPr sz="1400" i="1">
                <a:solidFill>
                  <a:srgbClr val="E8A838"/>
                </a:solidFill>
              </a:rPr>
              <a:t>n</a:t>
            </a:r>
            <a:r>
              <a:rPr sz="1400">
                <a:solidFill>
                  <a:srgbClr val="E8A838"/>
                </a:solidFill>
              </a:rPr>
              <a:t> = 1.526 (Índice refracción vidrio).</a:t>
            </a:r>
          </a:p>
          <a:p>
            <a:pPr algn="l">
              <a:defRPr sz="1400">
                <a:solidFill>
                  <a:srgbClr val="E8A838"/>
                </a:solidFill>
              </a:defRPr>
            </a:pPr>
            <a:r>
              <a:rPr sz="1400">
                <a:solidFill>
                  <a:srgbClr val="E8A838"/>
                </a:solidFill>
              </a:rPr>
              <a:t>• </a:t>
            </a:r>
            <a:r>
              <a:rPr sz="1400" i="1">
                <a:solidFill>
                  <a:srgbClr val="E8A838"/>
                </a:solidFill>
              </a:rPr>
              <a:t>K</a:t>
            </a:r>
            <a:r>
              <a:rPr sz="1400">
                <a:solidFill>
                  <a:srgbClr val="E8A838"/>
                </a:solidFill>
              </a:rPr>
              <a:t> = 4 m⁻¹ (Absorción del vidrio)  |  </a:t>
            </a:r>
            <a:r>
              <a:rPr sz="1400" i="1">
                <a:solidFill>
                  <a:srgbClr val="E8A838"/>
                </a:solidFill>
              </a:rPr>
              <a:t>L</a:t>
            </a:r>
            <a:r>
              <a:rPr sz="1400">
                <a:solidFill>
                  <a:srgbClr val="E8A838"/>
                </a:solidFill>
              </a:rPr>
              <a:t> = 2 mm (Espesor vidrio).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Modificador por Masa de Aire (AM) </a:t>
            </a:r>
            <a:r>
              <a:rPr sz="1800" b="1">
                <a:solidFill>
                  <a:srgbClr val="E8A838"/>
                </a:solidFill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Corrige el desajuste del espectro solar según la atmósfera atravesada:</a:t>
            </a:r>
          </a:p>
        </p:txBody>
      </p:sp>
      <p:pic>
        <p:nvPicPr>
          <p:cNvPr id="13" name="Picture 12" descr="eq_d906b2c1975077e1fc2fda1e56aae0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07" y="2194560"/>
            <a:ext cx="5029200" cy="333513"/>
          </a:xfrm>
          <a:prstGeom prst="rect">
            <a:avLst/>
          </a:prstGeom>
        </p:spPr>
      </p:pic>
      <p:pic>
        <p:nvPicPr>
          <p:cNvPr id="14" name="Picture 13" descr="eq_a92345a0e73bcc5feb98374753acd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7" y="2788920"/>
            <a:ext cx="3687419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0167" y="3931920"/>
            <a:ext cx="518144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Donde: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AM</a:t>
            </a:r>
            <a:r>
              <a:rPr sz="1500">
                <a:solidFill>
                  <a:srgbClr val="FFFFFF"/>
                </a:solidFill>
              </a:rPr>
              <a:t>: Masa de aire absoluta  |  </a:t>
            </a:r>
            <a:r>
              <a:rPr sz="1500" i="1">
                <a:solidFill>
                  <a:srgbClr val="FFFFFF"/>
                </a:solidFill>
              </a:rPr>
              <a:t>θ</a:t>
            </a:r>
            <a:r>
              <a:rPr sz="1500" i="1">
                <a:solidFill>
                  <a:srgbClr val="FFFFFF"/>
                </a:solidFill>
              </a:rPr>
              <a:t>z</a:t>
            </a:r>
            <a:r>
              <a:rPr sz="1500">
                <a:solidFill>
                  <a:srgbClr val="FFFFFF"/>
                </a:solidFill>
              </a:rPr>
              <a:t>: Ángulo cenital del sol.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0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1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2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3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4</a:t>
            </a:r>
            <a:r>
              <a:rPr sz="1500">
                <a:solidFill>
                  <a:srgbClr val="FFFFFF"/>
                </a:solidFill>
              </a:rPr>
              <a:t>: Coeficientes empíricos espectrales.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M</a:t>
            </a:r>
            <a:r>
              <a:rPr sz="1500" i="1">
                <a:solidFill>
                  <a:srgbClr val="FFFFFF"/>
                </a:solidFill>
              </a:rPr>
              <a:t>ref</a:t>
            </a:r>
            <a:r>
              <a:rPr sz="1500">
                <a:solidFill>
                  <a:srgbClr val="FFFFFF"/>
                </a:solidFill>
              </a:rPr>
              <a:t>: Transmitancia espectral a STC (AM 1.5g).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Dinámica Horaria: Irradiancia en Día Despejado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303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rfil_dia_tip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280160"/>
            <a:ext cx="77724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Temperatura de Celda (Sandia SAPM) </a:t>
            </a:r>
            <a:r>
              <a:rPr sz="2800" b="1">
                <a:solidFill>
                  <a:srgbClr val="E8A838"/>
                </a:solidFill>
              </a:rPr>
              <a:t>[2]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Ecuación del Modelo Térmico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La temperatura interna de la celda (</a:t>
            </a:r>
            <a:r>
              <a:rPr sz="1600" i="1">
                <a:solidFill>
                  <a:srgbClr val="FFFFFF"/>
                </a:solidFill>
              </a:rPr>
              <a:t>T</a:t>
            </a:r>
            <a:r>
              <a:rPr sz="1600" i="1">
                <a:solidFill>
                  <a:srgbClr val="FFFFFF"/>
                </a:solidFill>
              </a:rPr>
              <a:t>c</a:t>
            </a:r>
            <a:r>
              <a:rPr sz="1600">
                <a:solidFill>
                  <a:srgbClr val="FFFFFF"/>
                </a:solidFill>
              </a:rPr>
              <a:t>) depende del recurso solar y del viento:</a:t>
            </a:r>
          </a:p>
        </p:txBody>
      </p:sp>
      <p:pic>
        <p:nvPicPr>
          <p:cNvPr id="6" name="Picture 5" descr="eq_6df31a59eeb699d8d30eef1fac4834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4586775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17520"/>
            <a:ext cx="518144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Donde: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T</a:t>
            </a:r>
            <a:r>
              <a:rPr sz="1500" i="1">
                <a:solidFill>
                  <a:srgbClr val="E8A838"/>
                </a:solidFill>
              </a:rPr>
              <a:t>c</a:t>
            </a:r>
            <a:r>
              <a:rPr sz="1500">
                <a:solidFill>
                  <a:srgbClr val="E8A838"/>
                </a:solidFill>
              </a:rPr>
              <a:t> / </a:t>
            </a:r>
            <a:r>
              <a:rPr sz="1500" i="1">
                <a:solidFill>
                  <a:srgbClr val="E8A838"/>
                </a:solidFill>
              </a:rPr>
              <a:t>T</a:t>
            </a:r>
            <a:r>
              <a:rPr sz="1500" i="1">
                <a:solidFill>
                  <a:srgbClr val="E8A838"/>
                </a:solidFill>
              </a:rPr>
              <a:t>a</a:t>
            </a:r>
            <a:r>
              <a:rPr sz="1500">
                <a:solidFill>
                  <a:srgbClr val="E8A838"/>
                </a:solidFill>
              </a:rPr>
              <a:t>: Temperatura de celda y ambiental (°C).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G</a:t>
            </a:r>
            <a:r>
              <a:rPr sz="1500" i="1">
                <a:solidFill>
                  <a:srgbClr val="E8A838"/>
                </a:solidFill>
              </a:rPr>
              <a:t>poa</a:t>
            </a:r>
            <a:r>
              <a:rPr sz="1500">
                <a:solidFill>
                  <a:srgbClr val="E8A838"/>
                </a:solidFill>
              </a:rPr>
              <a:t>: Irradiancia en el plano del panel (W/m²).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v</a:t>
            </a:r>
            <a:r>
              <a:rPr sz="1500" i="1">
                <a:solidFill>
                  <a:srgbClr val="E8A838"/>
                </a:solidFill>
              </a:rPr>
              <a:t>w</a:t>
            </a:r>
            <a:r>
              <a:rPr sz="1500">
                <a:solidFill>
                  <a:srgbClr val="E8A838"/>
                </a:solidFill>
              </a:rPr>
              <a:t>: Velocidad del viento (m/s).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a</a:t>
            </a:r>
            <a:r>
              <a:rPr sz="1500">
                <a:solidFill>
                  <a:srgbClr val="E8A838"/>
                </a:solidFill>
              </a:rPr>
              <a:t>, </a:t>
            </a:r>
            <a:r>
              <a:rPr sz="1500" i="1">
                <a:solidFill>
                  <a:srgbClr val="E8A838"/>
                </a:solidFill>
              </a:rPr>
              <a:t>b</a:t>
            </a:r>
            <a:r>
              <a:rPr sz="1500">
                <a:solidFill>
                  <a:srgbClr val="E8A838"/>
                </a:solidFill>
              </a:rPr>
              <a:t>, </a:t>
            </a:r>
            <a:r>
              <a:rPr sz="1500" i="1">
                <a:solidFill>
                  <a:srgbClr val="E8A838"/>
                </a:solidFill>
              </a:rPr>
              <a:t>ΔT</a:t>
            </a:r>
            <a:r>
              <a:rPr sz="1500">
                <a:solidFill>
                  <a:srgbClr val="E8A838"/>
                </a:solidFill>
              </a:rPr>
              <a:t>: Parámetros empíricos del encapsulado.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Coeficientes por Tecnología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5544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Los parámetros empíricos varían según la disipación del marco y capas protectoras: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1. Silicio Monocristalino (m-Si) — glass/polymer: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•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>
                <a:solidFill>
                  <a:srgbClr val="FFFFFF"/>
                </a:solidFill>
              </a:rPr>
              <a:t> = -3.56  |  </a:t>
            </a:r>
            <a:r>
              <a:rPr sz="1500" i="1">
                <a:solidFill>
                  <a:srgbClr val="FFFFFF"/>
                </a:solidFill>
              </a:rPr>
              <a:t>b</a:t>
            </a:r>
            <a:r>
              <a:rPr sz="1500">
                <a:solidFill>
                  <a:srgbClr val="FFFFFF"/>
                </a:solidFill>
              </a:rPr>
              <a:t> = -0.075  |  </a:t>
            </a:r>
            <a:r>
              <a:rPr sz="1500" i="1">
                <a:solidFill>
                  <a:srgbClr val="FFFFFF"/>
                </a:solidFill>
              </a:rPr>
              <a:t>ΔT</a:t>
            </a:r>
            <a:r>
              <a:rPr sz="1500">
                <a:solidFill>
                  <a:srgbClr val="FFFFFF"/>
                </a:solidFill>
              </a:rPr>
              <a:t> = 3.0 °C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→ Comportamiento: Disipación estándar, mayor calentamiento.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2. Heterounión (HIT) — glass/glass: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•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>
                <a:solidFill>
                  <a:srgbClr val="FFFFFF"/>
                </a:solidFill>
              </a:rPr>
              <a:t> = -3.47  |  </a:t>
            </a:r>
            <a:r>
              <a:rPr sz="1500" i="1">
                <a:solidFill>
                  <a:srgbClr val="FFFFFF"/>
                </a:solidFill>
              </a:rPr>
              <a:t>b</a:t>
            </a:r>
            <a:r>
              <a:rPr sz="1500">
                <a:solidFill>
                  <a:srgbClr val="FFFFFF"/>
                </a:solidFill>
              </a:rPr>
              <a:t> = -0.059  |  </a:t>
            </a:r>
            <a:r>
              <a:rPr sz="1500" i="1">
                <a:solidFill>
                  <a:srgbClr val="FFFFFF"/>
                </a:solidFill>
              </a:rPr>
              <a:t>ΔT</a:t>
            </a:r>
            <a:r>
              <a:rPr sz="1500">
                <a:solidFill>
                  <a:srgbClr val="FFFFFF"/>
                </a:solidFill>
              </a:rPr>
              <a:t> = 3.0 °C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→ Comportamiento: Estructura de doble vidrio, retiene ligeramente más calor, pero se compensa por su bajo coeficiente térmico.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Resultados Térmicos: Distribución Anual Tc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640080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Distribución de Temperatura de Celda</a:t>
            </a:r>
          </a:p>
        </p:txBody>
      </p:sp>
      <p:pic>
        <p:nvPicPr>
          <p:cNvPr id="5" name="Picture 4" descr="temp_hist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03520" cy="2651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097280"/>
            <a:ext cx="493776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1887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Comportamiento en Atacama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Temperatura promedio diurna de celda: ~38°C a 45°C.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Picos térmicos extremos superan los 65°C a mediodía en verano.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Clima desértico seco reduce la convección natural del marco.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Las altas temperaturas aumentan la corriente de saturación inversa (</a:t>
            </a:r>
            <a:r>
              <a:rPr sz="1700" i="1">
                <a:solidFill>
                  <a:srgbClr val="FFFFFF"/>
                </a:solidFill>
              </a:rPr>
              <a:t>I</a:t>
            </a:r>
            <a:r>
              <a:rPr sz="1700" i="1">
                <a:solidFill>
                  <a:srgbClr val="FFFFFF"/>
                </a:solidFill>
              </a:rPr>
              <a:t>0</a:t>
            </a:r>
            <a:r>
              <a:rPr sz="1700">
                <a:solidFill>
                  <a:srgbClr val="FFFFFF"/>
                </a:solidFill>
              </a:rPr>
              <a:t>), reduciendo severamente el </a:t>
            </a:r>
            <a:r>
              <a:rPr sz="1700" i="1">
                <a:solidFill>
                  <a:srgbClr val="FFFFFF"/>
                </a:solidFill>
              </a:rPr>
              <a:t>V</a:t>
            </a:r>
            <a:r>
              <a:rPr sz="1700" i="1">
                <a:solidFill>
                  <a:srgbClr val="FFFFFF"/>
                </a:solidFill>
              </a:rPr>
              <a:t>oc</a:t>
            </a:r>
            <a:r>
              <a:rPr sz="1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Modelo de 5 Parámetros: Diodo Simple (SDM) </a:t>
            </a:r>
            <a:r>
              <a:rPr sz="2800" b="1">
                <a:solidFill>
                  <a:srgbClr val="E8A838"/>
                </a:solidFill>
              </a:rPr>
              <a:t>[1]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Ecuación del Circuito Equivalente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El módulo se modela como un circuito equivalente de un diodo y pérdidas óhmicas:</a:t>
            </a:r>
          </a:p>
        </p:txBody>
      </p:sp>
      <p:pic>
        <p:nvPicPr>
          <p:cNvPr id="6" name="Picture 5" descr="eq_0f6e22b8305268a9b05c626661276e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3853986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10896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El factor de idealidad térmico (</a:t>
            </a:r>
            <a:r>
              <a:rPr sz="1600" i="1">
                <a:solidFill>
                  <a:srgbClr val="FFFFFF"/>
                </a:solidFill>
              </a:rPr>
              <a:t>a</a:t>
            </a:r>
            <a:r>
              <a:rPr sz="1600">
                <a:solidFill>
                  <a:srgbClr val="FFFFFF"/>
                </a:solidFill>
              </a:rPr>
              <a:t>) se define formalmente como:</a:t>
            </a:r>
          </a:p>
        </p:txBody>
      </p:sp>
      <p:pic>
        <p:nvPicPr>
          <p:cNvPr id="8" name="Picture 7" descr="eq_81b193729b5e8ca3d3141349bc52cf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1835474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Glosario de Parámetros Físicos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5544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 /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: Corriente y voltaje de salida (A, V).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L</a:t>
            </a:r>
            <a:r>
              <a:rPr sz="1500">
                <a:solidFill>
                  <a:srgbClr val="FFFFFF"/>
                </a:solidFill>
              </a:rPr>
              <a:t>: Corriente fotogenerada por irradiancia (A).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0</a:t>
            </a:r>
            <a:r>
              <a:rPr sz="1500">
                <a:solidFill>
                  <a:srgbClr val="FFFFFF"/>
                </a:solidFill>
              </a:rPr>
              <a:t>: Corriente de saturación inversa del diodo (A).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: Resistencia serie de pérdidas (Ω).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sh</a:t>
            </a:r>
            <a:r>
              <a:rPr sz="1500">
                <a:solidFill>
                  <a:srgbClr val="FFFFFF"/>
                </a:solidFill>
              </a:rPr>
              <a:t>: Resistencia paralelo o shunt de fugas (Ω).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N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: Número de celdas en serie (m-Si: 36, HIT: 72).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n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: Factor de idealidad del diodo.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k</a:t>
            </a:r>
            <a:r>
              <a:rPr sz="1500">
                <a:solidFill>
                  <a:srgbClr val="FFFFFF"/>
                </a:solidFill>
              </a:rPr>
              <a:t>: Constante de Boltzmann (1.3806 × 10⁻²³ J/K).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q</a:t>
            </a:r>
            <a:r>
              <a:rPr sz="1500">
                <a:solidFill>
                  <a:srgbClr val="FFFFFF"/>
                </a:solidFill>
              </a:rPr>
              <a:t>: Carga elemental del electrón (1.6022 × 10⁻¹⁹ C).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T</a:t>
            </a:r>
            <a:r>
              <a:rPr sz="1500" i="1">
                <a:solidFill>
                  <a:srgbClr val="FFFFFF"/>
                </a:solidFill>
              </a:rPr>
              <a:t>c</a:t>
            </a:r>
            <a:r>
              <a:rPr sz="1500">
                <a:solidFill>
                  <a:srgbClr val="FFFFFF"/>
                </a:solidFill>
              </a:rPr>
              <a:t>: Temperatura de celda absoluta (K).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Extracción de Parámetros de Referencia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Sistema No-Lineal de 5 Ecuaciones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Se extraen </a:t>
            </a:r>
            <a:r>
              <a:rPr sz="1500" i="1">
                <a:solidFill>
                  <a:srgbClr val="FFFFFF"/>
                </a:solidFill>
              </a:rPr>
              <a:t>a</a:t>
            </a:r>
            <a:r>
              <a:rPr sz="1500" i="1">
                <a:solidFill>
                  <a:srgbClr val="FFFFFF"/>
                </a:solidFill>
              </a:rPr>
              <a:t>ref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L,ref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0,ref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s,ref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sh,ref</a:t>
            </a:r>
            <a:r>
              <a:rPr sz="1500">
                <a:solidFill>
                  <a:srgbClr val="FFFFFF"/>
                </a:solidFill>
              </a:rPr>
              <a:t> en STC</a:t>
            </a:r>
            <a:r>
              <a:rPr sz="1500">
                <a:solidFill>
                  <a:srgbClr val="FFFFFF"/>
                </a:solidFill>
              </a:rPr>
              <a:t>[1]</a:t>
            </a:r>
            <a:r>
              <a:rPr sz="1500">
                <a:solidFill>
                  <a:srgbClr val="FFFFFF"/>
                </a:solidFill>
              </a:rPr>
              <a:t>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1. Cortocircuito (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sc</a:t>
            </a:r>
            <a:r>
              <a:rPr sz="1500">
                <a:solidFill>
                  <a:srgbClr val="FFFFFF"/>
                </a:solidFill>
              </a:rPr>
              <a:t>):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 = 0,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 =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sc,ref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2. Circuito Abierto (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 i="1">
                <a:solidFill>
                  <a:srgbClr val="FFFFFF"/>
                </a:solidFill>
              </a:rPr>
              <a:t>oc</a:t>
            </a:r>
            <a:r>
              <a:rPr sz="1500">
                <a:solidFill>
                  <a:srgbClr val="FFFFFF"/>
                </a:solidFill>
              </a:rPr>
              <a:t>):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 = 0,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 =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 i="1">
                <a:solidFill>
                  <a:srgbClr val="FFFFFF"/>
                </a:solidFill>
              </a:rPr>
              <a:t>oc,ref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3. Máxima Potencia (MPP):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 =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mp,ref</a:t>
            </a:r>
            <a:r>
              <a:rPr sz="1500">
                <a:solidFill>
                  <a:srgbClr val="FFFFFF"/>
                </a:solidFill>
              </a:rPr>
              <a:t>,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 =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 i="1">
                <a:solidFill>
                  <a:srgbClr val="FFFFFF"/>
                </a:solidFill>
              </a:rPr>
              <a:t>mp,ref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4. Pendiente en MPP (d</a:t>
            </a:r>
            <a:r>
              <a:rPr sz="1500" i="1">
                <a:solidFill>
                  <a:srgbClr val="FFFFFF"/>
                </a:solidFill>
              </a:rPr>
              <a:t>P</a:t>
            </a:r>
            <a:r>
              <a:rPr sz="1500">
                <a:solidFill>
                  <a:srgbClr val="FFFFFF"/>
                </a:solidFill>
              </a:rPr>
              <a:t>/d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 = 0):</a:t>
            </a:r>
          </a:p>
        </p:txBody>
      </p:sp>
      <p:pic>
        <p:nvPicPr>
          <p:cNvPr id="6" name="Picture 5" descr="eq_cc2b86fbacba503d5f0c9a0e295f4a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1671969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79476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5. Coeficiente térmico de 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 i="1">
                <a:solidFill>
                  <a:srgbClr val="FFFFFF"/>
                </a:solidFill>
              </a:rPr>
              <a:t>oc</a:t>
            </a:r>
            <a:r>
              <a:rPr sz="150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8" name="Picture 7" descr="eq_f96c26b5e5df4b01883ec3fa71a97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1093670" cy="411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Ecuación de la Derivada Analítica en MPP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Para acoplar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 y el factor de idealidad, se implementa la derivada analítica obtenida del circuito:</a:t>
            </a:r>
          </a:p>
        </p:txBody>
      </p:sp>
      <p:pic>
        <p:nvPicPr>
          <p:cNvPr id="12" name="Picture 11" descr="eq_a76554b1ee03916d0fb4d4b17eb599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7" y="2286000"/>
            <a:ext cx="3060757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70167" y="333756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Donde:</a:t>
            </a:r>
          </a:p>
        </p:txBody>
      </p:sp>
      <p:pic>
        <p:nvPicPr>
          <p:cNvPr id="14" name="Picture 13" descr="eq_d3cc56a0e87a29528d48690a85598da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07" y="3749039"/>
            <a:ext cx="2193902" cy="457200"/>
          </a:xfrm>
          <a:prstGeom prst="rect">
            <a:avLst/>
          </a:prstGeom>
        </p:spPr>
      </p:pic>
      <p:pic>
        <p:nvPicPr>
          <p:cNvPr id="15" name="Picture 14" descr="eq_383431ee7cb363d006acacfdbffa99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7" y="4389120"/>
            <a:ext cx="770708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70167" y="5074920"/>
            <a:ext cx="518144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8A838"/>
                </a:solidFill>
              </a:defRPr>
            </a:pPr>
            <a:r>
              <a:rPr sz="1400">
                <a:solidFill>
                  <a:srgbClr val="E8A838"/>
                </a:solidFill>
              </a:rPr>
              <a:t>La optimización se realiza mediante ajuste de mínimos cuadrados con bounds físicos (</a:t>
            </a:r>
            <a:r>
              <a:rPr sz="1400" i="1">
                <a:solidFill>
                  <a:srgbClr val="E8A838"/>
                </a:solidFill>
              </a:rPr>
              <a:t>R</a:t>
            </a:r>
            <a:r>
              <a:rPr sz="1400" i="1">
                <a:solidFill>
                  <a:srgbClr val="E8A838"/>
                </a:solidFill>
              </a:rPr>
              <a:t>s</a:t>
            </a:r>
            <a:r>
              <a:rPr sz="1400">
                <a:solidFill>
                  <a:srgbClr val="E8A838"/>
                </a:solidFill>
              </a:rPr>
              <a:t> &gt; 0, </a:t>
            </a:r>
            <a:r>
              <a:rPr sz="1400" i="1">
                <a:solidFill>
                  <a:srgbClr val="E8A838"/>
                </a:solidFill>
              </a:rPr>
              <a:t>n</a:t>
            </a:r>
            <a:r>
              <a:rPr sz="1400" i="1">
                <a:solidFill>
                  <a:srgbClr val="E8A838"/>
                </a:solidFill>
              </a:rPr>
              <a:t>I</a:t>
            </a:r>
            <a:r>
              <a:rPr sz="1400">
                <a:solidFill>
                  <a:srgbClr val="E8A838"/>
                </a:solidFill>
              </a:rPr>
              <a:t> ∈ </a:t>
            </a:r>
            <a:r>
              <a:rPr sz="1400">
                <a:solidFill>
                  <a:srgbClr val="E8A838"/>
                </a:solidFill>
              </a:rPr>
              <a:t>1, 2</a:t>
            </a:r>
            <a:r>
              <a:rPr sz="1400">
                <a:solidFill>
                  <a:srgbClr val="E8A838"/>
                </a:solidFill>
              </a:rPr>
              <a:t>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Escalamiento a Condiciones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Dependencias con (G, Tc) de De Soto </a:t>
            </a:r>
            <a:r>
              <a:rPr sz="1800" b="1">
                <a:solidFill>
                  <a:srgbClr val="E8A838"/>
                </a:solidFill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1. Factor de Idealidad:</a:t>
            </a:r>
          </a:p>
        </p:txBody>
      </p:sp>
      <p:pic>
        <p:nvPicPr>
          <p:cNvPr id="6" name="Picture 5" descr="eq_4d3e1415cb08b8bc20f12f74abe85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9342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24028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2. Corriente de Saturación Inversa (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0</a:t>
            </a:r>
            <a:r>
              <a:rPr sz="1500">
                <a:solidFill>
                  <a:srgbClr val="FFFFFF"/>
                </a:solidFill>
              </a:rPr>
              <a:t>):</a:t>
            </a:r>
          </a:p>
        </p:txBody>
      </p:sp>
      <p:pic>
        <p:nvPicPr>
          <p:cNvPr id="8" name="Picture 7" descr="eq_147b7f3a535fae0ea51286e3e32c14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956947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01752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3. Energía de Bandgap (</a:t>
            </a:r>
            <a:r>
              <a:rPr sz="1500" i="1">
                <a:solidFill>
                  <a:srgbClr val="FFFFFF"/>
                </a:solidFill>
              </a:rPr>
              <a:t>E</a:t>
            </a:r>
            <a:r>
              <a:rPr sz="1500" i="1">
                <a:solidFill>
                  <a:srgbClr val="FFFFFF"/>
                </a:solidFill>
              </a:rPr>
              <a:t>g</a:t>
            </a:r>
            <a:r>
              <a:rPr sz="1500">
                <a:solidFill>
                  <a:srgbClr val="FFFFFF"/>
                </a:solidFill>
              </a:rPr>
              <a:t>):</a:t>
            </a:r>
          </a:p>
        </p:txBody>
      </p:sp>
      <p:pic>
        <p:nvPicPr>
          <p:cNvPr id="10" name="Picture 9" descr="eq_0ed50450f33c4ace764411b1918723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2671973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749039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4. Corriente Fotogenerada (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 i="1">
                <a:solidFill>
                  <a:srgbClr val="FFFFFF"/>
                </a:solidFill>
              </a:rPr>
              <a:t>L</a:t>
            </a:r>
            <a:r>
              <a:rPr sz="1500">
                <a:solidFill>
                  <a:srgbClr val="FFFFFF"/>
                </a:solidFill>
              </a:rPr>
              <a:t>):</a:t>
            </a:r>
          </a:p>
        </p:txBody>
      </p:sp>
      <p:pic>
        <p:nvPicPr>
          <p:cNvPr id="12" name="Picture 11" descr="eq_ff8bf6d291204b91b8f99a74fbb13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4260506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48056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5. Resistencia Shunt:</a:t>
            </a:r>
          </a:p>
        </p:txBody>
      </p:sp>
      <p:pic>
        <p:nvPicPr>
          <p:cNvPr id="14" name="Picture 13" descr="eq_41b6b711a3ee54ec226a0ceb62a105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00600"/>
            <a:ext cx="174127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21208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8A838"/>
                </a:solidFill>
              </a:defRPr>
            </a:pPr>
            <a:r>
              <a:rPr sz="1400">
                <a:solidFill>
                  <a:srgbClr val="E8A838"/>
                </a:solidFill>
              </a:rPr>
              <a:t>Donde </a:t>
            </a:r>
            <a:r>
              <a:rPr sz="1400" i="1">
                <a:solidFill>
                  <a:srgbClr val="E8A838"/>
                </a:solidFill>
              </a:rPr>
              <a:t>E</a:t>
            </a:r>
            <a:r>
              <a:rPr sz="1400" i="1">
                <a:solidFill>
                  <a:srgbClr val="E8A838"/>
                </a:solidFill>
              </a:rPr>
              <a:t>g,ref</a:t>
            </a:r>
            <a:r>
              <a:rPr sz="1400">
                <a:solidFill>
                  <a:srgbClr val="E8A838"/>
                </a:solidFill>
              </a:rPr>
              <a:t> = 1.121 eV para Silicio a 25°C.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Suposiciones Físicas Justificadas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6459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 Constante: Se asume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 =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s,ref</a:t>
            </a:r>
            <a:r>
              <a:rPr sz="1500">
                <a:solidFill>
                  <a:srgbClr val="FFFFFF"/>
                </a:solidFill>
              </a:rPr>
              <a:t>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Justificación: De Soto (2006)</a:t>
            </a:r>
            <a:r>
              <a:rPr sz="1500">
                <a:solidFill>
                  <a:srgbClr val="FFFFFF"/>
                </a:solidFill>
              </a:rPr>
              <a:t>[1]</a:t>
            </a:r>
            <a:r>
              <a:rPr sz="1500">
                <a:solidFill>
                  <a:srgbClr val="FFFFFF"/>
                </a:solidFill>
              </a:rPr>
              <a:t> demuestra mediante validaciones contra NIST que la variación térmica de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 es de segundo orden y su efecto en la curva </a:t>
            </a:r>
            <a:r>
              <a:rPr sz="1500" i="1">
                <a:solidFill>
                  <a:srgbClr val="FFFFFF"/>
                </a:solidFill>
              </a:rPr>
              <a:t>I</a:t>
            </a:r>
            <a:r>
              <a:rPr sz="1500">
                <a:solidFill>
                  <a:srgbClr val="FFFFFF"/>
                </a:solidFill>
              </a:rPr>
              <a:t>-</a:t>
            </a:r>
            <a:r>
              <a:rPr sz="1500" i="1">
                <a:solidFill>
                  <a:srgbClr val="FFFFFF"/>
                </a:solidFill>
              </a:rPr>
              <a:t>V</a:t>
            </a:r>
            <a:r>
              <a:rPr sz="1500">
                <a:solidFill>
                  <a:srgbClr val="FFFFFF"/>
                </a:solidFill>
              </a:rPr>
              <a:t> es despreciable.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R</a:t>
            </a:r>
            <a:r>
              <a:rPr sz="1500" i="1">
                <a:solidFill>
                  <a:srgbClr val="FFFFFF"/>
                </a:solidFill>
              </a:rPr>
              <a:t>sh</a:t>
            </a:r>
            <a:r>
              <a:rPr sz="1500">
                <a:solidFill>
                  <a:srgbClr val="FFFFFF"/>
                </a:solidFill>
              </a:rPr>
              <a:t> dependiente de la Irradiancia Absorbida: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Sigue la relación inversamente proporcional con 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>
                <a:solidFill>
                  <a:srgbClr val="FFFFFF"/>
                </a:solidFill>
              </a:rPr>
              <a:t> para modelar cómo el aumento de portadores minoritarios abre caminos de fuga paralelos en la celda.</a:t>
            </a:r>
          </a:p>
          <a:p>
            <a:pPr algn="l">
              <a:defRPr sz="1500">
                <a:solidFill>
                  <a:srgbClr val="FFFFFF"/>
                </a:solidFill>
              </a:defRPr>
            </a:pPr>
          </a:p>
          <a:p>
            <a:pPr algn="l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• </a:t>
            </a:r>
            <a:r>
              <a:rPr sz="1500" i="1">
                <a:solidFill>
                  <a:srgbClr val="FFFFFF"/>
                </a:solidFill>
              </a:rPr>
              <a:t>T</a:t>
            </a:r>
            <a:r>
              <a:rPr sz="1500" i="1">
                <a:solidFill>
                  <a:srgbClr val="FFFFFF"/>
                </a:solidFill>
              </a:rPr>
              <a:t>ref</a:t>
            </a:r>
            <a:r>
              <a:rPr sz="1500">
                <a:solidFill>
                  <a:srgbClr val="FFFFFF"/>
                </a:solidFill>
              </a:rPr>
              <a:t> = 298.15 K (25°C)  |  </a:t>
            </a:r>
            <a:r>
              <a:rPr sz="1500" i="1">
                <a:solidFill>
                  <a:srgbClr val="FFFFFF"/>
                </a:solidFill>
              </a:rPr>
              <a:t>S</a:t>
            </a:r>
            <a:r>
              <a:rPr sz="1500" i="1">
                <a:solidFill>
                  <a:srgbClr val="FFFFFF"/>
                </a:solidFill>
              </a:rPr>
              <a:t>ref</a:t>
            </a:r>
            <a:r>
              <a:rPr sz="1500">
                <a:solidFill>
                  <a:srgbClr val="FFFFFF"/>
                </a:solidFill>
              </a:rPr>
              <a:t> = 1000 W/m².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Validación: Reconstrucción Curvas IV en SRC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303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rvas_iv_pv_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280160"/>
            <a:ext cx="9144000" cy="3918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Validación: Potencia Medida vs.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94360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Correlación de Potencia</a:t>
            </a:r>
          </a:p>
        </p:txBody>
      </p:sp>
      <p:pic>
        <p:nvPicPr>
          <p:cNvPr id="5" name="Picture 4" descr="val_scatter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114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097280"/>
            <a:ext cx="539496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Métricas de Ajuste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Coeficiente de determinación R² &gt; 0.99 para ambas tecnologías.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RMSE &lt; 5W en condiciones estándar.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Validación cruzada: El modelo de De Soto reproduce con alta fidelidad las pérdidas por temperatura en celdas de silicio.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Error máximo concentrado en la zona de codo a baja irradiancia.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Performance Ratio: Evaluación de Desempeño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Ecuación Matemática del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El Performance Ratio (</a:t>
            </a:r>
            <a:r>
              <a:rPr sz="1600" i="1">
                <a:solidFill>
                  <a:srgbClr val="FFFFFF"/>
                </a:solidFill>
              </a:rPr>
              <a:t>PR</a:t>
            </a:r>
            <a:r>
              <a:rPr sz="1600">
                <a:solidFill>
                  <a:srgbClr val="FFFFFF"/>
                </a:solidFill>
              </a:rPr>
              <a:t>) evalúa la eficiencia neta del sistema fotovoltaico:</a:t>
            </a:r>
          </a:p>
        </p:txBody>
      </p:sp>
      <p:pic>
        <p:nvPicPr>
          <p:cNvPr id="6" name="Picture 5" descr="eq_a7cd84c1dfc4bbc488901a2df137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72641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17520"/>
            <a:ext cx="518144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Donde: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P</a:t>
            </a:r>
            <a:r>
              <a:rPr sz="1500" i="1">
                <a:solidFill>
                  <a:srgbClr val="E8A838"/>
                </a:solidFill>
              </a:rPr>
              <a:t>mp,SDM</a:t>
            </a:r>
            <a:r>
              <a:rPr sz="1500">
                <a:solidFill>
                  <a:srgbClr val="E8A838"/>
                </a:solidFill>
              </a:rPr>
              <a:t>: Potencia MPP simulada hora a hora con De Soto</a:t>
            </a:r>
            <a:r>
              <a:rPr sz="1500">
                <a:solidFill>
                  <a:srgbClr val="E8A838"/>
                </a:solidFill>
              </a:rPr>
              <a:t>[1]</a:t>
            </a:r>
            <a:r>
              <a:rPr sz="1500">
                <a:solidFill>
                  <a:srgbClr val="E8A838"/>
                </a:solidFill>
              </a:rPr>
              <a:t> (W).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P</a:t>
            </a:r>
            <a:r>
              <a:rPr sz="1500" i="1">
                <a:solidFill>
                  <a:srgbClr val="E8A838"/>
                </a:solidFill>
              </a:rPr>
              <a:t>STC</a:t>
            </a:r>
            <a:r>
              <a:rPr sz="1500">
                <a:solidFill>
                  <a:srgbClr val="E8A838"/>
                </a:solidFill>
              </a:rPr>
              <a:t>: Potencia nominal a STC (m-Si: 46.68 W | HIT: 217.52 W).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</a:t>
            </a:r>
            <a:r>
              <a:rPr sz="1500" i="1">
                <a:solidFill>
                  <a:srgbClr val="E8A838"/>
                </a:solidFill>
              </a:rPr>
              <a:t>G</a:t>
            </a:r>
            <a:r>
              <a:rPr sz="1500" i="1">
                <a:solidFill>
                  <a:srgbClr val="E8A838"/>
                </a:solidFill>
              </a:rPr>
              <a:t>poa</a:t>
            </a:r>
            <a:r>
              <a:rPr sz="1500">
                <a:solidFill>
                  <a:srgbClr val="E8A838"/>
                </a:solidFill>
              </a:rPr>
              <a:t>: Irradiancia calculada en el plano del panel (W/m²).</a:t>
            </a:r>
          </a:p>
          <a:p>
            <a:pPr algn="l">
              <a:defRPr sz="1500">
                <a:solidFill>
                  <a:srgbClr val="E8A838"/>
                </a:solidFill>
              </a:defRPr>
            </a:pPr>
            <a:r>
              <a:rPr sz="1500">
                <a:solidFill>
                  <a:srgbClr val="E8A838"/>
                </a:solidFill>
              </a:rPr>
              <a:t>• 1000: Irradiancia de referencia a STC (W/m²).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Significado Físico del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5544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Indica la fracción de energía disponible que es realmente convertida en potencia útil de salida.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Un </a:t>
            </a:r>
            <a:r>
              <a:rPr sz="1600" i="1">
                <a:solidFill>
                  <a:srgbClr val="FFFFFF"/>
                </a:solidFill>
              </a:rPr>
              <a:t>PR</a:t>
            </a:r>
            <a:r>
              <a:rPr sz="1600">
                <a:solidFill>
                  <a:srgbClr val="FFFFFF"/>
                </a:solidFill>
              </a:rPr>
              <a:t> de 100% representaría un panel operando permanentemente a 25°C de temperatura de celda y sin ninguna pérdida reflectiva, de cableado o de suciedad.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Captura y penaliza de forma acumulativa: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  1. Pérdidas Térmicas (elevada temperatura </a:t>
            </a:r>
            <a:r>
              <a:rPr sz="1600" i="1">
                <a:solidFill>
                  <a:srgbClr val="FFFFFF"/>
                </a:solidFill>
              </a:rPr>
              <a:t>T</a:t>
            </a:r>
            <a:r>
              <a:rPr sz="1600" i="1">
                <a:solidFill>
                  <a:srgbClr val="FFFFFF"/>
                </a:solidFill>
              </a:rPr>
              <a:t>c</a:t>
            </a:r>
            <a:r>
              <a:rPr sz="1600">
                <a:solidFill>
                  <a:srgbClr val="FFFFFF"/>
                </a:solidFill>
              </a:rPr>
              <a:t>).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  2. Pérdidas Ópticas por Ángulo de Incidencia (IAM).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  3. Pérdidas por Atenuación Espectral (Masa de Aire).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  4. Pérdidas Óhmicas Internas (Resistencia Serie </a:t>
            </a:r>
            <a:r>
              <a:rPr sz="1600" i="1">
                <a:solidFill>
                  <a:srgbClr val="FFFFFF"/>
                </a:solidFill>
              </a:rPr>
              <a:t>R</a:t>
            </a:r>
            <a:r>
              <a:rPr sz="1600" i="1">
                <a:solidFill>
                  <a:srgbClr val="FFFFFF"/>
                </a:solidFill>
              </a:rPr>
              <a:t>s</a:t>
            </a:r>
            <a:r>
              <a:rPr sz="1600">
                <a:solidFill>
                  <a:srgbClr val="FFFFFF"/>
                </a:solidFill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Resultados: Performance Ratio Mensual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303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_mensual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280160"/>
            <a:ext cx="77724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Análisis: Sensibilidad Térmica Realizada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731520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Normalización por Potencia Nominal</a:t>
            </a:r>
          </a:p>
        </p:txBody>
      </p:sp>
      <p:pic>
        <p:nvPicPr>
          <p:cNvPr id="5" name="Picture 4" descr="degradacion_termi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217920" cy="3730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097280"/>
            <a:ext cx="4206240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18872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Observación 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HIT (Naranja): Pendiente suave. Su bajo coeficiente térmico (-0.26 %/°C) mantiene una alta eficiencia de conversión incluso a 65°C de celda.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m-Si (Azul): Caída térmica severa. Su coeficiente térmico (-0.40 %/°C) penaliza fuertemente el voltaje en las horas pico de irradiancia desértica.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Resultados Anuales: m-Si vs. HIT en Atacama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Veredicto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• Performance Ratio Anual m-Si: 84.53%</a:t>
            </a:r>
          </a:p>
          <a:p>
            <a:pPr algn="l">
              <a:defRPr sz="1800">
                <a:solidFill>
                  <a:srgbClr val="E8A838"/>
                </a:solidFill>
              </a:defRPr>
            </a:pPr>
          </a:p>
          <a:p>
            <a:pPr algn="l"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• Performance Ratio Anual HIT: 86.92%</a:t>
            </a:r>
          </a:p>
          <a:p>
            <a:pPr algn="l">
              <a:defRPr sz="1800">
                <a:solidFill>
                  <a:srgbClr val="E8A838"/>
                </a:solidFill>
              </a:defRPr>
            </a:pPr>
          </a:p>
          <a:p>
            <a:pPr algn="l"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• Ganancia Neta en </a:t>
            </a:r>
            <a:r>
              <a:rPr sz="1800" i="1" b="1">
                <a:solidFill>
                  <a:srgbClr val="E8A838"/>
                </a:solidFill>
              </a:rPr>
              <a:t>PR</a:t>
            </a:r>
            <a:r>
              <a:rPr sz="1800" b="1">
                <a:solidFill>
                  <a:srgbClr val="E8A838"/>
                </a:solidFill>
              </a:rPr>
              <a:t>: +2.39% a favor de HIT.</a:t>
            </a:r>
          </a:p>
          <a:p>
            <a:pPr algn="l">
              <a:defRPr sz="1800">
                <a:solidFill>
                  <a:srgbClr val="E8A838"/>
                </a:solidFill>
              </a:defRPr>
            </a:pPr>
          </a:p>
          <a:p>
            <a:pPr algn="l"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El módulo HIT entrega un 2.39% más de energía útil por cada watt pico instalado, gracias a su menor caída térmica bajo el calor extremo del Desierto de Atacama en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Impacto en Proyectos a Gran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459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Para una planta solar de gran escala de 100 MWp: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Cada +1% de Performance Ratio anual representa aproximadamente 2,500 MWh adicionales de generación de energía.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La ganancia de +2.39% de la tecnología HIT equivale a ~6,000 MWh/año adicionales de facturación neta.</a:t>
            </a:r>
          </a:p>
          <a:p>
            <a:pPr algn="l">
              <a:defRPr sz="1700">
                <a:solidFill>
                  <a:srgbClr val="FFFFFF"/>
                </a:solidFill>
              </a:defRPr>
            </a:pPr>
          </a:p>
          <a:p>
            <a:pPr algn="l">
              <a:defRPr sz="1700">
                <a:solidFill>
                  <a:srgbClr val="FFFFFF"/>
                </a:solidFill>
              </a:defRPr>
            </a:pPr>
            <a:r>
              <a:rPr sz="1700">
                <a:solidFill>
                  <a:srgbClr val="FFFFFF"/>
                </a:solidFill>
              </a:rPr>
              <a:t>• Se justifica técnicamente la inversión en tecnología premium HIT para climas desérticos de alta irradiancia y alta temperatura.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Conclusiones y Proyecciones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Conclusiones del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E8A838"/>
                </a:solidFill>
              </a:defRPr>
            </a:pPr>
            <a:r>
              <a:rPr sz="1700">
                <a:solidFill>
                  <a:srgbClr val="E8A838"/>
                </a:solidFill>
              </a:rPr>
              <a:t>1. La emulación geográfica (Cocoa → Atacama) fue coherente, permitiendo evaluar el Performance Ratio real.</a:t>
            </a:r>
          </a:p>
          <a:p>
            <a:pPr algn="l">
              <a:defRPr sz="1700">
                <a:solidFill>
                  <a:srgbClr val="E8A838"/>
                </a:solidFill>
              </a:defRPr>
            </a:pPr>
          </a:p>
          <a:p>
            <a:pPr algn="l">
              <a:defRPr sz="1700">
                <a:solidFill>
                  <a:srgbClr val="E8A838"/>
                </a:solidFill>
              </a:defRPr>
            </a:pPr>
            <a:r>
              <a:rPr sz="1700">
                <a:solidFill>
                  <a:srgbClr val="E8A838"/>
                </a:solidFill>
              </a:rPr>
              <a:t>2. El modelo De Soto de 5 parámetros reprodujo con altísima precisión (R² &gt; 0.99) el desempeño medido.</a:t>
            </a:r>
          </a:p>
          <a:p>
            <a:pPr algn="l">
              <a:defRPr sz="1700">
                <a:solidFill>
                  <a:srgbClr val="E8A838"/>
                </a:solidFill>
              </a:defRPr>
            </a:pPr>
          </a:p>
          <a:p>
            <a:pPr algn="l">
              <a:defRPr sz="1700">
                <a:solidFill>
                  <a:srgbClr val="E8A838"/>
                </a:solidFill>
              </a:defRPr>
            </a:pPr>
            <a:r>
              <a:rPr sz="1700">
                <a:solidFill>
                  <a:srgbClr val="E8A838"/>
                </a:solidFill>
              </a:rPr>
              <a:t>3. La tecnología HIT supera en un 2.39% de </a:t>
            </a:r>
            <a:r>
              <a:rPr sz="1700" i="1">
                <a:solidFill>
                  <a:srgbClr val="E8A838"/>
                </a:solidFill>
              </a:rPr>
              <a:t>PR</a:t>
            </a:r>
            <a:r>
              <a:rPr sz="1700">
                <a:solidFill>
                  <a:srgbClr val="E8A838"/>
                </a:solidFill>
              </a:rPr>
              <a:t> anual al silicio monocristalino estándar.</a:t>
            </a:r>
          </a:p>
          <a:p>
            <a:pPr algn="l">
              <a:defRPr sz="1700">
                <a:solidFill>
                  <a:srgbClr val="E8A838"/>
                </a:solidFill>
              </a:defRPr>
            </a:pPr>
          </a:p>
          <a:p>
            <a:pPr algn="l">
              <a:defRPr sz="1700">
                <a:solidFill>
                  <a:srgbClr val="E8A838"/>
                </a:solidFill>
              </a:defRPr>
            </a:pPr>
            <a:r>
              <a:rPr sz="1700">
                <a:solidFill>
                  <a:srgbClr val="E8A838"/>
                </a:solidFill>
              </a:rPr>
              <a:t>4. El coeficiente de temperatura es el factor dominante en el diseño solar desértico.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287" y="1097280"/>
            <a:ext cx="5547207" cy="50292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8727" y="1188720"/>
            <a:ext cx="5364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A838"/>
                </a:solidFill>
              </a:defRPr>
            </a:pPr>
            <a:r>
              <a:rPr sz="1800" b="1">
                <a:solidFill>
                  <a:srgbClr val="E8A838"/>
                </a:solidFill>
              </a:rPr>
              <a:t>Trabajos Futuros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459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Integración de Bifacialidad: Modelar la ganancia por albedo posterior del suelo desértico (</a:t>
            </a:r>
            <a:r>
              <a:rPr sz="1600" i="1">
                <a:solidFill>
                  <a:srgbClr val="FFFFFF"/>
                </a:solidFill>
              </a:rPr>
              <a:t>ρ</a:t>
            </a:r>
            <a:r>
              <a:rPr sz="1600">
                <a:solidFill>
                  <a:srgbClr val="FFFFFF"/>
                </a:solidFill>
              </a:rPr>
              <a:t> &gt; 0.25).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Estudio de doble diodo: Capturar efectos de recombinación interna a baja irradiancia.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Pérdidas por acumulación de polvo (soiling) en el Desierto de Atacama.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</a:rPr>
              <a:t>• Análisis de costo nivelado LCOE para evaluar el retorno de la inversión de paneles premium HIT.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8A838"/>
                </a:solidFill>
              </a:defRPr>
            </a:pPr>
            <a:r>
              <a:rPr sz="2800" b="1">
                <a:solidFill>
                  <a:srgbClr val="E8A838"/>
                </a:solidFill>
              </a:rPr>
              <a:t>Referencias y Agradecimientos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114601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1. De Soto, W., Klein, S.A., Beckman, W.A. (2006). "Improvement and validation of a model for photovoltaic array performance." Solar Energy 80 (2006) 78–88.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2. Sandia National Laboratories - Photovoltaic Array Performance Model (Sandia Report SAND2004-3535).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3. NREL Cocoa Dataset - Experimental Measurements for Model Validation.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4. pvlib-python Library documentation &amp; community contributors.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5. Marion, B. et al. (2014). "Cocoa, Florida Data Set for Validating PV Models." NREL Technical Report.</a:t>
            </a:r>
          </a:p>
          <a:p>
            <a:pPr algn="l">
              <a:defRPr sz="1800">
                <a:solidFill>
                  <a:srgbClr val="FFFFFF"/>
                </a:solidFill>
              </a:defRPr>
            </a:pPr>
          </a:p>
          <a:p>
            <a:pPr algn="l"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Agradecimientos al Departamento de Electrotecnia de la UTFSM.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ELI556 | Grupo Alta Tensión | Lámina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