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>
                <a:solidFill>
                  <a:srgbClr val="F1C40F"/>
                </a:solidFill>
              </a:defRPr>
            </a:pPr>
            <a:r>
              <a:rPr sz="3800" b="1">
                <a:solidFill>
                  <a:srgbClr val="F1C40F"/>
                </a:solidFill>
              </a:rPr>
              <a:t>Evaluación de Tecnologías Fotovoltaicas en el Desierto de Atacama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834640"/>
            <a:ext cx="41148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3291840"/>
            <a:ext cx="10728655" cy="2560320"/>
          </a:xfrm>
          <a:prstGeom prst="rect">
            <a:avLst/>
          </a:prstGeom>
          <a:solidFill>
            <a:srgbClr val="1F2833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74720"/>
            <a:ext cx="1018001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Integrantes / Estudiantes: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Laury Gualdron  |  Sebastian Marin  |  Alejandro Hernández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Profesor Guía: Carlos Cardenas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ELI556 — Modelamiento y Análisis de Sistemas PV  |  Grupo Alta Tensión (AT)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Fecha de presentación: Jueves, 11 de junio de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a) Introducción al problema y contextualización: El Desierto de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Contexto: El Recurso Solar más Extremo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Irradiación Excepcional:</a:t>
            </a:r>
            <a:r>
              <a:rPr sz="1700">
                <a:solidFill>
                  <a:srgbClr val="FBFCFD"/>
                </a:solidFill>
              </a:rPr>
              <a:t> Irradiancia horizontal global (GHI) anual &gt; 2900 kWh/m² (máxima a nivel mundial).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Cielos Limpios:</a:t>
            </a:r>
            <a:r>
              <a:rPr sz="1700">
                <a:solidFill>
                  <a:srgbClr val="FBFCFD"/>
                </a:solidFill>
              </a:rPr>
              <a:t> Baja atenuación atmosférica e irradiancia directa muy concentrada.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Efecto de Altitud:</a:t>
            </a:r>
            <a:r>
              <a:rPr sz="1700">
                <a:solidFill>
                  <a:srgbClr val="FBFCFD"/>
                </a:solidFill>
              </a:rPr>
              <a:t> Mayor radiación directa y UV en zonas elevadas (&gt;= 2400 m.s.n.m.).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Estudio Geográfico:</a:t>
            </a:r>
            <a:r>
              <a:rPr sz="1700">
                <a:solidFill>
                  <a:srgbClr val="FBFCFD"/>
                </a:solidFill>
              </a:rPr>
              <a:t> Simulación localizada para San Pedro de Atacama (Latitud -22.91°, Longitud -68.20°).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El Desafío: El Estrés Térmico de Operación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Calentamiento Severo:</a:t>
            </a:r>
            <a:r>
              <a:rPr sz="1700">
                <a:solidFill>
                  <a:srgbClr val="FBFCFD"/>
                </a:solidFill>
              </a:rPr>
              <a:t> Las celdas solares operan a temperaturas superiores a 65°C a mediodía en verano.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Degradación Térmica:</a:t>
            </a:r>
            <a:r>
              <a:rPr sz="1700">
                <a:solidFill>
                  <a:srgbClr val="FBFCFD"/>
                </a:solidFill>
              </a:rPr>
              <a:t> La potencia máxima y el voltaje decaen con el incremento de la temperatura de celda (</a:t>
            </a:r>
            <a:r>
              <a:rPr sz="1700" i="1">
                <a:solidFill>
                  <a:srgbClr val="FBFCFD"/>
                </a:solidFill>
              </a:rPr>
              <a:t>T</a:t>
            </a:r>
            <a:r>
              <a:rPr sz="1300" i="1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).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Objetivo:</a:t>
            </a:r>
            <a:r>
              <a:rPr sz="1700">
                <a:solidFill>
                  <a:srgbClr val="FBFCFD"/>
                </a:solidFill>
              </a:rPr>
              <a:t> Modelar dinámicamente y comparar qué tecnología resiste de mejor manera este estrés térmico desértico durante el año calendario 2026.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b) Justificación e impacto (relevancia del tema): Selección de Tecnologías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Comparativa de Familias del Dataset Cocoa (NREL) y Criterio de Selección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1097280"/>
                <a:gridCol w="1645920"/>
                <a:gridCol w="33832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1C40F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1C40F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1C40F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1C40F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1C40F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m-Si / x-Si</a:t>
                      </a:r>
                    </a:p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(Silicio Monocristalino)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BFCFD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1C40F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HIT</a:t>
                      </a:r>
                    </a:p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(Heterounión)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BFCFD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1C40F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CdTe</a:t>
                      </a:r>
                    </a:p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(Teluro de Cadmio)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BFCFD"/>
                          </a:solidFill>
                        </a:defRPr>
                      </a:pPr>
                      <a:r>
                        <a:t>Desempeño térmico sobresaliente; toxicidad por Cadmio.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CIGS</a:t>
                      </a:r>
                    </a:p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(Película Delgada)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BFCFD"/>
                          </a:solidFill>
                        </a:defRPr>
                      </a:pPr>
                      <a:r>
                        <a:t>Pérdidas moderadas; susceptible a degradación por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a-Si (Película Fina)</a:t>
                      </a:r>
                    </a:p>
                    <a:p>
                      <a:pPr algn="l">
                        <a:defRPr sz="1400" b="1">
                          <a:solidFill>
                            <a:srgbClr val="FBFCFD"/>
                          </a:solidFill>
                        </a:defRPr>
                      </a:pPr>
                      <a:r>
                        <a:t>(Silicio Amorfo)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BFCFD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BFCFD"/>
                          </a:solidFill>
                        </a:defRPr>
                      </a:pPr>
                      <a:r>
                        <a:t>Muy baja eficiencia base y alta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c) Marco referencial y revisión de literatura pertinente: Modelos Teóricos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66928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Literatura Académica y Modelos Utilizados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Modelo de un Diodo Simple (SDM) [De Soto et al., 2006]: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Estructura circuital clásica que describe eléctricamente la celda. Incorpora las pérdidas óhmicas en serie (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) y las corrientes de fuga shunt (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sh</a:t>
            </a:r>
            <a:r>
              <a:rPr sz="1400">
                <a:solidFill>
                  <a:srgbClr val="FBFCFD"/>
                </a:solidFill>
              </a:rPr>
              <a:t>). *(Ecuación en Anexo IV, Lámina 22)*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Modelo Térmico de Sandia (SAPM) [King et al., 2004]: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Estima dinámicamente la temperatura interna de la celda (</a:t>
            </a:r>
            <a:r>
              <a:rPr sz="1400" i="1">
                <a:solidFill>
                  <a:srgbClr val="FBFCFD"/>
                </a:solidFill>
              </a:rPr>
              <a:t>T</a:t>
            </a:r>
            <a:r>
              <a:rPr sz="1000" i="1">
                <a:solidFill>
                  <a:srgbClr val="FBFCFD"/>
                </a:solidFill>
              </a:rPr>
              <a:t>c</a:t>
            </a:r>
            <a:r>
              <a:rPr sz="1400">
                <a:solidFill>
                  <a:srgbClr val="FBFCFD"/>
                </a:solidFill>
              </a:rPr>
              <a:t>) a partir de la irradiancia incidente y el viento. *(Ecuación en Anexo III, Lámina 21)*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Modelo de Transposición de Perez (1990) [Perez et al., 1990]: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Traducción geométrica de irradiancia sobre plano inclinado, modelando el cielo difuso anisotrópico. *(Ecuación en Anexo I, Lámina 19)*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Algoritmo de Parámetros de De Soto (2006) [De Soto et al., 2006]: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Fórmulas para trasladar los parámetros desde STC a condiciones operacionales basándose en la energía de bandgap. *(Ecuaciones en Anexos V y VI, Láminas 23 y 24)*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097280"/>
            <a:ext cx="524225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1188720"/>
            <a:ext cx="49679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Circuito Equivalente de un Diodo (SDM)</a:t>
            </a:r>
          </a:p>
        </p:txBody>
      </p:sp>
      <p:pic>
        <p:nvPicPr>
          <p:cNvPr id="11" name="Picture 10" descr="circuito_equivalente_s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00200"/>
            <a:ext cx="5059375" cy="4389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Metodología y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66928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Flujo de Procesamiento y Simulación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Etapa 1: Ingesta de Datos (NREL Cocoa) [Marion et al., 2014]: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  Extracción selectiva de variables de recurso solar y métricas de curvas I-V completas a partir del dataset experimental.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Etapa 2: Filtro de Emulación Geográfica: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  Traslación espacial, proyección a 2026 y desfase estacional de +6 meses para alinear el clima del Hemisferio Sur.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Etapa 3: Modelamiento Físico y Ajuste Numérico: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  Cálculo térmico de Sandia [King et al., 2004] y ajuste de mínimos cuadrados para obtener los 5 parámetros de De Soto [De Soto et al., 2006] en STC.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Etapa 4: Simulación Minutal de Operación: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  Escalamiento dinámico de parámetros (Modelo De Soto) y resolución implícita de I-V mediante pvlib [Holmgren et al., 2018].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Etapa 5: Evaluación de Performance Ratio (PR):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  Integración anual y mensual del </a:t>
            </a:r>
            <a:r>
              <a:rPr sz="1300" i="1">
                <a:solidFill>
                  <a:srgbClr val="FBFCFD"/>
                </a:solidFill>
              </a:rPr>
              <a:t>PR</a:t>
            </a:r>
            <a:r>
              <a:rPr sz="1300">
                <a:solidFill>
                  <a:srgbClr val="FBFCFD"/>
                </a:solidFill>
              </a:rPr>
              <a:t> utilizando el estándar IEC 61724-1. *(Fórmulas y glosario en Anexo VII, Lámina 25)*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097280"/>
            <a:ext cx="524225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1188720"/>
            <a:ext cx="49679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Pipeline de Simulación</a:t>
            </a:r>
          </a:p>
        </p:txBody>
      </p:sp>
      <p:pic>
        <p:nvPicPr>
          <p:cNvPr id="11" name="Picture 10" descr="simulation_pipeline_inf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00200"/>
            <a:ext cx="5059375" cy="4389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Tratamiento de la Base de Datos y Carga de Big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El Desafío: Procesamiento de Curvas I-V Minutales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Naturaleza de los Datos:</a:t>
            </a:r>
            <a:r>
              <a:rPr sz="1700">
                <a:solidFill>
                  <a:srgbClr val="FBFCFD"/>
                </a:solidFill>
              </a:rPr>
              <a:t> Dataset experimental Cocoa (NREL) [Marion et al., 2014]. Contiene curvas I-V completas y mediciones meteorológicas minuto a minuto.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Problema de Big Data:</a:t>
            </a:r>
            <a:r>
              <a:rPr sz="1700">
                <a:solidFill>
                  <a:srgbClr val="FBFCFD"/>
                </a:solidFill>
              </a:rPr>
              <a:t> Los archivos CSV unitarios superan los 100MB por tecnología, acumulando millones de registros de longitudes variables.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Falla del Método Estándar:</a:t>
            </a:r>
            <a:r>
              <a:rPr sz="1700">
                <a:solidFill>
                  <a:srgbClr val="FBFCFD"/>
                </a:solidFill>
              </a:rPr>
              <a:t> Lectores convencionales (e.g., Pandas `read_csv`) agotan la memoria RAM y fallan debido a caracteres atípicos en la metadata.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Solución: Pipeline de Lectura Eficiente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Lector en Streaming:</a:t>
            </a:r>
            <a:r>
              <a:rPr sz="1700">
                <a:solidFill>
                  <a:srgbClr val="FBFCFD"/>
                </a:solidFill>
              </a:rPr>
              <a:t> Implementación de un analizador de archivos línea por línea mediante el módulo `csv` nativo de Python.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Extracción Selectiva [Marion et al., 2014]:</a:t>
            </a:r>
            <a:r>
              <a:rPr sz="1700">
                <a:solidFill>
                  <a:srgbClr val="FBFCFD"/>
                </a:solidFill>
              </a:rPr>
              <a:t> Se ignoraron las series de curvas I-V completas en la carga inicial y se extrajeron únicamente los metadatos y puntos clave de operación (</a:t>
            </a:r>
            <a:r>
              <a:rPr sz="1700" i="1">
                <a:solidFill>
                  <a:srgbClr val="FBFCFD"/>
                </a:solidFill>
              </a:rPr>
              <a:t>I</a:t>
            </a:r>
            <a:r>
              <a:rPr sz="1300" i="1">
                <a:solidFill>
                  <a:srgbClr val="FBFCFD"/>
                </a:solidFill>
              </a:rPr>
              <a:t>sc</a:t>
            </a:r>
            <a:r>
              <a:rPr sz="1700">
                <a:solidFill>
                  <a:srgbClr val="FBFCFD"/>
                </a:solidFill>
              </a:rPr>
              <a:t>, </a:t>
            </a:r>
            <a:r>
              <a:rPr sz="1700" i="1">
                <a:solidFill>
                  <a:srgbClr val="FBFCFD"/>
                </a:solidFill>
              </a:rPr>
              <a:t>V</a:t>
            </a:r>
            <a:r>
              <a:rPr sz="1300" i="1">
                <a:solidFill>
                  <a:srgbClr val="FBFCFD"/>
                </a:solidFill>
              </a:rPr>
              <a:t>oc</a:t>
            </a:r>
            <a:r>
              <a:rPr sz="1700">
                <a:solidFill>
                  <a:srgbClr val="FBFCFD"/>
                </a:solidFill>
              </a:rPr>
              <a:t>, </a:t>
            </a:r>
            <a:r>
              <a:rPr sz="1700" i="1">
                <a:solidFill>
                  <a:srgbClr val="FBFCFD"/>
                </a:solidFill>
              </a:rPr>
              <a:t>I</a:t>
            </a:r>
            <a:r>
              <a:rPr sz="1300" i="1">
                <a:solidFill>
                  <a:srgbClr val="FBFCFD"/>
                </a:solidFill>
              </a:rPr>
              <a:t>mp</a:t>
            </a:r>
            <a:r>
              <a:rPr sz="1700">
                <a:solidFill>
                  <a:srgbClr val="FBFCFD"/>
                </a:solidFill>
              </a:rPr>
              <a:t>, </a:t>
            </a:r>
            <a:r>
              <a:rPr sz="1700" i="1">
                <a:solidFill>
                  <a:srgbClr val="FBFCFD"/>
                </a:solidFill>
              </a:rPr>
              <a:t>V</a:t>
            </a:r>
            <a:r>
              <a:rPr sz="1300" i="1">
                <a:solidFill>
                  <a:srgbClr val="FBFCFD"/>
                </a:solidFill>
              </a:rPr>
              <a:t>mp</a:t>
            </a:r>
            <a:r>
              <a:rPr sz="1700">
                <a:solidFill>
                  <a:srgbClr val="FBFCFD"/>
                </a:solidFill>
              </a:rPr>
              <a:t>, </a:t>
            </a:r>
            <a:r>
              <a:rPr sz="1700" i="1">
                <a:solidFill>
                  <a:srgbClr val="FBFCFD"/>
                </a:solidFill>
              </a:rPr>
              <a:t>P</a:t>
            </a:r>
            <a:r>
              <a:rPr sz="1300" i="1">
                <a:solidFill>
                  <a:srgbClr val="FBFCFD"/>
                </a:solidFill>
              </a:rPr>
              <a:t>mp</a:t>
            </a:r>
            <a:r>
              <a:rPr sz="1700">
                <a:solidFill>
                  <a:srgbClr val="FBFCFD"/>
                </a:solidFill>
              </a:rPr>
              <a:t>, irradiancias).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Limpieza Automática:</a:t>
            </a:r>
            <a:r>
              <a:rPr sz="1700">
                <a:solidFill>
                  <a:srgbClr val="FBFCFD"/>
                </a:solidFill>
              </a:rPr>
              <a:t> Se descartaron registros nocturnos (</a:t>
            </a:r>
            <a:r>
              <a:rPr sz="1700" i="1">
                <a:solidFill>
                  <a:srgbClr val="FBFCFD"/>
                </a:solidFill>
              </a:rPr>
              <a:t>G</a:t>
            </a:r>
            <a:r>
              <a:rPr sz="1700">
                <a:solidFill>
                  <a:srgbClr val="FBFCFD"/>
                </a:solidFill>
              </a:rPr>
              <a:t> &lt; 10 W/m²) o incompletos, acelerando la simulación anual del recurso solar un 95%.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Filtro de Emulación Geográfica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Mapa de Emulación Hemisférica</a:t>
            </a:r>
          </a:p>
        </p:txBody>
      </p:sp>
      <p:pic>
        <p:nvPicPr>
          <p:cNvPr id="7" name="Picture 6" descr="geo_emulatio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4846320" cy="41148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69280" y="1097280"/>
            <a:ext cx="615665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33872" y="1188720"/>
            <a:ext cx="58823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Implementación del Filtro de Emulación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645920"/>
            <a:ext cx="5790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Inconsistencia Estacional (Florida → Atacama):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Los datos experimentales de NREL Cocoa [Marion et al., 2014] se midieron en el Hemisferio Norte. Simularlos directamente en el Hemisferio Sur crearía un desfase físico absurdo entre solsticios e inviernos térmicos.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Desfase Temporal (+6 Meses):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Se implementó un desplazamiento estacional exacto de +6 meses (+182 días). Así, el perfil de calor de Florida coincide coherentemente con el verano del Hemisferio Sur.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Traducción Espacial a Atacama: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Timestamp remapeado a 2026 con coordenadas de San Pedro de Atacama (Latitud −22.91° S, Longitud −68.20° W, Altitud 2400m) para calcular la inclinación óptima anual de </a:t>
            </a:r>
            <a:r>
              <a:rPr sz="1400" b="1">
                <a:solidFill>
                  <a:srgbClr val="FBFCFD"/>
                </a:solidFill>
              </a:rPr>
              <a:t>22.91° Norte</a:t>
            </a:r>
            <a:r>
              <a:rPr sz="1400">
                <a:solidFill>
                  <a:srgbClr val="FBFCFD"/>
                </a:solidFill>
              </a:rPr>
              <a:t> [Holmgren et al., 2018].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Alineación de Coordenadas: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Ajuste del ángulo cenital y azimutal en pvlib para simular una captación fotovoltaica impecable sin sombras locales.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Simulación del Perfil Térmico y Pérdidas Ópticas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Transposición de Recurso y Modificadores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Modelo de Perez:</a:t>
            </a:r>
            <a:r>
              <a:rPr sz="1600">
                <a:solidFill>
                  <a:srgbClr val="FBFCFD"/>
                </a:solidFill>
              </a:rPr>
              <a:t> Ejecución del algoritmo [Perez et al., 1990] en pvlib para calcular la irradiancia total en el Plano del Arreglo (</a:t>
            </a:r>
            <a:r>
              <a:rPr sz="1600" i="1">
                <a:solidFill>
                  <a:srgbClr val="FBFCFD"/>
                </a:solidFill>
              </a:rPr>
              <a:t>G</a:t>
            </a:r>
            <a:r>
              <a:rPr sz="1200" i="1">
                <a:solidFill>
                  <a:srgbClr val="FBFCFD"/>
                </a:solidFill>
              </a:rPr>
              <a:t>poa</a:t>
            </a:r>
            <a:r>
              <a:rPr sz="1600">
                <a:solidFill>
                  <a:srgbClr val="FBFCFD"/>
                </a:solidFill>
              </a:rPr>
              <a:t>). *(Ecuación en Anexo I, Lámina 19)*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Modificador IAM:</a:t>
            </a:r>
            <a:r>
              <a:rPr sz="1600">
                <a:solidFill>
                  <a:srgbClr val="FBFCFD"/>
                </a:solidFill>
              </a:rPr>
              <a:t> Pérdidas por reflexión en el cristal basadas en la Ley de Snell y Bouguer [King et al., 2004] (espesor 2mm, índice refracción 1.526). *(Fórmulas en Anexo II, Lámina 20)*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Modificador Espectral (AM):</a:t>
            </a:r>
            <a:r>
              <a:rPr sz="1600">
                <a:solidFill>
                  <a:srgbClr val="FBFCFD"/>
                </a:solidFill>
              </a:rPr>
              <a:t> Corrección empírica de masa de aire de cuarto orden [King et al., 2004] según la elevación del sol. *(Fórmula en Anexo II, Lámina 20)*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Estimación de Temperatura Sandia (SAPM)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Modelación Tc:</a:t>
            </a:r>
            <a:r>
              <a:rPr sz="1600">
                <a:solidFill>
                  <a:srgbClr val="FBFCFD"/>
                </a:solidFill>
              </a:rPr>
              <a:t> Estimación dinámica de la temperatura de celda (</a:t>
            </a:r>
            <a:r>
              <a:rPr sz="1600" i="1">
                <a:solidFill>
                  <a:srgbClr val="FBFCFD"/>
                </a:solidFill>
              </a:rPr>
              <a:t>T</a:t>
            </a:r>
            <a:r>
              <a:rPr sz="1200" i="1">
                <a:solidFill>
                  <a:srgbClr val="FBFCFD"/>
                </a:solidFill>
              </a:rPr>
              <a:t>c</a:t>
            </a:r>
            <a:r>
              <a:rPr sz="1600">
                <a:solidFill>
                  <a:srgbClr val="FBFCFD"/>
                </a:solidFill>
              </a:rPr>
              <a:t>) usando coeficientes empíricos de encapsulado del modelo de Sandia [King et al., 2004]. *(Fórmula en Anexo III, Lámina 21)*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Asunciones Justificadas en Atacama: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  1. </a:t>
            </a:r>
            <a:r>
              <a:rPr sz="1600" b="1">
                <a:solidFill>
                  <a:srgbClr val="FBFCFD"/>
                </a:solidFill>
              </a:rPr>
              <a:t>Velocidad del Viento:</a:t>
            </a:r>
            <a:r>
              <a:rPr sz="1600">
                <a:solidFill>
                  <a:srgbClr val="FBFCFD"/>
                </a:solidFill>
              </a:rPr>
              <a:t> Fijada constante en </a:t>
            </a:r>
            <a:r>
              <a:rPr sz="1600" b="1">
                <a:solidFill>
                  <a:srgbClr val="FBFCFD"/>
                </a:solidFill>
              </a:rPr>
              <a:t>1 m/s</a:t>
            </a:r>
            <a:r>
              <a:rPr sz="1600">
                <a:solidFill>
                  <a:srgbClr val="FBFCFD"/>
                </a:solidFill>
              </a:rPr>
              <a:t> (valor conservador de diseño que minimiza pérdidas por convección artificial).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  2. </a:t>
            </a:r>
            <a:r>
              <a:rPr sz="1600" b="1">
                <a:solidFill>
                  <a:srgbClr val="FBFCFD"/>
                </a:solidFill>
              </a:rPr>
              <a:t>Reflectancia del Suelo (Albedo):</a:t>
            </a:r>
            <a:r>
              <a:rPr sz="1600">
                <a:solidFill>
                  <a:srgbClr val="FBFCFD"/>
                </a:solidFill>
              </a:rPr>
              <a:t> Fijada en </a:t>
            </a:r>
            <a:r>
              <a:rPr sz="1600" b="1">
                <a:solidFill>
                  <a:srgbClr val="FBFCFD"/>
                </a:solidFill>
              </a:rPr>
              <a:t>0.20</a:t>
            </a:r>
            <a:r>
              <a:rPr sz="1600">
                <a:solidFill>
                  <a:srgbClr val="FBFCFD"/>
                </a:solidFill>
              </a:rPr>
              <a:t> (suelo arenoso/árido típico del desierto de Atacama).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Metodología de Extracción de Parámetros en STC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Desafío de Datasheet y Algoritmo Experimental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El Problema:</a:t>
            </a:r>
            <a:r>
              <a:rPr sz="1700">
                <a:solidFill>
                  <a:srgbClr val="FBFCFD"/>
                </a:solidFill>
              </a:rPr>
              <a:t> La base experimental Cocoa usa códigos internos del NREL (`mSi0166`, `HIT05667`) que no figuran directamente en datasheets comerciales estándar.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Solución: Extracción en STC:</a:t>
            </a:r>
            <a:r>
              <a:rPr sz="1700">
                <a:solidFill>
                  <a:srgbClr val="FBFCFD"/>
                </a:solidFill>
              </a:rPr>
              <a:t> Se diseñó un algoritmo para caracterizar las propiedades nominales directamente desde la base de datos experimental minutal [De Soto et al., 2006].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• </a:t>
            </a:r>
            <a:r>
              <a:rPr sz="1700" b="1">
                <a:solidFill>
                  <a:srgbClr val="FBFCFD"/>
                </a:solidFill>
              </a:rPr>
              <a:t>Condiciones de Referencia (SRC):</a:t>
            </a:r>
            <a:r>
              <a:rPr sz="1700">
                <a:solidFill>
                  <a:srgbClr val="FBFCFD"/>
                </a:solidFill>
              </a:rPr>
              <a:t> Se filtraron mediciones instantáneas bajo condiciones estándar (</a:t>
            </a:r>
            <a:r>
              <a:rPr sz="1700" i="1">
                <a:solidFill>
                  <a:srgbClr val="FBFCFD"/>
                </a:solidFill>
              </a:rPr>
              <a:t>G</a:t>
            </a:r>
            <a:r>
              <a:rPr sz="1700">
                <a:solidFill>
                  <a:srgbClr val="FBFCFD"/>
                </a:solidFill>
              </a:rPr>
              <a:t> ≈ 1000 W/m² y temperatura de celda </a:t>
            </a:r>
            <a:r>
              <a:rPr sz="1700" i="1">
                <a:solidFill>
                  <a:srgbClr val="FBFCFD"/>
                </a:solidFill>
              </a:rPr>
              <a:t>T</a:t>
            </a:r>
            <a:r>
              <a:rPr sz="1300" i="1">
                <a:solidFill>
                  <a:srgbClr val="FBFCFD"/>
                </a:solidFill>
              </a:rPr>
              <a:t>c</a:t>
            </a:r>
            <a:r>
              <a:rPr sz="1700">
                <a:solidFill>
                  <a:srgbClr val="FBFCFD"/>
                </a:solidFill>
              </a:rPr>
              <a:t> ≈ 25°C).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Cálculo Experimental de Coeficientes Térmicos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Coeficientes Térmicos</a:t>
            </a:r>
            <a:r>
              <a:rPr sz="1600">
                <a:solidFill>
                  <a:srgbClr val="FBFCFD"/>
                </a:solidFill>
              </a:rPr>
              <a:t> (</a:t>
            </a:r>
            <a:r>
              <a:rPr sz="1600" i="1">
                <a:solidFill>
                  <a:srgbClr val="FBFCFD"/>
                </a:solidFill>
              </a:rPr>
              <a:t>α</a:t>
            </a:r>
            <a:r>
              <a:rPr sz="1200" i="1">
                <a:solidFill>
                  <a:srgbClr val="FBFCFD"/>
                </a:solidFill>
              </a:rPr>
              <a:t>Isc</a:t>
            </a:r>
            <a:r>
              <a:rPr sz="1600">
                <a:solidFill>
                  <a:srgbClr val="FBFCFD"/>
                </a:solidFill>
              </a:rPr>
              <a:t> y </a:t>
            </a:r>
            <a:r>
              <a:rPr sz="1600" i="1">
                <a:solidFill>
                  <a:srgbClr val="FBFCFD"/>
                </a:solidFill>
              </a:rPr>
              <a:t>β</a:t>
            </a:r>
            <a:r>
              <a:rPr sz="1200" i="1">
                <a:solidFill>
                  <a:srgbClr val="FBFCFD"/>
                </a:solidFill>
              </a:rPr>
              <a:t>Voc</a:t>
            </a:r>
            <a:r>
              <a:rPr sz="1600">
                <a:solidFill>
                  <a:srgbClr val="FBFCFD"/>
                </a:solidFill>
              </a:rPr>
              <a:t>):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  Calculados directamente de los datos usando regresiones lineales en periodos estables y de alta radiación (</a:t>
            </a:r>
            <a:r>
              <a:rPr sz="1600" i="1">
                <a:solidFill>
                  <a:srgbClr val="FBFCFD"/>
                </a:solidFill>
              </a:rPr>
              <a:t>G</a:t>
            </a:r>
            <a:r>
              <a:rPr sz="1600">
                <a:solidFill>
                  <a:srgbClr val="FBFCFD"/>
                </a:solidFill>
              </a:rPr>
              <a:t> &gt; 800 W/m²).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Normalización y Consistencia [De Soto et al., 2006]: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  La corriente de cortocircuito se normalizó por irradiancia efectiva para aislar el coeficiente de ganancia térmica pura y asegurar consistencia paramétrica.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Ajuste Numérico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El Sistema de Ajuste Trascendental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Formulación Matemática:</a:t>
            </a:r>
            <a:r>
              <a:rPr sz="1600">
                <a:solidFill>
                  <a:srgbClr val="FBFCFD"/>
                </a:solidFill>
              </a:rPr>
              <a:t> Ecuaciones del modelo SDM de 5 parámetros planteadas en STC para cortocircuito, circuito abierto y máxima potencia [De Soto et al., 2006]. *(Ecuación en Anexo IV, Lámina 22)*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Optimización de Mínimos Cuadrados:</a:t>
            </a:r>
            <a:r>
              <a:rPr sz="1600">
                <a:solidFill>
                  <a:srgbClr val="FBFCFD"/>
                </a:solidFill>
              </a:rPr>
              <a:t> Resolución simultánea del sistema no lineal trascendental mediante scipy en Python para obtener los valores óptimos nominales.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Consistencia Física (Bounds):</a:t>
            </a:r>
            <a:r>
              <a:rPr sz="1600">
                <a:solidFill>
                  <a:srgbClr val="FBFCFD"/>
                </a:solidFill>
              </a:rPr>
              <a:t> Restricciones explícitas de resistencia serie mayor a cero (</a:t>
            </a:r>
            <a:r>
              <a:rPr sz="1600" i="1">
                <a:solidFill>
                  <a:srgbClr val="FBFCFD"/>
                </a:solidFill>
              </a:rPr>
              <a:t>R</a:t>
            </a:r>
            <a:r>
              <a:rPr sz="1200" i="1">
                <a:solidFill>
                  <a:srgbClr val="FBFCFD"/>
                </a:solidFill>
              </a:rPr>
              <a:t>s,ref</a:t>
            </a:r>
            <a:r>
              <a:rPr sz="1600">
                <a:solidFill>
                  <a:srgbClr val="FBFCFD"/>
                </a:solidFill>
              </a:rPr>
              <a:t> &gt; 0) y factor de idealidad </a:t>
            </a:r>
            <a:r>
              <a:rPr sz="1600" i="1">
                <a:solidFill>
                  <a:srgbClr val="FBFCFD"/>
                </a:solidFill>
              </a:rPr>
              <a:t>n</a:t>
            </a:r>
            <a:r>
              <a:rPr sz="1200" i="1">
                <a:solidFill>
                  <a:srgbClr val="FBFCFD"/>
                </a:solidFill>
              </a:rPr>
              <a:t>I</a:t>
            </a:r>
            <a:r>
              <a:rPr sz="1600">
                <a:solidFill>
                  <a:srgbClr val="FBFCFD"/>
                </a:solidFill>
              </a:rPr>
              <a:t> ∈ [1, 2] para garantizar sentido físico.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Resultados de Parámetros en STC Extraídos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m-Si (Silicio Monocristalino) [De Soto et al., 2006]: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  </a:t>
            </a:r>
            <a:r>
              <a:rPr sz="1600" i="1">
                <a:solidFill>
                  <a:srgbClr val="FBFCFD"/>
                </a:solidFill>
              </a:rPr>
              <a:t>I</a:t>
            </a:r>
            <a:r>
              <a:rPr sz="1200" i="1">
                <a:solidFill>
                  <a:srgbClr val="FBFCFD"/>
                </a:solidFill>
              </a:rPr>
              <a:t>L,ref</a:t>
            </a:r>
            <a:r>
              <a:rPr sz="1600">
                <a:solidFill>
                  <a:srgbClr val="FBFCFD"/>
                </a:solidFill>
              </a:rPr>
              <a:t> = 2.768 A  |  </a:t>
            </a:r>
            <a:r>
              <a:rPr sz="1600" i="1">
                <a:solidFill>
                  <a:srgbClr val="FBFCFD"/>
                </a:solidFill>
              </a:rPr>
              <a:t>I</a:t>
            </a:r>
            <a:r>
              <a:rPr sz="1200" i="1">
                <a:solidFill>
                  <a:srgbClr val="FBFCFD"/>
                </a:solidFill>
              </a:rPr>
              <a:t>0,ref</a:t>
            </a:r>
            <a:r>
              <a:rPr sz="1600">
                <a:solidFill>
                  <a:srgbClr val="FBFCFD"/>
                </a:solidFill>
              </a:rPr>
              <a:t> = 4.13 × 10⁻⁹ A  |  </a:t>
            </a:r>
            <a:r>
              <a:rPr sz="1600" i="1">
                <a:solidFill>
                  <a:srgbClr val="FBFCFD"/>
                </a:solidFill>
              </a:rPr>
              <a:t>R</a:t>
            </a:r>
            <a:r>
              <a:rPr sz="1200" i="1">
                <a:solidFill>
                  <a:srgbClr val="FBFCFD"/>
                </a:solidFill>
              </a:rPr>
              <a:t>s,ref</a:t>
            </a:r>
            <a:r>
              <a:rPr sz="1600">
                <a:solidFill>
                  <a:srgbClr val="FBFCFD"/>
                </a:solidFill>
              </a:rPr>
              <a:t> = 0.542 Ω  |  </a:t>
            </a:r>
            <a:r>
              <a:rPr sz="1600" i="1">
                <a:solidFill>
                  <a:srgbClr val="FBFCFD"/>
                </a:solidFill>
              </a:rPr>
              <a:t>R</a:t>
            </a:r>
            <a:r>
              <a:rPr sz="1200" i="1">
                <a:solidFill>
                  <a:srgbClr val="FBFCFD"/>
                </a:solidFill>
              </a:rPr>
              <a:t>sh,ref</a:t>
            </a:r>
            <a:r>
              <a:rPr sz="1600">
                <a:solidFill>
                  <a:srgbClr val="FBFCFD"/>
                </a:solidFill>
              </a:rPr>
              <a:t> = 352.4 Ω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HIT (Heterounión) [De Soto et al., 2006]: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  </a:t>
            </a:r>
            <a:r>
              <a:rPr sz="1600" i="1">
                <a:solidFill>
                  <a:srgbClr val="FBFCFD"/>
                </a:solidFill>
              </a:rPr>
              <a:t>I</a:t>
            </a:r>
            <a:r>
              <a:rPr sz="1200" i="1">
                <a:solidFill>
                  <a:srgbClr val="FBFCFD"/>
                </a:solidFill>
              </a:rPr>
              <a:t>L,ref</a:t>
            </a:r>
            <a:r>
              <a:rPr sz="1600">
                <a:solidFill>
                  <a:srgbClr val="FBFCFD"/>
                </a:solidFill>
              </a:rPr>
              <a:t> = 5.607 A  |  </a:t>
            </a:r>
            <a:r>
              <a:rPr sz="1600" i="1">
                <a:solidFill>
                  <a:srgbClr val="FBFCFD"/>
                </a:solidFill>
              </a:rPr>
              <a:t>I</a:t>
            </a:r>
            <a:r>
              <a:rPr sz="1200" i="1">
                <a:solidFill>
                  <a:srgbClr val="FBFCFD"/>
                </a:solidFill>
              </a:rPr>
              <a:t>0,ref</a:t>
            </a:r>
            <a:r>
              <a:rPr sz="1600">
                <a:solidFill>
                  <a:srgbClr val="FBFCFD"/>
                </a:solidFill>
              </a:rPr>
              <a:t> = 4.68 × 10⁻¹⁰ A  |  </a:t>
            </a:r>
            <a:r>
              <a:rPr sz="1600" i="1">
                <a:solidFill>
                  <a:srgbClr val="FBFCFD"/>
                </a:solidFill>
              </a:rPr>
              <a:t>R</a:t>
            </a:r>
            <a:r>
              <a:rPr sz="1200" i="1">
                <a:solidFill>
                  <a:srgbClr val="FBFCFD"/>
                </a:solidFill>
              </a:rPr>
              <a:t>s,ref</a:t>
            </a:r>
            <a:r>
              <a:rPr sz="1600">
                <a:solidFill>
                  <a:srgbClr val="FBFCFD"/>
                </a:solidFill>
              </a:rPr>
              <a:t> = 0.412 Ω  |  </a:t>
            </a:r>
            <a:r>
              <a:rPr sz="1600" i="1">
                <a:solidFill>
                  <a:srgbClr val="FBFCFD"/>
                </a:solidFill>
              </a:rPr>
              <a:t>R</a:t>
            </a:r>
            <a:r>
              <a:rPr sz="1200" i="1">
                <a:solidFill>
                  <a:srgbClr val="FBFCFD"/>
                </a:solidFill>
              </a:rPr>
              <a:t>sh,ref</a:t>
            </a:r>
            <a:r>
              <a:rPr sz="1600">
                <a:solidFill>
                  <a:srgbClr val="FBFCFD"/>
                </a:solidFill>
              </a:rPr>
              <a:t> = 612.8 Ω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Coherencia Física:</a:t>
            </a:r>
            <a:r>
              <a:rPr sz="1600">
                <a:solidFill>
                  <a:srgbClr val="FBFCFD"/>
                </a:solidFill>
              </a:rPr>
              <a:t> La corriente de saturación inversa (</a:t>
            </a:r>
            <a:r>
              <a:rPr sz="1600" i="1">
                <a:solidFill>
                  <a:srgbClr val="FBFCFD"/>
                </a:solidFill>
              </a:rPr>
              <a:t>I</a:t>
            </a:r>
            <a:r>
              <a:rPr sz="1200" i="1">
                <a:solidFill>
                  <a:srgbClr val="FBFCFD"/>
                </a:solidFill>
              </a:rPr>
              <a:t>0</a:t>
            </a:r>
            <a:r>
              <a:rPr sz="1600">
                <a:solidFill>
                  <a:srgbClr val="FBFCFD"/>
                </a:solidFill>
              </a:rPr>
              <a:t>) de HIT es un orden de magnitud inferior, demostrando su menor recombinación intrínseca por temperatura.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Procedimiento: Traslado Paramétrico y Simulación Minutal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Escalamiento Dinámico a Condiciones Reales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Traslado de De Soto:</a:t>
            </a:r>
            <a:r>
              <a:rPr sz="1600">
                <a:solidFill>
                  <a:srgbClr val="FBFCFD"/>
                </a:solidFill>
              </a:rPr>
              <a:t> Para cada intervalo de la simulación anual 2026, los 5 parámetros se escalaron a la irradiancia efectiva (</a:t>
            </a:r>
            <a:r>
              <a:rPr sz="1600" i="1">
                <a:solidFill>
                  <a:srgbClr val="FBFCFD"/>
                </a:solidFill>
              </a:rPr>
              <a:t>S</a:t>
            </a:r>
            <a:r>
              <a:rPr sz="1600">
                <a:solidFill>
                  <a:srgbClr val="FBFCFD"/>
                </a:solidFill>
              </a:rPr>
              <a:t>) y temperatura de celda (</a:t>
            </a:r>
            <a:r>
              <a:rPr sz="1600" i="1">
                <a:solidFill>
                  <a:srgbClr val="FBFCFD"/>
                </a:solidFill>
              </a:rPr>
              <a:t>T</a:t>
            </a:r>
            <a:r>
              <a:rPr sz="1200" i="1">
                <a:solidFill>
                  <a:srgbClr val="FBFCFD"/>
                </a:solidFill>
              </a:rPr>
              <a:t>c</a:t>
            </a:r>
            <a:r>
              <a:rPr sz="1600">
                <a:solidFill>
                  <a:srgbClr val="FBFCFD"/>
                </a:solidFill>
              </a:rPr>
              <a:t>) locales [De Soto et al., 2006]. *(Ecuaciones en Anexo VI, Lámina 24)*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Dependencia del Bandgap:</a:t>
            </a:r>
            <a:r>
              <a:rPr sz="1600">
                <a:solidFill>
                  <a:srgbClr val="FBFCFD"/>
                </a:solidFill>
              </a:rPr>
              <a:t> Variación térmica no lineal del bandgap de silicio (</a:t>
            </a:r>
            <a:r>
              <a:rPr sz="1600" i="1">
                <a:solidFill>
                  <a:srgbClr val="FBFCFD"/>
                </a:solidFill>
              </a:rPr>
              <a:t>E</a:t>
            </a:r>
            <a:r>
              <a:rPr sz="1200" i="1">
                <a:solidFill>
                  <a:srgbClr val="FBFCFD"/>
                </a:solidFill>
              </a:rPr>
              <a:t>g</a:t>
            </a:r>
            <a:r>
              <a:rPr sz="1600">
                <a:solidFill>
                  <a:srgbClr val="FBFCFD"/>
                </a:solidFill>
              </a:rPr>
              <a:t>) y factor de idealidad térmico (</a:t>
            </a:r>
            <a:r>
              <a:rPr sz="1600" i="1">
                <a:solidFill>
                  <a:srgbClr val="FBFCFD"/>
                </a:solidFill>
              </a:rPr>
              <a:t>a</a:t>
            </a:r>
            <a:r>
              <a:rPr sz="1600">
                <a:solidFill>
                  <a:srgbClr val="FBFCFD"/>
                </a:solidFill>
              </a:rPr>
              <a:t>).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Resistencias Shunt y Serie:</a:t>
            </a:r>
            <a:r>
              <a:rPr sz="1600">
                <a:solidFill>
                  <a:srgbClr val="FBFCFD"/>
                </a:solidFill>
              </a:rPr>
              <a:t> Resistencia paralelo inversamente proporcional a la irradiancia. Resistencia serie asumida constante según validaciones NIST [De Soto et al., 2006].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Resolución Implícita del Circuito (MPP)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Resolución Numérica:</a:t>
            </a:r>
            <a:r>
              <a:rPr sz="1600">
                <a:solidFill>
                  <a:srgbClr val="FBFCFD"/>
                </a:solidFill>
              </a:rPr>
              <a:t> Empleo del algoritmo implícito `calcparams_desoto` de pvlib [Holmgren et al., 2018] para obtener los parámetros en cada minuto.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Búsqueda del MPP:</a:t>
            </a:r>
            <a:r>
              <a:rPr sz="1600">
                <a:solidFill>
                  <a:srgbClr val="FBFCFD"/>
                </a:solidFill>
              </a:rPr>
              <a:t> Se resolvió la ecuación trascendental del diodo simple utilizando la función W de Lambert para ubicar el Punto de Máxima Potencia (</a:t>
            </a:r>
            <a:r>
              <a:rPr sz="1600" i="1">
                <a:solidFill>
                  <a:srgbClr val="FBFCFD"/>
                </a:solidFill>
              </a:rPr>
              <a:t>P</a:t>
            </a:r>
            <a:r>
              <a:rPr sz="1200" i="1">
                <a:solidFill>
                  <a:srgbClr val="FBFCFD"/>
                </a:solidFill>
              </a:rPr>
              <a:t>mp,SDM</a:t>
            </a:r>
            <a:r>
              <a:rPr sz="1600">
                <a:solidFill>
                  <a:srgbClr val="FBFCFD"/>
                </a:solidFill>
              </a:rPr>
              <a:t>).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Cómputo de Energía:</a:t>
            </a:r>
            <a:r>
              <a:rPr sz="1600">
                <a:solidFill>
                  <a:srgbClr val="FBFCFD"/>
                </a:solidFill>
              </a:rPr>
              <a:t> Integración temporal de la potencia útil minutal para consolidar la energía anual generada por cada panel.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d) Desarrollo y discusión: Recurso Solar y Perfil Térmico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630936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6035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Distribución de Temperatura de Celda</a:t>
            </a:r>
          </a:p>
        </p:txBody>
      </p:sp>
      <p:pic>
        <p:nvPicPr>
          <p:cNvPr id="7" name="Picture 6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5669280" cy="42519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949440" y="1097280"/>
            <a:ext cx="4876495" cy="146304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0" y="1097280"/>
            <a:ext cx="73152" cy="146304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4032" y="1188720"/>
            <a:ext cx="46021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Picos Térmicos Extremos de Celda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554480"/>
            <a:ext cx="4510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5E3A"/>
                </a:solidFill>
              </a:defRPr>
            </a:pPr>
            <a:r>
              <a:rPr sz="1600" b="1">
                <a:solidFill>
                  <a:srgbClr val="FF5E3A"/>
                </a:solidFill>
              </a:rPr>
              <a:t>65°C a 70°C</a:t>
            </a:r>
            <a:r>
              <a:rPr sz="1600" b="1">
                <a:solidFill>
                  <a:srgbClr val="FF5E3A"/>
                </a:solidFill>
              </a:rPr>
              <a:t> de temperatura operativa recurrente durante las horas del mediodía solar en Atacama.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0" y="2743200"/>
            <a:ext cx="4876495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49440" y="2743200"/>
            <a:ext cx="73152" cy="33832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14032" y="2834640"/>
            <a:ext cx="46021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Análisis Crítico de Resultados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200400"/>
            <a:ext cx="451073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Estrés Térmico Evidenciado:</a:t>
            </a:r>
            <a:r>
              <a:rPr sz="1300">
                <a:solidFill>
                  <a:srgbClr val="FBFCFD"/>
                </a:solidFill>
              </a:rPr>
              <a:t> La simulación térmica minutal revela temperaturas de celda operativas recurrentes muy por encima de STC.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Enfriamiento Convectivo Limitado:</a:t>
            </a:r>
            <a:r>
              <a:rPr sz="1300">
                <a:solidFill>
                  <a:srgbClr val="FBFCFD"/>
                </a:solidFill>
              </a:rPr>
              <a:t> Al asumir velocidad de viento conservadora de 1 m/s en SAPM [King et al., 2004], se modela el escenario de mayor estrés físico.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Consecuencia en Voltaje [De Soto et al., 2006]:</a:t>
            </a:r>
            <a:r>
              <a:rPr sz="1300">
                <a:solidFill>
                  <a:srgbClr val="FBFCFD"/>
                </a:solidFill>
              </a:rPr>
              <a:t> El calentamiento incrementa la corriente de saturación inversa (</a:t>
            </a:r>
            <a:r>
              <a:rPr sz="1300" i="1">
                <a:solidFill>
                  <a:srgbClr val="FBFCFD"/>
                </a:solidFill>
              </a:rPr>
              <a:t>I</a:t>
            </a:r>
            <a:r>
              <a:rPr sz="900" i="1">
                <a:solidFill>
                  <a:srgbClr val="FBFCFD"/>
                </a:solidFill>
              </a:rPr>
              <a:t>0</a:t>
            </a:r>
            <a:r>
              <a:rPr sz="1300">
                <a:solidFill>
                  <a:srgbClr val="FBFCFD"/>
                </a:solidFill>
              </a:rPr>
              <a:t>), deprimiendo la tensión de circuito abierto (</a:t>
            </a:r>
            <a:r>
              <a:rPr sz="1300" i="1">
                <a:solidFill>
                  <a:srgbClr val="FBFCFD"/>
                </a:solidFill>
              </a:rPr>
              <a:t>V</a:t>
            </a:r>
            <a:r>
              <a:rPr sz="900" i="1">
                <a:solidFill>
                  <a:srgbClr val="FBFCFD"/>
                </a:solidFill>
              </a:rPr>
              <a:t>oc</a:t>
            </a:r>
            <a:r>
              <a:rPr sz="1300">
                <a:solidFill>
                  <a:srgbClr val="FBFCFD"/>
                </a:solidFill>
              </a:rPr>
              <a:t>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d) Desarrollo y discusión: Validación del Modelo Eléctrico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603504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760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Validación: Potencia Medida vs. Simulada</a:t>
            </a:r>
          </a:p>
        </p:txBody>
      </p:sp>
      <p:pic>
        <p:nvPicPr>
          <p:cNvPr id="7" name="Picture 6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5486400" cy="41148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675120" y="1097280"/>
            <a:ext cx="5150815" cy="14630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097280"/>
            <a:ext cx="73152" cy="14630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39712" y="1188720"/>
            <a:ext cx="48764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Precisión del Modelo de 5 Parámetros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554480"/>
            <a:ext cx="47850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00D2FF"/>
                </a:solidFill>
              </a:defRPr>
            </a:pPr>
            <a:r>
              <a:rPr sz="1600" b="1">
                <a:solidFill>
                  <a:srgbClr val="00D2FF"/>
                </a:solidFill>
              </a:rPr>
              <a:t>R² &gt; 0.99</a:t>
            </a:r>
            <a:r>
              <a:rPr sz="1600" b="1">
                <a:solidFill>
                  <a:srgbClr val="00D2FF"/>
                </a:solidFill>
              </a:rPr>
              <a:t>  |  </a:t>
            </a:r>
            <a:r>
              <a:rPr sz="1600" b="1">
                <a:solidFill>
                  <a:srgbClr val="00D2FF"/>
                </a:solidFill>
              </a:rPr>
              <a:t>RMSE &lt; 5W</a:t>
            </a:r>
            <a:r>
              <a:rPr sz="1600" b="1">
                <a:solidFill>
                  <a:srgbClr val="00D2FF"/>
                </a:solidFill>
              </a:rPr>
              <a:t> de desviación minutal promedio bajo condiciones solares plenas.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2743200"/>
            <a:ext cx="5150815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0" y="2743200"/>
            <a:ext cx="73152" cy="33832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9712" y="2834640"/>
            <a:ext cx="48764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Métricas de Ajuste y Rigor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200400"/>
            <a:ext cx="478505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Fidelidad del Ajuste [De Soto et al., 2006]:</a:t>
            </a:r>
            <a:r>
              <a:rPr sz="1300">
                <a:solidFill>
                  <a:srgbClr val="FBFCFD"/>
                </a:solidFill>
              </a:rPr>
              <a:t> Coeficiente de determinación </a:t>
            </a:r>
            <a:r>
              <a:rPr sz="1300" i="1">
                <a:solidFill>
                  <a:srgbClr val="FBFCFD"/>
                </a:solidFill>
              </a:rPr>
              <a:t>R</a:t>
            </a:r>
            <a:r>
              <a:rPr sz="1300">
                <a:solidFill>
                  <a:srgbClr val="FBFCFD"/>
                </a:solidFill>
              </a:rPr>
              <a:t>² &gt; 0.99 en validación cruzada frente a datos medidos, confirmando la precisión del modelo en todo el espectro.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Desviación Minutal (RMSE):</a:t>
            </a:r>
            <a:r>
              <a:rPr sz="1300">
                <a:solidFill>
                  <a:srgbClr val="FBFCFD"/>
                </a:solidFill>
              </a:rPr>
              <a:t> Error cuadrático medio (</a:t>
            </a:r>
            <a:r>
              <a:rPr sz="1300" i="1">
                <a:solidFill>
                  <a:srgbClr val="FBFCFD"/>
                </a:solidFill>
              </a:rPr>
              <a:t>RMSE</a:t>
            </a:r>
            <a:r>
              <a:rPr sz="1300">
                <a:solidFill>
                  <a:srgbClr val="FBFCFD"/>
                </a:solidFill>
              </a:rPr>
              <a:t>) extremadamente bajo en periodos estables diurnos.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Zonas de Discrepancia:</a:t>
            </a:r>
            <a:r>
              <a:rPr sz="1300">
                <a:solidFill>
                  <a:srgbClr val="FBFCFD"/>
                </a:solidFill>
              </a:rPr>
              <a:t> Leve dispersión en irradiancias bajas por la idealización empírica de la resistencia shunt.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d) Desarrollo y discusión: Puntos Conflictuales y Acoplamiento Rs - 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Acoplamiento Rs - factor de idealidad (n)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Alta Correlación Paramétrica [De Soto et al., 2006]: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La resistencia serie (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) y el factor de idealidad del diodo (</a:t>
            </a:r>
            <a:r>
              <a:rPr sz="1400" i="1">
                <a:solidFill>
                  <a:srgbClr val="FBFCFD"/>
                </a:solidFill>
              </a:rPr>
              <a:t>n</a:t>
            </a:r>
            <a:r>
              <a:rPr sz="1400">
                <a:solidFill>
                  <a:srgbClr val="FBFCFD"/>
                </a:solidFill>
              </a:rPr>
              <a:t>) influyen de manera similar en la redondez de la curva </a:t>
            </a:r>
            <a:r>
              <a:rPr sz="1400" i="1">
                <a:solidFill>
                  <a:srgbClr val="FBFCFD"/>
                </a:solidFill>
              </a:rPr>
              <a:t>I</a:t>
            </a:r>
            <a:r>
              <a:rPr sz="1400">
                <a:solidFill>
                  <a:srgbClr val="FBFCFD"/>
                </a:solidFill>
              </a:rPr>
              <a:t>-</a:t>
            </a:r>
            <a:r>
              <a:rPr sz="1400" i="1">
                <a:solidFill>
                  <a:srgbClr val="FBFCFD"/>
                </a:solidFill>
              </a:rPr>
              <a:t>V</a:t>
            </a:r>
            <a:r>
              <a:rPr sz="1400">
                <a:solidFill>
                  <a:srgbClr val="FBFCFD"/>
                </a:solidFill>
              </a:rPr>
              <a:t> cerca del MPP.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Problema Matemático Mal Condicionado: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Múltiples combinaciones del par (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, </a:t>
            </a:r>
            <a:r>
              <a:rPr sz="1400" i="1">
                <a:solidFill>
                  <a:srgbClr val="FBFCFD"/>
                </a:solidFill>
              </a:rPr>
              <a:t>n</a:t>
            </a:r>
            <a:r>
              <a:rPr sz="1400">
                <a:solidFill>
                  <a:srgbClr val="FBFCFD"/>
                </a:solidFill>
              </a:rPr>
              <a:t>) pueden resultar en un ajuste idéntico de curvas con un error residual mínimo similar, perdiendo significado físico real.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Mitigación y Solución [De Soto et al., 2006]: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Se fijaron límites estrictos en el optimizador multivariable: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 &gt; 0  |  </a:t>
            </a:r>
            <a:r>
              <a:rPr sz="1400" i="1">
                <a:solidFill>
                  <a:srgbClr val="FBFCFD"/>
                </a:solidFill>
              </a:rPr>
              <a:t>n</a:t>
            </a:r>
            <a:r>
              <a:rPr sz="1400">
                <a:solidFill>
                  <a:srgbClr val="FBFCFD"/>
                </a:solidFill>
              </a:rPr>
              <a:t> ∈ [1.0, 2.0]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Esto evita la convergencia a soluciones matemáticamente correctas pero físicamente imposibles.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097280"/>
            <a:ext cx="615665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33872" y="1188720"/>
            <a:ext cx="58823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Limitaciones y Suposiciones del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645920"/>
            <a:ext cx="5790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Resistencia Shunt (_R_[_sh_]) e Irradiancia (_G_):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La relación 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sh</a:t>
            </a:r>
            <a:r>
              <a:rPr sz="1400">
                <a:solidFill>
                  <a:srgbClr val="FBFCFD"/>
                </a:solidFill>
              </a:rPr>
              <a:t> = 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sh,ref</a:t>
            </a:r>
            <a:r>
              <a:rPr sz="1400">
                <a:solidFill>
                  <a:srgbClr val="FBFCFD"/>
                </a:solidFill>
              </a:rPr>
              <a:t> · (</a:t>
            </a:r>
            <a:r>
              <a:rPr sz="1400" i="1">
                <a:solidFill>
                  <a:srgbClr val="FBFCFD"/>
                </a:solidFill>
              </a:rPr>
              <a:t>S</a:t>
            </a:r>
            <a:r>
              <a:rPr sz="1000" i="1">
                <a:solidFill>
                  <a:srgbClr val="FBFCFD"/>
                </a:solidFill>
              </a:rPr>
              <a:t>ref</a:t>
            </a:r>
            <a:r>
              <a:rPr sz="1400">
                <a:solidFill>
                  <a:srgbClr val="FBFCFD"/>
                </a:solidFill>
              </a:rPr>
              <a:t>/</a:t>
            </a:r>
            <a:r>
              <a:rPr sz="14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) es empírica. A muy baja irradiancia (amanecer/ocaso), puede sobreestimar la resistencia shunt.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*Impacto:* Despreciable en el PR anual, ya que esas horas representan una fracción mínima de la energía total.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_R_[_s_] Constante con la Temperatura: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Ignora el cambio de la resistividad del semiconductor con </a:t>
            </a:r>
            <a:r>
              <a:rPr sz="1400" i="1">
                <a:solidFill>
                  <a:srgbClr val="FBFCFD"/>
                </a:solidFill>
              </a:rPr>
              <a:t>T</a:t>
            </a:r>
            <a:r>
              <a:rPr sz="1000" i="1">
                <a:solidFill>
                  <a:srgbClr val="FBFCFD"/>
                </a:solidFill>
              </a:rPr>
              <a:t>c</a:t>
            </a:r>
            <a:r>
              <a:rPr sz="1400">
                <a:solidFill>
                  <a:srgbClr val="FBFCFD"/>
                </a:solidFill>
              </a:rPr>
              <a:t>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*Justificación:* De Soto (2006) validó que mantener 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 constante produce errores de potencia &lt; 2% frente a datos experimentales NIST.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Bandgap lineal con la Temperatura: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La relación del bandgap del Silicio con la temperatura se asume lineal, simplificando la ecuación real no lineal de Varshni.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*Impacto:* El error inducido es menor al 1% en el rango operacional (0°C a 70°C).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d) Desarrollo y discusión: Pérdidas Térmicas y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694944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6675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Normalización por Potencia Nominal</a:t>
            </a:r>
          </a:p>
        </p:txBody>
      </p:sp>
      <p:pic>
        <p:nvPicPr>
          <p:cNvPr id="7" name="Picture 6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217920" cy="369555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89520" y="1097280"/>
            <a:ext cx="4236415" cy="146304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0" y="1097280"/>
            <a:ext cx="73152" cy="146304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54112" y="1188720"/>
            <a:ext cx="39620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Coeficientes de Temperatura (</a:t>
            </a:r>
            <a:r>
              <a:rPr sz="1800" i="1" b="1">
                <a:solidFill>
                  <a:srgbClr val="F1C40F"/>
                </a:solidFill>
              </a:rPr>
              <a:t>P</a:t>
            </a:r>
            <a:r>
              <a:rPr sz="1400" i="1" b="1">
                <a:solidFill>
                  <a:srgbClr val="F1C40F"/>
                </a:solidFill>
              </a:rPr>
              <a:t>mp</a:t>
            </a:r>
            <a:r>
              <a:rPr sz="1800" b="1">
                <a:solidFill>
                  <a:srgbClr val="F1C40F"/>
                </a:solidFill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554480"/>
            <a:ext cx="3870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5E3A"/>
                </a:solidFill>
              </a:defRPr>
            </a:pPr>
            <a:r>
              <a:rPr sz="1500" b="1">
                <a:solidFill>
                  <a:srgbClr val="FF5E3A"/>
                </a:solidFill>
              </a:rPr>
              <a:t>m-Si:</a:t>
            </a:r>
            <a:r>
              <a:rPr sz="1500" b="1">
                <a:solidFill>
                  <a:srgbClr val="FF5E3A"/>
                </a:solidFill>
              </a:rPr>
              <a:t> −0.40 %/°C (Pérdidas severas)</a:t>
            </a:r>
          </a:p>
          <a:p>
            <a:pPr algn="l">
              <a:defRPr sz="1500">
                <a:solidFill>
                  <a:srgbClr val="FF5E3A"/>
                </a:solidFill>
              </a:defRPr>
            </a:pPr>
            <a:r>
              <a:rPr sz="1500" b="1">
                <a:solidFill>
                  <a:srgbClr val="FF5E3A"/>
                </a:solidFill>
              </a:rPr>
              <a:t>HIT:</a:t>
            </a:r>
            <a:r>
              <a:rPr sz="1500" b="1">
                <a:solidFill>
                  <a:srgbClr val="FF5E3A"/>
                </a:solidFill>
              </a:rPr>
              <a:t> −0.26 %/°C (Alta tolerancia)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89520" y="2743200"/>
            <a:ext cx="4236415" cy="338328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0" y="2743200"/>
            <a:ext cx="73152" cy="338328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54112" y="2834640"/>
            <a:ext cx="39620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Observación Científica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200400"/>
            <a:ext cx="387065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Heterounión (HIT - Naranja) [De Soto et al., 2006]:</a:t>
            </a:r>
            <a:r>
              <a:rPr sz="1300">
                <a:solidFill>
                  <a:srgbClr val="FBFCFD"/>
                </a:solidFill>
              </a:rPr>
              <a:t> Coeficiente de temperatura muy bajo, preservando una alta eficiencia de conversión a 65°C.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Silicio (m-Si - Azul) [De Soto et al., 2006]:</a:t>
            </a:r>
            <a:r>
              <a:rPr sz="1300">
                <a:solidFill>
                  <a:srgbClr val="FBFCFD"/>
                </a:solidFill>
              </a:rPr>
              <a:t> Descenso térmico pronunciado que penaliza la potencia generada durante el mediodía solar.</a:t>
            </a:r>
          </a:p>
          <a:p>
            <a:pPr algn="l">
              <a:defRPr sz="1300">
                <a:solidFill>
                  <a:srgbClr val="FBFCFD"/>
                </a:solidFill>
              </a:defRPr>
            </a:pPr>
          </a:p>
          <a:p>
            <a:pPr algn="l">
              <a:defRPr sz="1300">
                <a:solidFill>
                  <a:srgbClr val="FBFCFD"/>
                </a:solidFill>
              </a:defRPr>
            </a:pPr>
            <a:r>
              <a:rPr sz="1300">
                <a:solidFill>
                  <a:srgbClr val="FBFCFD"/>
                </a:solidFill>
              </a:rPr>
              <a:t>• </a:t>
            </a:r>
            <a:r>
              <a:rPr sz="1300" b="1">
                <a:solidFill>
                  <a:srgbClr val="FBFCFD"/>
                </a:solidFill>
              </a:rPr>
              <a:t>Consecuencia en PR Anual:</a:t>
            </a:r>
            <a:r>
              <a:rPr sz="1300">
                <a:solidFill>
                  <a:srgbClr val="FBFCFD"/>
                </a:solidFill>
              </a:rPr>
              <a:t> Explica mecánicamente la diferencia del Performance Ratio entre tecnologías. *(Ecuación de PR en Anexo VII, Lámina 25)*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d) Desarrollo y discusión: Veredicto Técnico y Económico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164592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164592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Veredicto de Performance Ratio (PR Anual)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22716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1C40F"/>
                </a:solidFill>
              </a:defRPr>
            </a:pPr>
            <a:r>
              <a:rPr sz="1600" b="1">
                <a:solidFill>
                  <a:srgbClr val="F1C40F"/>
                </a:solidFill>
              </a:rPr>
              <a:t>HIT (Heterounión): 86.92%</a:t>
            </a:r>
            <a:r>
              <a:rPr sz="1600" b="1">
                <a:solidFill>
                  <a:srgbClr val="F1C40F"/>
                </a:solidFill>
              </a:rPr>
              <a:t>  </a:t>
            </a:r>
          </a:p>
          <a:p>
            <a:pPr algn="l">
              <a:defRPr sz="1600">
                <a:solidFill>
                  <a:srgbClr val="F1C40F"/>
                </a:solidFill>
              </a:defRPr>
            </a:pPr>
            <a:r>
              <a:rPr sz="1600" b="1">
                <a:solidFill>
                  <a:srgbClr val="F1C40F"/>
                </a:solidFill>
              </a:rPr>
              <a:t>m-Si (Monocristalino): 84.53%</a:t>
            </a:r>
            <a:r>
              <a:rPr sz="1600" b="1">
                <a:solidFill>
                  <a:srgbClr val="F1C40F"/>
                </a:solidFill>
              </a:rPr>
              <a:t>  </a:t>
            </a:r>
          </a:p>
          <a:p>
            <a:pPr algn="l">
              <a:defRPr sz="1600">
                <a:solidFill>
                  <a:srgbClr val="F1C40F"/>
                </a:solidFill>
              </a:defRPr>
            </a:pPr>
            <a:r>
              <a:rPr sz="1600" b="1">
                <a:solidFill>
                  <a:srgbClr val="F1C40F"/>
                </a:solidFill>
              </a:rPr>
              <a:t>Ganancia Neta: +2.39%</a:t>
            </a:r>
            <a:r>
              <a:rPr sz="1600" b="1">
                <a:solidFill>
                  <a:srgbClr val="F1C40F"/>
                </a:solidFill>
              </a:rPr>
              <a:t> en PR anual.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926080"/>
            <a:ext cx="5592927" cy="32004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926080"/>
            <a:ext cx="73152" cy="3200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30175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Conclusión Técnica de Diseño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3280"/>
            <a:ext cx="522716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Superioridad Física [De Soto et al., 2006]: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HIT demuestra superioridad física indiscutible en Atacama. Su celda híbrida intrínsecamente resiste el calor amortiguando la caída de la tensión en circuito abierto (</a:t>
            </a:r>
            <a:r>
              <a:rPr sz="1400" i="1">
                <a:solidFill>
                  <a:srgbClr val="FBFCFD"/>
                </a:solidFill>
              </a:rPr>
              <a:t>V</a:t>
            </a:r>
            <a:r>
              <a:rPr sz="1000" i="1">
                <a:solidFill>
                  <a:srgbClr val="FBFCFD"/>
                </a:solidFill>
              </a:rPr>
              <a:t>oc</a:t>
            </a:r>
            <a:r>
              <a:rPr sz="1400">
                <a:solidFill>
                  <a:srgbClr val="FBFCFD"/>
                </a:solidFill>
              </a:rPr>
              <a:t>).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Estructura Híbrida:</a:t>
            </a:r>
            <a:r>
              <a:rPr sz="1400">
                <a:solidFill>
                  <a:srgbClr val="FBFCFD"/>
                </a:solidFill>
              </a:rPr>
              <a:t> Capas delgadas que atenúan recombinación de portadores debida a excitación térmica.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097280"/>
            <a:ext cx="5592927" cy="164592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097280"/>
            <a:ext cx="73152" cy="164592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Impacto Financiero (Planta de 100 MWp)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1554480"/>
            <a:ext cx="522716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5E3A"/>
                </a:solidFill>
              </a:defRPr>
            </a:pPr>
            <a:r>
              <a:rPr sz="1600" b="1">
                <a:solidFill>
                  <a:srgbClr val="FF5E3A"/>
                </a:solidFill>
              </a:rPr>
              <a:t>~6,000 MWh/año de generación adicional</a:t>
            </a:r>
            <a:r>
              <a:rPr sz="1600" b="1">
                <a:solidFill>
                  <a:srgbClr val="FF5E3A"/>
                </a:solidFill>
              </a:rPr>
              <a:t>  </a:t>
            </a:r>
          </a:p>
          <a:p>
            <a:pPr algn="l">
              <a:defRPr sz="1600">
                <a:solidFill>
                  <a:srgbClr val="FF5E3A"/>
                </a:solidFill>
              </a:defRPr>
            </a:pPr>
            <a:r>
              <a:rPr sz="1600" b="1">
                <a:solidFill>
                  <a:srgbClr val="FF5E3A"/>
                </a:solidFill>
              </a:rPr>
              <a:t>+USD 270,000 anuales</a:t>
            </a:r>
            <a:r>
              <a:rPr sz="1600" b="1">
                <a:solidFill>
                  <a:srgbClr val="FF5E3A"/>
                </a:solidFill>
              </a:rPr>
              <a:t> de facturación neta.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3007" y="2926080"/>
            <a:ext cx="5592927" cy="32004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7" y="2926080"/>
            <a:ext cx="73152" cy="32004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7599" y="30175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Análisis de Retorno de Inversión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3383280"/>
            <a:ext cx="5227167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Equivalencia Energética:</a:t>
            </a:r>
            <a:r>
              <a:rPr sz="1400">
                <a:solidFill>
                  <a:srgbClr val="FBFCFD"/>
                </a:solidFill>
              </a:rPr>
              <a:t> Cada +1% de PR equivale a ~2,500 MWh de energía extra anual en una planta comercial de 100 MWp.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Viabilidad en 25 Años:</a:t>
            </a:r>
            <a:r>
              <a:rPr sz="1400">
                <a:solidFill>
                  <a:srgbClr val="FBFCFD"/>
                </a:solidFill>
              </a:rPr>
              <a:t> Una mayor facturación neta de USD 270k anuales amortiza con holgura la inversión inicial (CAPEX) extra de paneles HIT frente a m-Si.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e) Conclusiones y propuestas de trabajos futuros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Conclusiones del Estudio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22716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1. </a:t>
            </a:r>
            <a:r>
              <a:rPr sz="1700" b="1">
                <a:solidFill>
                  <a:srgbClr val="FBFCFD"/>
                </a:solidFill>
              </a:rPr>
              <a:t>Fidelidad Metodológica:</a:t>
            </a:r>
            <a:r>
              <a:rPr sz="1700">
                <a:solidFill>
                  <a:srgbClr val="FBFCFD"/>
                </a:solidFill>
              </a:rPr>
              <a:t> La emulación geográfica y estacional por traslación temporal fue coherente, permitiendo simular Atacama con data de Cocoa.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2. </a:t>
            </a:r>
            <a:r>
              <a:rPr sz="1700" b="1">
                <a:solidFill>
                  <a:srgbClr val="FBFCFD"/>
                </a:solidFill>
              </a:rPr>
              <a:t>Ajuste Robusto:</a:t>
            </a:r>
            <a:r>
              <a:rPr sz="1700">
                <a:solidFill>
                  <a:srgbClr val="FBFCFD"/>
                </a:solidFill>
              </a:rPr>
              <a:t> El modelo De Soto de 5 parámetros reprodujo con alta precisión (</a:t>
            </a:r>
            <a:r>
              <a:rPr sz="1700" i="1">
                <a:solidFill>
                  <a:srgbClr val="FBFCFD"/>
                </a:solidFill>
              </a:rPr>
              <a:t>R</a:t>
            </a:r>
            <a:r>
              <a:rPr sz="1700">
                <a:solidFill>
                  <a:srgbClr val="FBFCFD"/>
                </a:solidFill>
              </a:rPr>
              <a:t>² &gt; 0.99) el comportamiento del circuito.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3. </a:t>
            </a:r>
            <a:r>
              <a:rPr sz="1700" b="1">
                <a:solidFill>
                  <a:srgbClr val="FBFCFD"/>
                </a:solidFill>
              </a:rPr>
              <a:t>HIT Vencedor:</a:t>
            </a:r>
            <a:r>
              <a:rPr sz="1700">
                <a:solidFill>
                  <a:srgbClr val="FBFCFD"/>
                </a:solidFill>
              </a:rPr>
              <a:t> HIT superó en 2.39% de PR a m-Si por su bajo coeficiente de temperatura de potencia.</a:t>
            </a:r>
          </a:p>
          <a:p>
            <a:pPr algn="l">
              <a:defRPr sz="1700">
                <a:solidFill>
                  <a:srgbClr val="FBFCFD"/>
                </a:solidFill>
              </a:defRPr>
            </a:pPr>
          </a:p>
          <a:p>
            <a:pPr algn="l">
              <a:defRPr sz="1700">
                <a:solidFill>
                  <a:srgbClr val="FBFCFD"/>
                </a:solidFill>
              </a:defRPr>
            </a:pPr>
            <a:r>
              <a:rPr sz="1700">
                <a:solidFill>
                  <a:srgbClr val="FBFCFD"/>
                </a:solidFill>
              </a:rPr>
              <a:t>4. </a:t>
            </a:r>
            <a:r>
              <a:rPr sz="1700" b="1">
                <a:solidFill>
                  <a:srgbClr val="FBFCFD"/>
                </a:solidFill>
              </a:rPr>
              <a:t>Recomendación:</a:t>
            </a:r>
            <a:r>
              <a:rPr sz="1700">
                <a:solidFill>
                  <a:srgbClr val="FBFCFD"/>
                </a:solidFill>
              </a:rPr>
              <a:t> HIT es técnicamente superior para plantas desérticas de alta irradiancia y alta temperatura.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Propuestas de Trabajos Futuros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1645920"/>
            <a:ext cx="522716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Integración de Bifacialidad:</a:t>
            </a:r>
            <a:r>
              <a:rPr sz="1600">
                <a:solidFill>
                  <a:srgbClr val="FBFCFD"/>
                </a:solidFill>
              </a:rPr>
              <a:t> Incorporar el aporte de la irradiancia reflejada (albedo desértico, </a:t>
            </a:r>
            <a:r>
              <a:rPr sz="1600" i="1">
                <a:solidFill>
                  <a:srgbClr val="FBFCFD"/>
                </a:solidFill>
              </a:rPr>
              <a:t>ρ</a:t>
            </a:r>
            <a:r>
              <a:rPr sz="1600">
                <a:solidFill>
                  <a:srgbClr val="FBFCFD"/>
                </a:solidFill>
              </a:rPr>
              <a:t> &gt; 0.25) en la cara posterior del módulo.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Pérdidas por Soiling:</a:t>
            </a:r>
            <a:r>
              <a:rPr sz="1600">
                <a:solidFill>
                  <a:srgbClr val="FBFCFD"/>
                </a:solidFill>
              </a:rPr>
              <a:t> Modelar la acumulación de polvo desértico en la superficie del cristal, factor de pérdida de rendimiento crítico en Atacama.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Estudio Espectral Avanzado:</a:t>
            </a:r>
            <a:r>
              <a:rPr sz="1600">
                <a:solidFill>
                  <a:srgbClr val="FBFCFD"/>
                </a:solidFill>
              </a:rPr>
              <a:t> Evaluar el efecto de la masa de aire sobre la eficiencia cuántica de la celda de heterounión.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b="1">
                <a:solidFill>
                  <a:srgbClr val="FBFCFD"/>
                </a:solidFill>
              </a:rPr>
              <a:t>Análisis de Doble Diodo:</a:t>
            </a:r>
            <a:r>
              <a:rPr sz="1600">
                <a:solidFill>
                  <a:srgbClr val="FBFCFD"/>
                </a:solidFill>
              </a:rPr>
              <a:t> Capturar los efectos de recombinación no ideal a baja irradiancia.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Referencias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F5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Referencias Bibliográficas Estructuradas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109441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1. De Soto, W., Klein, S.A., Beckman, W.A. (2006). "Improvement and validation of a model for photovoltaic array performance." Solar Energy 80 (2006) 78–88.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2. Sandia National Laboratories - Photovoltaic Array Performance Model (Sandia Report SAND2004-3535).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3. NREL Cocoa Dataset - Experimental Measurements for Model Validation.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4. pvlib-python Library documentation &amp; community contributors.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5. Marion, B. et al. (2014). "Cocoa, Florida Data Set for Validating PV Models." NREL Technical Report.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Agradecimientos al Departamento de Electrotecnia de la UTFSM.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I: Ecuaciones de Transposición y Absorción Solar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Transposición POA (Modelo de Perez)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Calcula la irradiancia incidente total en el plano inclinado del panel:</a:t>
            </a:r>
          </a:p>
        </p:txBody>
      </p:sp>
      <p:pic>
        <p:nvPicPr>
          <p:cNvPr id="8" name="Picture 7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4663440" cy="3185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292608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Donde: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G</a:t>
            </a:r>
            <a:r>
              <a:rPr sz="1100" i="1">
                <a:solidFill>
                  <a:srgbClr val="F1C40F"/>
                </a:solidFill>
              </a:rPr>
              <a:t>b</a:t>
            </a:r>
            <a:r>
              <a:rPr sz="1500">
                <a:solidFill>
                  <a:srgbClr val="F1C40F"/>
                </a:solidFill>
              </a:rPr>
              <a:t> / </a:t>
            </a:r>
            <a:r>
              <a:rPr sz="1500" i="1">
                <a:solidFill>
                  <a:srgbClr val="F1C40F"/>
                </a:solidFill>
              </a:rPr>
              <a:t>G</a:t>
            </a:r>
            <a:r>
              <a:rPr sz="1100" i="1">
                <a:solidFill>
                  <a:srgbClr val="F1C40F"/>
                </a:solidFill>
              </a:rPr>
              <a:t>d</a:t>
            </a:r>
            <a:r>
              <a:rPr sz="1500">
                <a:solidFill>
                  <a:srgbClr val="F1C40F"/>
                </a:solidFill>
              </a:rPr>
              <a:t> / </a:t>
            </a:r>
            <a:r>
              <a:rPr sz="1500" i="1">
                <a:solidFill>
                  <a:srgbClr val="F1C40F"/>
                </a:solidFill>
              </a:rPr>
              <a:t>G</a:t>
            </a:r>
            <a:r>
              <a:rPr sz="1500">
                <a:solidFill>
                  <a:srgbClr val="F1C40F"/>
                </a:solidFill>
              </a:rPr>
              <a:t>: Irradiancia directa, difusa y global (W/m²).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β</a:t>
            </a:r>
            <a:r>
              <a:rPr sz="1500">
                <a:solidFill>
                  <a:srgbClr val="F1C40F"/>
                </a:solidFill>
              </a:rPr>
              <a:t> (Tilt): Ángulo de inclinación del panel (22.91°).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ρ</a:t>
            </a:r>
            <a:r>
              <a:rPr sz="1500">
                <a:solidFill>
                  <a:srgbClr val="F1C40F"/>
                </a:solidFill>
              </a:rPr>
              <a:t> (Albedo): Reflectancia del suelo desértico (~0.20).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R</a:t>
            </a:r>
            <a:r>
              <a:rPr sz="1100" i="1">
                <a:solidFill>
                  <a:srgbClr val="F1C40F"/>
                </a:solidFill>
              </a:rPr>
              <a:t>beam</a:t>
            </a:r>
            <a:r>
              <a:rPr sz="1500">
                <a:solidFill>
                  <a:srgbClr val="F1C40F"/>
                </a:solidFill>
              </a:rPr>
              <a:t>: Factor de transposición geométrica directa.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1097280"/>
            <a:ext cx="615665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33872" y="1188720"/>
            <a:ext cx="58823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Absorción en Celda (Pérdidas Ópticas)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1554480"/>
            <a:ext cx="57908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Modela la radiación neta que penetra y es absorbida por la celda solar:</a:t>
            </a:r>
          </a:p>
        </p:txBody>
      </p:sp>
      <p:pic>
        <p:nvPicPr>
          <p:cNvPr id="14" name="Picture 13" descr="eq_506bad7002e524c24e9cb60bf8ff68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874519"/>
            <a:ext cx="2251076" cy="384048"/>
          </a:xfrm>
          <a:prstGeom prst="rect">
            <a:avLst/>
          </a:prstGeom>
        </p:spPr>
      </p:pic>
      <p:pic>
        <p:nvPicPr>
          <p:cNvPr id="15" name="Picture 14" descr="eq_c9e0e5966a79a53d7e6daf086af3f7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286000"/>
            <a:ext cx="2120992" cy="384048"/>
          </a:xfrm>
          <a:prstGeom prst="rect">
            <a:avLst/>
          </a:prstGeom>
        </p:spPr>
      </p:pic>
      <p:pic>
        <p:nvPicPr>
          <p:cNvPr id="16" name="Picture 15" descr="eq_678fcbf570fad393118f2ab814b440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2697480"/>
            <a:ext cx="2363204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52160" y="3337560"/>
            <a:ext cx="5790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Donde: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i="1">
                <a:solidFill>
                  <a:srgbClr val="FBFCFD"/>
                </a:solidFill>
              </a:rPr>
              <a:t>S</a:t>
            </a:r>
            <a:r>
              <a:rPr sz="1600">
                <a:solidFill>
                  <a:srgbClr val="FBFCFD"/>
                </a:solidFill>
              </a:rPr>
              <a:t> / </a:t>
            </a:r>
            <a:r>
              <a:rPr sz="1600" i="1">
                <a:solidFill>
                  <a:srgbClr val="FBFCFD"/>
                </a:solidFill>
              </a:rPr>
              <a:t>S</a:t>
            </a:r>
            <a:r>
              <a:rPr sz="1200" i="1">
                <a:solidFill>
                  <a:srgbClr val="FBFCFD"/>
                </a:solidFill>
              </a:rPr>
              <a:t>ref</a:t>
            </a:r>
            <a:r>
              <a:rPr sz="1600">
                <a:solidFill>
                  <a:srgbClr val="FBFCFD"/>
                </a:solidFill>
              </a:rPr>
              <a:t>: Irradiancia efectiva y de referencia (1000 W/m²).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</a:t>
            </a:r>
            <a:r>
              <a:rPr sz="1600" i="1">
                <a:solidFill>
                  <a:srgbClr val="FBFCFD"/>
                </a:solidFill>
              </a:rPr>
              <a:t>K</a:t>
            </a:r>
            <a:r>
              <a:rPr sz="1200" i="1">
                <a:solidFill>
                  <a:srgbClr val="FBFCFD"/>
                </a:solidFill>
              </a:rPr>
              <a:t>τα,b</a:t>
            </a:r>
            <a:r>
              <a:rPr sz="1600">
                <a:solidFill>
                  <a:srgbClr val="FBFCFD"/>
                </a:solidFill>
              </a:rPr>
              <a:t> / </a:t>
            </a:r>
            <a:r>
              <a:rPr sz="1600" i="1">
                <a:solidFill>
                  <a:srgbClr val="FBFCFD"/>
                </a:solidFill>
              </a:rPr>
              <a:t>K</a:t>
            </a:r>
            <a:r>
              <a:rPr sz="1200" i="1">
                <a:solidFill>
                  <a:srgbClr val="FBFCFD"/>
                </a:solidFill>
              </a:rPr>
              <a:t>τα,d</a:t>
            </a:r>
            <a:r>
              <a:rPr sz="1600">
                <a:solidFill>
                  <a:srgbClr val="FBFCFD"/>
                </a:solidFill>
              </a:rPr>
              <a:t> / </a:t>
            </a:r>
            <a:r>
              <a:rPr sz="1600" i="1">
                <a:solidFill>
                  <a:srgbClr val="FBFCFD"/>
                </a:solidFill>
              </a:rPr>
              <a:t>K</a:t>
            </a:r>
            <a:r>
              <a:rPr sz="1200" i="1">
                <a:solidFill>
                  <a:srgbClr val="FBFCFD"/>
                </a:solidFill>
              </a:rPr>
              <a:t>τα,g</a:t>
            </a:r>
            <a:r>
              <a:rPr sz="1600">
                <a:solidFill>
                  <a:srgbClr val="FBFCFD"/>
                </a:solidFill>
              </a:rPr>
              <a:t>: Modificadores por IAM para directa, difusa y albedo.</a:t>
            </a:r>
          </a:p>
          <a:p>
            <a:pPr algn="l">
              <a:defRPr sz="1600">
                <a:solidFill>
                  <a:srgbClr val="FBFCFD"/>
                </a:solidFill>
              </a:defRPr>
            </a:pPr>
            <a:r>
              <a:rPr sz="1600">
                <a:solidFill>
                  <a:srgbClr val="FBFCFD"/>
                </a:solidFill>
              </a:rPr>
              <a:t>• Modela las pérdidas ópticas reflectivas por ángulo de incidencia.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II: Ecuaciones de Modificadores Ópticos (IAM y Masa de Aire)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Modificador por Ángulo de Incidencia (IAM)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22716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Ecuación física basada en Ley de Snell y Bouguer:</a:t>
            </a:r>
          </a:p>
        </p:txBody>
      </p:sp>
      <p:pic>
        <p:nvPicPr>
          <p:cNvPr id="8" name="Picture 7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1234440" cy="411480"/>
          </a:xfrm>
          <a:prstGeom prst="rect">
            <a:avLst/>
          </a:prstGeom>
        </p:spPr>
      </p:pic>
      <p:pic>
        <p:nvPicPr>
          <p:cNvPr id="9" name="Picture 8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68880"/>
            <a:ext cx="4108233" cy="411480"/>
          </a:xfrm>
          <a:prstGeom prst="rect">
            <a:avLst/>
          </a:prstGeom>
        </p:spPr>
      </p:pic>
      <p:pic>
        <p:nvPicPr>
          <p:cNvPr id="10" name="Picture 9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1974028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3931920"/>
            <a:ext cx="522716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Donde: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θ</a:t>
            </a:r>
            <a:r>
              <a:rPr sz="1500">
                <a:solidFill>
                  <a:srgbClr val="F1C40F"/>
                </a:solidFill>
              </a:rPr>
              <a:t>: Ángulo de incidencia  |  </a:t>
            </a:r>
            <a:r>
              <a:rPr sz="1500" i="1">
                <a:solidFill>
                  <a:srgbClr val="F1C40F"/>
                </a:solidFill>
              </a:rPr>
              <a:t>n</a:t>
            </a:r>
            <a:r>
              <a:rPr sz="1500">
                <a:solidFill>
                  <a:srgbClr val="F1C40F"/>
                </a:solidFill>
              </a:rPr>
              <a:t> = 1.526 (Índice de refracción del vidrio).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K</a:t>
            </a:r>
            <a:r>
              <a:rPr sz="1500">
                <a:solidFill>
                  <a:srgbClr val="F1C40F"/>
                </a:solidFill>
              </a:rPr>
              <a:t> = 4 m⁻¹ (Extinción del vidrio)  |  </a:t>
            </a:r>
            <a:r>
              <a:rPr sz="1500" i="1">
                <a:solidFill>
                  <a:srgbClr val="F1C40F"/>
                </a:solidFill>
              </a:rPr>
              <a:t>L</a:t>
            </a:r>
            <a:r>
              <a:rPr sz="1500">
                <a:solidFill>
                  <a:srgbClr val="F1C40F"/>
                </a:solidFill>
              </a:rPr>
              <a:t> = 2 mm (Espesor del vidrio).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Modificador por Masa de Aire (AM)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1508760"/>
            <a:ext cx="522716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Corrige el desajuste del espectro según la atmósfera atravesada:</a:t>
            </a:r>
          </a:p>
        </p:txBody>
      </p:sp>
      <p:pic>
        <p:nvPicPr>
          <p:cNvPr id="16" name="Picture 15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7327" y="2148840"/>
            <a:ext cx="5029200" cy="333513"/>
          </a:xfrm>
          <a:prstGeom prst="rect">
            <a:avLst/>
          </a:prstGeom>
        </p:spPr>
      </p:pic>
      <p:pic>
        <p:nvPicPr>
          <p:cNvPr id="17" name="Picture 16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7" y="2834640"/>
            <a:ext cx="3687419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15887" y="3749039"/>
            <a:ext cx="522716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Donde: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i="1">
                <a:solidFill>
                  <a:srgbClr val="FBFCFD"/>
                </a:solidFill>
              </a:rPr>
              <a:t>AM</a:t>
            </a:r>
            <a:r>
              <a:rPr sz="1500">
                <a:solidFill>
                  <a:srgbClr val="FBFCFD"/>
                </a:solidFill>
              </a:rPr>
              <a:t>: Masa de aire absoluta  |  </a:t>
            </a:r>
            <a:r>
              <a:rPr sz="1500" i="1">
                <a:solidFill>
                  <a:srgbClr val="FBFCFD"/>
                </a:solidFill>
              </a:rPr>
              <a:t>θ</a:t>
            </a:r>
            <a:r>
              <a:rPr sz="1100" i="1">
                <a:solidFill>
                  <a:srgbClr val="FBFCFD"/>
                </a:solidFill>
              </a:rPr>
              <a:t>z</a:t>
            </a:r>
            <a:r>
              <a:rPr sz="1500">
                <a:solidFill>
                  <a:srgbClr val="FBFCFD"/>
                </a:solidFill>
              </a:rPr>
              <a:t>: Ángulo cenital del sol.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i="1">
                <a:solidFill>
                  <a:srgbClr val="FBFCFD"/>
                </a:solidFill>
              </a:rPr>
              <a:t>a</a:t>
            </a:r>
            <a:r>
              <a:rPr sz="1100" i="1">
                <a:solidFill>
                  <a:srgbClr val="FBFCFD"/>
                </a:solidFill>
              </a:rPr>
              <a:t>0</a:t>
            </a:r>
            <a:r>
              <a:rPr sz="1500">
                <a:solidFill>
                  <a:srgbClr val="FBFCFD"/>
                </a:solidFill>
              </a:rPr>
              <a:t> a </a:t>
            </a:r>
            <a:r>
              <a:rPr sz="1500" i="1">
                <a:solidFill>
                  <a:srgbClr val="FBFCFD"/>
                </a:solidFill>
              </a:rPr>
              <a:t>a</a:t>
            </a:r>
            <a:r>
              <a:rPr sz="1100" i="1">
                <a:solidFill>
                  <a:srgbClr val="FBFCFD"/>
                </a:solidFill>
              </a:rPr>
              <a:t>4</a:t>
            </a:r>
            <a:r>
              <a:rPr sz="1500">
                <a:solidFill>
                  <a:srgbClr val="FBFCFD"/>
                </a:solidFill>
              </a:rPr>
              <a:t>: Coeficientes empíricos espectrales de la celda.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i="1">
                <a:solidFill>
                  <a:srgbClr val="FBFCFD"/>
                </a:solidFill>
              </a:rPr>
              <a:t>M</a:t>
            </a:r>
            <a:r>
              <a:rPr sz="1100" i="1">
                <a:solidFill>
                  <a:srgbClr val="FBFCFD"/>
                </a:solidFill>
              </a:rPr>
              <a:t>ref</a:t>
            </a:r>
            <a:r>
              <a:rPr sz="1500">
                <a:solidFill>
                  <a:srgbClr val="FBFCFD"/>
                </a:solidFill>
              </a:rPr>
              <a:t>: Transmitancia espectral a condiciones de referencia (AM 1.5g).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III: Ecuaciones del Perfil Térmico (Modelo 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Ecuación de Sandia para Temperatura de Celda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La temperatura de la celda fotovoltaica se modela a partir del equilibrio térmico dinámico:</a:t>
            </a:r>
          </a:p>
        </p:txBody>
      </p:sp>
      <p:pic>
        <p:nvPicPr>
          <p:cNvPr id="7" name="Picture 6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5029200" cy="48124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3291840"/>
            <a:ext cx="4572000" cy="28346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383280"/>
            <a:ext cx="4297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49039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T</a:t>
            </a:r>
            <a:r>
              <a:rPr sz="1100" i="1">
                <a:solidFill>
                  <a:srgbClr val="F1C40F"/>
                </a:solidFill>
              </a:rPr>
              <a:t>c</a:t>
            </a:r>
            <a:r>
              <a:rPr sz="1500">
                <a:solidFill>
                  <a:srgbClr val="F1C40F"/>
                </a:solidFill>
              </a:rPr>
              <a:t> / </a:t>
            </a:r>
            <a:r>
              <a:rPr sz="1500" i="1">
                <a:solidFill>
                  <a:srgbClr val="F1C40F"/>
                </a:solidFill>
              </a:rPr>
              <a:t>T</a:t>
            </a:r>
            <a:r>
              <a:rPr sz="1100" i="1">
                <a:solidFill>
                  <a:srgbClr val="F1C40F"/>
                </a:solidFill>
              </a:rPr>
              <a:t>a</a:t>
            </a:r>
            <a:r>
              <a:rPr sz="1500">
                <a:solidFill>
                  <a:srgbClr val="F1C40F"/>
                </a:solidFill>
              </a:rPr>
              <a:t>: Temp. de celda y ambiental (°C).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G</a:t>
            </a:r>
            <a:r>
              <a:rPr sz="1100" i="1">
                <a:solidFill>
                  <a:srgbClr val="F1C40F"/>
                </a:solidFill>
              </a:rPr>
              <a:t>poa</a:t>
            </a:r>
            <a:r>
              <a:rPr sz="1500">
                <a:solidFill>
                  <a:srgbClr val="F1C40F"/>
                </a:solidFill>
              </a:rPr>
              <a:t>: Irradiancia total en plano de panel (W/m²).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v</a:t>
            </a:r>
            <a:r>
              <a:rPr sz="1100" i="1">
                <a:solidFill>
                  <a:srgbClr val="F1C40F"/>
                </a:solidFill>
              </a:rPr>
              <a:t>w</a:t>
            </a:r>
            <a:r>
              <a:rPr sz="1500">
                <a:solidFill>
                  <a:srgbClr val="F1C40F"/>
                </a:solidFill>
              </a:rPr>
              <a:t>: Velocidad de viento circundante (m/s).</a:t>
            </a:r>
          </a:p>
          <a:p>
            <a:pPr algn="l">
              <a:defRPr sz="1500">
                <a:solidFill>
                  <a:srgbClr val="F1C40F"/>
                </a:solidFill>
              </a:defRPr>
            </a:pPr>
            <a:r>
              <a:rPr sz="1500">
                <a:solidFill>
                  <a:srgbClr val="F1C40F"/>
                </a:solidFill>
              </a:rPr>
              <a:t>• </a:t>
            </a:r>
            <a:r>
              <a:rPr sz="1500" i="1">
                <a:solidFill>
                  <a:srgbClr val="F1C40F"/>
                </a:solidFill>
              </a:rPr>
              <a:t>a</a:t>
            </a:r>
            <a:r>
              <a:rPr sz="1500">
                <a:solidFill>
                  <a:srgbClr val="F1C40F"/>
                </a:solidFill>
              </a:rPr>
              <a:t>, </a:t>
            </a:r>
            <a:r>
              <a:rPr sz="1500" i="1">
                <a:solidFill>
                  <a:srgbClr val="F1C40F"/>
                </a:solidFill>
              </a:rPr>
              <a:t>b</a:t>
            </a:r>
            <a:r>
              <a:rPr sz="1500">
                <a:solidFill>
                  <a:srgbClr val="F1C40F"/>
                </a:solidFill>
              </a:rPr>
              <a:t>, </a:t>
            </a:r>
            <a:r>
              <a:rPr sz="1500" i="1">
                <a:solidFill>
                  <a:srgbClr val="F1C40F"/>
                </a:solidFill>
              </a:rPr>
              <a:t>ΔT</a:t>
            </a:r>
            <a:r>
              <a:rPr sz="1500">
                <a:solidFill>
                  <a:srgbClr val="F1C40F"/>
                </a:solidFill>
              </a:rPr>
              <a:t>: Parámetros empíricos de encapsulado.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0" y="3291840"/>
            <a:ext cx="6613855" cy="28346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0" y="3383280"/>
            <a:ext cx="6339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Coeficientes Empíricos Utilizados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749039"/>
            <a:ext cx="62480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Silicio Monocristalino (m-Si) — glass/polymer (marco estándar):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</a:t>
            </a:r>
            <a:r>
              <a:rPr sz="1400" i="1">
                <a:solidFill>
                  <a:srgbClr val="FBFCFD"/>
                </a:solidFill>
              </a:rPr>
              <a:t>a</a:t>
            </a:r>
            <a:r>
              <a:rPr sz="1400">
                <a:solidFill>
                  <a:srgbClr val="FBFCFD"/>
                </a:solidFill>
              </a:rPr>
              <a:t> = -3.56  |  </a:t>
            </a:r>
            <a:r>
              <a:rPr sz="1400" i="1">
                <a:solidFill>
                  <a:srgbClr val="FBFCFD"/>
                </a:solidFill>
              </a:rPr>
              <a:t>b</a:t>
            </a:r>
            <a:r>
              <a:rPr sz="1400">
                <a:solidFill>
                  <a:srgbClr val="FBFCFD"/>
                </a:solidFill>
              </a:rPr>
              <a:t> = -0.075  |  </a:t>
            </a:r>
            <a:r>
              <a:rPr sz="1400" i="1">
                <a:solidFill>
                  <a:srgbClr val="FBFCFD"/>
                </a:solidFill>
              </a:rPr>
              <a:t>ΔT</a:t>
            </a:r>
            <a:r>
              <a:rPr sz="1400">
                <a:solidFill>
                  <a:srgbClr val="FBFCFD"/>
                </a:solidFill>
              </a:rPr>
              <a:t> = 3.0 °C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b="1">
                <a:solidFill>
                  <a:srgbClr val="FBFCFD"/>
                </a:solidFill>
              </a:rPr>
              <a:t>Heterounión (HIT) — glass/glass (encapsulado térmico premium):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  </a:t>
            </a:r>
            <a:r>
              <a:rPr sz="1400" i="1">
                <a:solidFill>
                  <a:srgbClr val="FBFCFD"/>
                </a:solidFill>
              </a:rPr>
              <a:t>a</a:t>
            </a:r>
            <a:r>
              <a:rPr sz="1400">
                <a:solidFill>
                  <a:srgbClr val="FBFCFD"/>
                </a:solidFill>
              </a:rPr>
              <a:t> = -3.47  |  </a:t>
            </a:r>
            <a:r>
              <a:rPr sz="1400" i="1">
                <a:solidFill>
                  <a:srgbClr val="FBFCFD"/>
                </a:solidFill>
              </a:rPr>
              <a:t>b</a:t>
            </a:r>
            <a:r>
              <a:rPr sz="1400">
                <a:solidFill>
                  <a:srgbClr val="FBFCFD"/>
                </a:solidFill>
              </a:rPr>
              <a:t> = -0.059  |  </a:t>
            </a:r>
            <a:r>
              <a:rPr sz="1400" i="1">
                <a:solidFill>
                  <a:srgbClr val="FBFCFD"/>
                </a:solidFill>
              </a:rPr>
              <a:t>ΔT</a:t>
            </a:r>
            <a:r>
              <a:rPr sz="1400">
                <a:solidFill>
                  <a:srgbClr val="FBFCFD"/>
                </a:solidFill>
              </a:rPr>
              <a:t> = 3.0 °C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Estos coeficientes están validados empíricamente por el Sandia National Laboratories.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21/25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IV: Ecuaciones del Modelo Eléctrico de un Diodo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Ecuación Trascendental del Circuito Equivalente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Ecuación implícita de corriente del modelo de diodo simple con resistencias parásitas (Rs y Rsh):</a:t>
            </a:r>
          </a:p>
        </p:txBody>
      </p:sp>
      <p:pic>
        <p:nvPicPr>
          <p:cNvPr id="7" name="Picture 6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965960"/>
            <a:ext cx="4259669" cy="38404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3291840"/>
            <a:ext cx="4937760" cy="28346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383280"/>
            <a:ext cx="4663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Factor de Idealidad Térmico (a)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El factor de idealidad térmico se define formalmente como:</a:t>
            </a:r>
          </a:p>
        </p:txBody>
      </p:sp>
      <p:pic>
        <p:nvPicPr>
          <p:cNvPr id="11" name="Picture 10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1762055" cy="4389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8006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Donde:</a:t>
            </a:r>
          </a:p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• </a:t>
            </a:r>
            <a:r>
              <a:rPr sz="1400" i="1">
                <a:solidFill>
                  <a:srgbClr val="F1C40F"/>
                </a:solidFill>
              </a:rPr>
              <a:t>N</a:t>
            </a:r>
            <a:r>
              <a:rPr sz="1000" i="1">
                <a:solidFill>
                  <a:srgbClr val="F1C40F"/>
                </a:solidFill>
              </a:rPr>
              <a:t>s</a:t>
            </a:r>
            <a:r>
              <a:rPr sz="1400">
                <a:solidFill>
                  <a:srgbClr val="F1C40F"/>
                </a:solidFill>
              </a:rPr>
              <a:t>: Número de celdas en serie (m-Si: 36, HIT: 72).</a:t>
            </a:r>
          </a:p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• </a:t>
            </a:r>
            <a:r>
              <a:rPr sz="1400" i="1">
                <a:solidFill>
                  <a:srgbClr val="F1C40F"/>
                </a:solidFill>
              </a:rPr>
              <a:t>n</a:t>
            </a:r>
            <a:r>
              <a:rPr sz="1000" i="1">
                <a:solidFill>
                  <a:srgbClr val="F1C40F"/>
                </a:solidFill>
              </a:rPr>
              <a:t>I</a:t>
            </a:r>
            <a:r>
              <a:rPr sz="1400">
                <a:solidFill>
                  <a:srgbClr val="F1C40F"/>
                </a:solidFill>
              </a:rPr>
              <a:t>: Factor de idealidad del diodo (idealmente entre 1 y 2).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3291840"/>
            <a:ext cx="6248095" cy="28346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3383280"/>
            <a:ext cx="597377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Glosario de Parámetros Físicos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3657600"/>
            <a:ext cx="588233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i="1">
                <a:solidFill>
                  <a:srgbClr val="FBFCFD"/>
                </a:solidFill>
              </a:rPr>
              <a:t>I</a:t>
            </a:r>
            <a:r>
              <a:rPr sz="1400">
                <a:solidFill>
                  <a:srgbClr val="FBFCFD"/>
                </a:solidFill>
              </a:rPr>
              <a:t> / </a:t>
            </a:r>
            <a:r>
              <a:rPr sz="1400" i="1">
                <a:solidFill>
                  <a:srgbClr val="FBFCFD"/>
                </a:solidFill>
              </a:rPr>
              <a:t>V</a:t>
            </a:r>
            <a:r>
              <a:rPr sz="1400">
                <a:solidFill>
                  <a:srgbClr val="FBFCFD"/>
                </a:solidFill>
              </a:rPr>
              <a:t>: Corriente y voltaje de salida (A, V).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i="1">
                <a:solidFill>
                  <a:srgbClr val="FBFCFD"/>
                </a:solidFill>
              </a:rPr>
              <a:t>I</a:t>
            </a:r>
            <a:r>
              <a:rPr sz="1000" i="1">
                <a:solidFill>
                  <a:srgbClr val="FBFCFD"/>
                </a:solidFill>
              </a:rPr>
              <a:t>L</a:t>
            </a:r>
            <a:r>
              <a:rPr sz="1400">
                <a:solidFill>
                  <a:srgbClr val="FBFCFD"/>
                </a:solidFill>
              </a:rPr>
              <a:t>: Corriente fotogenerada por el efecto fotoeléctrico (A).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i="1">
                <a:solidFill>
                  <a:srgbClr val="FBFCFD"/>
                </a:solidFill>
              </a:rPr>
              <a:t>I</a:t>
            </a:r>
            <a:r>
              <a:rPr sz="1000" i="1">
                <a:solidFill>
                  <a:srgbClr val="FBFCFD"/>
                </a:solidFill>
              </a:rPr>
              <a:t>0</a:t>
            </a:r>
            <a:r>
              <a:rPr sz="1400">
                <a:solidFill>
                  <a:srgbClr val="FBFCFD"/>
                </a:solidFill>
              </a:rPr>
              <a:t>: Corriente de saturación inversa de la unión P-N (A).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</a:t>
            </a:r>
            <a:r>
              <a:rPr sz="1400">
                <a:solidFill>
                  <a:srgbClr val="FBFCFD"/>
                </a:solidFill>
              </a:rPr>
              <a:t> / </a:t>
            </a:r>
            <a:r>
              <a:rPr sz="1400" i="1">
                <a:solidFill>
                  <a:srgbClr val="FBFCFD"/>
                </a:solidFill>
              </a:rPr>
              <a:t>R</a:t>
            </a:r>
            <a:r>
              <a:rPr sz="1000" i="1">
                <a:solidFill>
                  <a:srgbClr val="FBFCFD"/>
                </a:solidFill>
              </a:rPr>
              <a:t>sh</a:t>
            </a:r>
            <a:r>
              <a:rPr sz="1400">
                <a:solidFill>
                  <a:srgbClr val="FBFCFD"/>
                </a:solidFill>
              </a:rPr>
              <a:t>: Resistencias parásitas en serie y paralelo (shunt) (Ω).</a:t>
            </a:r>
          </a:p>
          <a:p>
            <a:pPr algn="l">
              <a:defRPr sz="1400">
                <a:solidFill>
                  <a:srgbClr val="FBFCFD"/>
                </a:solidFill>
              </a:defRPr>
            </a:pPr>
            <a:r>
              <a:rPr sz="1400">
                <a:solidFill>
                  <a:srgbClr val="FBFCFD"/>
                </a:solidFill>
              </a:rPr>
              <a:t>• </a:t>
            </a:r>
            <a:r>
              <a:rPr sz="1400" i="1">
                <a:solidFill>
                  <a:srgbClr val="FBFCFD"/>
                </a:solidFill>
              </a:rPr>
              <a:t>k</a:t>
            </a:r>
            <a:r>
              <a:rPr sz="1400">
                <a:solidFill>
                  <a:srgbClr val="FBFCFD"/>
                </a:solidFill>
              </a:rPr>
              <a:t> / </a:t>
            </a:r>
            <a:r>
              <a:rPr sz="1400" i="1">
                <a:solidFill>
                  <a:srgbClr val="FBFCFD"/>
                </a:solidFill>
              </a:rPr>
              <a:t>q</a:t>
            </a:r>
            <a:r>
              <a:rPr sz="1400">
                <a:solidFill>
                  <a:srgbClr val="FBFCFD"/>
                </a:solidFill>
              </a:rPr>
              <a:t> / </a:t>
            </a:r>
            <a:r>
              <a:rPr sz="1400" i="1">
                <a:solidFill>
                  <a:srgbClr val="FBFCFD"/>
                </a:solidFill>
              </a:rPr>
              <a:t>T</a:t>
            </a:r>
            <a:r>
              <a:rPr sz="1000" i="1">
                <a:solidFill>
                  <a:srgbClr val="FBFCFD"/>
                </a:solidFill>
              </a:rPr>
              <a:t>c</a:t>
            </a:r>
            <a:r>
              <a:rPr sz="1400">
                <a:solidFill>
                  <a:srgbClr val="FBFCFD"/>
                </a:solidFill>
              </a:rPr>
              <a:t>: Constante de Boltzmann, carga elemental y temperatura de celda (K).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22/25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V: Ecuaciones de Extracción en STC y Derivada Analítica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4572000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4297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Ajuste en STC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Condiciones que determinan los 5 parámetros de referencia en STC (1000 W/m², 25°C):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1. Cortocircuito: 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500">
                <a:solidFill>
                  <a:srgbClr val="FBFCFD"/>
                </a:solidFill>
              </a:rPr>
              <a:t> = 0, 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500">
                <a:solidFill>
                  <a:srgbClr val="FBFCFD"/>
                </a:solidFill>
              </a:rPr>
              <a:t> = 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100" i="1">
                <a:solidFill>
                  <a:srgbClr val="FBFCFD"/>
                </a:solidFill>
              </a:rPr>
              <a:t>sc,ref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2. Circuito Abierto: 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500">
                <a:solidFill>
                  <a:srgbClr val="FBFCFD"/>
                </a:solidFill>
              </a:rPr>
              <a:t> = 0, 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500">
                <a:solidFill>
                  <a:srgbClr val="FBFCFD"/>
                </a:solidFill>
              </a:rPr>
              <a:t> = 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100" i="1">
                <a:solidFill>
                  <a:srgbClr val="FBFCFD"/>
                </a:solidFill>
              </a:rPr>
              <a:t>oc,ref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3. Máxima Potencia: 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500">
                <a:solidFill>
                  <a:srgbClr val="FBFCFD"/>
                </a:solidFill>
              </a:rPr>
              <a:t> = 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100" i="1">
                <a:solidFill>
                  <a:srgbClr val="FBFCFD"/>
                </a:solidFill>
              </a:rPr>
              <a:t>mp,ref</a:t>
            </a:r>
            <a:r>
              <a:rPr sz="1500">
                <a:solidFill>
                  <a:srgbClr val="FBFCFD"/>
                </a:solidFill>
              </a:rPr>
              <a:t>, 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500">
                <a:solidFill>
                  <a:srgbClr val="FBFCFD"/>
                </a:solidFill>
              </a:rPr>
              <a:t> = 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100" i="1">
                <a:solidFill>
                  <a:srgbClr val="FBFCFD"/>
                </a:solidFill>
              </a:rPr>
              <a:t>mp,ref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4. Derivada de Potencia en MPP (d</a:t>
            </a:r>
            <a:r>
              <a:rPr sz="1500" i="1">
                <a:solidFill>
                  <a:srgbClr val="FBFCFD"/>
                </a:solidFill>
              </a:rPr>
              <a:t>P</a:t>
            </a:r>
            <a:r>
              <a:rPr sz="1500">
                <a:solidFill>
                  <a:srgbClr val="FBFCFD"/>
                </a:solidFill>
              </a:rPr>
              <a:t>/d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500">
                <a:solidFill>
                  <a:srgbClr val="FBFCFD"/>
                </a:solidFill>
              </a:rPr>
              <a:t> = 0):</a:t>
            </a:r>
          </a:p>
        </p:txBody>
      </p:sp>
      <p:pic>
        <p:nvPicPr>
          <p:cNvPr id="8" name="Picture 7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08960"/>
            <a:ext cx="217356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88620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5. Coeficiente térmico experimental de </a:t>
            </a:r>
            <a:r>
              <a:rPr sz="1500" i="1">
                <a:solidFill>
                  <a:srgbClr val="FBFCFD"/>
                </a:solidFill>
              </a:rPr>
              <a:t>V</a:t>
            </a:r>
            <a:r>
              <a:rPr sz="1100" i="1">
                <a:solidFill>
                  <a:srgbClr val="FBFCFD"/>
                </a:solidFill>
              </a:rPr>
              <a:t>oc</a:t>
            </a:r>
            <a:r>
              <a:rPr sz="1500">
                <a:solidFill>
                  <a:srgbClr val="FBFCFD"/>
                </a:solidFill>
              </a:rPr>
              <a:t>:</a:t>
            </a:r>
          </a:p>
        </p:txBody>
      </p:sp>
      <p:pic>
        <p:nvPicPr>
          <p:cNvPr id="10" name="Picture 9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97680"/>
            <a:ext cx="1579746" cy="5943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12080" y="1097280"/>
            <a:ext cx="6613855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212080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1188720"/>
            <a:ext cx="6339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Derivada Analítica Completa en MPP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1554480"/>
            <a:ext cx="62480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Para la optimización, se derivó analíticamente la ecuación implícita en la zona del MPP:</a:t>
            </a:r>
          </a:p>
        </p:txBody>
      </p:sp>
      <p:pic>
        <p:nvPicPr>
          <p:cNvPr id="15" name="Picture 14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2194560"/>
            <a:ext cx="4002528" cy="6217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94960" y="2971800"/>
            <a:ext cx="6248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Donde los coeficientes internos del diodo se definen como:</a:t>
            </a:r>
          </a:p>
        </p:txBody>
      </p:sp>
      <p:pic>
        <p:nvPicPr>
          <p:cNvPr id="17" name="Picture 16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3383280"/>
            <a:ext cx="2413292" cy="502920"/>
          </a:xfrm>
          <a:prstGeom prst="rect">
            <a:avLst/>
          </a:prstGeom>
        </p:spPr>
      </p:pic>
      <p:pic>
        <p:nvPicPr>
          <p:cNvPr id="18" name="Picture 17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3977639"/>
            <a:ext cx="867047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23/25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VI: Ecuaciones de Escalamiento a Condiciones de Operación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50292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Corrientes y Factor de Idealidad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1. Corriente Fotogenerada (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100" i="1">
                <a:solidFill>
                  <a:srgbClr val="FBFCFD"/>
                </a:solidFill>
              </a:rPr>
              <a:t>L</a:t>
            </a:r>
            <a:r>
              <a:rPr sz="15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8" name="Picture 7" descr="eq_ff8bf6d291204b91b8f99a74fbb13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5029200" cy="4101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251460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2. Corriente de Saturación Inversa (</a:t>
            </a:r>
            <a:r>
              <a:rPr sz="1500" i="1">
                <a:solidFill>
                  <a:srgbClr val="FBFCFD"/>
                </a:solidFill>
              </a:rPr>
              <a:t>I</a:t>
            </a:r>
            <a:r>
              <a:rPr sz="1100" i="1">
                <a:solidFill>
                  <a:srgbClr val="FBFCFD"/>
                </a:solidFill>
              </a:rPr>
              <a:t>0</a:t>
            </a:r>
            <a:r>
              <a:rPr sz="15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0" name="Picture 9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34640"/>
            <a:ext cx="4083403" cy="5303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352044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3. Factor de Idealidad térmico (</a:t>
            </a:r>
            <a:r>
              <a:rPr sz="1500" i="1">
                <a:solidFill>
                  <a:srgbClr val="FBFCFD"/>
                </a:solidFill>
              </a:rPr>
              <a:t>a</a:t>
            </a:r>
            <a:r>
              <a:rPr sz="15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2" name="Picture 11" descr="eq_4d3e1415cb08b8bc20f12f74abe855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840480"/>
            <a:ext cx="108966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24/25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1097280"/>
            <a:ext cx="5592927" cy="502920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097280"/>
            <a:ext cx="73152" cy="50292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1188720"/>
            <a:ext cx="531860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Resistencias y Energía de Bandgap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7" y="155448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4. Resistencia Shunt (</a:t>
            </a:r>
            <a:r>
              <a:rPr sz="1500" i="1">
                <a:solidFill>
                  <a:srgbClr val="FBFCFD"/>
                </a:solidFill>
              </a:rPr>
              <a:t>R</a:t>
            </a:r>
            <a:r>
              <a:rPr sz="1100" i="1">
                <a:solidFill>
                  <a:srgbClr val="FBFCFD"/>
                </a:solidFill>
              </a:rPr>
              <a:t>sh</a:t>
            </a:r>
            <a:r>
              <a:rPr sz="15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18" name="Picture 17" descr="eq_41b6b711a3ee54ec226a0ceb62a105c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7327" y="1874519"/>
            <a:ext cx="2736281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15887" y="2514600"/>
            <a:ext cx="522716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5. Energía de Bandgap del Silicio (</a:t>
            </a:r>
            <a:r>
              <a:rPr sz="1500" i="1">
                <a:solidFill>
                  <a:srgbClr val="FBFCFD"/>
                </a:solidFill>
              </a:rPr>
              <a:t>E</a:t>
            </a:r>
            <a:r>
              <a:rPr sz="1100" i="1">
                <a:solidFill>
                  <a:srgbClr val="FBFCFD"/>
                </a:solidFill>
              </a:rPr>
              <a:t>g</a:t>
            </a:r>
            <a:r>
              <a:rPr sz="1500">
                <a:solidFill>
                  <a:srgbClr val="FBFCFD"/>
                </a:solidFill>
              </a:rPr>
              <a:t>):</a:t>
            </a:r>
          </a:p>
        </p:txBody>
      </p:sp>
      <p:pic>
        <p:nvPicPr>
          <p:cNvPr id="20" name="Picture 19" descr="eq_0ed50450f33c4ace764411b1918723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7" y="2834640"/>
            <a:ext cx="4082181" cy="502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15887" y="3520440"/>
            <a:ext cx="5227167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Suposiciones Físicas Justificadas: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i="1">
                <a:solidFill>
                  <a:srgbClr val="FBFCFD"/>
                </a:solidFill>
              </a:rPr>
              <a:t>R</a:t>
            </a:r>
            <a:r>
              <a:rPr sz="1100" i="1">
                <a:solidFill>
                  <a:srgbClr val="FBFCFD"/>
                </a:solidFill>
              </a:rPr>
              <a:t>s</a:t>
            </a:r>
            <a:r>
              <a:rPr sz="1500">
                <a:solidFill>
                  <a:srgbClr val="FBFCFD"/>
                </a:solidFill>
              </a:rPr>
              <a:t> Constante: Se asume </a:t>
            </a:r>
            <a:r>
              <a:rPr sz="1500" i="1">
                <a:solidFill>
                  <a:srgbClr val="FBFCFD"/>
                </a:solidFill>
              </a:rPr>
              <a:t>R</a:t>
            </a:r>
            <a:r>
              <a:rPr sz="1100" i="1">
                <a:solidFill>
                  <a:srgbClr val="FBFCFD"/>
                </a:solidFill>
              </a:rPr>
              <a:t>s</a:t>
            </a:r>
            <a:r>
              <a:rPr sz="1500">
                <a:solidFill>
                  <a:srgbClr val="FBFCFD"/>
                </a:solidFill>
              </a:rPr>
              <a:t> = </a:t>
            </a:r>
            <a:r>
              <a:rPr sz="1500" i="1">
                <a:solidFill>
                  <a:srgbClr val="FBFCFD"/>
                </a:solidFill>
              </a:rPr>
              <a:t>R</a:t>
            </a:r>
            <a:r>
              <a:rPr sz="1100" i="1">
                <a:solidFill>
                  <a:srgbClr val="FBFCFD"/>
                </a:solidFill>
              </a:rPr>
              <a:t>s,ref</a:t>
            </a:r>
            <a:r>
              <a:rPr sz="1500">
                <a:solidFill>
                  <a:srgbClr val="FBFCFD"/>
                </a:solidFill>
              </a:rPr>
              <a:t>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i="1">
                <a:solidFill>
                  <a:srgbClr val="FBFCFD"/>
                </a:solidFill>
              </a:rPr>
              <a:t>R</a:t>
            </a:r>
            <a:r>
              <a:rPr sz="1100" i="1">
                <a:solidFill>
                  <a:srgbClr val="FBFCFD"/>
                </a:solidFill>
              </a:rPr>
              <a:t>sh</a:t>
            </a:r>
            <a:r>
              <a:rPr sz="1500">
                <a:solidFill>
                  <a:srgbClr val="FBFCFD"/>
                </a:solidFill>
              </a:rPr>
              <a:t> Dependiente de G: Modelada inversamente proporcional a la irradiancia incidente efectiva </a:t>
            </a:r>
            <a:r>
              <a:rPr sz="1500" i="1">
                <a:solidFill>
                  <a:srgbClr val="FBFCFD"/>
                </a:solidFill>
              </a:rPr>
              <a:t>S</a:t>
            </a:r>
            <a:r>
              <a:rPr sz="1500">
                <a:solidFill>
                  <a:srgbClr val="FBFCFD"/>
                </a:solidFill>
              </a:rPr>
              <a:t>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i="1">
                <a:solidFill>
                  <a:srgbClr val="FBFCFD"/>
                </a:solidFill>
              </a:rPr>
              <a:t>E</a:t>
            </a:r>
            <a:r>
              <a:rPr sz="1100" i="1">
                <a:solidFill>
                  <a:srgbClr val="FBFCFD"/>
                </a:solidFill>
              </a:rPr>
              <a:t>g,ref</a:t>
            </a:r>
            <a:r>
              <a:rPr sz="1500">
                <a:solidFill>
                  <a:srgbClr val="FBFCFD"/>
                </a:solidFill>
              </a:rPr>
              <a:t> = 1.121 eV para el Silicio a 25°C.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24/25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1C40F"/>
                </a:solidFill>
              </a:defRPr>
            </a:pPr>
            <a:r>
              <a:rPr sz="2400" b="1">
                <a:solidFill>
                  <a:srgbClr val="F1C40F"/>
                </a:solidFill>
              </a:rPr>
              <a:t>Anexo VII: Ecuaciones para el Cálculo del Performance Ratio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24128"/>
            <a:ext cx="11460175" cy="18288"/>
          </a:xfrm>
          <a:prstGeom prst="rect">
            <a:avLst/>
          </a:prstGeom>
          <a:solidFill>
            <a:srgbClr val="FF5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73152" cy="201168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188720"/>
            <a:ext cx="111858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Ecuación de Rendimiento Global del PR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El Performance Ratio (</a:t>
            </a:r>
            <a:r>
              <a:rPr sz="1500" i="1">
                <a:solidFill>
                  <a:srgbClr val="FBFCFD"/>
                </a:solidFill>
              </a:rPr>
              <a:t>PR</a:t>
            </a:r>
            <a:r>
              <a:rPr sz="1500">
                <a:solidFill>
                  <a:srgbClr val="FBFCFD"/>
                </a:solidFill>
              </a:rPr>
              <a:t>) evalúa la eficiencia neta del sistema fotovoltaico frente a condiciones estándar de referencia:</a:t>
            </a:r>
          </a:p>
        </p:txBody>
      </p:sp>
      <p:pic>
        <p:nvPicPr>
          <p:cNvPr id="8" name="Picture 7" descr="eq_89f2913b946191ae2d2668e37f8cda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6620222" cy="6858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3291840"/>
            <a:ext cx="4754880" cy="2834640"/>
          </a:xfrm>
          <a:prstGeom prst="rect">
            <a:avLst/>
          </a:prstGeom>
          <a:solidFill>
            <a:srgbClr val="1F2833"/>
          </a:solidFill>
          <a:ln w="1270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3291840"/>
            <a:ext cx="73152" cy="28346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3383280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Glosario de Variables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49039"/>
            <a:ext cx="4389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• </a:t>
            </a:r>
            <a:r>
              <a:rPr sz="1400" i="1">
                <a:solidFill>
                  <a:srgbClr val="F1C40F"/>
                </a:solidFill>
              </a:rPr>
              <a:t>V</a:t>
            </a:r>
            <a:r>
              <a:rPr sz="1000" i="1">
                <a:solidFill>
                  <a:srgbClr val="F1C40F"/>
                </a:solidFill>
              </a:rPr>
              <a:t>mp,t</a:t>
            </a:r>
            <a:r>
              <a:rPr sz="1400">
                <a:solidFill>
                  <a:srgbClr val="F1C40F"/>
                </a:solidFill>
              </a:rPr>
              <a:t> / </a:t>
            </a:r>
            <a:r>
              <a:rPr sz="1400" i="1">
                <a:solidFill>
                  <a:srgbClr val="F1C40F"/>
                </a:solidFill>
              </a:rPr>
              <a:t>I</a:t>
            </a:r>
            <a:r>
              <a:rPr sz="1000" i="1">
                <a:solidFill>
                  <a:srgbClr val="F1C40F"/>
                </a:solidFill>
              </a:rPr>
              <a:t>mp,t</a:t>
            </a:r>
            <a:r>
              <a:rPr sz="1400">
                <a:solidFill>
                  <a:srgbClr val="F1C40F"/>
                </a:solidFill>
              </a:rPr>
              <a:t>: Tensión y corriente MPP horarias del SDM.</a:t>
            </a:r>
          </a:p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• </a:t>
            </a:r>
            <a:r>
              <a:rPr sz="1400" i="1">
                <a:solidFill>
                  <a:srgbClr val="F1C40F"/>
                </a:solidFill>
              </a:rPr>
              <a:t>P</a:t>
            </a:r>
            <a:r>
              <a:rPr sz="1000" i="1">
                <a:solidFill>
                  <a:srgbClr val="F1C40F"/>
                </a:solidFill>
              </a:rPr>
              <a:t>STC</a:t>
            </a:r>
            <a:r>
              <a:rPr sz="1400">
                <a:solidFill>
                  <a:srgbClr val="F1C40F"/>
                </a:solidFill>
              </a:rPr>
              <a:t>: Potencia nominal del panel en STC (m-Si: 46.68 W | HIT: 217.52 W).</a:t>
            </a:r>
          </a:p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• </a:t>
            </a:r>
            <a:r>
              <a:rPr sz="1400" i="1">
                <a:solidFill>
                  <a:srgbClr val="F1C40F"/>
                </a:solidFill>
              </a:rPr>
              <a:t>G</a:t>
            </a:r>
            <a:r>
              <a:rPr sz="1000" i="1">
                <a:solidFill>
                  <a:srgbClr val="F1C40F"/>
                </a:solidFill>
              </a:rPr>
              <a:t>poa,t</a:t>
            </a:r>
            <a:r>
              <a:rPr sz="1400">
                <a:solidFill>
                  <a:srgbClr val="F1C40F"/>
                </a:solidFill>
              </a:rPr>
              <a:t>: Irradiancia instantánea en el plano del panel (W/m²).</a:t>
            </a:r>
          </a:p>
          <a:p>
            <a:pPr algn="l">
              <a:defRPr sz="1400">
                <a:solidFill>
                  <a:srgbClr val="F1C40F"/>
                </a:solidFill>
              </a:defRPr>
            </a:pPr>
            <a:r>
              <a:rPr sz="1400">
                <a:solidFill>
                  <a:srgbClr val="F1C40F"/>
                </a:solidFill>
              </a:rPr>
              <a:t>• </a:t>
            </a:r>
            <a:r>
              <a:rPr sz="1400" i="1">
                <a:solidFill>
                  <a:srgbClr val="F1C40F"/>
                </a:solidFill>
              </a:rPr>
              <a:t>G</a:t>
            </a:r>
            <a:r>
              <a:rPr sz="1000" i="1">
                <a:solidFill>
                  <a:srgbClr val="F1C40F"/>
                </a:solidFill>
              </a:rPr>
              <a:t>ref</a:t>
            </a:r>
            <a:r>
              <a:rPr sz="1400">
                <a:solidFill>
                  <a:srgbClr val="F1C40F"/>
                </a:solidFill>
              </a:rPr>
              <a:t>: Irradiancia de referencia a condiciones STC (1000 W/m²).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94960" y="3291840"/>
            <a:ext cx="6430975" cy="2834640"/>
          </a:xfrm>
          <a:prstGeom prst="rect">
            <a:avLst/>
          </a:prstGeom>
          <a:solidFill>
            <a:srgbClr val="1F2833"/>
          </a:solidFill>
          <a:ln w="127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94960" y="3291840"/>
            <a:ext cx="73152" cy="28346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552" y="3383280"/>
            <a:ext cx="61566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1C40F"/>
                </a:solidFill>
              </a:defRPr>
            </a:pPr>
            <a:r>
              <a:rPr sz="1800" b="1">
                <a:solidFill>
                  <a:srgbClr val="F1C40F"/>
                </a:solidFill>
              </a:rPr>
              <a:t>Pérdidas Penalizadas por el PR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3749039"/>
            <a:ext cx="606521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Pérdidas Térmicas:</a:t>
            </a:r>
            <a:r>
              <a:rPr sz="1500">
                <a:solidFill>
                  <a:srgbClr val="FBFCFD"/>
                </a:solidFill>
              </a:rPr>
              <a:t> Caídas debidas a la elevada temperatura </a:t>
            </a:r>
            <a:r>
              <a:rPr sz="1500" i="1">
                <a:solidFill>
                  <a:srgbClr val="FBFCFD"/>
                </a:solidFill>
              </a:rPr>
              <a:t>T</a:t>
            </a:r>
            <a:r>
              <a:rPr sz="1100" i="1">
                <a:solidFill>
                  <a:srgbClr val="FBFCFD"/>
                </a:solidFill>
              </a:rPr>
              <a:t>c</a:t>
            </a:r>
            <a:r>
              <a:rPr sz="1500">
                <a:solidFill>
                  <a:srgbClr val="FBFCFD"/>
                </a:solidFill>
              </a:rPr>
              <a:t>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Pérdidas Ópticas:</a:t>
            </a:r>
            <a:r>
              <a:rPr sz="1500">
                <a:solidFill>
                  <a:srgbClr val="FBFCFD"/>
                </a:solidFill>
              </a:rPr>
              <a:t> Pérdidas reflectivas por ángulo de incidencia (IAM).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Pérdidas Espectrales:</a:t>
            </a:r>
            <a:r>
              <a:rPr sz="1500">
                <a:solidFill>
                  <a:srgbClr val="FBFCFD"/>
                </a:solidFill>
              </a:rPr>
              <a:t> Desajustes causados por la Masa de Aire (AM).</a:t>
            </a:r>
          </a:p>
          <a:p>
            <a:pPr algn="l">
              <a:defRPr sz="1500">
                <a:solidFill>
                  <a:srgbClr val="FBFCFD"/>
                </a:solidFill>
              </a:defRPr>
            </a:pPr>
            <a:r>
              <a:rPr sz="1500">
                <a:solidFill>
                  <a:srgbClr val="FBFCFD"/>
                </a:solidFill>
              </a:rPr>
              <a:t>• </a:t>
            </a:r>
            <a:r>
              <a:rPr sz="1500" b="1">
                <a:solidFill>
                  <a:srgbClr val="FBFCFD"/>
                </a:solidFill>
              </a:rPr>
              <a:t>Pérdidas Óhmicas:</a:t>
            </a:r>
            <a:r>
              <a:rPr sz="1500">
                <a:solidFill>
                  <a:srgbClr val="FBFCFD"/>
                </a:solidFill>
              </a:rPr>
              <a:t> Pérdidas resistivas en la resistencia serie </a:t>
            </a:r>
            <a:r>
              <a:rPr sz="1500" i="1">
                <a:solidFill>
                  <a:srgbClr val="FBFCFD"/>
                </a:solidFill>
              </a:rPr>
              <a:t>R</a:t>
            </a:r>
            <a:r>
              <a:rPr sz="1100" i="1">
                <a:solidFill>
                  <a:srgbClr val="FBFCFD"/>
                </a:solidFill>
              </a:rPr>
              <a:t>s</a:t>
            </a:r>
            <a:r>
              <a:rPr sz="1500">
                <a:solidFill>
                  <a:srgbClr val="FBFCFD"/>
                </a:solidFill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25/25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