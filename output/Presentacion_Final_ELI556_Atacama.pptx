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Fecha de presentación: Jueves, 11 de junio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a) Introducción al problema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Contexto: 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Irradiación Excepcional:</a:t>
            </a:r>
            <a:r>
              <a:rPr sz="1700">
                <a:solidFill>
                  <a:srgbClr val="FFFFFF"/>
                </a:solidFill>
              </a:rPr>
              <a:t> Irradiancia horizontal global (GHI) anual &gt; 2900 kWh/m² (máxima a nivel mundial).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Cielos Limpios:</a:t>
            </a:r>
            <a:r>
              <a:rPr sz="1700">
                <a:solidFill>
                  <a:srgbClr val="FFFFFF"/>
                </a:solidFill>
              </a:rPr>
              <a:t> Baja atenuación atmosférica e irradiancia directa muy concentrada.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Efecto de Altitud:</a:t>
            </a:r>
            <a:r>
              <a:rPr sz="1700">
                <a:solidFill>
                  <a:srgbClr val="FFFFFF"/>
                </a:solidFill>
              </a:rPr>
              <a:t> Mayor radiación directa y UV en zonas elevadas (&gt;= 2400 m.s.n.m.).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Estudio Geográfico:</a:t>
            </a:r>
            <a:r>
              <a:rPr sz="1700">
                <a:solidFill>
                  <a:srgbClr val="FFFFFF"/>
                </a:solidFill>
              </a:rPr>
              <a:t> Simulación localizada para San Pedro de Atacama (Latitud -22.91°, Longitud -68.20°).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Desafío: El Estrés Térmico de Operación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Calentamiento Severo:</a:t>
            </a:r>
            <a:r>
              <a:rPr sz="1700">
                <a:solidFill>
                  <a:srgbClr val="FFFFFF"/>
                </a:solidFill>
              </a:rPr>
              <a:t> Las celdas solares operan a temperaturas superiores a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Degradación Térmica:</a:t>
            </a:r>
            <a:r>
              <a:rPr sz="1700">
                <a:solidFill>
                  <a:srgbClr val="FFFFFF"/>
                </a:solidFill>
              </a:rPr>
              <a:t> La potencia máxima y el voltaje decaen con el incremento de la temperatura de celda (</a:t>
            </a:r>
            <a:r>
              <a:rPr sz="1700" i="1">
                <a:solidFill>
                  <a:srgbClr val="FFFFFF"/>
                </a:solidFill>
              </a:rPr>
              <a:t>T</a:t>
            </a:r>
            <a:r>
              <a:rPr sz="1700" i="1">
                <a:solidFill>
                  <a:srgbClr val="FFFFFF"/>
                </a:solidFill>
              </a:rPr>
              <a:t>c</a:t>
            </a:r>
            <a:r>
              <a:rPr sz="1700">
                <a:solidFill>
                  <a:srgbClr val="FFFFFF"/>
                </a:solidFill>
              </a:rPr>
              <a:t>).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Objetivo:</a:t>
            </a:r>
            <a:r>
              <a:rPr sz="1700">
                <a:solidFill>
                  <a:srgbClr val="FFFFFF"/>
                </a:solidFill>
              </a:rPr>
              <a:t> Modelar dinámicamente y comparar qué tecnología resiste de mejor manera este estrés térmico desértico durante el año calendario 2026.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b) Justificación e impacto (relevancia del tema):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Comparativa de Familias del Dataset Cocoa (NREL) y Criterio de Selección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(Película Delgada)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c) Marco referencial y revisión de literatura pertinente: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6692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Literatura Académica y Modelos Utilizados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Modelo de un Diodo Simple (SDM) [De Soto et al., 2006]: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Estructura circuital clásica que describe eléctricamente la celda. Incorpora las pérdidas óhmicas en serie (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) y las corrientes de fuga shunt (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). *(Ecuación en Anexo IV, Lámina 22)*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Modelo Térmico de Sandia (SAPM) [King et al., 2004]: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Estima dinámicamente la temperatura interna de la celda (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) a partir de la irradiancia incidente y el viento. *(Ecuación en Anexo III, Lámina 21)*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Modelo de Transposición de Perez (1990) [Perez et al., 1990]: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Traducción geométrica de irradiancia sobre plano inclinado, modelando el cielo difuso anisotrópico. *(Ecuación en Anexo I, Lámina 19)*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Algoritmo de Parámetros de De Soto (2006) [De Soto et al., 2006]: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Fórmulas para trasladar los parámetros desde STC a condiciones operacionales basándose en la energía de bandgap. *(Ecuaciones en Anexos V y VI, Láminas 23 y 24)*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097280"/>
            <a:ext cx="524225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0593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Circuito Equivalente de un Diodo (SDM)</a:t>
            </a:r>
          </a:p>
        </p:txBody>
      </p:sp>
      <p:pic>
        <p:nvPicPr>
          <p:cNvPr id="8" name="Picture 7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00200"/>
            <a:ext cx="5059375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Procedimiento: Metodología y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6692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y Simulación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FFFFF"/>
                </a:solidFill>
              </a:defRPr>
            </a:pPr>
            <a:r>
              <a:rPr sz="1300">
                <a:solidFill>
                  <a:srgbClr val="FFFFFF"/>
                </a:solidFill>
              </a:rPr>
              <a:t>• </a:t>
            </a:r>
            <a:r>
              <a:rPr sz="1300" b="1">
                <a:solidFill>
                  <a:srgbClr val="FFFFFF"/>
                </a:solidFill>
              </a:rPr>
              <a:t>Etapa 1: Ingesta de Datos (NREL Cocoa) [Marion et al., 2014]:</a:t>
            </a:r>
          </a:p>
          <a:p>
            <a:pPr algn="l">
              <a:defRPr sz="1300">
                <a:solidFill>
                  <a:srgbClr val="FFFFFF"/>
                </a:solidFill>
              </a:defRPr>
            </a:pPr>
            <a:r>
              <a:rPr sz="1300">
                <a:solidFill>
                  <a:srgbClr val="FFFFFF"/>
                </a:solidFill>
              </a:rPr>
              <a:t>  Extracción selectiva de variables de recurso solar y métricas de curvas I-V completas a partir del dataset experimental.</a:t>
            </a:r>
          </a:p>
          <a:p>
            <a:pPr algn="l">
              <a:defRPr sz="1300">
                <a:solidFill>
                  <a:srgbClr val="FFFFFF"/>
                </a:solidFill>
              </a:defRPr>
            </a:pPr>
          </a:p>
          <a:p>
            <a:pPr algn="l">
              <a:defRPr sz="1300">
                <a:solidFill>
                  <a:srgbClr val="FFFFFF"/>
                </a:solidFill>
              </a:defRPr>
            </a:pPr>
            <a:r>
              <a:rPr sz="1300">
                <a:solidFill>
                  <a:srgbClr val="FFFFFF"/>
                </a:solidFill>
              </a:rPr>
              <a:t>• </a:t>
            </a:r>
            <a:r>
              <a:rPr sz="1300" b="1">
                <a:solidFill>
                  <a:srgbClr val="FFFFFF"/>
                </a:solidFill>
              </a:rPr>
              <a:t>Etapa 2: Filtro de Emulación Geográfica:</a:t>
            </a:r>
          </a:p>
          <a:p>
            <a:pPr algn="l">
              <a:defRPr sz="1300">
                <a:solidFill>
                  <a:srgbClr val="FFFFFF"/>
                </a:solidFill>
              </a:defRPr>
            </a:pPr>
            <a:r>
              <a:rPr sz="1300">
                <a:solidFill>
                  <a:srgbClr val="FFFFFF"/>
                </a:solidFill>
              </a:rPr>
              <a:t>  Traslación espacial, proyección a 2026 y desfase estacional de +6 meses para alinear el clima del Hemisferio Sur.</a:t>
            </a:r>
          </a:p>
          <a:p>
            <a:pPr algn="l">
              <a:defRPr sz="1300">
                <a:solidFill>
                  <a:srgbClr val="FFFFFF"/>
                </a:solidFill>
              </a:defRPr>
            </a:pPr>
          </a:p>
          <a:p>
            <a:pPr algn="l">
              <a:defRPr sz="1300">
                <a:solidFill>
                  <a:srgbClr val="FFFFFF"/>
                </a:solidFill>
              </a:defRPr>
            </a:pPr>
            <a:r>
              <a:rPr sz="1300">
                <a:solidFill>
                  <a:srgbClr val="FFFFFF"/>
                </a:solidFill>
              </a:rPr>
              <a:t>• </a:t>
            </a:r>
            <a:r>
              <a:rPr sz="1300" b="1">
                <a:solidFill>
                  <a:srgbClr val="FFFFFF"/>
                </a:solidFill>
              </a:rPr>
              <a:t>Etapa 3: Modelamiento Físico y Ajuste Numérico:</a:t>
            </a:r>
          </a:p>
          <a:p>
            <a:pPr algn="l">
              <a:defRPr sz="1300">
                <a:solidFill>
                  <a:srgbClr val="FFFFFF"/>
                </a:solidFill>
              </a:defRPr>
            </a:pPr>
            <a:r>
              <a:rPr sz="1300">
                <a:solidFill>
                  <a:srgbClr val="FFFFFF"/>
                </a:solidFill>
              </a:rPr>
              <a:t>  Cálculo térmico de Sandia </a:t>
            </a:r>
            <a:r>
              <a:rPr sz="1300">
                <a:solidFill>
                  <a:srgbClr val="FFFFFF"/>
                </a:solidFill>
              </a:rPr>
              <a:t>King et al., 2004</a:t>
            </a:r>
            <a:r>
              <a:rPr sz="1300">
                <a:solidFill>
                  <a:srgbClr val="FFFFFF"/>
                </a:solidFill>
              </a:rPr>
              <a:t> y ajuste de mínimos cuadrados para obtener los 5 parámetros de De Soto </a:t>
            </a:r>
            <a:r>
              <a:rPr sz="1300">
                <a:solidFill>
                  <a:srgbClr val="FFFFFF"/>
                </a:solidFill>
              </a:rPr>
              <a:t>De Soto et al., 2006</a:t>
            </a:r>
            <a:r>
              <a:rPr sz="1300">
                <a:solidFill>
                  <a:srgbClr val="FFFFFF"/>
                </a:solidFill>
              </a:rPr>
              <a:t> en STC.</a:t>
            </a:r>
          </a:p>
          <a:p>
            <a:pPr algn="l">
              <a:defRPr sz="1300">
                <a:solidFill>
                  <a:srgbClr val="FFFFFF"/>
                </a:solidFill>
              </a:defRPr>
            </a:pPr>
          </a:p>
          <a:p>
            <a:pPr algn="l">
              <a:defRPr sz="1300">
                <a:solidFill>
                  <a:srgbClr val="FFFFFF"/>
                </a:solidFill>
              </a:defRPr>
            </a:pPr>
            <a:r>
              <a:rPr sz="1300">
                <a:solidFill>
                  <a:srgbClr val="FFFFFF"/>
                </a:solidFill>
              </a:rPr>
              <a:t>• </a:t>
            </a:r>
            <a:r>
              <a:rPr sz="1300" b="1">
                <a:solidFill>
                  <a:srgbClr val="FFFFFF"/>
                </a:solidFill>
              </a:rPr>
              <a:t>Etapa 4: Simulación Minutal de Operación:</a:t>
            </a:r>
          </a:p>
          <a:p>
            <a:pPr algn="l">
              <a:defRPr sz="1300">
                <a:solidFill>
                  <a:srgbClr val="FFFFFF"/>
                </a:solidFill>
              </a:defRPr>
            </a:pPr>
            <a:r>
              <a:rPr sz="1300">
                <a:solidFill>
                  <a:srgbClr val="FFFFFF"/>
                </a:solidFill>
              </a:rPr>
              <a:t>  Escalamiento dinámico de parámetros (Modelo De Soto) y resolución implícita de I-V mediante pvlib </a:t>
            </a:r>
            <a:r>
              <a:rPr sz="1300">
                <a:solidFill>
                  <a:srgbClr val="FFFFFF"/>
                </a:solidFill>
              </a:rPr>
              <a:t>Holmgren et al., 2018</a:t>
            </a:r>
            <a:r>
              <a:rPr sz="1300">
                <a:solidFill>
                  <a:srgbClr val="FFFFFF"/>
                </a:solidFill>
              </a:rPr>
              <a:t>.</a:t>
            </a:r>
          </a:p>
          <a:p>
            <a:pPr algn="l">
              <a:defRPr sz="1300">
                <a:solidFill>
                  <a:srgbClr val="FFFFFF"/>
                </a:solidFill>
              </a:defRPr>
            </a:pPr>
          </a:p>
          <a:p>
            <a:pPr algn="l">
              <a:defRPr sz="1300">
                <a:solidFill>
                  <a:srgbClr val="FFFFFF"/>
                </a:solidFill>
              </a:defRPr>
            </a:pPr>
            <a:r>
              <a:rPr sz="1300">
                <a:solidFill>
                  <a:srgbClr val="FFFFFF"/>
                </a:solidFill>
              </a:rPr>
              <a:t>• </a:t>
            </a:r>
            <a:r>
              <a:rPr sz="1300" b="1">
                <a:solidFill>
                  <a:srgbClr val="FFFFFF"/>
                </a:solidFill>
              </a:rPr>
              <a:t>Etapa 5: Evaluación de Performance Ratio (PR):</a:t>
            </a:r>
          </a:p>
          <a:p>
            <a:pPr algn="l">
              <a:defRPr sz="1300">
                <a:solidFill>
                  <a:srgbClr val="FFFFFF"/>
                </a:solidFill>
              </a:defRPr>
            </a:pPr>
            <a:r>
              <a:rPr sz="1300">
                <a:solidFill>
                  <a:srgbClr val="FFFFFF"/>
                </a:solidFill>
              </a:rPr>
              <a:t>  Integración anual y mensual del </a:t>
            </a:r>
            <a:r>
              <a:rPr sz="1300" i="1">
                <a:solidFill>
                  <a:srgbClr val="FFFFFF"/>
                </a:solidFill>
              </a:rPr>
              <a:t>PR</a:t>
            </a:r>
            <a:r>
              <a:rPr sz="1300">
                <a:solidFill>
                  <a:srgbClr val="FFFFFF"/>
                </a:solidFill>
              </a:rPr>
              <a:t> utilizando el estándar IEC 61724-1. *(Fórmulas y glosario en Anexo VII, Lámina 25)*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097280"/>
            <a:ext cx="524225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0593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Pipeline de Simulación</a:t>
            </a:r>
          </a:p>
        </p:txBody>
      </p:sp>
      <p:pic>
        <p:nvPicPr>
          <p:cNvPr id="8" name="Picture 7" descr="simulation_pipeline_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00200"/>
            <a:ext cx="5059375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Procedimiento: Tratamiento de la Base de Datos y Carga de Big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Desafío: Procesamiento de Curvas I-V Minutales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Naturaleza de los Datos:</a:t>
            </a:r>
            <a:r>
              <a:rPr sz="1700">
                <a:solidFill>
                  <a:srgbClr val="FFFFFF"/>
                </a:solidFill>
              </a:rPr>
              <a:t> Dataset experimental Cocoa (NREL) </a:t>
            </a:r>
            <a:r>
              <a:rPr sz="1700">
                <a:solidFill>
                  <a:srgbClr val="FFFFFF"/>
                </a:solidFill>
              </a:rPr>
              <a:t>Marion et al., 2014</a:t>
            </a:r>
            <a:r>
              <a:rPr sz="1700">
                <a:solidFill>
                  <a:srgbClr val="FFFFFF"/>
                </a:solidFill>
              </a:rPr>
              <a:t>. Contiene curvas I-V completas y mediciones meteorológicas minuto a minuto.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Problema de Big Data:</a:t>
            </a:r>
            <a:r>
              <a:rPr sz="1700">
                <a:solidFill>
                  <a:srgbClr val="FFFFFF"/>
                </a:solidFill>
              </a:rPr>
              <a:t> Los archivos CSV unitarios superan los 100MB por tecnología, acumulando millones de registros de longitudes variables.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Falla del Método Estándar:</a:t>
            </a:r>
            <a:r>
              <a:rPr sz="1700">
                <a:solidFill>
                  <a:srgbClr val="FFFFFF"/>
                </a:solidFill>
              </a:rPr>
              <a:t> Lectores convencionales (e.g., Pandas `read_csv`) agotan la memoria RAM y fallan debido a caracteres atípicos en la metadata.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Solución: Pipeline de Lectura Eficiente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Lector en Streaming:</a:t>
            </a:r>
            <a:r>
              <a:rPr sz="1700">
                <a:solidFill>
                  <a:srgbClr val="FFFFFF"/>
                </a:solidFill>
              </a:rPr>
              <a:t> Implementación de un analizador de archivos línea por línea mediante el módulo `csv` nativo de Python.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Extracción Selectiva [Marion et al., 2014]:</a:t>
            </a:r>
            <a:r>
              <a:rPr sz="1700">
                <a:solidFill>
                  <a:srgbClr val="FFFFFF"/>
                </a:solidFill>
              </a:rPr>
              <a:t> Se ignoraron las series de curvas I-V completas en la carga inicial y se extrajeron únicamente los metadatos y puntos clave de operación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sc</a:t>
            </a:r>
            <a:r>
              <a:rPr sz="1700">
                <a:solidFill>
                  <a:srgbClr val="FFFFFF"/>
                </a:solidFill>
              </a:rPr>
              <a:t>,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, 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mp</a:t>
            </a:r>
            <a:r>
              <a:rPr sz="1700">
                <a:solidFill>
                  <a:srgbClr val="FFFFFF"/>
                </a:solidFill>
              </a:rPr>
              <a:t>,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mp</a:t>
            </a:r>
            <a:r>
              <a:rPr sz="1700">
                <a:solidFill>
                  <a:srgbClr val="FFFFFF"/>
                </a:solidFill>
              </a:rPr>
              <a:t>, </a:t>
            </a:r>
            <a:r>
              <a:rPr sz="1700" i="1">
                <a:solidFill>
                  <a:srgbClr val="FFFFFF"/>
                </a:solidFill>
              </a:rPr>
              <a:t>P</a:t>
            </a:r>
            <a:r>
              <a:rPr sz="1700" i="1">
                <a:solidFill>
                  <a:srgbClr val="FFFFFF"/>
                </a:solidFill>
              </a:rPr>
              <a:t>mp</a:t>
            </a:r>
            <a:r>
              <a:rPr sz="1700">
                <a:solidFill>
                  <a:srgbClr val="FFFFFF"/>
                </a:solidFill>
              </a:rPr>
              <a:t>, irradiancias).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Limpieza Automática:</a:t>
            </a:r>
            <a:r>
              <a:rPr sz="1700">
                <a:solidFill>
                  <a:srgbClr val="FFFFFF"/>
                </a:solidFill>
              </a:rPr>
              <a:t> Se descartaron registros nocturnos ($G &lt; 10$ W/m²) o incompletos, acelerando la simulación anual del recurso solar un 95%.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Procedimiento: Filtro de Emulación Geográfica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Mapa de Emulación Hemisférica</a:t>
            </a:r>
          </a:p>
        </p:txBody>
      </p:sp>
      <p:pic>
        <p:nvPicPr>
          <p:cNvPr id="5" name="Picture 4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1188720"/>
            <a:ext cx="5973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Implementación del Filtro de Emulación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645920"/>
            <a:ext cx="5790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Inconsistencia Estacional (Florida → Atacama):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Los datos experimentales de NREL Cocoa </a:t>
            </a:r>
            <a:r>
              <a:rPr sz="1400">
                <a:solidFill>
                  <a:srgbClr val="FFFFFF"/>
                </a:solidFill>
              </a:rPr>
              <a:t>Marion et al., 2014</a:t>
            </a:r>
            <a:r>
              <a:rPr sz="1400">
                <a:solidFill>
                  <a:srgbClr val="FFFFFF"/>
                </a:solidFill>
              </a:rPr>
              <a:t> se midieron en el Hemisferio Norte. Simularlos directamente en el Hemisferio Sur crearía un desfase físico absurdo entre solsticios e inviernos térmicos.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Desfase Temporal (+6 Meses):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Se implementó un desplazamiento estacional exacto de +6 meses (+182 días). Así, el perfil de calor de Florida coincide coherentemente con el verano del Hemisferio Sur.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Traducción Espacial a Atacama: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Timestamp remapeado a 2026 con coordenadas de San Pedro de Atacama (Latitud −22.91° S, Longitud −68.20° W, Altitud 2400m) para calcular la inclinación óptima anual de </a:t>
            </a:r>
            <a:r>
              <a:rPr sz="1400" b="1">
                <a:solidFill>
                  <a:srgbClr val="FFFFFF"/>
                </a:solidFill>
              </a:rPr>
              <a:t>22.91° Norte</a:t>
            </a:r>
            <a:r>
              <a:rPr sz="1400">
                <a:solidFill>
                  <a:srgbClr val="FFFFFF"/>
                </a:solidFill>
              </a:rPr>
              <a:t> </a:t>
            </a:r>
            <a:r>
              <a:rPr sz="1400">
                <a:solidFill>
                  <a:srgbClr val="FFFFFF"/>
                </a:solidFill>
              </a:rPr>
              <a:t>Holmgren et al., 2018</a:t>
            </a:r>
            <a:r>
              <a:rPr sz="1400">
                <a:solidFill>
                  <a:srgbClr val="FFFFFF"/>
                </a:solidFill>
              </a:rPr>
              <a:t>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Alineación de Coordenadas: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Ajuste del ángulo cenital y azimutal en pvlib para simular una captación fotovoltaica impecable sin sombras locales.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Procedimiento: Simulación del Perfil Térmico y Pérdidas Ópticas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de Recurso y Modificadores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Modelo de Perez:</a:t>
            </a:r>
            <a:r>
              <a:rPr sz="1600">
                <a:solidFill>
                  <a:srgbClr val="FFFFFF"/>
                </a:solidFill>
              </a:rPr>
              <a:t> Ejecución del algoritmo </a:t>
            </a:r>
            <a:r>
              <a:rPr sz="1600">
                <a:solidFill>
                  <a:srgbClr val="FFFFFF"/>
                </a:solidFill>
              </a:rPr>
              <a:t>Perez et al., 1990</a:t>
            </a:r>
            <a:r>
              <a:rPr sz="1600">
                <a:solidFill>
                  <a:srgbClr val="FFFFFF"/>
                </a:solidFill>
              </a:rPr>
              <a:t> en pvlib para calcular la irradiancia total en el Plano del Arreglo ($G_{poa}$). *(Ecuación en Anexo I, Lámina 19)*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Modificador IAM:</a:t>
            </a:r>
            <a:r>
              <a:rPr sz="1600">
                <a:solidFill>
                  <a:srgbClr val="FFFFFF"/>
                </a:solidFill>
              </a:rPr>
              <a:t> Pérdidas por reflexión en el cristal basadas en la Ley de Snell y Bouguer </a:t>
            </a:r>
            <a:r>
              <a:rPr sz="1600">
                <a:solidFill>
                  <a:srgbClr val="FFFFFF"/>
                </a:solidFill>
              </a:rPr>
              <a:t>King et al., 2004</a:t>
            </a:r>
            <a:r>
              <a:rPr sz="1600">
                <a:solidFill>
                  <a:srgbClr val="FFFFFF"/>
                </a:solidFill>
              </a:rPr>
              <a:t> (espesor 2mm, índice refracción 1.526). *(Fórmulas en Anexo II, Lámina 20)*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Modificador Espectral (AM):</a:t>
            </a:r>
            <a:r>
              <a:rPr sz="1600">
                <a:solidFill>
                  <a:srgbClr val="FFFFFF"/>
                </a:solidFill>
              </a:rPr>
              <a:t> Corrección empírica de masa de aire de cuarto orden </a:t>
            </a:r>
            <a:r>
              <a:rPr sz="1600">
                <a:solidFill>
                  <a:srgbClr val="FFFFFF"/>
                </a:solidFill>
              </a:rPr>
              <a:t>King et al., 2004</a:t>
            </a:r>
            <a:r>
              <a:rPr sz="1600">
                <a:solidFill>
                  <a:srgbClr val="FFFFFF"/>
                </a:solidFill>
              </a:rPr>
              <a:t> según la elevación del sol. *(Fórmula en Anexo II, Lámina 20)*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Estimación de Temperatura Sandia (SAPM)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Modelación Tc:</a:t>
            </a:r>
            <a:r>
              <a:rPr sz="1600">
                <a:solidFill>
                  <a:srgbClr val="FFFFFF"/>
                </a:solidFill>
              </a:rPr>
              <a:t> Estimación dinámica de la temperatura de celda (</a:t>
            </a:r>
            <a:r>
              <a:rPr sz="1600" i="1">
                <a:solidFill>
                  <a:srgbClr val="FFFFFF"/>
                </a:solidFill>
              </a:rPr>
              <a:t>T</a:t>
            </a:r>
            <a:r>
              <a:rPr sz="1600" i="1">
                <a:solidFill>
                  <a:srgbClr val="FFFFFF"/>
                </a:solidFill>
              </a:rPr>
              <a:t>c</a:t>
            </a:r>
            <a:r>
              <a:rPr sz="1600">
                <a:solidFill>
                  <a:srgbClr val="FFFFFF"/>
                </a:solidFill>
              </a:rPr>
              <a:t>) usando coeficientes empíricos de encapsulado del modelo de Sandia </a:t>
            </a:r>
            <a:r>
              <a:rPr sz="1600">
                <a:solidFill>
                  <a:srgbClr val="FFFFFF"/>
                </a:solidFill>
              </a:rPr>
              <a:t>King et al., 2004</a:t>
            </a:r>
            <a:r>
              <a:rPr sz="1600">
                <a:solidFill>
                  <a:srgbClr val="FFFFFF"/>
                </a:solidFill>
              </a:rPr>
              <a:t>. *(Fórmula en Anexo III, Lámina 21)*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Asunciones Justificadas en Atacama: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1. </a:t>
            </a:r>
            <a:r>
              <a:rPr sz="1600" b="1">
                <a:solidFill>
                  <a:srgbClr val="FFFFFF"/>
                </a:solidFill>
              </a:rPr>
              <a:t>Velocidad del Viento:</a:t>
            </a:r>
            <a:r>
              <a:rPr sz="1600">
                <a:solidFill>
                  <a:srgbClr val="FFFFFF"/>
                </a:solidFill>
              </a:rPr>
              <a:t> Fijada constante en </a:t>
            </a:r>
            <a:r>
              <a:rPr sz="1600" b="1">
                <a:solidFill>
                  <a:srgbClr val="FFFFFF"/>
                </a:solidFill>
              </a:rPr>
              <a:t>1 m/s</a:t>
            </a:r>
            <a:r>
              <a:rPr sz="1600">
                <a:solidFill>
                  <a:srgbClr val="FFFFFF"/>
                </a:solidFill>
              </a:rPr>
              <a:t> (valor conservador de diseño que minimiza pérdidas por convección artificial).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2. </a:t>
            </a:r>
            <a:r>
              <a:rPr sz="1600" b="1">
                <a:solidFill>
                  <a:srgbClr val="FFFFFF"/>
                </a:solidFill>
              </a:rPr>
              <a:t>Reflectancia del Suelo (Albedo):</a:t>
            </a:r>
            <a:r>
              <a:rPr sz="1600">
                <a:solidFill>
                  <a:srgbClr val="FFFFFF"/>
                </a:solidFill>
              </a:rPr>
              <a:t> Fijada en </a:t>
            </a:r>
            <a:r>
              <a:rPr sz="1600" b="1">
                <a:solidFill>
                  <a:srgbClr val="FFFFFF"/>
                </a:solidFill>
              </a:rPr>
              <a:t>0.20</a:t>
            </a:r>
            <a:r>
              <a:rPr sz="1600">
                <a:solidFill>
                  <a:srgbClr val="FFFFFF"/>
                </a:solidFill>
              </a:rPr>
              <a:t> (suelo arenoso/árido típico del desierto de Atacama).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Procedimiento: Metodología de Extracción de Parámetros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Desafío de Datasheet y Algoritmo Experimental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El Problema:</a:t>
            </a:r>
            <a:r>
              <a:rPr sz="1700">
                <a:solidFill>
                  <a:srgbClr val="FFFFFF"/>
                </a:solidFill>
              </a:rPr>
              <a:t> La base experimental Cocoa usa códigos internos del NREL (`mSi0166`, `HIT05667`) que no figuran directamente en datasheets comerciales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Solución: Extracción en STC:</a:t>
            </a:r>
            <a:r>
              <a:rPr sz="1700">
                <a:solidFill>
                  <a:srgbClr val="FFFFFF"/>
                </a:solidFill>
              </a:rPr>
              <a:t> Se diseñó un algoritmo para caracterizar las propiedades nominales directamente desde la base de datos experimental minutal </a:t>
            </a:r>
            <a:r>
              <a:rPr sz="1700">
                <a:solidFill>
                  <a:srgbClr val="FFFFFF"/>
                </a:solidFill>
              </a:rPr>
              <a:t>De Soto et al., 2006</a:t>
            </a:r>
            <a:r>
              <a:rPr sz="1700">
                <a:solidFill>
                  <a:srgbClr val="FFFFFF"/>
                </a:solidFill>
              </a:rPr>
              <a:t>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</a:t>
            </a:r>
            <a:r>
              <a:rPr sz="1700" b="1">
                <a:solidFill>
                  <a:srgbClr val="FFFFFF"/>
                </a:solidFill>
              </a:rPr>
              <a:t>Condiciones de Referencia (SRC):</a:t>
            </a:r>
            <a:r>
              <a:rPr sz="1700">
                <a:solidFill>
                  <a:srgbClr val="FFFFFF"/>
                </a:solidFill>
              </a:rPr>
              <a:t> Se filtraron mediciones instantáneas bajo condiciones estándar ($G \approx 1000$ W/m² y temperatura de celda $T_c \approx 25^\circ\text{C}$).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Cálculo Experimental de Coeficientes Térmicos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Coeficientes Térmicos ($_x0007_lpha_{Isc}$ y $_x0008_eta_{Voc}$):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Calculados directamente de los datos usando regresiones lineales en periodos estables y de alta radiación ($G &gt; 800$ W/m²).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Normalización y Consistencia [De Soto et al., 2006]: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La corriente de cortocircuito se normalizó por irradiancia efectiva para aislar el coeficiente de ganancia térmica pura y asegurar consistencia paramétrica.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Procedimiento: Ajuste Numérico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Sistema de Ajuste Trascendental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Formulación Matemática:</a:t>
            </a:r>
            <a:r>
              <a:rPr sz="1600">
                <a:solidFill>
                  <a:srgbClr val="FFFFFF"/>
                </a:solidFill>
              </a:rPr>
              <a:t> Ecuaciones del modelo SDM de 5 parámetros planteadas en STC para cortocircuito, circuito abierto y máxima potencia </a:t>
            </a:r>
            <a:r>
              <a:rPr sz="1600">
                <a:solidFill>
                  <a:srgbClr val="FFFFFF"/>
                </a:solidFill>
              </a:rPr>
              <a:t>De Soto et al., 2006</a:t>
            </a:r>
            <a:r>
              <a:rPr sz="1600">
                <a:solidFill>
                  <a:srgbClr val="FFFFFF"/>
                </a:solidFill>
              </a:rPr>
              <a:t>. *(Ecuación en Anexo V, Lámina 23)*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Optimización de Mínimos Cuadrados:</a:t>
            </a:r>
            <a:r>
              <a:rPr sz="1600">
                <a:solidFill>
                  <a:srgbClr val="FFFFFF"/>
                </a:solidFill>
              </a:rPr>
              <a:t> Resolución simultánea del sistema no lineal trascendental mediante scipy en Python para obtener los valores óptimos nominales.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Consistencia Física (Bounds):</a:t>
            </a:r>
            <a:r>
              <a:rPr sz="1600">
                <a:solidFill>
                  <a:srgbClr val="FFFFFF"/>
                </a:solidFill>
              </a:rPr>
              <a:t> Restricciones explícitas de resistencia serie mayor a cero ($R</a:t>
            </a:r>
            <a:r>
              <a:rPr sz="1600" i="1">
                <a:solidFill>
                  <a:srgbClr val="FFFFFF"/>
                </a:solidFill>
              </a:rPr>
              <a:t>{s,ref} &gt; 0$) y factor de idealidad $n</a:t>
            </a:r>
            <a:r>
              <a:rPr sz="1600">
                <a:solidFill>
                  <a:srgbClr val="FFFFFF"/>
                </a:solidFill>
              </a:rPr>
              <a:t>I \in </a:t>
            </a:r>
            <a:r>
              <a:rPr sz="1600">
                <a:solidFill>
                  <a:srgbClr val="FFFFFF"/>
                </a:solidFill>
              </a:rPr>
              <a:t>1, 2</a:t>
            </a:r>
            <a:r>
              <a:rPr sz="1600">
                <a:solidFill>
                  <a:srgbClr val="FFFFFF"/>
                </a:solidFill>
              </a:rPr>
              <a:t>$ para garantizar sentido físico.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Resultados de Parámetros en STC Extraídos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m-Si (Silicio Monocristalino) [De Soto et al., 2006]: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$I</a:t>
            </a:r>
            <a:r>
              <a:rPr sz="1600" i="1">
                <a:solidFill>
                  <a:srgbClr val="FFFFFF"/>
                </a:solidFill>
              </a:rPr>
              <a:t>{L,ref}$ = 2.768 A  |  $I</a:t>
            </a:r>
            <a:r>
              <a:rPr sz="1600">
                <a:solidFill>
                  <a:srgbClr val="FFFFFF"/>
                </a:solidFill>
              </a:rPr>
              <a:t>{0,ref}$ = $4.13 \times 10^{-9}$ A  |  $R</a:t>
            </a:r>
            <a:r>
              <a:rPr sz="1600" i="1">
                <a:solidFill>
                  <a:srgbClr val="FFFFFF"/>
                </a:solidFill>
              </a:rPr>
              <a:t>{s,ref}$ = 0.542 $\Omega$  |  $R</a:t>
            </a:r>
            <a:r>
              <a:rPr sz="1600">
                <a:solidFill>
                  <a:srgbClr val="FFFFFF"/>
                </a:solidFill>
              </a:rPr>
              <a:t>{sh,ref}$ = 352.4 $\Omega$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HIT (Heterounión) [De Soto et al., 2006]: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$I</a:t>
            </a:r>
            <a:r>
              <a:rPr sz="1600" i="1">
                <a:solidFill>
                  <a:srgbClr val="FFFFFF"/>
                </a:solidFill>
              </a:rPr>
              <a:t>{L,ref}$ = 5.607 A  |  $I</a:t>
            </a:r>
            <a:r>
              <a:rPr sz="1600">
                <a:solidFill>
                  <a:srgbClr val="FFFFFF"/>
                </a:solidFill>
              </a:rPr>
              <a:t>{0,ref}$ = $4.68 \times 10^{-10}$ A  |  $R</a:t>
            </a:r>
            <a:r>
              <a:rPr sz="1600" i="1">
                <a:solidFill>
                  <a:srgbClr val="FFFFFF"/>
                </a:solidFill>
              </a:rPr>
              <a:t>{s,ref}$ = 0.412 $\Omega$  |  $R</a:t>
            </a:r>
            <a:r>
              <a:rPr sz="1600">
                <a:solidFill>
                  <a:srgbClr val="FFFFFF"/>
                </a:solidFill>
              </a:rPr>
              <a:t>{sh,ref}$ = 612.8 $\Omega$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Coherencia Física:</a:t>
            </a:r>
            <a:r>
              <a:rPr sz="1600">
                <a:solidFill>
                  <a:srgbClr val="FFFFFF"/>
                </a:solidFill>
              </a:rPr>
              <a:t> La corriente de saturación inversa ($I_0$) de HIT es un orden de magnitud inferior, demostrando su menor recombinación intrínseca por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Procedimiento: Traslado Paramétrico y Simulación Minutal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Escalamiento Dinámico a Condiciones Reales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Traslado de De Soto:</a:t>
            </a:r>
            <a:r>
              <a:rPr sz="1600">
                <a:solidFill>
                  <a:srgbClr val="FFFFFF"/>
                </a:solidFill>
              </a:rPr>
              <a:t> Para cada intervalo de la simulación anual 2026, los 5 parámetros se escalaron a la irradiancia efectiva ($S$) y temperatura de celda (</a:t>
            </a:r>
            <a:r>
              <a:rPr sz="1600" i="1">
                <a:solidFill>
                  <a:srgbClr val="FFFFFF"/>
                </a:solidFill>
              </a:rPr>
              <a:t>T</a:t>
            </a:r>
            <a:r>
              <a:rPr sz="1600" i="1">
                <a:solidFill>
                  <a:srgbClr val="FFFFFF"/>
                </a:solidFill>
              </a:rPr>
              <a:t>c</a:t>
            </a:r>
            <a:r>
              <a:rPr sz="1600">
                <a:solidFill>
                  <a:srgbClr val="FFFFFF"/>
                </a:solidFill>
              </a:rPr>
              <a:t>) locales </a:t>
            </a:r>
            <a:r>
              <a:rPr sz="1600">
                <a:solidFill>
                  <a:srgbClr val="FFFFFF"/>
                </a:solidFill>
              </a:rPr>
              <a:t>De Soto et al., 2006</a:t>
            </a:r>
            <a:r>
              <a:rPr sz="1600">
                <a:solidFill>
                  <a:srgbClr val="FFFFFF"/>
                </a:solidFill>
              </a:rPr>
              <a:t>. *(Ecuaciones en Anexo VI, Lámina 24)*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Dependencia del Bandgap:</a:t>
            </a:r>
            <a:r>
              <a:rPr sz="1600">
                <a:solidFill>
                  <a:srgbClr val="FFFFFF"/>
                </a:solidFill>
              </a:rPr>
              <a:t> Variación térmica no lineal del bandgap de silicio (</a:t>
            </a:r>
            <a:r>
              <a:rPr sz="1600" i="1">
                <a:solidFill>
                  <a:srgbClr val="FFFFFF"/>
                </a:solidFill>
              </a:rPr>
              <a:t>E</a:t>
            </a:r>
            <a:r>
              <a:rPr sz="1600" i="1">
                <a:solidFill>
                  <a:srgbClr val="FFFFFF"/>
                </a:solidFill>
              </a:rPr>
              <a:t>g</a:t>
            </a:r>
            <a:r>
              <a:rPr sz="1600">
                <a:solidFill>
                  <a:srgbClr val="FFFFFF"/>
                </a:solidFill>
              </a:rPr>
              <a:t>) y factor de idealidad térmico (</a:t>
            </a:r>
            <a:r>
              <a:rPr sz="1600" i="1">
                <a:solidFill>
                  <a:srgbClr val="FFFFFF"/>
                </a:solidFill>
              </a:rPr>
              <a:t>a</a:t>
            </a:r>
            <a:r>
              <a:rPr sz="1600">
                <a:solidFill>
                  <a:srgbClr val="FFFFFF"/>
                </a:solidFill>
              </a:rPr>
              <a:t>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Resistencias Shunt y Serie:</a:t>
            </a:r>
            <a:r>
              <a:rPr sz="1600">
                <a:solidFill>
                  <a:srgbClr val="FFFFFF"/>
                </a:solidFill>
              </a:rPr>
              <a:t> Resistencia paralelo inversamente proporcional a la irradiancia. Resistencia serie asumida constante según validaciones NIST </a:t>
            </a:r>
            <a:r>
              <a:rPr sz="1600">
                <a:solidFill>
                  <a:srgbClr val="FFFFFF"/>
                </a:solidFill>
              </a:rPr>
              <a:t>De Soto et al., 2006</a:t>
            </a:r>
            <a:r>
              <a:rPr sz="16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Resolución Implícita del Circuito (MPP)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Resolución Numérica:</a:t>
            </a:r>
            <a:r>
              <a:rPr sz="1600">
                <a:solidFill>
                  <a:srgbClr val="FFFFFF"/>
                </a:solidFill>
              </a:rPr>
              <a:t> Empleo del algoritmo implícito `calcparams_desoto` de pvlib </a:t>
            </a:r>
            <a:r>
              <a:rPr sz="1600">
                <a:solidFill>
                  <a:srgbClr val="FFFFFF"/>
                </a:solidFill>
              </a:rPr>
              <a:t>Holmgren et al., 2018</a:t>
            </a:r>
            <a:r>
              <a:rPr sz="1600">
                <a:solidFill>
                  <a:srgbClr val="FFFFFF"/>
                </a:solidFill>
              </a:rPr>
              <a:t> para obtener los parámetros en cada minuto.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Búsqueda del MPP:</a:t>
            </a:r>
            <a:r>
              <a:rPr sz="1600">
                <a:solidFill>
                  <a:srgbClr val="FFFFFF"/>
                </a:solidFill>
              </a:rPr>
              <a:t> Se resolvió la ecuación trascendental del diodo simple utilizando la función W de Lambert para ubicar el Punto de Máxima Potencia ($P_{mp,SDM}$).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Cómputo de Energía:</a:t>
            </a:r>
            <a:r>
              <a:rPr sz="1600">
                <a:solidFill>
                  <a:srgbClr val="FFFFFF"/>
                </a:solidFill>
              </a:rPr>
              <a:t> Integración temporal de la potencia útil minutal para consolidar la energía anual generada por cada panel.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3093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126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5669280" cy="4251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949440" y="1097280"/>
            <a:ext cx="487649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118872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Análisis Crítico de Resultados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645920"/>
            <a:ext cx="451073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Estrés Térmico Evidenciado:</a:t>
            </a:r>
            <a:r>
              <a:rPr sz="1600">
                <a:solidFill>
                  <a:srgbClr val="FFFFFF"/>
                </a:solidFill>
              </a:rPr>
              <a:t> La simulación térmica minutal revela temperaturas de celda operativas recurrentes entre 38°C y 50°C, con picos de calor extremo de 65°C a 70°C a mediodía.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Enfriamiento Convectivo Limitado:</a:t>
            </a:r>
            <a:r>
              <a:rPr sz="1600">
                <a:solidFill>
                  <a:srgbClr val="FFFFFF"/>
                </a:solidFill>
              </a:rPr>
              <a:t> Al asumir velocidad de viento conservadora de 1 m/s en SAPM </a:t>
            </a:r>
            <a:r>
              <a:rPr sz="1600">
                <a:solidFill>
                  <a:srgbClr val="FFFFFF"/>
                </a:solidFill>
              </a:rPr>
              <a:t>King et al., 2004</a:t>
            </a:r>
            <a:r>
              <a:rPr sz="1600">
                <a:solidFill>
                  <a:srgbClr val="FFFFFF"/>
                </a:solidFill>
              </a:rPr>
              <a:t>, se restringe la disipación térmica, modelando el peor escenario físico real.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Consecuencia en Voltaje [De Soto et al., 2006]:</a:t>
            </a:r>
            <a:r>
              <a:rPr sz="1600">
                <a:solidFill>
                  <a:srgbClr val="FFFFFF"/>
                </a:solidFill>
              </a:rPr>
              <a:t> El calentamiento incrementa la corriente de saturación inversa ($I</a:t>
            </a:r>
            <a:r>
              <a:rPr sz="1600" i="1">
                <a:solidFill>
                  <a:srgbClr val="FFFFFF"/>
                </a:solidFill>
              </a:rPr>
              <a:t>0$), deprimiendo fuertemente la tensión de circuito abierto ($V</a:t>
            </a:r>
            <a:r>
              <a:rPr sz="1600">
                <a:solidFill>
                  <a:srgbClr val="FFFFFF"/>
                </a:solidFill>
              </a:rPr>
              <a:t>{oc}$).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0350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852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54864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75120" y="1097280"/>
            <a:ext cx="515081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188720"/>
            <a:ext cx="49679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 y Rigor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45920"/>
            <a:ext cx="47850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Fidelidad del Ajuste [De Soto et al., 2006]:</a:t>
            </a:r>
            <a:r>
              <a:rPr sz="1600">
                <a:solidFill>
                  <a:srgbClr val="FFFFFF"/>
                </a:solidFill>
              </a:rPr>
              <a:t> Coeficiente de determinación $R^2 &gt; 0.99$ en validación cruzada frente a datos medidos, confirmando la precisión del modelo en todo el espectro de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Desviación Minutal (RMSE):</a:t>
            </a:r>
            <a:r>
              <a:rPr sz="1600">
                <a:solidFill>
                  <a:srgbClr val="FFFFFF"/>
                </a:solidFill>
              </a:rPr>
              <a:t> Error cuadrático medio ($RMSE$) inferior a 5W en condiciones típicas diurnas.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Zonas de Discrepancia:</a:t>
            </a:r>
            <a:r>
              <a:rPr sz="1600">
                <a:solidFill>
                  <a:srgbClr val="FFFFFF"/>
                </a:solidFill>
              </a:rPr>
              <a:t> Leve dispersión en irradiancias extremadamente bajas (amanecer/atardecer) por la idealización empírica de la resistencia shunt.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Conclusión de Validación:</a:t>
            </a:r>
            <a:r>
              <a:rPr sz="1600">
                <a:solidFill>
                  <a:srgbClr val="FFFFFF"/>
                </a:solidFill>
              </a:rPr>
              <a:t> Excelente consistencia de las ecuaciones físicas del circuito de un diodo para predecir potencia bajo el sol extremo.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d) Desarrollo y discusión: Puntos Conflictuales y Acoplamiento Rs - 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Acoplamiento Rs - factor de idealidad (n)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Alta Correlación Paramétrica [De Soto et al., 2006]: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La resistencia serie (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) y el factor de idealidad del diodo (</a:t>
            </a:r>
            <a:r>
              <a:rPr sz="1400" i="1">
                <a:solidFill>
                  <a:srgbClr val="FFFFFF"/>
                </a:solidFill>
              </a:rPr>
              <a:t>n</a:t>
            </a:r>
            <a:r>
              <a:rPr sz="1400">
                <a:solidFill>
                  <a:srgbClr val="FFFFFF"/>
                </a:solidFill>
              </a:rPr>
              <a:t>) influyen de manera similar en la redondez de la curva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-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cerca del MPP.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Problema Matemático Mal Condicionado: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Múltiples combinaciones del par (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n</a:t>
            </a:r>
            <a:r>
              <a:rPr sz="1400">
                <a:solidFill>
                  <a:srgbClr val="FFFFFF"/>
                </a:solidFill>
              </a:rPr>
              <a:t>) pueden resultar en un ajuste idéntico de curvas con un error residual mínimo similar, perdiendo significado físico real.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Mitigación y Solución [De Soto et al., 2006]: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Se fijaron límites estrictos en el optimizador multivariable: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&gt; 0  |  </a:t>
            </a:r>
            <a:r>
              <a:rPr sz="1400" i="1">
                <a:solidFill>
                  <a:srgbClr val="FFFFFF"/>
                </a:solidFill>
              </a:rPr>
              <a:t>n</a:t>
            </a:r>
            <a:r>
              <a:rPr sz="1400">
                <a:solidFill>
                  <a:srgbClr val="FFFFFF"/>
                </a:solidFill>
              </a:rPr>
              <a:t> ∈ </a:t>
            </a:r>
            <a:r>
              <a:rPr sz="1400">
                <a:solidFill>
                  <a:srgbClr val="FFFFFF"/>
                </a:solidFill>
              </a:rPr>
              <a:t>1.0, 2.0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Esto evita la convergencia a soluciones matemáticamente correctas pero físicamente imposibles.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1188720"/>
            <a:ext cx="5973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Limitaciones y Suposiciones del Modelo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645920"/>
            <a:ext cx="5790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Resistencia Shunt (R_sh) e Irradiancia (G):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La relación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sh,ref</a:t>
            </a:r>
            <a:r>
              <a:rPr sz="1400">
                <a:solidFill>
                  <a:srgbClr val="FFFFFF"/>
                </a:solidFill>
              </a:rPr>
              <a:t> · (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 i="1">
                <a:solidFill>
                  <a:srgbClr val="FFFFFF"/>
                </a:solidFill>
              </a:rPr>
              <a:t>ref</a:t>
            </a:r>
            <a:r>
              <a:rPr sz="1400">
                <a:solidFill>
                  <a:srgbClr val="FFFFFF"/>
                </a:solidFill>
              </a:rPr>
              <a:t>/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) es empírica. A muy baja irradiancia (amanecer/ocaso), puede sobreestimar la resistencia shunt.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*Impacto:* Despreciable en el PR anual, ya que esas horas representan una fracción mínima de la energía total.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Rs Constante con la Temperatura: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Ignora el cambio de la resistividad del semiconductor con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*Justificación:* De Soto (2006) validó que mantener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constante produce errores de potencia &lt; 2% frente a datos experimentales NIST.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Bandgap lineal con la Temperatura: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La relación del bandgap del Silicio con la temperatura se asume lineal, simplificando la ecuación real no lineal de Varshni.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*Impacto:* El error inducido es menor al 1% en el rango operacional (0°C a 70°C).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d) Desarrollo y discusión: Pérdidas Térmicas y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9494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766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36955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3641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53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70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Heterounión (HIT - Naranja) [De Soto et al., 2006]:</a:t>
            </a:r>
            <a:r>
              <a:rPr sz="1600">
                <a:solidFill>
                  <a:srgbClr val="FFFFFF"/>
                </a:solidFill>
              </a:rPr>
              <a:t> Coeficiente de temperatura de potencia muy bajo (-0.26 %/°C), preservando una alta eficiencia de conversión a 65°C.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Silicio Monocristalino (m-Si - Azul) [De Soto et al., 2006]:</a:t>
            </a:r>
            <a:r>
              <a:rPr sz="1600">
                <a:solidFill>
                  <a:srgbClr val="FFFFFF"/>
                </a:solidFill>
              </a:rPr>
              <a:t> Descenso térmico pronunciado (-0.40 %/°C) que penaliza la potencia generada durante el mediodía solar.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Consecuencia en PR Anual:</a:t>
            </a:r>
            <a:r>
              <a:rPr sz="1600">
                <a:solidFill>
                  <a:srgbClr val="FFFFFF"/>
                </a:solidFill>
              </a:rPr>
              <a:t> Explica mecánicamente la diferencia del Performance Ratio entre tecnologías. *(Ecuación de PR en Anexo VII, Lámina 25)*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d) Desarrollo y discusión: Veredicto Técnico y Económico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de Rendimiento (PR Anual)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</a:t>
            </a:r>
            <a:r>
              <a:rPr sz="1800" b="1">
                <a:solidFill>
                  <a:srgbClr val="E8A838"/>
                </a:solidFill>
              </a:rPr>
              <a:t>PR Anual Silicio Monocristalino (m-Si):</a:t>
            </a:r>
            <a:r>
              <a:rPr sz="1800" b="1">
                <a:solidFill>
                  <a:srgbClr val="E8A838"/>
                </a:solidFill>
              </a:rPr>
              <a:t>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</a:t>
            </a:r>
            <a:r>
              <a:rPr sz="1800" b="1">
                <a:solidFill>
                  <a:srgbClr val="E8A838"/>
                </a:solidFill>
              </a:rPr>
              <a:t>PR Anual Heterounión (HIT):</a:t>
            </a:r>
            <a:r>
              <a:rPr sz="1800" b="1">
                <a:solidFill>
                  <a:srgbClr val="E8A838"/>
                </a:solidFill>
              </a:rPr>
              <a:t>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</a:t>
            </a:r>
            <a:r>
              <a:rPr sz="1800" b="1">
                <a:solidFill>
                  <a:srgbClr val="E8A838"/>
                </a:solidFill>
              </a:rPr>
              <a:t>Ganancia Neta en PR Anual:</a:t>
            </a:r>
            <a:r>
              <a:rPr sz="1800" b="1">
                <a:solidFill>
                  <a:srgbClr val="E8A838"/>
                </a:solidFill>
              </a:rPr>
              <a:t> </a:t>
            </a:r>
            <a:r>
              <a:rPr sz="1800" b="1">
                <a:solidFill>
                  <a:srgbClr val="E8A838"/>
                </a:solidFill>
              </a:rPr>
              <a:t>+2.39%</a:t>
            </a:r>
            <a:r>
              <a:rPr sz="1800" b="1">
                <a:solidFill>
                  <a:srgbClr val="E8A838"/>
                </a:solidFill>
              </a:rPr>
              <a:t>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</a:t>
            </a:r>
            <a:r>
              <a:rPr sz="1800" b="1">
                <a:solidFill>
                  <a:srgbClr val="E8A838"/>
                </a:solidFill>
              </a:rPr>
              <a:t>Veredicto Técnico [De Soto et al., 2006]:</a:t>
            </a:r>
            <a:r>
              <a:rPr sz="1800" b="1">
                <a:solidFill>
                  <a:srgbClr val="E8A838"/>
                </a:solidFill>
              </a:rPr>
              <a:t> HIT demuestra superioridad física indiscutible en Atacama. Su celda híbrida intrínsecamente resiste el calor amortiguando la caída de la tensión en circuito abierto ($V_{oc}$).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y Viabilidad en Plantas de 100 MWp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Generación Adicional:</a:t>
            </a:r>
            <a:r>
              <a:rPr sz="1600">
                <a:solidFill>
                  <a:srgbClr val="FFFFFF"/>
                </a:solidFill>
              </a:rPr>
              <a:t> Para una planta de 100 MWp, cada +1% de PR equivale a ~2,500 MWh de energía extra anual.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Ganancia Total:</a:t>
            </a:r>
            <a:r>
              <a:rPr sz="1600">
                <a:solidFill>
                  <a:srgbClr val="FFFFFF"/>
                </a:solidFill>
              </a:rPr>
              <a:t> El incremento de +2.39% de PR con la tecnología HIT representa </a:t>
            </a:r>
            <a:r>
              <a:rPr sz="1600" b="1">
                <a:solidFill>
                  <a:srgbClr val="FFFFFF"/>
                </a:solidFill>
              </a:rPr>
              <a:t>~6,000 MWh/año adicionales</a:t>
            </a:r>
            <a:r>
              <a:rPr sz="1600">
                <a:solidFill>
                  <a:srgbClr val="FFFFFF"/>
                </a:solidFill>
              </a:rPr>
              <a:t>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Impacto Financiero:</a:t>
            </a:r>
            <a:r>
              <a:rPr sz="1600">
                <a:solidFill>
                  <a:srgbClr val="FFFFFF"/>
                </a:solidFill>
              </a:rPr>
              <a:t> A una tarifa de venta de USD 45/MWh, esto significa una mayor facturación neta de </a:t>
            </a:r>
            <a:r>
              <a:rPr sz="1600" b="1">
                <a:solidFill>
                  <a:srgbClr val="FFFFFF"/>
                </a:solidFill>
              </a:rPr>
              <a:t>USD 270,000 anuales</a:t>
            </a:r>
            <a:r>
              <a:rPr sz="1600">
                <a:solidFill>
                  <a:srgbClr val="FFFFFF"/>
                </a:solidFill>
              </a:rPr>
              <a:t>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Recomendación de Compra:</a:t>
            </a:r>
            <a:r>
              <a:rPr sz="1600">
                <a:solidFill>
                  <a:srgbClr val="FFFFFF"/>
                </a:solidFill>
              </a:rPr>
              <a:t> Se justifica económicamente la inversión en HIT si el costo extra del panel (capex) es inferior a la tasa de amortización de estos ingresos extra en 25 años.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</a:t>
            </a:r>
            <a:r>
              <a:rPr sz="1700" b="1">
                <a:solidFill>
                  <a:srgbClr val="E8A838"/>
                </a:solidFill>
              </a:rPr>
              <a:t>Fidelidad Metodológica:</a:t>
            </a:r>
            <a:r>
              <a:rPr sz="1700">
                <a:solidFill>
                  <a:srgbClr val="E8A838"/>
                </a:solidFill>
              </a:rPr>
              <a:t> La emulación geográfica y estacional por traslación temporal fue coherente, permitiendo simular Atacama con data de Cocoa.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</a:t>
            </a:r>
            <a:r>
              <a:rPr sz="1700" b="1">
                <a:solidFill>
                  <a:srgbClr val="E8A838"/>
                </a:solidFill>
              </a:rPr>
              <a:t>Ajuste Robusto:</a:t>
            </a:r>
            <a:r>
              <a:rPr sz="1700">
                <a:solidFill>
                  <a:srgbClr val="E8A838"/>
                </a:solidFill>
              </a:rPr>
              <a:t> El modelo De Soto de 5 parámetros reprodujo con alta precisión ($R^2 &gt; 0.99$) el comportamiento del circuito.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</a:t>
            </a:r>
            <a:r>
              <a:rPr sz="1700" b="1">
                <a:solidFill>
                  <a:srgbClr val="E8A838"/>
                </a:solidFill>
              </a:rPr>
              <a:t>HIT Vencedor:</a:t>
            </a:r>
            <a:r>
              <a:rPr sz="1700">
                <a:solidFill>
                  <a:srgbClr val="E8A838"/>
                </a:solidFill>
              </a:rPr>
              <a:t> HIT superó en 2.39% de PR a m-Si por su bajo coeficiente de temperatura de potencia.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</a:t>
            </a:r>
            <a:r>
              <a:rPr sz="1700" b="1">
                <a:solidFill>
                  <a:srgbClr val="E8A838"/>
                </a:solidFill>
              </a:rPr>
              <a:t>Recomendación:</a:t>
            </a:r>
            <a:r>
              <a:rPr sz="1700">
                <a:solidFill>
                  <a:srgbClr val="E8A838"/>
                </a:solidFill>
              </a:rPr>
              <a:t> HIT es técnicamente superior para plantas desérticas de alta irradiancia y alta temperatura.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Propuestas de 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Integración de Bifacialidad:</a:t>
            </a:r>
            <a:r>
              <a:rPr sz="1600">
                <a:solidFill>
                  <a:srgbClr val="FFFFFF"/>
                </a:solidFill>
              </a:rPr>
              <a:t> Incorporar el aporte de la irradiancia reflejada (albedo desértico, $_x000D_ho &gt; 0.25$) en la cara posterior del módulo.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Pérdidas por Soiling:</a:t>
            </a:r>
            <a:r>
              <a:rPr sz="1600">
                <a:solidFill>
                  <a:srgbClr val="FFFFFF"/>
                </a:solidFill>
              </a:rPr>
              <a:t> Modelar la acumulación de polvo desértico en la superficie del cristal, factor de pérdida de rendimiento crítico en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Estudio Espectral Avanzado:</a:t>
            </a:r>
            <a:r>
              <a:rPr sz="1600">
                <a:solidFill>
                  <a:srgbClr val="FFFFFF"/>
                </a:solidFill>
              </a:rPr>
              <a:t> Evaluar el efecto de la masa de aire sobre la eficiencia cuántica de la celda de heterounión.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b="1">
                <a:solidFill>
                  <a:srgbClr val="FFFFFF"/>
                </a:solidFill>
              </a:rPr>
              <a:t>Análisis de Doble Diodo:</a:t>
            </a:r>
            <a:r>
              <a:rPr sz="1600">
                <a:solidFill>
                  <a:srgbClr val="FFFFFF"/>
                </a:solidFill>
              </a:rPr>
              <a:t> Capturar los efectos de recombinación no ideal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Anexo I: Ecuaciones de Transposición y Absorción Solar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plano inclinado del panel: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del panel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973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790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neta que penetra y es absorbida por la celda solar:</a:t>
            </a:r>
          </a:p>
        </p:txBody>
      </p:sp>
      <p:pic>
        <p:nvPicPr>
          <p:cNvPr id="11" name="Picture 10" descr="eq_506bad7002e524c24e9cb60bf8ff68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74519"/>
            <a:ext cx="2251076" cy="384048"/>
          </a:xfrm>
          <a:prstGeom prst="rect">
            <a:avLst/>
          </a:prstGeom>
        </p:spPr>
      </p:pic>
      <p:pic>
        <p:nvPicPr>
          <p:cNvPr id="12" name="Picture 11" descr="eq_c9e0e5966a79a53d7e6daf086af3f7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286000"/>
            <a:ext cx="2120992" cy="384048"/>
          </a:xfrm>
          <a:prstGeom prst="rect">
            <a:avLst/>
          </a:prstGeom>
        </p:spPr>
      </p:pic>
      <p:pic>
        <p:nvPicPr>
          <p:cNvPr id="13" name="Picture 12" descr="eq_678fcbf570fad393118f2ab814b440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697480"/>
            <a:ext cx="2363204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52160" y="3337560"/>
            <a:ext cx="5790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Donde: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 i="1">
                <a:solidFill>
                  <a:srgbClr val="FFFFFF"/>
                </a:solidFill>
              </a:rPr>
              <a:t>ref</a:t>
            </a:r>
            <a:r>
              <a:rPr sz="16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τα,b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τα,d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τα,g</a:t>
            </a:r>
            <a:r>
              <a:rPr sz="16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Modela las pérdidas ópticas reflectivas por ángulo de incidencia.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Anexo II: Ecuaciones de Modificadores Ópticos (IAM y Masa de Aire)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22716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22716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de refracción del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(Extinción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del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1508760"/>
            <a:ext cx="522716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214884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7" y="283464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15887" y="3749039"/>
            <a:ext cx="52271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 a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 de la celda.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condiciones de referencia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 Sandia para Temperatura de Celda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de la celda fotovoltaica se modela a partir del equilibrio térmico dinámico: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total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 viento circundante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613855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64309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Utilizados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62480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Silicio Monocristalino (m-Si) — glass/polymer (marco estándar):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Heterounión (HIT) — glass/glass (encapsulado térmico premium):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Estos coeficientes están validados empíricamente por el Sandia National Laboratories.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Trascendental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implícita de corriente del modelo de diodo simple con resistencias parásitas (Rs y Rsh):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Donde: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: Número de celdas en serie (m-Si: 36, HIT: 72).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>
                <a:solidFill>
                  <a:srgbClr val="E8A838"/>
                </a:solidFill>
              </a:rPr>
              <a:t>: Factor de idealidad del diodo (idealmente entre 1 y 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6248095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60652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8823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: Corriente fotogenerada por el efecto fotoeléctrico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 de saturación inversa de la unión P-N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Resistencias parásitas en serie y paralelo (shunt)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temperatura de celda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Anexo V: Ecuaciones de Extracción en STC y Derivada Analítica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Ajuste en STC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Condiciones que determinan los 5 parámetros de referencia en STC (1000 W/m², 25°C):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Cortocircuito: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Circuito Abierto: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Máxima Potencia: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mp,ref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Derivada de Potencia en MPP (d</a:t>
            </a:r>
            <a:r>
              <a:rPr sz="1500" i="1">
                <a:solidFill>
                  <a:srgbClr val="FFFFFF"/>
                </a:solidFill>
              </a:rPr>
              <a:t>P</a:t>
            </a:r>
            <a:r>
              <a:rPr sz="1500">
                <a:solidFill>
                  <a:srgbClr val="FFFFFF"/>
                </a:solidFill>
              </a:rPr>
              <a:t>/d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21735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886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Coeficiente térmico experimental de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1579746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212080" y="1097280"/>
            <a:ext cx="661385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188720"/>
            <a:ext cx="64309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Completa en 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554480"/>
            <a:ext cx="6248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Para la optimización, se derivó analíticamente la ecuación implícita en la zona del MPP:</a:t>
            </a:r>
          </a:p>
        </p:txBody>
      </p:sp>
      <p:pic>
        <p:nvPicPr>
          <p:cNvPr id="12" name="Picture 11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94560"/>
            <a:ext cx="4002528" cy="6217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94960" y="2971800"/>
            <a:ext cx="6248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 los coeficientes internos del diodo se definen como:</a:t>
            </a:r>
          </a:p>
        </p:txBody>
      </p:sp>
      <p:pic>
        <p:nvPicPr>
          <p:cNvPr id="14" name="Picture 13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383280"/>
            <a:ext cx="2413292" cy="502920"/>
          </a:xfrm>
          <a:prstGeom prst="rect">
            <a:avLst/>
          </a:prstGeom>
        </p:spPr>
      </p:pic>
      <p:pic>
        <p:nvPicPr>
          <p:cNvPr id="15" name="Picture 14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977639"/>
            <a:ext cx="867047" cy="411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Anexo VI: Ecuaciones de Escalamiento a Condiciones de Operación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029200" cy="4101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51460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4083403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10896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4447" y="1188720"/>
            <a:ext cx="541004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5887" y="155448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1874519"/>
            <a:ext cx="2736281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15887" y="251460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7" y="2834640"/>
            <a:ext cx="4082181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15887" y="3520440"/>
            <a:ext cx="522716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G: Modelada inversamente proporcional a la irradiancia incidente efectiva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el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8A838"/>
                </a:solidFill>
              </a:defRPr>
            </a:pPr>
            <a:r>
              <a:rPr sz="2400" b="1">
                <a:solidFill>
                  <a:srgbClr val="E8A838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 Rendimiento Global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estándar de referencia:</a:t>
            </a:r>
          </a:p>
        </p:txBody>
      </p:sp>
      <p:pic>
        <p:nvPicPr>
          <p:cNvPr id="6" name="Picture 5" descr="eq_89f2913b946191ae2d2668e37f8cda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6620222" cy="685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V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 / 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: Tensión y corriente MPP horarias del SDM.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del panel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poa,t</a:t>
            </a:r>
            <a:r>
              <a:rPr sz="1400">
                <a:solidFill>
                  <a:srgbClr val="E8A838"/>
                </a:solidFill>
              </a:rPr>
              <a:t>: Irradiancia instantánea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ref</a:t>
            </a:r>
            <a:r>
              <a:rPr sz="1400">
                <a:solidFill>
                  <a:srgbClr val="E8A838"/>
                </a:solidFill>
              </a:rPr>
              <a:t>: Irradiancia de referencia a condiciones STC (1000 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6430975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6248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606521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Térmicas:</a:t>
            </a:r>
            <a:r>
              <a:rPr sz="1500">
                <a:solidFill>
                  <a:srgbClr val="FFFFFF"/>
                </a:solidFill>
              </a:rPr>
              <a:t>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Ópticas:</a:t>
            </a:r>
            <a:r>
              <a:rPr sz="1500">
                <a:solidFill>
                  <a:srgbClr val="FFFFFF"/>
                </a:solidFill>
              </a:rPr>
              <a:t> Pérdidas reflectivas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Espectrales:</a:t>
            </a:r>
            <a:r>
              <a:rPr sz="1500">
                <a:solidFill>
                  <a:srgbClr val="FFFFFF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Óhmicas:</a:t>
            </a:r>
            <a:r>
              <a:rPr sz="1500">
                <a:solidFill>
                  <a:srgbClr val="FFFFFF"/>
                </a:solidFill>
              </a:rPr>
              <a:t>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