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A838"/>
                </a:solidFill>
              </a:defRPr>
            </a:pPr>
            <a: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92608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Modelamiento Eléctrico mediante el Modelo de 5 Parámetros de De Soto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Integrantes / Estudiantes:</a:t>
            </a:r>
            <a:br/>
            <a:r>
              <a:t>Laury Gualdron  |  Sebastian Marin  |  Alejandro Hernández</a:t>
            </a:r>
            <a:br/>
            <a:br/>
            <a:r>
              <a:t>Profesor Guía: Carlos Cardenas</a:t>
            </a:r>
            <a:br/>
            <a:r>
              <a:t>ELI556 — Modelamiento y Análisis de Sistemas PV  |  Grupo Alta Tensión (AT)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Irradiancia GHI anual &gt; 2900 kWh/m² (máxima mundial).</a:t>
            </a:r>
            <a:br/>
            <a:r>
              <a:t>• Cielos extremadamente limpios con baja atenuación.</a:t>
            </a:r>
            <a:br/>
            <a:r>
              <a:t>• Altitud elevada (&gt;= 2400 m.s.n.m.): mayor radiación directa y UV.</a:t>
            </a:r>
            <a:br/>
            <a: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Las celdas solares operan a temperaturas &gt; 65°C a mediodía.</a:t>
            </a:r>
            <a:br/>
            <a:r>
              <a:t>• La potencia y el voltaje decaen fuertemente con el calor.</a:t>
            </a:r>
            <a:br/>
            <a:r>
              <a:t>• La eficiencia térmica es el factor dominante en pérdidas.</a:t>
            </a:r>
            <a:br/>
            <a: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Familias Tecnológicas en Dataset Cocoa (NREL)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097280"/>
                <a:gridCol w="1645920"/>
                <a:gridCol w="393192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1. Ingesta de Datos: Dataset NREL Cocoa (mediciones experimentales reales).</a:t>
            </a:r>
            <a:br/>
            <a:br/>
            <a:r>
              <a:t>2. Filtro de Emulación Geográfica: Traslación temporal (desfase de 6 meses) y re-localización espacial.</a:t>
            </a:r>
            <a:br/>
            <a:br/>
            <a:r>
              <a:t>3. Modelamiento Térmico: Modelo Sandia SAPM para estimación dinámica de la Temperatura de Celda (Tc).</a:t>
            </a:r>
            <a:br/>
            <a:br/>
            <a:r>
              <a:t>4. Caracterización Eléctrica: Extracción de los 5 parámetros De Soto en SRC usando Scipy Optimize.</a:t>
            </a:r>
            <a:br/>
            <a:br/>
            <a:r>
              <a:t>5. Simulación de Desempeño: Traslado de parámetros a operación y cómputo de PR minutal 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Fórmulas POA (Perez) y Absorción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1. Irradiancia en Plano de Arreglo (POA):</a:t>
            </a:r>
            <a:br/>
            <a:r>
              <a:t>G_poa = G_b · R_beam + G_d · [(1 + cos(β)) / 2] +</a:t>
            </a:r>
            <a:br/>
            <a:r>
              <a:t>        G · ρ · [(1 - cos(β)) / 2]</a:t>
            </a:r>
            <a:br/>
            <a:br/>
            <a:r>
              <a:t>2. Irradiancia Absorbida por Celdas (S):</a:t>
            </a:r>
            <a:br/>
            <a:r>
              <a:t>S / S_ref = (G_b/G_ref) · R_beam · K_τα,b +</a:t>
            </a:r>
            <a:br/>
            <a:r>
              <a:t>            (G_d/G_ref) · K_τα,d · [(1 + cos(β)) / 2] +</a:t>
            </a:r>
            <a:br/>
            <a:r>
              <a:t>            (G/G_ref) · ρ · K_τα,g · [(1 - cos(β)) / 2]</a:t>
            </a:r>
            <a:br/>
            <a:br/>
            <a:r>
              <a:t>Donde S_ref = G_ref = 1000 W/m² (SRC).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Glosario de Términos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G_b / G_d / G: Irradiancia directa, difusa y global horizontal (W/m²).</a:t>
            </a:r>
            <a:br/>
            <a:r>
              <a:t>• β (Tilt): Ángulo de inclinación del panel (22.91° optimizado).</a:t>
            </a:r>
            <a:br/>
            <a:r>
              <a:t>• ρ (Albedo): Reflectancia del suelo árido desértico (~0.20).</a:t>
            </a:r>
            <a:br/>
            <a:r>
              <a:t>• R_beam: Factor de transposición geométrica para radiación directa.</a:t>
            </a:r>
            <a:br/>
            <a:r>
              <a:t>• K_τα,b / K_τα,d / K_τα,g: Modificadores por ángulo de incidencia (IAM) para componente directa, difusa y del suelo.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Modificador por Ángulo de Incidencia (IAM)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Ecuación física basada en Ley de Snell y Bouguer:</a:t>
            </a:r>
            <a:br/>
            <a:r>
              <a:t>K_τα(θ) = τ(θ) / τ(0)</a:t>
            </a:r>
            <a:br/>
            <a:br/>
            <a:r>
              <a:t>τ(θ) = exp(-K·L / cos(θ_r)) · [1 - 0.5 · (</a:t>
            </a:r>
            <a:br/>
            <a:r>
              <a:t>       sin²(θ_r − θ)/sin²(θ_r + θ) + </a:t>
            </a:r>
            <a:br/>
            <a:r>
              <a:t>       tan²(θ_r − θ)/tan²(θ_r + θ) )]</a:t>
            </a:r>
            <a:br/>
            <a:br/>
            <a:r>
              <a:t>θ_r = arcsin(sin(θ) / n)</a:t>
            </a:r>
            <a:br/>
            <a:br/>
            <a:r>
              <a:t>Glosario:</a:t>
            </a:r>
            <a:br/>
            <a:r>
              <a:t>• θ: Ángulo de incidencia solar respecto a la normal del panel.</a:t>
            </a:r>
            <a:br/>
            <a:r>
              <a:t>• n = 1.526 (Índice de refracción del vidrio templado).</a:t>
            </a:r>
            <a:br/>
            <a:r>
              <a:t>• K = 4 m⁻¹ (Coeficiente de absorción del vidrio).</a:t>
            </a:r>
            <a:br/>
            <a:r>
              <a:t>• L = 2 mm (Espesor típico del vidrio del panel).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Modificador por Masa de Aire (AM)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Corrige el desajuste del espectro solar según el espesor de la atmósfera atravesada:</a:t>
            </a:r>
            <a:br/>
            <a:r>
              <a:t>M / M_ref = a_0 + a_1 · AM + a_2 · AM² + a_3 · AM³ + a_4 · AM⁴</a:t>
            </a:r>
            <a:br/>
            <a:br/>
            <a:r>
              <a:t>AM = 1 / [cos(θ_z) + 0.5057 · (96.08 − θ_z)⁻¹·⁶³⁴]</a:t>
            </a:r>
            <a:br/>
            <a:br/>
            <a:r>
              <a:t>Glosario:</a:t>
            </a:r>
            <a:br/>
            <a:r>
              <a:t>• AM: Masa de aire absoluta (corregida por presión atmosférica local).</a:t>
            </a:r>
            <a:br/>
            <a:r>
              <a:t>• θ_z: Ángulo cenital del sol.</a:t>
            </a:r>
            <a:br/>
            <a:r>
              <a:t>• a_0 a a_4: Coeficientes empíricos espectrales según el tipo de semiconductor (establecidos por De Soto).</a:t>
            </a:r>
            <a:br/>
            <a:r>
              <a:t>• M_ref: Transmitancia del espectro solar en STC (AM 1.5g).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Temperatura de Celda (Sandia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La temperatura interna de la celda (Tc) depende de la irradiancia, temperatura ambiente y viento:</a:t>
            </a:r>
            <a:br/>
            <a:br/>
            <a:r>
              <a:t>T_c = G_poa · exp(a + b · v_w) + T_a + (G_poa / 1000) · ΔT</a:t>
            </a:r>
            <a:br/>
            <a:br/>
            <a:r>
              <a:t>Glosario de Términos:</a:t>
            </a:r>
            <a:br/>
            <a:r>
              <a:t>• T_c / T_a: Temperatura de celda y ambiental (°C).</a:t>
            </a:r>
            <a:br/>
            <a:r>
              <a:t>• G_poa: Irradiancia en el plano del panel (W/m²).</a:t>
            </a:r>
            <a:br/>
            <a:r>
              <a:t>• v_w: Velocidad del viento (asumida 1 m/s constante).</a:t>
            </a:r>
            <a:br/>
            <a:r>
              <a:t>• a, b, ΔT: Parámetros empíricos según encapsulado físico.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Coeficientes por Tecnología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Los parámetros empíricos varían según la disipación del marco y capas protectoras:</a:t>
            </a:r>
            <a:br/>
            <a:br/>
            <a:r>
              <a:t>1. Silicio Monocristalino (m-Si) — glass/polymer:</a:t>
            </a:r>
            <a:br/>
            <a:r>
              <a:t>   • a = -3.56  |  b = -0.075</a:t>
            </a:r>
            <a:br/>
            <a:r>
              <a:t>   • ΔT = 3.0 °C</a:t>
            </a:r>
            <a:br/>
            <a:r>
              <a:t>   → Comportamiento: Disipación estándar, mayor calentamiento.</a:t>
            </a:r>
            <a:br/>
            <a:br/>
            <a:r>
              <a:t>2. Heterounión (HIT) — glass/glass:</a:t>
            </a:r>
            <a:br/>
            <a:r>
              <a:t>   • a = -3.47  |  b = -0.059</a:t>
            </a:r>
            <a:br/>
            <a:r>
              <a:t>   • ΔT = 3.0 °C</a:t>
            </a:r>
            <a:br/>
            <a: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Temperatura promedio diurna de celda: ~38°C a 45°C.</a:t>
            </a:r>
            <a:br/>
            <a:r>
              <a:t>• Picos térmicos extremos superan los 65°C a mediodía en verano.</a:t>
            </a:r>
            <a:br/>
            <a:r>
              <a:t>• Clima desértico seco reduce la convección natural del marco.</a:t>
            </a:r>
            <a:br/>
            <a:r>
              <a:t>• Las altas temperaturas aumentan la corriente de saturación inversa (Io), reduciendo severamente el Voc.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Modelo de 5 Parámetros: Diodo Simple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El módulo se modela como un circuito de un diodo y resistencias de pérdidas:</a:t>
            </a:r>
            <a:br/>
            <a:br/>
            <a:r>
              <a:t>I = I_L − I_0 · [ exp((V + I·R_s) / a) − 1 ] − (V + I·R_s) / R_sh</a:t>
            </a:r>
            <a:br/>
            <a:br/>
            <a:r>
              <a:t>El factor de idealidad modificado (a) se define por la física del semiconductor:</a:t>
            </a:r>
            <a:br/>
            <a:br/>
            <a:r>
              <a:t>a = (N_s · n_I · k · T_c) / q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Glosario de Parámetros Físicos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• I / V: Corriente y voltaje de salida (A, V).</a:t>
            </a:r>
            <a:br/>
            <a:r>
              <a:t>• I_L: Corriente fotogenerada por luz (A) (light current).</a:t>
            </a:r>
            <a:br/>
            <a:r>
              <a:t>• I_0: Corriente de saturación inversa del diodo (A).</a:t>
            </a:r>
            <a:br/>
            <a:r>
              <a:t>• R_s: Resistencia serie (pérdidas por conducción) (Ω).</a:t>
            </a:r>
            <a:br/>
            <a:r>
              <a:t>• R_sh: Resistencia paralelo o shunt (corrientes de fuga) (Ω).</a:t>
            </a:r>
            <a:br/>
            <a:r>
              <a:t>• N_s: Número de celdas conectadas en serie (mSi: 36, HIT: 72).</a:t>
            </a:r>
            <a:br/>
            <a:r>
              <a:t>• n_I: Factor de idealidad del diodo (adimensional).</a:t>
            </a:r>
            <a:br/>
            <a:r>
              <a:t>• k: Constante de Boltzmann (1.3806e-23 J/K).</a:t>
            </a:r>
            <a:br/>
            <a:r>
              <a:t>• q: Carga del electrón (1.6022e-19 C).</a:t>
            </a:r>
            <a:br/>
            <a:r>
              <a:t>• T_c: Temperatura de la celda (K).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Se extraen aref, IL,ref, I0,ref, Rs,ref, Rsh,ref en STC (1000 W/m², 25°C):</a:t>
            </a:r>
            <a:br/>
            <a:br/>
            <a:r>
              <a:t>1. Cortocircuito (Isc): V = 0, I = Isc,ref</a:t>
            </a:r>
            <a:br/>
            <a:r>
              <a:t>2. Circuito Abierto (Voc): I = 0, V = Voc,ref</a:t>
            </a:r>
            <a:br/>
            <a:r>
              <a:t>3. Máxima Potencia (MPP): I = Imp,ref, V = Vmp,ref</a:t>
            </a:r>
            <a:br/>
            <a:r>
              <a:t>4. Pendiente en MPP (dP/dV = 0):</a:t>
            </a:r>
            <a:br/>
            <a:r>
              <a:t>   dI/dV|_mp = -Imp,ref / Vmp,ref</a:t>
            </a:r>
            <a:br/>
            <a:r>
              <a:t>5. Coeficiente térmico de Voc: β_Voc = ∂Voc/∂Tc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 la Derivada Analítica en MPP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Para acoplar Rs y el factor de idealidad, se implementa la derivada analítica obtenida del circuito:</a:t>
            </a:r>
            <a:br/>
            <a:br/>
            <a:r>
              <a:t>dI/dV|_mp = - [ A + B ] / [ 1 + Rs · A + Rs · B ]</a:t>
            </a:r>
            <a:br/>
            <a:br/>
            <a:r>
              <a:t>Donde:</a:t>
            </a:r>
            <a:br/>
            <a:r>
              <a:t>  A = (I_0 / a) · exp((V_mp + I_mp · Rs) / a)</a:t>
            </a:r>
            <a:br/>
            <a:r>
              <a:t>  B = 1 / R_sh</a:t>
            </a:r>
            <a:br/>
            <a:br/>
            <a:r>
              <a:t>La optimización se realiza mediante ajuste de mínimos cuadrados con bounds físicos (Rs &gt; 0, n_I ∈ [1, 2]).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Dependencias con (G, Tc) de De Soto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1. Factor de Idealidad: a / a_ref = T_c / T_ref</a:t>
            </a:r>
            <a:br/>
            <a:br/>
            <a:r>
              <a:t>2. Corriente de Saturación Inversa (Io):</a:t>
            </a:r>
            <a:br/>
            <a:r>
              <a:t>Io / Io,ref = (T_c/T_ref)³ · exp[(E_g,ref/(k·T_ref)) − (E_g/(k·T_c))]</a:t>
            </a:r>
            <a:br/>
            <a:br/>
            <a:r>
              <a:t>3. Energía de Bandgap (Eg) del Silicio:</a:t>
            </a:r>
            <a:br/>
            <a:r>
              <a:t>E_g / E_g,ref = 1 − 0.0002677 · (T_c − T_ref)</a:t>
            </a:r>
            <a:br/>
            <a:r>
              <a:t>(E_g,ref = 1.121 eV para Si cristalino a 25°C)</a:t>
            </a:r>
            <a:br/>
            <a:br/>
            <a:r>
              <a:t>4. Corriente Fotogenerada (IL):</a:t>
            </a:r>
            <a:br/>
            <a:r>
              <a:t>I_L = (S/S_ref) · (M/M_ref) · [I_L,ref + α_Isc · (T_c − T_ref)]</a:t>
            </a:r>
            <a:br/>
            <a:br/>
            <a:r>
              <a:t>5. Resistencia Shunt: R_sh = R_sh,ref · (S_ref / 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Suposiciones Físicas Justificadas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• R_s Constante: Se asume R_s = R_s,ref.</a:t>
            </a:r>
            <a:br/>
            <a:r>
              <a:t>  Justificación: De Soto (2006) demuestra mediante validaciones contra NIST que la variación térmica de R_s es de segundo orden y su efecto en la curva I-V es despreciable.</a:t>
            </a:r>
            <a:br/>
            <a:br/>
            <a:r>
              <a:t>• R_sh dependiente de la Irradiancia Absorbida:</a:t>
            </a:r>
            <a:br/>
            <a:r>
              <a:t>  Sigue la relación inversamente proporcional con S para modelar cómo el aumento de portadores minoritarios abre caminos de fuga paralelos en la celda.</a:t>
            </a:r>
            <a:br/>
            <a:br/>
            <a:r>
              <a:t>• T_ref = 298.15 K (25°C)  |  S_ref = 1000 W/m².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Coeficiente de determinación R² &gt; 0.99 para ambas tecnologías.</a:t>
            </a:r>
            <a:br/>
            <a:r>
              <a:t>• RMSE &lt; 5W en condiciones estándar.</a:t>
            </a:r>
            <a:br/>
            <a:r>
              <a:t>• Validación cruzada: El modelo de De Soto reproduce con alta fidelidad las pérdidas por temperatura en celdas de silicio.</a:t>
            </a:r>
            <a:br/>
            <a: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El Performance Ratio (PR) evalúa la eficiencia neta del sistema fotovoltaico:</a:t>
            </a:r>
            <a:br/>
            <a:br/>
            <a:r>
              <a:t>PR = Σ P_mp,SDM(G, T_c) / Σ [ P_STC · (G_poa / 1000) ]</a:t>
            </a:r>
            <a:br/>
            <a:br/>
            <a:r>
              <a:t>Glosario de Términos:</a:t>
            </a:r>
            <a:br/>
            <a:r>
              <a:t>• P_mp,SDM: Potencia en el MPP simulada minuciosamente hora a hora usando el modelo De Soto (W).</a:t>
            </a:r>
            <a:br/>
            <a:r>
              <a:t>• P_STC: Potencia nominal del panel a STC (m-Si: 46.68 W | HIT: 217.52 W).</a:t>
            </a:r>
            <a:br/>
            <a:r>
              <a:t>• G_poa: Irradiancia calculada en el plano del panel (W/m²).</a:t>
            </a:r>
            <a:br/>
            <a:r>
              <a:t>• 1000: Irradiancia de referencia a STC (W/m²).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Significado Físico del PR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Indica la fracción de energía disponible que es realmente convertida en potencia útil de salida.</a:t>
            </a:r>
            <a:br/>
            <a:br/>
            <a:r>
              <a:t>• Un PR de 100% representaría un panel operando permanentemente a 25°C de temperatura de celda y sin ninguna pérdida reflectiva, de cableado o de suciedad.</a:t>
            </a:r>
            <a:br/>
            <a:br/>
            <a:r>
              <a:t>• Captura y penaliza de forma acumulativa:</a:t>
            </a:r>
            <a:br/>
            <a:r>
              <a:t>  1. Pérdidas Térmicas (elevada temperatura Tc).</a:t>
            </a:r>
            <a:br/>
            <a:r>
              <a:t>  2. Pérdidas Ópticas por Ángulo de Incidencia (IAM).</a:t>
            </a:r>
            <a:br/>
            <a:r>
              <a:t>  3. Pérdidas por Atenuación Espectral (Masa de Aire).</a:t>
            </a:r>
            <a:br/>
            <a:r>
              <a:t>  4. Pérdidas Óhmicas Internas (Resistencia Serie 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HIT (Naranja): Pendiente suave. Su bajo coeficiente térmico (-0.26 %/°C) mantiene una alta eficiencia de conversión incluso a 65°C de celda.</a:t>
            </a:r>
            <a:br/>
            <a:br/>
            <a: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8A838"/>
                </a:solidFill>
              </a:defRPr>
            </a:pPr>
            <a:r>
              <a:t>• Performance Ratio Anual m-Si: 84.53%</a:t>
            </a:r>
            <a:br/>
            <a:r>
              <a:t>• Performance Ratio Anual HIT: 86.92%</a:t>
            </a:r>
            <a:br/>
            <a:br/>
            <a:r>
              <a:t>• Ganancia Neta en PR: +2.39% a favor de HIT.</a:t>
            </a:r>
            <a:br/>
            <a:br/>
            <a: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Para una planta solar de gran escala de 100 MWp:</a:t>
            </a:r>
            <a:br/>
            <a:br/>
            <a:r>
              <a:t>• Cada +1% de Performance Ratio anual representa aproximadamente 2,500 MWh adicionales de generación de energía.</a:t>
            </a:r>
            <a:br/>
            <a:br/>
            <a:r>
              <a:t>• La ganancia de +2.39% de la tecnología HIT equivale a ~6,000 MWh/año adicionales de facturación neta.</a:t>
            </a:r>
            <a:br/>
            <a:br/>
            <a: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1. La emulación geográfica (Cocoa → Atacama) fue coherente, permitiendo evaluar el Performance Ratio real.</a:t>
            </a:r>
            <a:br/>
            <a:br/>
            <a:r>
              <a:t>2. El modelo De Soto de 5 parámetros reprodujo con altísima precisión (R² &gt; 0.99) el desempeño medido.</a:t>
            </a:r>
            <a:br/>
            <a:br/>
            <a:r>
              <a:t>3. La tecnología HIT supera en un 2.39% de PR anual al silicio monocristalino estándar.</a:t>
            </a:r>
            <a:br/>
            <a:br/>
            <a: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Integración de Bifacialidad: Modelar la ganancia por albedo posterior del suelo desértico (ρ &gt; 0.25).</a:t>
            </a:r>
            <a:br/>
            <a:br/>
            <a:r>
              <a:t>• Estudio de doble diodo: Capturar efectos de recombinación interna a baja irradiancia.</a:t>
            </a:r>
            <a:br/>
            <a:br/>
            <a:r>
              <a:t>• Pérdidas por acumulación de polvo (soiling) en el Desierto de Atacama.</a:t>
            </a:r>
            <a:br/>
            <a:br/>
            <a: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De Soto, W., Klein, S.A., Beckman, W.A. (2006). "Improvement and validation of a model for photovoltaic array performance." Solar Energy 80 (2006) 78–88.</a:t>
            </a:r>
            <a:br/>
            <a:br/>
            <a:r>
              <a:t>• Sandia National Laboratories - Photovoltaic Array Performance Model (Sandia Report SAND2004-3535).</a:t>
            </a:r>
            <a:br/>
            <a:br/>
            <a:r>
              <a:t>• NREL Cocoa Dataset - Experimental Measurements for Model Validation.</a:t>
            </a:r>
            <a:br/>
            <a:br/>
            <a:r>
              <a:t>• pvlib-python Library documentation &amp; community contributors.</a:t>
            </a:r>
            <a:br/>
            <a:br/>
            <a:r>
              <a:t>• Marion, B. et al. (2014). "Cocoa, Florida Data Set for Validating PV Models." NREL Technical Report.</a:t>
            </a:r>
            <a:br/>
            <a:br/>
            <a: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