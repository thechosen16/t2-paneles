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365760" y="1645920"/>
            <a:ext cx="11460175" cy="1371600"/>
          </a:xfrm>
          <a:prstGeom prst="rect">
            <a:avLst/>
          </a:prstGeom>
          <a:noFill/>
        </p:spPr>
        <p:txBody>
          <a:bodyPr wrap="square">
            <a:spAutoFit/>
          </a:bodyPr>
          <a:lstStyle/>
          <a:p>
            <a:pPr algn="ctr">
              <a:defRPr sz="3600">
                <a:solidFill>
                  <a:srgbClr val="E8A838"/>
                </a:solidFill>
              </a:defRPr>
            </a:pPr>
            <a:r>
              <a:rPr sz="3600" b="1">
                <a:solidFill>
                  <a:srgbClr val="E8A838"/>
                </a:solidFill>
              </a:rPr>
              <a:t>Evaluación de Tecnologías Fotovoltaicas en el Desierto de Atacama</a:t>
            </a:r>
          </a:p>
        </p:txBody>
      </p:sp>
      <p:sp>
        <p:nvSpPr>
          <p:cNvPr id="3" name="TextBox 2"/>
          <p:cNvSpPr txBox="1"/>
          <p:nvPr/>
        </p:nvSpPr>
        <p:spPr>
          <a:xfrm>
            <a:off x="365760" y="3474720"/>
            <a:ext cx="11460175" cy="1828800"/>
          </a:xfrm>
          <a:prstGeom prst="rect">
            <a:avLst/>
          </a:prstGeom>
          <a:noFill/>
        </p:spPr>
        <p:txBody>
          <a:bodyPr wrap="square">
            <a:spAutoFit/>
          </a:bodyPr>
          <a:lstStyle/>
          <a:p>
            <a:pPr algn="ctr">
              <a:defRPr sz="1600">
                <a:solidFill>
                  <a:srgbClr val="FFFFFF"/>
                </a:solidFill>
              </a:defRPr>
            </a:pPr>
            <a:r>
              <a:rPr sz="1600">
                <a:solidFill>
                  <a:srgbClr val="FFFFFF"/>
                </a:solidFill>
              </a:rPr>
              <a:t>Integrantes / Estudiantes:</a:t>
            </a:r>
          </a:p>
          <a:p>
            <a:pPr algn="ctr">
              <a:defRPr sz="1600">
                <a:solidFill>
                  <a:srgbClr val="FFFFFF"/>
                </a:solidFill>
              </a:defRPr>
            </a:pPr>
            <a:r>
              <a:rPr sz="1600">
                <a:solidFill>
                  <a:srgbClr val="FFFFFF"/>
                </a:solidFill>
              </a:rPr>
              <a:t>Laury Gualdron  |  Sebastian Marin  |  Alejandro Hernández</a:t>
            </a:r>
          </a:p>
          <a:p>
            <a:pPr algn="ctr">
              <a:defRPr sz="1600">
                <a:solidFill>
                  <a:srgbClr val="FFFFFF"/>
                </a:solidFill>
              </a:defRPr>
            </a:pPr>
          </a:p>
          <a:p>
            <a:pPr algn="ctr">
              <a:defRPr sz="1600">
                <a:solidFill>
                  <a:srgbClr val="FFFFFF"/>
                </a:solidFill>
              </a:defRPr>
            </a:pPr>
            <a:r>
              <a:rPr sz="1600">
                <a:solidFill>
                  <a:srgbClr val="FFFFFF"/>
                </a:solidFill>
              </a:rPr>
              <a:t>Profesor Guía: Carlos Cardenas</a:t>
            </a:r>
          </a:p>
          <a:p>
            <a:pPr algn="ctr">
              <a:defRPr sz="1600">
                <a:solidFill>
                  <a:srgbClr val="FFFFFF"/>
                </a:solidFill>
              </a:defRPr>
            </a:pPr>
            <a:r>
              <a:rPr sz="1600">
                <a:solidFill>
                  <a:srgbClr val="FFFFFF"/>
                </a:solidFill>
              </a:rPr>
              <a:t>ELI556 — Modelamiento y Análisis de Sistemas PV  |  Grupo Alta Tensión (AT)</a:t>
            </a:r>
          </a:p>
          <a:p>
            <a:pPr algn="ctr">
              <a:defRPr sz="1600">
                <a:solidFill>
                  <a:srgbClr val="FFFFFF"/>
                </a:solidFill>
              </a:defRPr>
            </a:pPr>
            <a:r>
              <a:rPr sz="1600">
                <a:solidFill>
                  <a:srgbClr val="FFFFFF"/>
                </a:solidFill>
              </a:rPr>
              <a:t>Fecha de presentación: Jueves, 11 de junio de 2026</a:t>
            </a:r>
          </a:p>
        </p:txBody>
      </p:sp>
      <p:sp>
        <p:nvSpPr>
          <p:cNvPr id="4" name="TextBox 3"/>
          <p:cNvSpPr txBox="1"/>
          <p:nvPr/>
        </p:nvSpPr>
        <p:spPr>
          <a:xfrm>
            <a:off x="365760" y="6492240"/>
            <a:ext cx="11460175" cy="274320"/>
          </a:xfrm>
          <a:prstGeom prst="rect">
            <a:avLst/>
          </a:prstGeom>
          <a:noFill/>
        </p:spPr>
        <p:txBody>
          <a:bodyPr wrap="none">
            <a:spAutoFit/>
          </a:bodyPr>
          <a:lstStyle/>
          <a:p>
            <a:pPr algn="r">
              <a:defRPr sz="1000">
                <a:solidFill>
                  <a:srgbClr val="787878"/>
                </a:solidFill>
              </a:defRPr>
            </a:pPr>
            <a:r>
              <a:t>ELI556 | Grupo Alta Tensión | Lámina 1/25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365760" y="365760"/>
            <a:ext cx="11460175" cy="731520"/>
          </a:xfrm>
          <a:prstGeom prst="rect">
            <a:avLst/>
          </a:prstGeom>
          <a:noFill/>
        </p:spPr>
        <p:txBody>
          <a:bodyPr wrap="square">
            <a:spAutoFit/>
          </a:bodyPr>
          <a:lstStyle/>
          <a:p>
            <a:pPr>
              <a:defRPr sz="2400">
                <a:solidFill>
                  <a:srgbClr val="E8A838"/>
                </a:solidFill>
              </a:defRPr>
            </a:pPr>
            <a:r>
              <a:rPr sz="2400" b="1">
                <a:solidFill>
                  <a:srgbClr val="E8A838"/>
                </a:solidFill>
              </a:rPr>
              <a:t>a) Introducción al problema y contextualización: El Desierto de Atacama</a:t>
            </a:r>
          </a:p>
        </p:txBody>
      </p:sp>
      <p:sp>
        <p:nvSpPr>
          <p:cNvPr id="3" name="Rectangle 2"/>
          <p:cNvSpPr/>
          <p:nvPr/>
        </p:nvSpPr>
        <p:spPr>
          <a:xfrm>
            <a:off x="365760" y="1097280"/>
            <a:ext cx="5592927"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5410047" cy="411480"/>
          </a:xfrm>
          <a:prstGeom prst="rect">
            <a:avLst/>
          </a:prstGeom>
          <a:noFill/>
        </p:spPr>
        <p:txBody>
          <a:bodyPr wrap="none">
            <a:spAutoFit/>
          </a:bodyPr>
          <a:lstStyle/>
          <a:p>
            <a:pPr>
              <a:defRPr sz="1800">
                <a:solidFill>
                  <a:srgbClr val="E8A838"/>
                </a:solidFill>
              </a:defRPr>
            </a:pPr>
            <a:r>
              <a:rPr sz="1800" b="1">
                <a:solidFill>
                  <a:srgbClr val="E8A838"/>
                </a:solidFill>
              </a:rPr>
              <a:t>Contexto: El Recurso Solar más Extremo</a:t>
            </a:r>
          </a:p>
        </p:txBody>
      </p:sp>
      <p:sp>
        <p:nvSpPr>
          <p:cNvPr id="5" name="TextBox 4"/>
          <p:cNvSpPr txBox="1"/>
          <p:nvPr/>
        </p:nvSpPr>
        <p:spPr>
          <a:xfrm>
            <a:off x="548640" y="1645920"/>
            <a:ext cx="5227167" cy="3657600"/>
          </a:xfrm>
          <a:prstGeom prst="rect">
            <a:avLst/>
          </a:prstGeom>
          <a:noFill/>
        </p:spPr>
        <p:txBody>
          <a:bodyPr wrap="square">
            <a:spAutoFit/>
          </a:bodyPr>
          <a:lstStyle/>
          <a:p>
            <a:pPr algn="l">
              <a:defRPr sz="1700">
                <a:solidFill>
                  <a:srgbClr val="FFFFFF"/>
                </a:solidFill>
              </a:defRPr>
            </a:pPr>
            <a:r>
              <a:rPr sz="1700">
                <a:solidFill>
                  <a:srgbClr val="FFFFFF"/>
                </a:solidFill>
              </a:rPr>
              <a:t>• </a:t>
            </a:r>
            <a:r>
              <a:rPr sz="1700" b="1">
                <a:solidFill>
                  <a:srgbClr val="FFFFFF"/>
                </a:solidFill>
              </a:rPr>
              <a:t>Irradiación Excepcional:</a:t>
            </a:r>
            <a:r>
              <a:rPr sz="1700">
                <a:solidFill>
                  <a:srgbClr val="FFFFFF"/>
                </a:solidFill>
              </a:rPr>
              <a:t> Irradiancia horizontal global (GHI) anual &gt; 2900 kWh/m² (máxima a nivel mundial).</a:t>
            </a:r>
          </a:p>
          <a:p>
            <a:pPr algn="l">
              <a:defRPr sz="1700">
                <a:solidFill>
                  <a:srgbClr val="FFFFFF"/>
                </a:solidFill>
              </a:defRPr>
            </a:pPr>
          </a:p>
          <a:p>
            <a:pPr algn="l">
              <a:defRPr sz="1700">
                <a:solidFill>
                  <a:srgbClr val="FFFFFF"/>
                </a:solidFill>
              </a:defRPr>
            </a:pPr>
            <a:r>
              <a:rPr sz="1700">
                <a:solidFill>
                  <a:srgbClr val="FFFFFF"/>
                </a:solidFill>
              </a:rPr>
              <a:t>• </a:t>
            </a:r>
            <a:r>
              <a:rPr sz="1700" b="1">
                <a:solidFill>
                  <a:srgbClr val="FFFFFF"/>
                </a:solidFill>
              </a:rPr>
              <a:t>Cielos Limpios:</a:t>
            </a:r>
            <a:r>
              <a:rPr sz="1700">
                <a:solidFill>
                  <a:srgbClr val="FFFFFF"/>
                </a:solidFill>
              </a:rPr>
              <a:t> Baja atenuación atmosférica e irradiancia directa muy concentrada.</a:t>
            </a:r>
          </a:p>
          <a:p>
            <a:pPr algn="l">
              <a:defRPr sz="1700">
                <a:solidFill>
                  <a:srgbClr val="FFFFFF"/>
                </a:solidFill>
              </a:defRPr>
            </a:pPr>
          </a:p>
          <a:p>
            <a:pPr algn="l">
              <a:defRPr sz="1700">
                <a:solidFill>
                  <a:srgbClr val="FFFFFF"/>
                </a:solidFill>
              </a:defRPr>
            </a:pPr>
            <a:r>
              <a:rPr sz="1700">
                <a:solidFill>
                  <a:srgbClr val="FFFFFF"/>
                </a:solidFill>
              </a:rPr>
              <a:t>• </a:t>
            </a:r>
            <a:r>
              <a:rPr sz="1700" b="1">
                <a:solidFill>
                  <a:srgbClr val="FFFFFF"/>
                </a:solidFill>
              </a:rPr>
              <a:t>Efecto de Altitud:</a:t>
            </a:r>
            <a:r>
              <a:rPr sz="1700">
                <a:solidFill>
                  <a:srgbClr val="FFFFFF"/>
                </a:solidFill>
              </a:rPr>
              <a:t> Mayor radiación directa y UV en zonas elevadas (&gt;= 2400 m.s.n.m.).</a:t>
            </a:r>
          </a:p>
          <a:p>
            <a:pPr algn="l">
              <a:defRPr sz="1700">
                <a:solidFill>
                  <a:srgbClr val="FFFFFF"/>
                </a:solidFill>
              </a:defRPr>
            </a:pPr>
          </a:p>
          <a:p>
            <a:pPr algn="l">
              <a:defRPr sz="1700">
                <a:solidFill>
                  <a:srgbClr val="FFFFFF"/>
                </a:solidFill>
              </a:defRPr>
            </a:pPr>
            <a:r>
              <a:rPr sz="1700">
                <a:solidFill>
                  <a:srgbClr val="FFFFFF"/>
                </a:solidFill>
              </a:rPr>
              <a:t>• </a:t>
            </a:r>
            <a:r>
              <a:rPr sz="1700" b="1">
                <a:solidFill>
                  <a:srgbClr val="FFFFFF"/>
                </a:solidFill>
              </a:rPr>
              <a:t>Estudio Geográfico:</a:t>
            </a:r>
            <a:r>
              <a:rPr sz="1700">
                <a:solidFill>
                  <a:srgbClr val="FFFFFF"/>
                </a:solidFill>
              </a:rPr>
              <a:t> Simulación localizada para San Pedro de Atacama (Latitud -22.91°, Longitud -68.20°).</a:t>
            </a:r>
          </a:p>
        </p:txBody>
      </p:sp>
      <p:sp>
        <p:nvSpPr>
          <p:cNvPr id="6" name="Rectangle 5"/>
          <p:cNvSpPr/>
          <p:nvPr/>
        </p:nvSpPr>
        <p:spPr>
          <a:xfrm>
            <a:off x="6233007" y="1097280"/>
            <a:ext cx="5592927"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24447" y="1188720"/>
            <a:ext cx="5410047" cy="411480"/>
          </a:xfrm>
          <a:prstGeom prst="rect">
            <a:avLst/>
          </a:prstGeom>
          <a:noFill/>
        </p:spPr>
        <p:txBody>
          <a:bodyPr wrap="none">
            <a:spAutoFit/>
          </a:bodyPr>
          <a:lstStyle/>
          <a:p>
            <a:pPr>
              <a:defRPr sz="1800">
                <a:solidFill>
                  <a:srgbClr val="E8A838"/>
                </a:solidFill>
              </a:defRPr>
            </a:pPr>
            <a:r>
              <a:rPr sz="1800" b="1">
                <a:solidFill>
                  <a:srgbClr val="E8A838"/>
                </a:solidFill>
              </a:rPr>
              <a:t>El Desafío: El Estrés Térmico de Operación</a:t>
            </a:r>
          </a:p>
        </p:txBody>
      </p:sp>
      <p:sp>
        <p:nvSpPr>
          <p:cNvPr id="8" name="TextBox 7"/>
          <p:cNvSpPr txBox="1"/>
          <p:nvPr/>
        </p:nvSpPr>
        <p:spPr>
          <a:xfrm>
            <a:off x="6415887" y="1645920"/>
            <a:ext cx="5227167" cy="3657600"/>
          </a:xfrm>
          <a:prstGeom prst="rect">
            <a:avLst/>
          </a:prstGeom>
          <a:noFill/>
        </p:spPr>
        <p:txBody>
          <a:bodyPr wrap="square">
            <a:spAutoFit/>
          </a:bodyPr>
          <a:lstStyle/>
          <a:p>
            <a:pPr algn="l">
              <a:defRPr sz="1700">
                <a:solidFill>
                  <a:srgbClr val="FFFFFF"/>
                </a:solidFill>
              </a:defRPr>
            </a:pPr>
            <a:r>
              <a:rPr sz="1700">
                <a:solidFill>
                  <a:srgbClr val="FFFFFF"/>
                </a:solidFill>
              </a:rPr>
              <a:t>• </a:t>
            </a:r>
            <a:r>
              <a:rPr sz="1700" b="1">
                <a:solidFill>
                  <a:srgbClr val="FFFFFF"/>
                </a:solidFill>
              </a:rPr>
              <a:t>Calentamiento Severo:</a:t>
            </a:r>
            <a:r>
              <a:rPr sz="1700">
                <a:solidFill>
                  <a:srgbClr val="FFFFFF"/>
                </a:solidFill>
              </a:rPr>
              <a:t> Las celdas solares operan a temperaturas superiores a 65°C a mediodía en verano.</a:t>
            </a:r>
          </a:p>
          <a:p>
            <a:pPr algn="l">
              <a:defRPr sz="1700">
                <a:solidFill>
                  <a:srgbClr val="FFFFFF"/>
                </a:solidFill>
              </a:defRPr>
            </a:pPr>
          </a:p>
          <a:p>
            <a:pPr algn="l">
              <a:defRPr sz="1700">
                <a:solidFill>
                  <a:srgbClr val="FFFFFF"/>
                </a:solidFill>
              </a:defRPr>
            </a:pPr>
            <a:r>
              <a:rPr sz="1700">
                <a:solidFill>
                  <a:srgbClr val="FFFFFF"/>
                </a:solidFill>
              </a:rPr>
              <a:t>• </a:t>
            </a:r>
            <a:r>
              <a:rPr sz="1700" b="1">
                <a:solidFill>
                  <a:srgbClr val="FFFFFF"/>
                </a:solidFill>
              </a:rPr>
              <a:t>Degradación Térmica:</a:t>
            </a:r>
            <a:r>
              <a:rPr sz="1700">
                <a:solidFill>
                  <a:srgbClr val="FFFFFF"/>
                </a:solidFill>
              </a:rPr>
              <a:t> La potencia máxima y el voltaje decaen con el incremento de la temperatura de celda (</a:t>
            </a:r>
            <a:r>
              <a:rPr sz="1700" i="1">
                <a:solidFill>
                  <a:srgbClr val="FFFFFF"/>
                </a:solidFill>
              </a:rPr>
              <a:t>T</a:t>
            </a:r>
            <a:r>
              <a:rPr sz="1700" i="1">
                <a:solidFill>
                  <a:srgbClr val="FFFFFF"/>
                </a:solidFill>
              </a:rPr>
              <a:t>c</a:t>
            </a:r>
            <a:r>
              <a:rPr sz="1700">
                <a:solidFill>
                  <a:srgbClr val="FFFFFF"/>
                </a:solidFill>
              </a:rPr>
              <a:t>).</a:t>
            </a:r>
          </a:p>
          <a:p>
            <a:pPr algn="l">
              <a:defRPr sz="1700">
                <a:solidFill>
                  <a:srgbClr val="FFFFFF"/>
                </a:solidFill>
              </a:defRPr>
            </a:pPr>
          </a:p>
          <a:p>
            <a:pPr algn="l">
              <a:defRPr sz="1700">
                <a:solidFill>
                  <a:srgbClr val="FFFFFF"/>
                </a:solidFill>
              </a:defRPr>
            </a:pPr>
            <a:r>
              <a:rPr sz="1700">
                <a:solidFill>
                  <a:srgbClr val="FFFFFF"/>
                </a:solidFill>
              </a:rPr>
              <a:t>• </a:t>
            </a:r>
            <a:r>
              <a:rPr sz="1700" b="1">
                <a:solidFill>
                  <a:srgbClr val="FFFFFF"/>
                </a:solidFill>
              </a:rPr>
              <a:t>Objetivo:</a:t>
            </a:r>
            <a:r>
              <a:rPr sz="1700">
                <a:solidFill>
                  <a:srgbClr val="FFFFFF"/>
                </a:solidFill>
              </a:rPr>
              <a:t> Modelar dinámicamente y comparar qué tecnología resiste de mejor manera este estrés térmico desértico durante el año calendario 2026.</a:t>
            </a:r>
          </a:p>
        </p:txBody>
      </p:sp>
      <p:sp>
        <p:nvSpPr>
          <p:cNvPr id="9" name="TextBox 8"/>
          <p:cNvSpPr txBox="1"/>
          <p:nvPr/>
        </p:nvSpPr>
        <p:spPr>
          <a:xfrm>
            <a:off x="365760" y="6492240"/>
            <a:ext cx="11460175" cy="274320"/>
          </a:xfrm>
          <a:prstGeom prst="rect">
            <a:avLst/>
          </a:prstGeom>
          <a:noFill/>
        </p:spPr>
        <p:txBody>
          <a:bodyPr wrap="none">
            <a:spAutoFit/>
          </a:bodyPr>
          <a:lstStyle/>
          <a:p>
            <a:pPr algn="r">
              <a:defRPr sz="1000">
                <a:solidFill>
                  <a:srgbClr val="787878"/>
                </a:solidFill>
              </a:defRPr>
            </a:pPr>
            <a:r>
              <a:t>ELI556 | Grupo Alta Tensión | Lámina 2/25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365760" y="365760"/>
            <a:ext cx="11460175" cy="731520"/>
          </a:xfrm>
          <a:prstGeom prst="rect">
            <a:avLst/>
          </a:prstGeom>
          <a:noFill/>
        </p:spPr>
        <p:txBody>
          <a:bodyPr wrap="square">
            <a:spAutoFit/>
          </a:bodyPr>
          <a:lstStyle/>
          <a:p>
            <a:pPr>
              <a:defRPr sz="2400">
                <a:solidFill>
                  <a:srgbClr val="E8A838"/>
                </a:solidFill>
              </a:defRPr>
            </a:pPr>
            <a:r>
              <a:rPr sz="2400" b="1">
                <a:solidFill>
                  <a:srgbClr val="E8A838"/>
                </a:solidFill>
              </a:rPr>
              <a:t>b) Justificación e impacto (relevancia del tema): Selección de Tecnologías</a:t>
            </a:r>
          </a:p>
        </p:txBody>
      </p:sp>
      <p:sp>
        <p:nvSpPr>
          <p:cNvPr id="3" name="Rectangle 2"/>
          <p:cNvSpPr/>
          <p:nvPr/>
        </p:nvSpPr>
        <p:spPr>
          <a:xfrm>
            <a:off x="365760" y="1097280"/>
            <a:ext cx="11460175"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411480"/>
          </a:xfrm>
          <a:prstGeom prst="rect">
            <a:avLst/>
          </a:prstGeom>
          <a:noFill/>
        </p:spPr>
        <p:txBody>
          <a:bodyPr wrap="none">
            <a:spAutoFit/>
          </a:bodyPr>
          <a:lstStyle/>
          <a:p>
            <a:pPr>
              <a:defRPr sz="1800">
                <a:solidFill>
                  <a:srgbClr val="E8A838"/>
                </a:solidFill>
              </a:defRPr>
            </a:pPr>
            <a:r>
              <a:rPr sz="1800" b="1">
                <a:solidFill>
                  <a:srgbClr val="E8A838"/>
                </a:solidFill>
              </a:rPr>
              <a:t>Comparativa de Familias del Dataset Cocoa (NREL) y Criterio de Selección</a:t>
            </a:r>
          </a:p>
        </p:txBody>
      </p:sp>
      <p:graphicFrame>
        <p:nvGraphicFramePr>
          <p:cNvPr id="5" name="Table 4"/>
          <p:cNvGraphicFramePr>
            <a:graphicFrameLocks noGrp="1"/>
          </p:cNvGraphicFramePr>
          <p:nvPr/>
        </p:nvGraphicFramePr>
        <p:xfrm>
          <a:off x="548640" y="1645920"/>
          <a:ext cx="11064240" cy="4114800"/>
        </p:xfrm>
        <a:graphic>
          <a:graphicData uri="http://schemas.openxmlformats.org/drawingml/2006/table">
            <a:tbl>
              <a:tblPr firstRow="1" bandRow="1">
                <a:tableStyleId>{5940675A-B579-460E-94D1-54222C63F5DA}</a:tableStyleId>
              </a:tblPr>
              <a:tblGrid>
                <a:gridCol w="2377440"/>
                <a:gridCol w="1097280"/>
                <a:gridCol w="1645920"/>
                <a:gridCol w="3383280"/>
                <a:gridCol w="2560320"/>
              </a:tblGrid>
              <a:tr h="685800">
                <a:tc>
                  <a:txBody>
                    <a:bodyPr/>
                    <a:lstStyle/>
                    <a:p>
                      <a:pPr algn="ctr">
                        <a:defRPr b="1" sz="1400">
                          <a:solidFill>
                            <a:srgbClr val="E8A838"/>
                          </a:solidFill>
                        </a:defRPr>
                      </a:pPr>
                      <a:r>
                        <a:t>Tecnología</a:t>
                      </a:r>
                    </a:p>
                  </a:txBody>
                  <a:tcPr anchor="ctr">
                    <a:solidFill>
                      <a:srgbClr val="2C2C48"/>
                    </a:solidFill>
                  </a:tcPr>
                </a:tc>
                <a:tc>
                  <a:txBody>
                    <a:bodyPr/>
                    <a:lstStyle/>
                    <a:p>
                      <a:pPr algn="ctr">
                        <a:defRPr b="1" sz="1400">
                          <a:solidFill>
                            <a:srgbClr val="E8A838"/>
                          </a:solidFill>
                        </a:defRPr>
                      </a:pPr>
                      <a:r>
                        <a:t>Eficiencia</a:t>
                      </a:r>
                    </a:p>
                  </a:txBody>
                  <a:tcPr anchor="ctr">
                    <a:solidFill>
                      <a:srgbClr val="2C2C48"/>
                    </a:solidFill>
                  </a:tcPr>
                </a:tc>
                <a:tc>
                  <a:txBody>
                    <a:bodyPr/>
                    <a:lstStyle/>
                    <a:p>
                      <a:pPr algn="ctr">
                        <a:defRPr b="1" sz="1400">
                          <a:solidFill>
                            <a:srgbClr val="E8A838"/>
                          </a:solidFill>
                        </a:defRPr>
                      </a:pPr>
                      <a:r>
                        <a:t>Coef. Temp. (Pmp)</a:t>
                      </a:r>
                    </a:p>
                  </a:txBody>
                  <a:tcPr anchor="ctr">
                    <a:solidFill>
                      <a:srgbClr val="2C2C48"/>
                    </a:solidFill>
                  </a:tcPr>
                </a:tc>
                <a:tc>
                  <a:txBody>
                    <a:bodyPr/>
                    <a:lstStyle/>
                    <a:p>
                      <a:pPr algn="ctr">
                        <a:defRPr b="1" sz="1400">
                          <a:solidFill>
                            <a:srgbClr val="E8A838"/>
                          </a:solidFill>
                        </a:defRPr>
                      </a:pPr>
                      <a:r>
                        <a:t>Comportamiento en Desierto</a:t>
                      </a:r>
                    </a:p>
                  </a:txBody>
                  <a:tcPr anchor="ctr">
                    <a:solidFill>
                      <a:srgbClr val="2C2C48"/>
                    </a:solidFill>
                  </a:tcPr>
                </a:tc>
                <a:tc>
                  <a:txBody>
                    <a:bodyPr/>
                    <a:lstStyle/>
                    <a:p>
                      <a:pPr algn="ctr">
                        <a:defRPr b="1" sz="1400">
                          <a:solidFill>
                            <a:srgbClr val="E8A838"/>
                          </a:solidFill>
                        </a:defRPr>
                      </a:pPr>
                      <a:r>
                        <a:t>Decisión / Rol</a:t>
                      </a:r>
                    </a:p>
                  </a:txBody>
                  <a:tcPr anchor="ctr">
                    <a:solidFill>
                      <a:srgbClr val="2C2C48"/>
                    </a:solidFill>
                  </a:tcPr>
                </a:tc>
              </a:tr>
              <a:tr h="685800">
                <a:tc>
                  <a:txBody>
                    <a:bodyPr/>
                    <a:lstStyle/>
                    <a:p>
                      <a:pPr algn="l">
                        <a:defRPr sz="1400" b="1">
                          <a:solidFill>
                            <a:srgbClr val="FFFFFF"/>
                          </a:solidFill>
                        </a:defRPr>
                      </a:pPr>
                      <a:r>
                        <a:t>m-Si / x-Si</a:t>
                      </a:r>
                    </a:p>
                    <a:p>
                      <a:pPr algn="l">
                        <a:defRPr sz="1400" b="1">
                          <a:solidFill>
                            <a:srgbClr val="FFFFFF"/>
                          </a:solidFill>
                        </a:defRPr>
                      </a:pPr>
                      <a:r>
                        <a:t>(Silicio Monocristalino)</a:t>
                      </a:r>
                    </a:p>
                  </a:txBody>
                  <a:tcPr anchor="ctr">
                    <a:solidFill>
                      <a:srgbClr val="28284B"/>
                    </a:solidFill>
                  </a:tcPr>
                </a:tc>
                <a:tc>
                  <a:txBody>
                    <a:bodyPr/>
                    <a:lstStyle/>
                    <a:p>
                      <a:pPr algn="ctr">
                        <a:defRPr sz="1400">
                          <a:solidFill>
                            <a:srgbClr val="FFFFFF"/>
                          </a:solidFill>
                        </a:defRPr>
                      </a:pPr>
                      <a:r>
                        <a:t>17% - 21%</a:t>
                      </a:r>
                    </a:p>
                  </a:txBody>
                  <a:tcPr anchor="ctr">
                    <a:solidFill>
                      <a:srgbClr val="28284B"/>
                    </a:solidFill>
                  </a:tcPr>
                </a:tc>
                <a:tc>
                  <a:txBody>
                    <a:bodyPr/>
                    <a:lstStyle/>
                    <a:p>
                      <a:pPr algn="ctr">
                        <a:defRPr sz="1400">
                          <a:solidFill>
                            <a:srgbClr val="FFFFFF"/>
                          </a:solidFill>
                        </a:defRPr>
                      </a:pPr>
                      <a:r>
                        <a:t>-0.40 %/°C (Malo)</a:t>
                      </a:r>
                    </a:p>
                  </a:txBody>
                  <a:tcPr anchor="ctr">
                    <a:solidFill>
                      <a:srgbClr val="28284B"/>
                    </a:solidFill>
                  </a:tcPr>
                </a:tc>
                <a:tc>
                  <a:txBody>
                    <a:bodyPr/>
                    <a:lstStyle/>
                    <a:p>
                      <a:pPr algn="l">
                        <a:defRPr sz="1300">
                          <a:solidFill>
                            <a:srgbClr val="FFFFFF"/>
                          </a:solidFill>
                        </a:defRPr>
                      </a:pPr>
                      <a:r>
                        <a:t>Grandes pérdidas por calor (baja tolerancia).</a:t>
                      </a:r>
                    </a:p>
                  </a:txBody>
                  <a:tcPr anchor="ctr">
                    <a:solidFill>
                      <a:srgbClr val="28284B"/>
                    </a:solidFill>
                  </a:tcPr>
                </a:tc>
                <a:tc>
                  <a:txBody>
                    <a:bodyPr/>
                    <a:lstStyle/>
                    <a:p>
                      <a:pPr algn="ctr">
                        <a:defRPr sz="1400" b="1">
                          <a:solidFill>
                            <a:srgbClr val="E8A838"/>
                          </a:solidFill>
                        </a:defRPr>
                      </a:pPr>
                      <a:r>
                        <a:t>SELECCIONADO (Línea Base)</a:t>
                      </a:r>
                    </a:p>
                  </a:txBody>
                  <a:tcPr anchor="ctr">
                    <a:solidFill>
                      <a:srgbClr val="28284B"/>
                    </a:solidFill>
                  </a:tcPr>
                </a:tc>
              </a:tr>
              <a:tr h="685800">
                <a:tc>
                  <a:txBody>
                    <a:bodyPr/>
                    <a:lstStyle/>
                    <a:p>
                      <a:pPr algn="l">
                        <a:defRPr sz="1400" b="1">
                          <a:solidFill>
                            <a:srgbClr val="FFFFFF"/>
                          </a:solidFill>
                        </a:defRPr>
                      </a:pPr>
                      <a:r>
                        <a:t>HIT</a:t>
                      </a:r>
                    </a:p>
                    <a:p>
                      <a:pPr algn="l">
                        <a:defRPr sz="1400" b="1">
                          <a:solidFill>
                            <a:srgbClr val="FFFFFF"/>
                          </a:solidFill>
                        </a:defRPr>
                      </a:pPr>
                      <a:r>
                        <a:t>(Heterounión)</a:t>
                      </a:r>
                    </a:p>
                  </a:txBody>
                  <a:tcPr anchor="ctr">
                    <a:solidFill>
                      <a:srgbClr val="28284B"/>
                    </a:solidFill>
                  </a:tcPr>
                </a:tc>
                <a:tc>
                  <a:txBody>
                    <a:bodyPr/>
                    <a:lstStyle/>
                    <a:p>
                      <a:pPr algn="ctr">
                        <a:defRPr sz="1400">
                          <a:solidFill>
                            <a:srgbClr val="FFFFFF"/>
                          </a:solidFill>
                        </a:defRPr>
                      </a:pPr>
                      <a:r>
                        <a:t>20% - 22%</a:t>
                      </a:r>
                    </a:p>
                  </a:txBody>
                  <a:tcPr anchor="ctr">
                    <a:solidFill>
                      <a:srgbClr val="28284B"/>
                    </a:solidFill>
                  </a:tcPr>
                </a:tc>
                <a:tc>
                  <a:txBody>
                    <a:bodyPr/>
                    <a:lstStyle/>
                    <a:p>
                      <a:pPr algn="ctr">
                        <a:defRPr sz="1400">
                          <a:solidFill>
                            <a:srgbClr val="FFFFFF"/>
                          </a:solidFill>
                        </a:defRPr>
                      </a:pPr>
                      <a:r>
                        <a:t>-0.26 %/°C (Excelente)</a:t>
                      </a:r>
                    </a:p>
                  </a:txBody>
                  <a:tcPr anchor="ctr">
                    <a:solidFill>
                      <a:srgbClr val="28284B"/>
                    </a:solidFill>
                  </a:tcPr>
                </a:tc>
                <a:tc>
                  <a:txBody>
                    <a:bodyPr/>
                    <a:lstStyle/>
                    <a:p>
                      <a:pPr algn="l">
                        <a:defRPr sz="1300">
                          <a:solidFill>
                            <a:srgbClr val="FFFFFF"/>
                          </a:solidFill>
                        </a:defRPr>
                      </a:pPr>
                      <a:r>
                        <a:t>Mantiene alta producción bajo estrés térmico.</a:t>
                      </a:r>
                    </a:p>
                  </a:txBody>
                  <a:tcPr anchor="ctr">
                    <a:solidFill>
                      <a:srgbClr val="28284B"/>
                    </a:solidFill>
                  </a:tcPr>
                </a:tc>
                <a:tc>
                  <a:txBody>
                    <a:bodyPr/>
                    <a:lstStyle/>
                    <a:p>
                      <a:pPr algn="ctr">
                        <a:defRPr sz="1400" b="1">
                          <a:solidFill>
                            <a:srgbClr val="E8A838"/>
                          </a:solidFill>
                        </a:defRPr>
                      </a:pPr>
                      <a:r>
                        <a:t>SELECCIONADO (Premium)</a:t>
                      </a:r>
                    </a:p>
                  </a:txBody>
                  <a:tcPr anchor="ctr">
                    <a:solidFill>
                      <a:srgbClr val="28284B"/>
                    </a:solidFill>
                  </a:tcPr>
                </a:tc>
              </a:tr>
              <a:tr h="685800">
                <a:tc>
                  <a:txBody>
                    <a:bodyPr/>
                    <a:lstStyle/>
                    <a:p>
                      <a:pPr algn="l">
                        <a:defRPr sz="1400" b="1">
                          <a:solidFill>
                            <a:srgbClr val="FFFFFF"/>
                          </a:solidFill>
                        </a:defRPr>
                      </a:pPr>
                      <a:r>
                        <a:t>CdTe</a:t>
                      </a:r>
                    </a:p>
                    <a:p>
                      <a:pPr algn="l">
                        <a:defRPr sz="1400" b="1">
                          <a:solidFill>
                            <a:srgbClr val="FFFFFF"/>
                          </a:solidFill>
                        </a:defRPr>
                      </a:pPr>
                      <a:r>
                        <a:t>(Teluro de Cadmio)</a:t>
                      </a:r>
                    </a:p>
                  </a:txBody>
                  <a:tcPr anchor="ctr">
                    <a:solidFill>
                      <a:srgbClr val="1F1F33"/>
                    </a:solidFill>
                  </a:tcPr>
                </a:tc>
                <a:tc>
                  <a:txBody>
                    <a:bodyPr/>
                    <a:lstStyle/>
                    <a:p>
                      <a:pPr algn="ctr">
                        <a:defRPr sz="1400">
                          <a:solidFill>
                            <a:srgbClr val="FFFFFF"/>
                          </a:solidFill>
                        </a:defRPr>
                      </a:pPr>
                      <a:r>
                        <a:t>15% - 18%</a:t>
                      </a:r>
                    </a:p>
                  </a:txBody>
                  <a:tcPr anchor="ctr">
                    <a:solidFill>
                      <a:srgbClr val="1F1F33"/>
                    </a:solidFill>
                  </a:tcPr>
                </a:tc>
                <a:tc>
                  <a:txBody>
                    <a:bodyPr/>
                    <a:lstStyle/>
                    <a:p>
                      <a:pPr algn="ctr">
                        <a:defRPr sz="1400">
                          <a:solidFill>
                            <a:srgbClr val="FFFFFF"/>
                          </a:solidFill>
                        </a:defRPr>
                      </a:pPr>
                      <a:r>
                        <a:t>-0.28 %/°C (Excelente)</a:t>
                      </a:r>
                    </a:p>
                  </a:txBody>
                  <a:tcPr anchor="ctr">
                    <a:solidFill>
                      <a:srgbClr val="1F1F33"/>
                    </a:solidFill>
                  </a:tcPr>
                </a:tc>
                <a:tc>
                  <a:txBody>
                    <a:bodyPr/>
                    <a:lstStyle/>
                    <a:p>
                      <a:pPr algn="l">
                        <a:defRPr sz="1300">
                          <a:solidFill>
                            <a:srgbClr val="FFFFFF"/>
                          </a:solidFill>
                        </a:defRPr>
                      </a:pPr>
                      <a:r>
                        <a:t>Desempeño térmico sobresaliente; toxicidad por Cadmio.</a:t>
                      </a:r>
                    </a:p>
                  </a:txBody>
                  <a:tcPr anchor="ctr">
                    <a:solidFill>
                      <a:srgbClr val="1F1F33"/>
                    </a:solidFill>
                  </a:tcPr>
                </a:tc>
                <a:tc>
                  <a:txBody>
                    <a:bodyPr/>
                    <a:lstStyle/>
                    <a:p>
                      <a:pPr algn="ctr">
                        <a:defRPr sz="1400" b="1">
                          <a:solidFill>
                            <a:srgbClr val="BBBBBB"/>
                          </a:solidFill>
                        </a:defRPr>
                      </a:pPr>
                      <a:r>
                        <a:t>DESCARTADO (Menor contraste)</a:t>
                      </a:r>
                    </a:p>
                  </a:txBody>
                  <a:tcPr anchor="ctr">
                    <a:solidFill>
                      <a:srgbClr val="1F1F33"/>
                    </a:solidFill>
                  </a:tcPr>
                </a:tc>
              </a:tr>
              <a:tr h="685800">
                <a:tc>
                  <a:txBody>
                    <a:bodyPr/>
                    <a:lstStyle/>
                    <a:p>
                      <a:pPr algn="l">
                        <a:defRPr sz="1400" b="1">
                          <a:solidFill>
                            <a:srgbClr val="FFFFFF"/>
                          </a:solidFill>
                        </a:defRPr>
                      </a:pPr>
                      <a:r>
                        <a:t>CIGS</a:t>
                      </a:r>
                    </a:p>
                    <a:p>
                      <a:pPr algn="l">
                        <a:defRPr sz="1400" b="1">
                          <a:solidFill>
                            <a:srgbClr val="FFFFFF"/>
                          </a:solidFill>
                        </a:defRPr>
                      </a:pPr>
                      <a:r>
                        <a:t>(Película Delgada)</a:t>
                      </a:r>
                    </a:p>
                  </a:txBody>
                  <a:tcPr anchor="ctr">
                    <a:solidFill>
                      <a:srgbClr val="1F1F33"/>
                    </a:solidFill>
                  </a:tcPr>
                </a:tc>
                <a:tc>
                  <a:txBody>
                    <a:bodyPr/>
                    <a:lstStyle/>
                    <a:p>
                      <a:pPr algn="ctr">
                        <a:defRPr sz="1400">
                          <a:solidFill>
                            <a:srgbClr val="FFFFFF"/>
                          </a:solidFill>
                        </a:defRPr>
                      </a:pPr>
                      <a:r>
                        <a:t>14% - 16%</a:t>
                      </a:r>
                    </a:p>
                  </a:txBody>
                  <a:tcPr anchor="ctr">
                    <a:solidFill>
                      <a:srgbClr val="1F1F33"/>
                    </a:solidFill>
                  </a:tcPr>
                </a:tc>
                <a:tc>
                  <a:txBody>
                    <a:bodyPr/>
                    <a:lstStyle/>
                    <a:p>
                      <a:pPr algn="ctr">
                        <a:defRPr sz="1400">
                          <a:solidFill>
                            <a:srgbClr val="FFFFFF"/>
                          </a:solidFill>
                        </a:defRPr>
                      </a:pPr>
                      <a:r>
                        <a:t>-0.35 %/°C (Bueno)</a:t>
                      </a:r>
                    </a:p>
                  </a:txBody>
                  <a:tcPr anchor="ctr">
                    <a:solidFill>
                      <a:srgbClr val="1F1F33"/>
                    </a:solidFill>
                  </a:tcPr>
                </a:tc>
                <a:tc>
                  <a:txBody>
                    <a:bodyPr/>
                    <a:lstStyle/>
                    <a:p>
                      <a:pPr algn="l">
                        <a:defRPr sz="1300">
                          <a:solidFill>
                            <a:srgbClr val="FFFFFF"/>
                          </a:solidFill>
                        </a:defRPr>
                      </a:pPr>
                      <a:r>
                        <a:t>Pérdidas moderadas; susceptible a degradación por humedad.</a:t>
                      </a:r>
                    </a:p>
                  </a:txBody>
                  <a:tcPr anchor="ctr">
                    <a:solidFill>
                      <a:srgbClr val="1F1F33"/>
                    </a:solidFill>
                  </a:tcPr>
                </a:tc>
                <a:tc>
                  <a:txBody>
                    <a:bodyPr/>
                    <a:lstStyle/>
                    <a:p>
                      <a:pPr algn="ctr">
                        <a:defRPr sz="1400" b="1">
                          <a:solidFill>
                            <a:srgbClr val="BBBBBB"/>
                          </a:solidFill>
                        </a:defRPr>
                      </a:pPr>
                      <a:r>
                        <a:t>DESCARTADO (Sin contraste extremo)</a:t>
                      </a:r>
                    </a:p>
                  </a:txBody>
                  <a:tcPr anchor="ctr">
                    <a:solidFill>
                      <a:srgbClr val="1F1F33"/>
                    </a:solidFill>
                  </a:tcPr>
                </a:tc>
              </a:tr>
              <a:tr h="685800">
                <a:tc>
                  <a:txBody>
                    <a:bodyPr/>
                    <a:lstStyle/>
                    <a:p>
                      <a:pPr algn="l">
                        <a:defRPr sz="1400" b="1">
                          <a:solidFill>
                            <a:srgbClr val="FFFFFF"/>
                          </a:solidFill>
                        </a:defRPr>
                      </a:pPr>
                      <a:r>
                        <a:t>a-Si (Película Fina)</a:t>
                      </a:r>
                    </a:p>
                    <a:p>
                      <a:pPr algn="l">
                        <a:defRPr sz="1400" b="1">
                          <a:solidFill>
                            <a:srgbClr val="FFFFFF"/>
                          </a:solidFill>
                        </a:defRPr>
                      </a:pPr>
                      <a:r>
                        <a:t>(Silicio Amorfo)</a:t>
                      </a:r>
                    </a:p>
                  </a:txBody>
                  <a:tcPr anchor="ctr">
                    <a:solidFill>
                      <a:srgbClr val="1F1F33"/>
                    </a:solidFill>
                  </a:tcPr>
                </a:tc>
                <a:tc>
                  <a:txBody>
                    <a:bodyPr/>
                    <a:lstStyle/>
                    <a:p>
                      <a:pPr algn="ctr">
                        <a:defRPr sz="1400">
                          <a:solidFill>
                            <a:srgbClr val="FFFFFF"/>
                          </a:solidFill>
                        </a:defRPr>
                      </a:pPr>
                      <a:r>
                        <a:t>6% - 10%</a:t>
                      </a:r>
                    </a:p>
                  </a:txBody>
                  <a:tcPr anchor="ctr">
                    <a:solidFill>
                      <a:srgbClr val="1F1F33"/>
                    </a:solidFill>
                  </a:tcPr>
                </a:tc>
                <a:tc>
                  <a:txBody>
                    <a:bodyPr/>
                    <a:lstStyle/>
                    <a:p>
                      <a:pPr algn="ctr">
                        <a:defRPr sz="1400">
                          <a:solidFill>
                            <a:srgbClr val="FFFFFF"/>
                          </a:solidFill>
                        </a:defRPr>
                      </a:pPr>
                      <a:r>
                        <a:t>-0.20 %/°C (Excelente)</a:t>
                      </a:r>
                    </a:p>
                  </a:txBody>
                  <a:tcPr anchor="ctr">
                    <a:solidFill>
                      <a:srgbClr val="1F1F33"/>
                    </a:solidFill>
                  </a:tcPr>
                </a:tc>
                <a:tc>
                  <a:txBody>
                    <a:bodyPr/>
                    <a:lstStyle/>
                    <a:p>
                      <a:pPr algn="l">
                        <a:defRPr sz="1300">
                          <a:solidFill>
                            <a:srgbClr val="FFFFFF"/>
                          </a:solidFill>
                        </a:defRPr>
                      </a:pPr>
                      <a:r>
                        <a:t>Muy baja eficiencia base y alta degradación inicial.</a:t>
                      </a:r>
                    </a:p>
                  </a:txBody>
                  <a:tcPr anchor="ctr">
                    <a:solidFill>
                      <a:srgbClr val="1F1F33"/>
                    </a:solidFill>
                  </a:tcPr>
                </a:tc>
                <a:tc>
                  <a:txBody>
                    <a:bodyPr/>
                    <a:lstStyle/>
                    <a:p>
                      <a:pPr algn="ctr">
                        <a:defRPr sz="1400" b="1">
                          <a:solidFill>
                            <a:srgbClr val="BBBBBB"/>
                          </a:solidFill>
                        </a:defRPr>
                      </a:pPr>
                      <a:r>
                        <a:t>DESCARTADO (Inviable comercial)</a:t>
                      </a:r>
                    </a:p>
                  </a:txBody>
                  <a:tcPr anchor="ctr">
                    <a:solidFill>
                      <a:srgbClr val="1F1F33"/>
                    </a:solidFill>
                  </a:tcPr>
                </a:tc>
              </a:tr>
            </a:tbl>
          </a:graphicData>
        </a:graphic>
      </p:graphicFrame>
      <p:sp>
        <p:nvSpPr>
          <p:cNvPr id="6" name="TextBox 5"/>
          <p:cNvSpPr txBox="1"/>
          <p:nvPr/>
        </p:nvSpPr>
        <p:spPr>
          <a:xfrm>
            <a:off x="365760" y="6492240"/>
            <a:ext cx="11460175" cy="274320"/>
          </a:xfrm>
          <a:prstGeom prst="rect">
            <a:avLst/>
          </a:prstGeom>
          <a:noFill/>
        </p:spPr>
        <p:txBody>
          <a:bodyPr wrap="none">
            <a:spAutoFit/>
          </a:bodyPr>
          <a:lstStyle/>
          <a:p>
            <a:pPr algn="r">
              <a:defRPr sz="1000">
                <a:solidFill>
                  <a:srgbClr val="787878"/>
                </a:solidFill>
              </a:defRPr>
            </a:pPr>
            <a:r>
              <a:t>ELI556 | Grupo Alta Tensión | Lámina 3/25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365760" y="365760"/>
            <a:ext cx="11460175" cy="731520"/>
          </a:xfrm>
          <a:prstGeom prst="rect">
            <a:avLst/>
          </a:prstGeom>
          <a:noFill/>
        </p:spPr>
        <p:txBody>
          <a:bodyPr wrap="square">
            <a:spAutoFit/>
          </a:bodyPr>
          <a:lstStyle/>
          <a:p>
            <a:pPr>
              <a:defRPr sz="2400">
                <a:solidFill>
                  <a:srgbClr val="E8A838"/>
                </a:solidFill>
              </a:defRPr>
            </a:pPr>
            <a:r>
              <a:rPr sz="2400" b="1">
                <a:solidFill>
                  <a:srgbClr val="E8A838"/>
                </a:solidFill>
              </a:rPr>
              <a:t>c) Marco referencial y revisión de literatura pertinente: Modelos Teóricos</a:t>
            </a:r>
          </a:p>
        </p:txBody>
      </p:sp>
      <p:sp>
        <p:nvSpPr>
          <p:cNvPr id="3" name="Rectangle 2"/>
          <p:cNvSpPr/>
          <p:nvPr/>
        </p:nvSpPr>
        <p:spPr>
          <a:xfrm>
            <a:off x="365760" y="1097280"/>
            <a:ext cx="5669280"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5486400" cy="411480"/>
          </a:xfrm>
          <a:prstGeom prst="rect">
            <a:avLst/>
          </a:prstGeom>
          <a:noFill/>
        </p:spPr>
        <p:txBody>
          <a:bodyPr wrap="none">
            <a:spAutoFit/>
          </a:bodyPr>
          <a:lstStyle/>
          <a:p>
            <a:pPr>
              <a:defRPr sz="1800">
                <a:solidFill>
                  <a:srgbClr val="E8A838"/>
                </a:solidFill>
              </a:defRPr>
            </a:pPr>
            <a:r>
              <a:rPr sz="1800" b="1">
                <a:solidFill>
                  <a:srgbClr val="E8A838"/>
                </a:solidFill>
              </a:rPr>
              <a:t>Literatura Académica y Modelos Utilizados</a:t>
            </a:r>
          </a:p>
        </p:txBody>
      </p:sp>
      <p:sp>
        <p:nvSpPr>
          <p:cNvPr id="5" name="TextBox 4"/>
          <p:cNvSpPr txBox="1"/>
          <p:nvPr/>
        </p:nvSpPr>
        <p:spPr>
          <a:xfrm>
            <a:off x="548640" y="1554480"/>
            <a:ext cx="5303520" cy="4389120"/>
          </a:xfrm>
          <a:prstGeom prst="rect">
            <a:avLst/>
          </a:prstGeom>
          <a:noFill/>
        </p:spPr>
        <p:txBody>
          <a:bodyPr wrap="square">
            <a:spAutoFit/>
          </a:bodyPr>
          <a:lstStyle/>
          <a:p>
            <a:pPr algn="l">
              <a:defRPr sz="1400">
                <a:solidFill>
                  <a:srgbClr val="FFFFFF"/>
                </a:solidFill>
              </a:defRPr>
            </a:pPr>
            <a:r>
              <a:rPr sz="1400">
                <a:solidFill>
                  <a:srgbClr val="FFFFFF"/>
                </a:solidFill>
              </a:rPr>
              <a:t>• </a:t>
            </a:r>
            <a:r>
              <a:rPr sz="1400" b="1">
                <a:solidFill>
                  <a:srgbClr val="FFFFFF"/>
                </a:solidFill>
              </a:rPr>
              <a:t>Modelo de un Diodo Simple (SDM):</a:t>
            </a:r>
          </a:p>
          <a:p>
            <a:pPr algn="l">
              <a:defRPr sz="1400">
                <a:solidFill>
                  <a:srgbClr val="FFFFFF"/>
                </a:solidFill>
              </a:defRPr>
            </a:pPr>
            <a:r>
              <a:rPr sz="1400">
                <a:solidFill>
                  <a:srgbClr val="FFFFFF"/>
                </a:solidFill>
              </a:rPr>
              <a:t>  Estructura circuital clásica que describe eléctricamente la celda. Incorpora las pérdidas óhmicas resistivas en serie (</a:t>
            </a:r>
            <a:r>
              <a:rPr sz="1400" i="1">
                <a:solidFill>
                  <a:srgbClr val="FFFFFF"/>
                </a:solidFill>
              </a:rPr>
              <a:t>R</a:t>
            </a:r>
            <a:r>
              <a:rPr sz="1400" i="1">
                <a:solidFill>
                  <a:srgbClr val="FFFFFF"/>
                </a:solidFill>
              </a:rPr>
              <a:t>s</a:t>
            </a:r>
            <a:r>
              <a:rPr sz="1400">
                <a:solidFill>
                  <a:srgbClr val="FFFFFF"/>
                </a:solidFill>
              </a:rPr>
              <a:t>) y las corrientes de fuga shunt (</a:t>
            </a:r>
            <a:r>
              <a:rPr sz="1400" i="1">
                <a:solidFill>
                  <a:srgbClr val="FFFFFF"/>
                </a:solidFill>
              </a:rPr>
              <a:t>R</a:t>
            </a:r>
            <a:r>
              <a:rPr sz="1400" i="1">
                <a:solidFill>
                  <a:srgbClr val="FFFFFF"/>
                </a:solidFill>
              </a:rPr>
              <a:t>sh</a:t>
            </a:r>
            <a:r>
              <a:rPr sz="1400">
                <a:solidFill>
                  <a:srgbClr val="FFFFFF"/>
                </a:solidFill>
              </a:rPr>
              <a:t>) en el semiconductor.</a:t>
            </a:r>
          </a:p>
          <a:p>
            <a:pPr algn="l">
              <a:defRPr sz="1400">
                <a:solidFill>
                  <a:srgbClr val="FFFFFF"/>
                </a:solidFill>
              </a:defRPr>
            </a:pPr>
          </a:p>
          <a:p>
            <a:pPr algn="l">
              <a:defRPr sz="1400">
                <a:solidFill>
                  <a:srgbClr val="FFFFFF"/>
                </a:solidFill>
              </a:defRPr>
            </a:pPr>
            <a:r>
              <a:rPr sz="1400">
                <a:solidFill>
                  <a:srgbClr val="FFFFFF"/>
                </a:solidFill>
              </a:rPr>
              <a:t>• </a:t>
            </a:r>
            <a:r>
              <a:rPr sz="1400" b="1">
                <a:solidFill>
                  <a:srgbClr val="FFFFFF"/>
                </a:solidFill>
              </a:rPr>
              <a:t>Modelo Térmico de Sandia (SAPM):</a:t>
            </a:r>
          </a:p>
          <a:p>
            <a:pPr algn="l">
              <a:defRPr sz="1400">
                <a:solidFill>
                  <a:srgbClr val="FFFFFF"/>
                </a:solidFill>
              </a:defRPr>
            </a:pPr>
            <a:r>
              <a:rPr sz="1400">
                <a:solidFill>
                  <a:srgbClr val="FFFFFF"/>
                </a:solidFill>
              </a:rPr>
              <a:t>  Estima dinámicamente la temperatura interna de la celda (</a:t>
            </a:r>
            <a:r>
              <a:rPr sz="1400" i="1">
                <a:solidFill>
                  <a:srgbClr val="FFFFFF"/>
                </a:solidFill>
              </a:rPr>
              <a:t>T</a:t>
            </a:r>
            <a:r>
              <a:rPr sz="1400" i="1">
                <a:solidFill>
                  <a:srgbClr val="FFFFFF"/>
                </a:solidFill>
              </a:rPr>
              <a:t>c</a:t>
            </a:r>
            <a:r>
              <a:rPr sz="1400">
                <a:solidFill>
                  <a:srgbClr val="FFFFFF"/>
                </a:solidFill>
              </a:rPr>
              <a:t>) a partir de la irradiancia incidente y la velocidad del viento, considerando los coeficientes empíricos del encapsulado.</a:t>
            </a:r>
          </a:p>
          <a:p>
            <a:pPr algn="l">
              <a:defRPr sz="1400">
                <a:solidFill>
                  <a:srgbClr val="FFFFFF"/>
                </a:solidFill>
              </a:defRPr>
            </a:pPr>
          </a:p>
          <a:p>
            <a:pPr algn="l">
              <a:defRPr sz="1400">
                <a:solidFill>
                  <a:srgbClr val="FFFFFF"/>
                </a:solidFill>
              </a:defRPr>
            </a:pPr>
            <a:r>
              <a:rPr sz="1400">
                <a:solidFill>
                  <a:srgbClr val="FFFFFF"/>
                </a:solidFill>
              </a:rPr>
              <a:t>• </a:t>
            </a:r>
            <a:r>
              <a:rPr sz="1400" b="1">
                <a:solidFill>
                  <a:srgbClr val="FFFFFF"/>
                </a:solidFill>
              </a:rPr>
              <a:t>Modelo de Transposición de Perez (1990):</a:t>
            </a:r>
          </a:p>
          <a:p>
            <a:pPr algn="l">
              <a:defRPr sz="1400">
                <a:solidFill>
                  <a:srgbClr val="FFFFFF"/>
                </a:solidFill>
              </a:defRPr>
            </a:pPr>
            <a:r>
              <a:rPr sz="1400">
                <a:solidFill>
                  <a:srgbClr val="FFFFFF"/>
                </a:solidFill>
              </a:rPr>
              <a:t>  Traducción geométrica de irradiancia sobre plano inclinado, modelando componentes de cielo difuso anisotrópico.</a:t>
            </a:r>
          </a:p>
          <a:p>
            <a:pPr algn="l">
              <a:defRPr sz="1400">
                <a:solidFill>
                  <a:srgbClr val="FFFFFF"/>
                </a:solidFill>
              </a:defRPr>
            </a:pPr>
          </a:p>
          <a:p>
            <a:pPr algn="l">
              <a:defRPr sz="1400">
                <a:solidFill>
                  <a:srgbClr val="FFFFFF"/>
                </a:solidFill>
              </a:defRPr>
            </a:pPr>
            <a:r>
              <a:rPr sz="1400">
                <a:solidFill>
                  <a:srgbClr val="FFFFFF"/>
                </a:solidFill>
              </a:rPr>
              <a:t>• </a:t>
            </a:r>
            <a:r>
              <a:rPr sz="1400" b="1">
                <a:solidFill>
                  <a:srgbClr val="FFFFFF"/>
                </a:solidFill>
              </a:rPr>
              <a:t>Algoritmo de Parámetros de De Soto (2006):</a:t>
            </a:r>
          </a:p>
          <a:p>
            <a:pPr algn="l">
              <a:defRPr sz="1400">
                <a:solidFill>
                  <a:srgbClr val="FFFFFF"/>
                </a:solidFill>
              </a:defRPr>
            </a:pPr>
            <a:r>
              <a:rPr sz="1400">
                <a:solidFill>
                  <a:srgbClr val="FFFFFF"/>
                </a:solidFill>
              </a:rPr>
              <a:t>  Fórmulas para trasladar los parámetros desde STC a condiciones operacionales basándose en la energía de bandgap del silicio.</a:t>
            </a:r>
          </a:p>
        </p:txBody>
      </p:sp>
      <p:sp>
        <p:nvSpPr>
          <p:cNvPr id="6" name="Rectangle 5"/>
          <p:cNvSpPr/>
          <p:nvPr/>
        </p:nvSpPr>
        <p:spPr>
          <a:xfrm>
            <a:off x="6309360" y="1097280"/>
            <a:ext cx="5242255"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188720"/>
            <a:ext cx="5059375" cy="411480"/>
          </a:xfrm>
          <a:prstGeom prst="rect">
            <a:avLst/>
          </a:prstGeom>
          <a:noFill/>
        </p:spPr>
        <p:txBody>
          <a:bodyPr wrap="none">
            <a:spAutoFit/>
          </a:bodyPr>
          <a:lstStyle/>
          <a:p>
            <a:pPr>
              <a:defRPr sz="1800">
                <a:solidFill>
                  <a:srgbClr val="E8A838"/>
                </a:solidFill>
              </a:defRPr>
            </a:pPr>
            <a:r>
              <a:rPr sz="1800" b="1">
                <a:solidFill>
                  <a:srgbClr val="E8A838"/>
                </a:solidFill>
              </a:rPr>
              <a:t>Circuito Equivalente de un Diodo (SDM)</a:t>
            </a:r>
          </a:p>
        </p:txBody>
      </p:sp>
      <p:pic>
        <p:nvPicPr>
          <p:cNvPr id="8" name="Picture 7" descr="circuito_equivalente_sdm.png"/>
          <p:cNvPicPr>
            <a:picLocks noChangeAspect="1"/>
          </p:cNvPicPr>
          <p:nvPr/>
        </p:nvPicPr>
        <p:blipFill>
          <a:blip r:embed="rId2"/>
          <a:stretch>
            <a:fillRect/>
          </a:stretch>
        </p:blipFill>
        <p:spPr>
          <a:xfrm>
            <a:off x="6400800" y="1600200"/>
            <a:ext cx="5059375" cy="4389120"/>
          </a:xfrm>
          <a:prstGeom prst="rect">
            <a:avLst/>
          </a:prstGeom>
        </p:spPr>
      </p:pic>
      <p:sp>
        <p:nvSpPr>
          <p:cNvPr id="9" name="TextBox 8"/>
          <p:cNvSpPr txBox="1"/>
          <p:nvPr/>
        </p:nvSpPr>
        <p:spPr>
          <a:xfrm>
            <a:off x="365760" y="6492240"/>
            <a:ext cx="11460175" cy="274320"/>
          </a:xfrm>
          <a:prstGeom prst="rect">
            <a:avLst/>
          </a:prstGeom>
          <a:noFill/>
        </p:spPr>
        <p:txBody>
          <a:bodyPr wrap="none">
            <a:spAutoFit/>
          </a:bodyPr>
          <a:lstStyle/>
          <a:p>
            <a:pPr algn="r">
              <a:defRPr sz="1000">
                <a:solidFill>
                  <a:srgbClr val="787878"/>
                </a:solidFill>
              </a:defRPr>
            </a:pPr>
            <a:r>
              <a:t>ELI556 | Grupo Alta Tensión | Lámina 4/25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365760" y="365760"/>
            <a:ext cx="11460175" cy="731520"/>
          </a:xfrm>
          <a:prstGeom prst="rect">
            <a:avLst/>
          </a:prstGeom>
          <a:noFill/>
        </p:spPr>
        <p:txBody>
          <a:bodyPr wrap="square">
            <a:spAutoFit/>
          </a:bodyPr>
          <a:lstStyle/>
          <a:p>
            <a:pPr>
              <a:defRPr sz="2400">
                <a:solidFill>
                  <a:srgbClr val="E8A838"/>
                </a:solidFill>
              </a:defRPr>
            </a:pPr>
            <a:r>
              <a:rPr sz="2400" b="1">
                <a:solidFill>
                  <a:srgbClr val="E8A838"/>
                </a:solidFill>
              </a:rPr>
              <a:t>Procedimiento: Metodología y Pipeline de Simulación</a:t>
            </a:r>
          </a:p>
        </p:txBody>
      </p:sp>
      <p:sp>
        <p:nvSpPr>
          <p:cNvPr id="3" name="Rectangle 2"/>
          <p:cNvSpPr/>
          <p:nvPr/>
        </p:nvSpPr>
        <p:spPr>
          <a:xfrm>
            <a:off x="365760" y="1097280"/>
            <a:ext cx="5669280"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5486400" cy="411480"/>
          </a:xfrm>
          <a:prstGeom prst="rect">
            <a:avLst/>
          </a:prstGeom>
          <a:noFill/>
        </p:spPr>
        <p:txBody>
          <a:bodyPr wrap="none">
            <a:spAutoFit/>
          </a:bodyPr>
          <a:lstStyle/>
          <a:p>
            <a:pPr>
              <a:defRPr sz="1800">
                <a:solidFill>
                  <a:srgbClr val="E8A838"/>
                </a:solidFill>
              </a:defRPr>
            </a:pPr>
            <a:r>
              <a:rPr sz="1800" b="1">
                <a:solidFill>
                  <a:srgbClr val="E8A838"/>
                </a:solidFill>
              </a:rPr>
              <a:t>Flujo de Procesamiento y Simulación</a:t>
            </a:r>
          </a:p>
        </p:txBody>
      </p:sp>
      <p:sp>
        <p:nvSpPr>
          <p:cNvPr id="5" name="TextBox 4"/>
          <p:cNvSpPr txBox="1"/>
          <p:nvPr/>
        </p:nvSpPr>
        <p:spPr>
          <a:xfrm>
            <a:off x="548640" y="1554480"/>
            <a:ext cx="5303520" cy="4389120"/>
          </a:xfrm>
          <a:prstGeom prst="rect">
            <a:avLst/>
          </a:prstGeom>
          <a:noFill/>
        </p:spPr>
        <p:txBody>
          <a:bodyPr wrap="square">
            <a:spAutoFit/>
          </a:bodyPr>
          <a:lstStyle/>
          <a:p>
            <a:pPr algn="l">
              <a:defRPr sz="1300">
                <a:solidFill>
                  <a:srgbClr val="FFFFFF"/>
                </a:solidFill>
              </a:defRPr>
            </a:pPr>
            <a:r>
              <a:rPr sz="1300">
                <a:solidFill>
                  <a:srgbClr val="FFFFFF"/>
                </a:solidFill>
              </a:rPr>
              <a:t>• </a:t>
            </a:r>
            <a:r>
              <a:rPr sz="1300" b="1">
                <a:solidFill>
                  <a:srgbClr val="FFFFFF"/>
                </a:solidFill>
              </a:rPr>
              <a:t>Etapa 1: Ingesta de Datos (NREL Cocoa):</a:t>
            </a:r>
          </a:p>
          <a:p>
            <a:pPr algn="l">
              <a:defRPr sz="1300">
                <a:solidFill>
                  <a:srgbClr val="FFFFFF"/>
                </a:solidFill>
              </a:defRPr>
            </a:pPr>
            <a:r>
              <a:rPr sz="1300">
                <a:solidFill>
                  <a:srgbClr val="FFFFFF"/>
                </a:solidFill>
              </a:rPr>
              <a:t>  Extracción selectiva de variables de recurso solar y métricas eléctricas minutales a partir del dataset experimental.</a:t>
            </a:r>
          </a:p>
          <a:p>
            <a:pPr algn="l">
              <a:defRPr sz="1300">
                <a:solidFill>
                  <a:srgbClr val="FFFFFF"/>
                </a:solidFill>
              </a:defRPr>
            </a:pPr>
          </a:p>
          <a:p>
            <a:pPr algn="l">
              <a:defRPr sz="1300">
                <a:solidFill>
                  <a:srgbClr val="FFFFFF"/>
                </a:solidFill>
              </a:defRPr>
            </a:pPr>
            <a:r>
              <a:rPr sz="1300">
                <a:solidFill>
                  <a:srgbClr val="FFFFFF"/>
                </a:solidFill>
              </a:rPr>
              <a:t>• </a:t>
            </a:r>
            <a:r>
              <a:rPr sz="1300" b="1">
                <a:solidFill>
                  <a:srgbClr val="FFFFFF"/>
                </a:solidFill>
              </a:rPr>
              <a:t>Etapa 2: Filtro de Emulación Geográfica:</a:t>
            </a:r>
          </a:p>
          <a:p>
            <a:pPr algn="l">
              <a:defRPr sz="1300">
                <a:solidFill>
                  <a:srgbClr val="FFFFFF"/>
                </a:solidFill>
              </a:defRPr>
            </a:pPr>
            <a:r>
              <a:rPr sz="1300">
                <a:solidFill>
                  <a:srgbClr val="FFFFFF"/>
                </a:solidFill>
              </a:rPr>
              <a:t>  Traslación espacial, proyección al año calendarizado 2026 y desfase estacional estricto de +6 meses.</a:t>
            </a:r>
          </a:p>
          <a:p>
            <a:pPr algn="l">
              <a:defRPr sz="1300">
                <a:solidFill>
                  <a:srgbClr val="FFFFFF"/>
                </a:solidFill>
              </a:defRPr>
            </a:pPr>
          </a:p>
          <a:p>
            <a:pPr algn="l">
              <a:defRPr sz="1300">
                <a:solidFill>
                  <a:srgbClr val="FFFFFF"/>
                </a:solidFill>
              </a:defRPr>
            </a:pPr>
            <a:r>
              <a:rPr sz="1300">
                <a:solidFill>
                  <a:srgbClr val="FFFFFF"/>
                </a:solidFill>
              </a:rPr>
              <a:t>• </a:t>
            </a:r>
            <a:r>
              <a:rPr sz="1300" b="1">
                <a:solidFill>
                  <a:srgbClr val="FFFFFF"/>
                </a:solidFill>
              </a:rPr>
              <a:t>Etapa 3: Modelamiento Físico y Ajuste Numérico:</a:t>
            </a:r>
          </a:p>
          <a:p>
            <a:pPr algn="l">
              <a:defRPr sz="1300">
                <a:solidFill>
                  <a:srgbClr val="FFFFFF"/>
                </a:solidFill>
              </a:defRPr>
            </a:pPr>
            <a:r>
              <a:rPr sz="1300">
                <a:solidFill>
                  <a:srgbClr val="FFFFFF"/>
                </a:solidFill>
              </a:rPr>
              <a:t>  Cálculo térmico (Sandia) y ajuste por mínimos cuadrados acotados para obtener los 5 parámetros De Soto en STC.</a:t>
            </a:r>
          </a:p>
          <a:p>
            <a:pPr algn="l">
              <a:defRPr sz="1300">
                <a:solidFill>
                  <a:srgbClr val="FFFFFF"/>
                </a:solidFill>
              </a:defRPr>
            </a:pPr>
          </a:p>
          <a:p>
            <a:pPr algn="l">
              <a:defRPr sz="1300">
                <a:solidFill>
                  <a:srgbClr val="FFFFFF"/>
                </a:solidFill>
              </a:defRPr>
            </a:pPr>
            <a:r>
              <a:rPr sz="1300">
                <a:solidFill>
                  <a:srgbClr val="FFFFFF"/>
                </a:solidFill>
              </a:rPr>
              <a:t>• </a:t>
            </a:r>
            <a:r>
              <a:rPr sz="1300" b="1">
                <a:solidFill>
                  <a:srgbClr val="FFFFFF"/>
                </a:solidFill>
              </a:rPr>
              <a:t>Etapa 4: Simulación Minutal de Operación:</a:t>
            </a:r>
          </a:p>
          <a:p>
            <a:pPr algn="l">
              <a:defRPr sz="1300">
                <a:solidFill>
                  <a:srgbClr val="FFFFFF"/>
                </a:solidFill>
              </a:defRPr>
            </a:pPr>
            <a:r>
              <a:rPr sz="1300">
                <a:solidFill>
                  <a:srgbClr val="FFFFFF"/>
                </a:solidFill>
              </a:rPr>
              <a:t>  Escalamiento dinámico de parámetros y resolución implícita del circuito fotovoltaico minutal para calcular energía.</a:t>
            </a:r>
          </a:p>
          <a:p>
            <a:pPr algn="l">
              <a:defRPr sz="1300">
                <a:solidFill>
                  <a:srgbClr val="FFFFFF"/>
                </a:solidFill>
              </a:defRPr>
            </a:pPr>
          </a:p>
          <a:p>
            <a:pPr algn="l">
              <a:defRPr sz="1300">
                <a:solidFill>
                  <a:srgbClr val="FFFFFF"/>
                </a:solidFill>
              </a:defRPr>
            </a:pPr>
            <a:r>
              <a:rPr sz="1300">
                <a:solidFill>
                  <a:srgbClr val="FFFFFF"/>
                </a:solidFill>
              </a:rPr>
              <a:t>• </a:t>
            </a:r>
            <a:r>
              <a:rPr sz="1300" b="1">
                <a:solidFill>
                  <a:srgbClr val="FFFFFF"/>
                </a:solidFill>
              </a:rPr>
              <a:t>Etapa 5: Evaluación de Indicadores (Performance Ratio):</a:t>
            </a:r>
          </a:p>
          <a:p>
            <a:pPr algn="l">
              <a:defRPr sz="1300">
                <a:solidFill>
                  <a:srgbClr val="FFFFFF"/>
                </a:solidFill>
              </a:defRPr>
            </a:pPr>
            <a:r>
              <a:rPr sz="1300">
                <a:solidFill>
                  <a:srgbClr val="FFFFFF"/>
                </a:solidFill>
              </a:rPr>
              <a:t>  Integración anual y mensual del </a:t>
            </a:r>
            <a:r>
              <a:rPr sz="1300" i="1">
                <a:solidFill>
                  <a:srgbClr val="FFFFFF"/>
                </a:solidFill>
              </a:rPr>
              <a:t>PR</a:t>
            </a:r>
            <a:r>
              <a:rPr sz="1300">
                <a:solidFill>
                  <a:srgbClr val="FFFFFF"/>
                </a:solidFill>
              </a:rPr>
              <a:t> para recomendación final.</a:t>
            </a:r>
          </a:p>
        </p:txBody>
      </p:sp>
      <p:sp>
        <p:nvSpPr>
          <p:cNvPr id="6" name="Rectangle 5"/>
          <p:cNvSpPr/>
          <p:nvPr/>
        </p:nvSpPr>
        <p:spPr>
          <a:xfrm>
            <a:off x="6309360" y="1097280"/>
            <a:ext cx="5242255"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188720"/>
            <a:ext cx="5059375" cy="411480"/>
          </a:xfrm>
          <a:prstGeom prst="rect">
            <a:avLst/>
          </a:prstGeom>
          <a:noFill/>
        </p:spPr>
        <p:txBody>
          <a:bodyPr wrap="none">
            <a:spAutoFit/>
          </a:bodyPr>
          <a:lstStyle/>
          <a:p>
            <a:pPr>
              <a:defRPr sz="1800">
                <a:solidFill>
                  <a:srgbClr val="E8A838"/>
                </a:solidFill>
              </a:defRPr>
            </a:pPr>
            <a:r>
              <a:rPr sz="1800" b="1">
                <a:solidFill>
                  <a:srgbClr val="E8A838"/>
                </a:solidFill>
              </a:rPr>
              <a:t>Pipeline de Simulación</a:t>
            </a:r>
          </a:p>
        </p:txBody>
      </p:sp>
      <p:pic>
        <p:nvPicPr>
          <p:cNvPr id="8" name="Picture 7" descr="simulation_pipeline_infographic.png"/>
          <p:cNvPicPr>
            <a:picLocks noChangeAspect="1"/>
          </p:cNvPicPr>
          <p:nvPr/>
        </p:nvPicPr>
        <p:blipFill>
          <a:blip r:embed="rId2"/>
          <a:stretch>
            <a:fillRect/>
          </a:stretch>
        </p:blipFill>
        <p:spPr>
          <a:xfrm>
            <a:off x="6400800" y="1600200"/>
            <a:ext cx="5059375" cy="4389120"/>
          </a:xfrm>
          <a:prstGeom prst="rect">
            <a:avLst/>
          </a:prstGeom>
        </p:spPr>
      </p:pic>
      <p:sp>
        <p:nvSpPr>
          <p:cNvPr id="9" name="TextBox 8"/>
          <p:cNvSpPr txBox="1"/>
          <p:nvPr/>
        </p:nvSpPr>
        <p:spPr>
          <a:xfrm>
            <a:off x="365760" y="6492240"/>
            <a:ext cx="11460175" cy="274320"/>
          </a:xfrm>
          <a:prstGeom prst="rect">
            <a:avLst/>
          </a:prstGeom>
          <a:noFill/>
        </p:spPr>
        <p:txBody>
          <a:bodyPr wrap="none">
            <a:spAutoFit/>
          </a:bodyPr>
          <a:lstStyle/>
          <a:p>
            <a:pPr algn="r">
              <a:defRPr sz="1000">
                <a:solidFill>
                  <a:srgbClr val="787878"/>
                </a:solidFill>
              </a:defRPr>
            </a:pPr>
            <a:r>
              <a:t>ELI556 | Grupo Alta Tensión | Lámina 5/25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365760" y="365760"/>
            <a:ext cx="11460175" cy="731520"/>
          </a:xfrm>
          <a:prstGeom prst="rect">
            <a:avLst/>
          </a:prstGeom>
          <a:noFill/>
        </p:spPr>
        <p:txBody>
          <a:bodyPr wrap="square">
            <a:spAutoFit/>
          </a:bodyPr>
          <a:lstStyle/>
          <a:p>
            <a:pPr>
              <a:defRPr sz="2400">
                <a:solidFill>
                  <a:srgbClr val="E8A838"/>
                </a:solidFill>
              </a:defRPr>
            </a:pPr>
            <a:r>
              <a:rPr sz="2400" b="1">
                <a:solidFill>
                  <a:srgbClr val="E8A838"/>
                </a:solidFill>
              </a:rPr>
              <a:t>Procedimiento: Tratamiento de la Base de Datos y Carga de Big Data</a:t>
            </a:r>
          </a:p>
        </p:txBody>
      </p:sp>
      <p:sp>
        <p:nvSpPr>
          <p:cNvPr id="3" name="Rectangle 2"/>
          <p:cNvSpPr/>
          <p:nvPr/>
        </p:nvSpPr>
        <p:spPr>
          <a:xfrm>
            <a:off x="365760" y="1097280"/>
            <a:ext cx="5592927"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5410047" cy="411480"/>
          </a:xfrm>
          <a:prstGeom prst="rect">
            <a:avLst/>
          </a:prstGeom>
          <a:noFill/>
        </p:spPr>
        <p:txBody>
          <a:bodyPr wrap="none">
            <a:spAutoFit/>
          </a:bodyPr>
          <a:lstStyle/>
          <a:p>
            <a:pPr>
              <a:defRPr sz="1800">
                <a:solidFill>
                  <a:srgbClr val="E8A838"/>
                </a:solidFill>
              </a:defRPr>
            </a:pPr>
            <a:r>
              <a:rPr sz="1800" b="1">
                <a:solidFill>
                  <a:srgbClr val="E8A838"/>
                </a:solidFill>
              </a:rPr>
              <a:t>El Desafío: Procesamiento de Curvas I-V Minutales</a:t>
            </a:r>
          </a:p>
        </p:txBody>
      </p:sp>
      <p:sp>
        <p:nvSpPr>
          <p:cNvPr id="5" name="TextBox 4"/>
          <p:cNvSpPr txBox="1"/>
          <p:nvPr/>
        </p:nvSpPr>
        <p:spPr>
          <a:xfrm>
            <a:off x="548640" y="1645920"/>
            <a:ext cx="5227167" cy="3657600"/>
          </a:xfrm>
          <a:prstGeom prst="rect">
            <a:avLst/>
          </a:prstGeom>
          <a:noFill/>
        </p:spPr>
        <p:txBody>
          <a:bodyPr wrap="square">
            <a:spAutoFit/>
          </a:bodyPr>
          <a:lstStyle/>
          <a:p>
            <a:pPr algn="l">
              <a:defRPr sz="1700">
                <a:solidFill>
                  <a:srgbClr val="FFFFFF"/>
                </a:solidFill>
              </a:defRPr>
            </a:pPr>
            <a:r>
              <a:rPr sz="1700">
                <a:solidFill>
                  <a:srgbClr val="FFFFFF"/>
                </a:solidFill>
              </a:rPr>
              <a:t>• </a:t>
            </a:r>
            <a:r>
              <a:rPr sz="1700" b="1">
                <a:solidFill>
                  <a:srgbClr val="FFFFFF"/>
                </a:solidFill>
              </a:rPr>
              <a:t>Naturaleza de los Datos:</a:t>
            </a:r>
            <a:r>
              <a:rPr sz="1700">
                <a:solidFill>
                  <a:srgbClr val="FFFFFF"/>
                </a:solidFill>
              </a:rPr>
              <a:t> Dataset Cocoa (NREL). Contiene mediciones experimentales minuto a minuto de curvas I-V completas tomadas en Florida.</a:t>
            </a:r>
          </a:p>
          <a:p>
            <a:pPr algn="l">
              <a:defRPr sz="1700">
                <a:solidFill>
                  <a:srgbClr val="FFFFFF"/>
                </a:solidFill>
              </a:defRPr>
            </a:pPr>
          </a:p>
          <a:p>
            <a:pPr algn="l">
              <a:defRPr sz="1700">
                <a:solidFill>
                  <a:srgbClr val="FFFFFF"/>
                </a:solidFill>
              </a:defRPr>
            </a:pPr>
            <a:r>
              <a:rPr sz="1700">
                <a:solidFill>
                  <a:srgbClr val="FFFFFF"/>
                </a:solidFill>
              </a:rPr>
              <a:t>• </a:t>
            </a:r>
            <a:r>
              <a:rPr sz="1700" b="1">
                <a:solidFill>
                  <a:srgbClr val="FFFFFF"/>
                </a:solidFill>
              </a:rPr>
              <a:t>Problema de Big Data:</a:t>
            </a:r>
            <a:r>
              <a:rPr sz="1700">
                <a:solidFill>
                  <a:srgbClr val="FFFFFF"/>
                </a:solidFill>
              </a:rPr>
              <a:t> Los archivos CSV unitarios superan los 100MB por tecnología, con millones de registros de longitudes variables.</a:t>
            </a:r>
          </a:p>
          <a:p>
            <a:pPr algn="l">
              <a:defRPr sz="1700">
                <a:solidFill>
                  <a:srgbClr val="FFFFFF"/>
                </a:solidFill>
              </a:defRPr>
            </a:pPr>
          </a:p>
          <a:p>
            <a:pPr algn="l">
              <a:defRPr sz="1700">
                <a:solidFill>
                  <a:srgbClr val="FFFFFF"/>
                </a:solidFill>
              </a:defRPr>
            </a:pPr>
            <a:r>
              <a:rPr sz="1700">
                <a:solidFill>
                  <a:srgbClr val="FFFFFF"/>
                </a:solidFill>
              </a:rPr>
              <a:t>• </a:t>
            </a:r>
            <a:r>
              <a:rPr sz="1700" b="1">
                <a:solidFill>
                  <a:srgbClr val="FFFFFF"/>
                </a:solidFill>
              </a:rPr>
              <a:t>Falla del Método Estándar:</a:t>
            </a:r>
            <a:r>
              <a:rPr sz="1700">
                <a:solidFill>
                  <a:srgbClr val="FFFFFF"/>
                </a:solidFill>
              </a:rPr>
              <a:t> Lectores convencionales (Pandas `read_csv`) agotan la RAM y fallan debido a caracteres atípicos en los metadatos.</a:t>
            </a:r>
          </a:p>
        </p:txBody>
      </p:sp>
      <p:sp>
        <p:nvSpPr>
          <p:cNvPr id="6" name="Rectangle 5"/>
          <p:cNvSpPr/>
          <p:nvPr/>
        </p:nvSpPr>
        <p:spPr>
          <a:xfrm>
            <a:off x="6233007" y="1097280"/>
            <a:ext cx="5592927"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24447" y="1188720"/>
            <a:ext cx="5410047" cy="411480"/>
          </a:xfrm>
          <a:prstGeom prst="rect">
            <a:avLst/>
          </a:prstGeom>
          <a:noFill/>
        </p:spPr>
        <p:txBody>
          <a:bodyPr wrap="none">
            <a:spAutoFit/>
          </a:bodyPr>
          <a:lstStyle/>
          <a:p>
            <a:pPr>
              <a:defRPr sz="1800">
                <a:solidFill>
                  <a:srgbClr val="E8A838"/>
                </a:solidFill>
              </a:defRPr>
            </a:pPr>
            <a:r>
              <a:rPr sz="1800" b="1">
                <a:solidFill>
                  <a:srgbClr val="E8A838"/>
                </a:solidFill>
              </a:rPr>
              <a:t>Solución: Pipeline de Lectura Eficiente</a:t>
            </a:r>
          </a:p>
        </p:txBody>
      </p:sp>
      <p:sp>
        <p:nvSpPr>
          <p:cNvPr id="8" name="TextBox 7"/>
          <p:cNvSpPr txBox="1"/>
          <p:nvPr/>
        </p:nvSpPr>
        <p:spPr>
          <a:xfrm>
            <a:off x="6415887" y="1645920"/>
            <a:ext cx="5227167" cy="3657600"/>
          </a:xfrm>
          <a:prstGeom prst="rect">
            <a:avLst/>
          </a:prstGeom>
          <a:noFill/>
        </p:spPr>
        <p:txBody>
          <a:bodyPr wrap="square">
            <a:spAutoFit/>
          </a:bodyPr>
          <a:lstStyle/>
          <a:p>
            <a:pPr algn="l">
              <a:defRPr sz="1700">
                <a:solidFill>
                  <a:srgbClr val="FFFFFF"/>
                </a:solidFill>
              </a:defRPr>
            </a:pPr>
            <a:r>
              <a:rPr sz="1700">
                <a:solidFill>
                  <a:srgbClr val="FFFFFF"/>
                </a:solidFill>
              </a:rPr>
              <a:t>• </a:t>
            </a:r>
            <a:r>
              <a:rPr sz="1700" b="1">
                <a:solidFill>
                  <a:srgbClr val="FFFFFF"/>
                </a:solidFill>
              </a:rPr>
              <a:t>Lector en Streaming:</a:t>
            </a:r>
            <a:r>
              <a:rPr sz="1700">
                <a:solidFill>
                  <a:srgbClr val="FFFFFF"/>
                </a:solidFill>
              </a:rPr>
              <a:t> Implementación de un analizador de archivos línea por línea mediante el módulo `csv` nativo de Python.</a:t>
            </a:r>
          </a:p>
          <a:p>
            <a:pPr algn="l">
              <a:defRPr sz="1700">
                <a:solidFill>
                  <a:srgbClr val="FFFFFF"/>
                </a:solidFill>
              </a:defRPr>
            </a:pPr>
          </a:p>
          <a:p>
            <a:pPr algn="l">
              <a:defRPr sz="1700">
                <a:solidFill>
                  <a:srgbClr val="FFFFFF"/>
                </a:solidFill>
              </a:defRPr>
            </a:pPr>
            <a:r>
              <a:rPr sz="1700">
                <a:solidFill>
                  <a:srgbClr val="FFFFFF"/>
                </a:solidFill>
              </a:rPr>
              <a:t>• </a:t>
            </a:r>
            <a:r>
              <a:rPr sz="1700" b="1">
                <a:solidFill>
                  <a:srgbClr val="FFFFFF"/>
                </a:solidFill>
              </a:rPr>
              <a:t>Extracción Selectiva:</a:t>
            </a:r>
            <a:r>
              <a:rPr sz="1700">
                <a:solidFill>
                  <a:srgbClr val="FFFFFF"/>
                </a:solidFill>
              </a:rPr>
              <a:t> Se ignoraron las series de curvas I-V masivas en la carga inicial y se extrajeron únicamente los metadatos y puntos clave de operación (</a:t>
            </a:r>
            <a:r>
              <a:rPr sz="1700" i="1">
                <a:solidFill>
                  <a:srgbClr val="FFFFFF"/>
                </a:solidFill>
              </a:rPr>
              <a:t>I</a:t>
            </a:r>
            <a:r>
              <a:rPr sz="1700" i="1">
                <a:solidFill>
                  <a:srgbClr val="FFFFFF"/>
                </a:solidFill>
              </a:rPr>
              <a:t>sc</a:t>
            </a:r>
            <a:r>
              <a:rPr sz="1700">
                <a:solidFill>
                  <a:srgbClr val="FFFFFF"/>
                </a:solidFill>
              </a:rPr>
              <a:t>, </a:t>
            </a:r>
            <a:r>
              <a:rPr sz="1700" i="1">
                <a:solidFill>
                  <a:srgbClr val="FFFFFF"/>
                </a:solidFill>
              </a:rPr>
              <a:t>V</a:t>
            </a:r>
            <a:r>
              <a:rPr sz="1700" i="1">
                <a:solidFill>
                  <a:srgbClr val="FFFFFF"/>
                </a:solidFill>
              </a:rPr>
              <a:t>oc</a:t>
            </a:r>
            <a:r>
              <a:rPr sz="1700">
                <a:solidFill>
                  <a:srgbClr val="FFFFFF"/>
                </a:solidFill>
              </a:rPr>
              <a:t>, </a:t>
            </a:r>
            <a:r>
              <a:rPr sz="1700" i="1">
                <a:solidFill>
                  <a:srgbClr val="FFFFFF"/>
                </a:solidFill>
              </a:rPr>
              <a:t>I</a:t>
            </a:r>
            <a:r>
              <a:rPr sz="1700" i="1">
                <a:solidFill>
                  <a:srgbClr val="FFFFFF"/>
                </a:solidFill>
              </a:rPr>
              <a:t>mp</a:t>
            </a:r>
            <a:r>
              <a:rPr sz="1700">
                <a:solidFill>
                  <a:srgbClr val="FFFFFF"/>
                </a:solidFill>
              </a:rPr>
              <a:t>, </a:t>
            </a:r>
            <a:r>
              <a:rPr sz="1700" i="1">
                <a:solidFill>
                  <a:srgbClr val="FFFFFF"/>
                </a:solidFill>
              </a:rPr>
              <a:t>V</a:t>
            </a:r>
            <a:r>
              <a:rPr sz="1700" i="1">
                <a:solidFill>
                  <a:srgbClr val="FFFFFF"/>
                </a:solidFill>
              </a:rPr>
              <a:t>mp</a:t>
            </a:r>
            <a:r>
              <a:rPr sz="1700">
                <a:solidFill>
                  <a:srgbClr val="FFFFFF"/>
                </a:solidFill>
              </a:rPr>
              <a:t>, </a:t>
            </a:r>
            <a:r>
              <a:rPr sz="1700" i="1">
                <a:solidFill>
                  <a:srgbClr val="FFFFFF"/>
                </a:solidFill>
              </a:rPr>
              <a:t>P</a:t>
            </a:r>
            <a:r>
              <a:rPr sz="1700" i="1">
                <a:solidFill>
                  <a:srgbClr val="FFFFFF"/>
                </a:solidFill>
              </a:rPr>
              <a:t>mp</a:t>
            </a:r>
            <a:r>
              <a:rPr sz="1700">
                <a:solidFill>
                  <a:srgbClr val="FFFFFF"/>
                </a:solidFill>
              </a:rPr>
              <a:t>, irradiancias).</a:t>
            </a:r>
          </a:p>
          <a:p>
            <a:pPr algn="l">
              <a:defRPr sz="1700">
                <a:solidFill>
                  <a:srgbClr val="FFFFFF"/>
                </a:solidFill>
              </a:defRPr>
            </a:pPr>
          </a:p>
          <a:p>
            <a:pPr algn="l">
              <a:defRPr sz="1700">
                <a:solidFill>
                  <a:srgbClr val="FFFFFF"/>
                </a:solidFill>
              </a:defRPr>
            </a:pPr>
            <a:r>
              <a:rPr sz="1700">
                <a:solidFill>
                  <a:srgbClr val="FFFFFF"/>
                </a:solidFill>
              </a:rPr>
              <a:t>• </a:t>
            </a:r>
            <a:r>
              <a:rPr sz="1700" b="1">
                <a:solidFill>
                  <a:srgbClr val="FFFFFF"/>
                </a:solidFill>
              </a:rPr>
              <a:t>Limpieza Automática:</a:t>
            </a:r>
            <a:r>
              <a:rPr sz="1700">
                <a:solidFill>
                  <a:srgbClr val="FFFFFF"/>
                </a:solidFill>
              </a:rPr>
              <a:t> Se descartaron registros nocturnos ($G &lt; 10$ W/m²) o con datos incompletos, acelerando la simulación anual un 95%.</a:t>
            </a:r>
          </a:p>
        </p:txBody>
      </p:sp>
      <p:sp>
        <p:nvSpPr>
          <p:cNvPr id="9" name="TextBox 8"/>
          <p:cNvSpPr txBox="1"/>
          <p:nvPr/>
        </p:nvSpPr>
        <p:spPr>
          <a:xfrm>
            <a:off x="365760" y="6492240"/>
            <a:ext cx="11460175" cy="274320"/>
          </a:xfrm>
          <a:prstGeom prst="rect">
            <a:avLst/>
          </a:prstGeom>
          <a:noFill/>
        </p:spPr>
        <p:txBody>
          <a:bodyPr wrap="none">
            <a:spAutoFit/>
          </a:bodyPr>
          <a:lstStyle/>
          <a:p>
            <a:pPr algn="r">
              <a:defRPr sz="1000">
                <a:solidFill>
                  <a:srgbClr val="787878"/>
                </a:solidFill>
              </a:defRPr>
            </a:pPr>
            <a:r>
              <a:t>ELI556 | Grupo Alta Tensión | Lámina 6/25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365760" y="365760"/>
            <a:ext cx="11460175" cy="731520"/>
          </a:xfrm>
          <a:prstGeom prst="rect">
            <a:avLst/>
          </a:prstGeom>
          <a:noFill/>
        </p:spPr>
        <p:txBody>
          <a:bodyPr wrap="square">
            <a:spAutoFit/>
          </a:bodyPr>
          <a:lstStyle/>
          <a:p>
            <a:pPr>
              <a:defRPr sz="2400">
                <a:solidFill>
                  <a:srgbClr val="E8A838"/>
                </a:solidFill>
              </a:defRPr>
            </a:pPr>
            <a:r>
              <a:rPr sz="2400" b="1">
                <a:solidFill>
                  <a:srgbClr val="E8A838"/>
                </a:solidFill>
              </a:rPr>
              <a:t>Procedimiento: Filtro de Emulación Geográfica</a:t>
            </a:r>
          </a:p>
        </p:txBody>
      </p:sp>
      <p:sp>
        <p:nvSpPr>
          <p:cNvPr id="3" name="Rectangle 2"/>
          <p:cNvSpPr/>
          <p:nvPr/>
        </p:nvSpPr>
        <p:spPr>
          <a:xfrm>
            <a:off x="365760" y="1097280"/>
            <a:ext cx="5029200"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4846320" cy="411480"/>
          </a:xfrm>
          <a:prstGeom prst="rect">
            <a:avLst/>
          </a:prstGeom>
          <a:noFill/>
        </p:spPr>
        <p:txBody>
          <a:bodyPr wrap="none">
            <a:spAutoFit/>
          </a:bodyPr>
          <a:lstStyle/>
          <a:p>
            <a:pPr>
              <a:defRPr sz="1800">
                <a:solidFill>
                  <a:srgbClr val="E8A838"/>
                </a:solidFill>
              </a:defRPr>
            </a:pPr>
            <a:r>
              <a:rPr sz="1800" b="1">
                <a:solidFill>
                  <a:srgbClr val="E8A838"/>
                </a:solidFill>
              </a:rPr>
              <a:t>Mapa de Emulación Hemisférica</a:t>
            </a:r>
          </a:p>
        </p:txBody>
      </p:sp>
      <p:pic>
        <p:nvPicPr>
          <p:cNvPr id="5" name="Picture 4" descr="geo_emulation_map.png"/>
          <p:cNvPicPr>
            <a:picLocks noChangeAspect="1"/>
          </p:cNvPicPr>
          <p:nvPr/>
        </p:nvPicPr>
        <p:blipFill>
          <a:blip r:embed="rId2"/>
          <a:stretch>
            <a:fillRect/>
          </a:stretch>
        </p:blipFill>
        <p:spPr>
          <a:xfrm>
            <a:off x="457200" y="1600200"/>
            <a:ext cx="4846320" cy="4114800"/>
          </a:xfrm>
          <a:prstGeom prst="rect">
            <a:avLst/>
          </a:prstGeom>
        </p:spPr>
      </p:pic>
      <p:sp>
        <p:nvSpPr>
          <p:cNvPr id="6" name="Rectangle 5"/>
          <p:cNvSpPr/>
          <p:nvPr/>
        </p:nvSpPr>
        <p:spPr>
          <a:xfrm>
            <a:off x="5669280" y="1097280"/>
            <a:ext cx="6156655"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0" y="1188720"/>
            <a:ext cx="5973775" cy="411480"/>
          </a:xfrm>
          <a:prstGeom prst="rect">
            <a:avLst/>
          </a:prstGeom>
          <a:noFill/>
        </p:spPr>
        <p:txBody>
          <a:bodyPr wrap="none">
            <a:spAutoFit/>
          </a:bodyPr>
          <a:lstStyle/>
          <a:p>
            <a:pPr>
              <a:defRPr sz="1800">
                <a:solidFill>
                  <a:srgbClr val="E8A838"/>
                </a:solidFill>
              </a:defRPr>
            </a:pPr>
            <a:r>
              <a:rPr sz="1800" b="1">
                <a:solidFill>
                  <a:srgbClr val="E8A838"/>
                </a:solidFill>
              </a:rPr>
              <a:t>Implementación del Filtro de Emulación</a:t>
            </a:r>
          </a:p>
        </p:txBody>
      </p:sp>
      <p:sp>
        <p:nvSpPr>
          <p:cNvPr id="8" name="TextBox 7"/>
          <p:cNvSpPr txBox="1"/>
          <p:nvPr/>
        </p:nvSpPr>
        <p:spPr>
          <a:xfrm>
            <a:off x="5852160" y="1645920"/>
            <a:ext cx="5790895" cy="4114800"/>
          </a:xfrm>
          <a:prstGeom prst="rect">
            <a:avLst/>
          </a:prstGeom>
          <a:noFill/>
        </p:spPr>
        <p:txBody>
          <a:bodyPr wrap="square">
            <a:spAutoFit/>
          </a:bodyPr>
          <a:lstStyle/>
          <a:p>
            <a:pPr algn="l">
              <a:defRPr sz="1400">
                <a:solidFill>
                  <a:srgbClr val="FFFFFF"/>
                </a:solidFill>
              </a:defRPr>
            </a:pPr>
            <a:r>
              <a:rPr sz="1400">
                <a:solidFill>
                  <a:srgbClr val="FFFFFF"/>
                </a:solidFill>
              </a:rPr>
              <a:t>• </a:t>
            </a:r>
            <a:r>
              <a:rPr sz="1400" b="1">
                <a:solidFill>
                  <a:srgbClr val="FFFFFF"/>
                </a:solidFill>
              </a:rPr>
              <a:t>Inconsistencia Estacional (Florida → Atacama):</a:t>
            </a:r>
          </a:p>
          <a:p>
            <a:pPr algn="l">
              <a:defRPr sz="1400">
                <a:solidFill>
                  <a:srgbClr val="FFFFFF"/>
                </a:solidFill>
              </a:defRPr>
            </a:pPr>
            <a:r>
              <a:rPr sz="1400">
                <a:solidFill>
                  <a:srgbClr val="FFFFFF"/>
                </a:solidFill>
              </a:rPr>
              <a:t>  Los datos crudos de NREL Cocoa son medidos en Florida (Hemisferio Norte). Si se simulan directamente en Atacama (Hemisferio Sur), el verano solar coincidiría con el invierno térmico real, lo que es físicamente incorrecto.</a:t>
            </a:r>
          </a:p>
          <a:p>
            <a:pPr algn="l">
              <a:defRPr sz="1400">
                <a:solidFill>
                  <a:srgbClr val="FFFFFF"/>
                </a:solidFill>
              </a:defRPr>
            </a:pPr>
          </a:p>
          <a:p>
            <a:pPr algn="l">
              <a:defRPr sz="1400">
                <a:solidFill>
                  <a:srgbClr val="FFFFFF"/>
                </a:solidFill>
              </a:defRPr>
            </a:pPr>
            <a:r>
              <a:rPr sz="1400">
                <a:solidFill>
                  <a:srgbClr val="FFFFFF"/>
                </a:solidFill>
              </a:rPr>
              <a:t>• </a:t>
            </a:r>
            <a:r>
              <a:rPr sz="1400" b="1">
                <a:solidFill>
                  <a:srgbClr val="FFFFFF"/>
                </a:solidFill>
              </a:rPr>
              <a:t>Desfase Temporal (+6 Meses):</a:t>
            </a:r>
          </a:p>
          <a:p>
            <a:pPr algn="l">
              <a:defRPr sz="1400">
                <a:solidFill>
                  <a:srgbClr val="FFFFFF"/>
                </a:solidFill>
              </a:defRPr>
            </a:pPr>
            <a:r>
              <a:rPr sz="1400">
                <a:solidFill>
                  <a:srgbClr val="FFFFFF"/>
                </a:solidFill>
              </a:rPr>
              <a:t>  Se aplicó un desplazamiento estacional de +6 meses (+182 días). De esta forma, el verano térmico medido en Florida se alinea correctamente con el verano astronómico del Hemisferio Sur.</a:t>
            </a:r>
          </a:p>
          <a:p>
            <a:pPr algn="l">
              <a:defRPr sz="1400">
                <a:solidFill>
                  <a:srgbClr val="FFFFFF"/>
                </a:solidFill>
              </a:defRPr>
            </a:pPr>
          </a:p>
          <a:p>
            <a:pPr algn="l">
              <a:defRPr sz="1400">
                <a:solidFill>
                  <a:srgbClr val="FFFFFF"/>
                </a:solidFill>
              </a:defRPr>
            </a:pPr>
            <a:r>
              <a:rPr sz="1400">
                <a:solidFill>
                  <a:srgbClr val="FFFFFF"/>
                </a:solidFill>
              </a:rPr>
              <a:t>• </a:t>
            </a:r>
            <a:r>
              <a:rPr sz="1400" b="1">
                <a:solidFill>
                  <a:srgbClr val="FFFFFF"/>
                </a:solidFill>
              </a:rPr>
              <a:t>Traducción Espacial y Proyección 2026:</a:t>
            </a:r>
          </a:p>
          <a:p>
            <a:pPr algn="l">
              <a:defRPr sz="1400">
                <a:solidFill>
                  <a:srgbClr val="FFFFFF"/>
                </a:solidFill>
              </a:defRPr>
            </a:pPr>
            <a:r>
              <a:rPr sz="1400">
                <a:solidFill>
                  <a:srgbClr val="FFFFFF"/>
                </a:solidFill>
              </a:rPr>
              <a:t>  Todos los timestamps se remapearon al año 2026. Se modificaron las coordenadas a San Pedro de Atacama (Latitud −22.91° S, Longitud −68.20° W, Altitud 2400 m).</a:t>
            </a:r>
          </a:p>
          <a:p>
            <a:pPr algn="l">
              <a:defRPr sz="1400">
                <a:solidFill>
                  <a:srgbClr val="FFFFFF"/>
                </a:solidFill>
              </a:defRPr>
            </a:pPr>
          </a:p>
          <a:p>
            <a:pPr algn="l">
              <a:defRPr sz="1400">
                <a:solidFill>
                  <a:srgbClr val="FFFFFF"/>
                </a:solidFill>
              </a:defRPr>
            </a:pPr>
            <a:r>
              <a:rPr sz="1400">
                <a:solidFill>
                  <a:srgbClr val="FFFFFF"/>
                </a:solidFill>
              </a:rPr>
              <a:t>• </a:t>
            </a:r>
            <a:r>
              <a:rPr sz="1400" b="1">
                <a:solidFill>
                  <a:srgbClr val="FFFFFF"/>
                </a:solidFill>
              </a:rPr>
              <a:t>Alineación Solar Óptima:</a:t>
            </a:r>
          </a:p>
          <a:p>
            <a:pPr algn="l">
              <a:defRPr sz="1400">
                <a:solidFill>
                  <a:srgbClr val="FFFFFF"/>
                </a:solidFill>
              </a:defRPr>
            </a:pPr>
            <a:r>
              <a:rPr sz="1400">
                <a:solidFill>
                  <a:srgbClr val="FFFFFF"/>
                </a:solidFill>
              </a:rPr>
              <a:t>  Inclinación del módulo (Tilt) fijada a </a:t>
            </a:r>
            <a:r>
              <a:rPr sz="1400" b="1">
                <a:solidFill>
                  <a:srgbClr val="FFFFFF"/>
                </a:solidFill>
              </a:rPr>
              <a:t>22.91°</a:t>
            </a:r>
            <a:r>
              <a:rPr sz="1400">
                <a:solidFill>
                  <a:srgbClr val="FFFFFF"/>
                </a:solidFill>
              </a:rPr>
              <a:t> (óptimo anual) y orientación (Azimut) a </a:t>
            </a:r>
            <a:r>
              <a:rPr sz="1400" b="1">
                <a:solidFill>
                  <a:srgbClr val="FFFFFF"/>
                </a:solidFill>
              </a:rPr>
              <a:t>0° Norte</a:t>
            </a:r>
            <a:r>
              <a:rPr sz="1400">
                <a:solidFill>
                  <a:srgbClr val="FFFFFF"/>
                </a:solidFill>
              </a:rPr>
              <a:t>.</a:t>
            </a:r>
          </a:p>
        </p:txBody>
      </p:sp>
      <p:sp>
        <p:nvSpPr>
          <p:cNvPr id="9" name="TextBox 8"/>
          <p:cNvSpPr txBox="1"/>
          <p:nvPr/>
        </p:nvSpPr>
        <p:spPr>
          <a:xfrm>
            <a:off x="365760" y="6492240"/>
            <a:ext cx="11460175" cy="274320"/>
          </a:xfrm>
          <a:prstGeom prst="rect">
            <a:avLst/>
          </a:prstGeom>
          <a:noFill/>
        </p:spPr>
        <p:txBody>
          <a:bodyPr wrap="none">
            <a:spAutoFit/>
          </a:bodyPr>
          <a:lstStyle/>
          <a:p>
            <a:pPr algn="r">
              <a:defRPr sz="1000">
                <a:solidFill>
                  <a:srgbClr val="787878"/>
                </a:solidFill>
              </a:defRPr>
            </a:pPr>
            <a:r>
              <a:t>ELI556 | Grupo Alta Tensión | Lámina 7/25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365760" y="365760"/>
            <a:ext cx="11460175" cy="731520"/>
          </a:xfrm>
          <a:prstGeom prst="rect">
            <a:avLst/>
          </a:prstGeom>
          <a:noFill/>
        </p:spPr>
        <p:txBody>
          <a:bodyPr wrap="square">
            <a:spAutoFit/>
          </a:bodyPr>
          <a:lstStyle/>
          <a:p>
            <a:pPr>
              <a:defRPr sz="2400">
                <a:solidFill>
                  <a:srgbClr val="E8A838"/>
                </a:solidFill>
              </a:defRPr>
            </a:pPr>
            <a:r>
              <a:rPr sz="2400" b="1">
                <a:solidFill>
                  <a:srgbClr val="E8A838"/>
                </a:solidFill>
              </a:rPr>
              <a:t>Procedimiento: Simulación del Perfil Térmico y Pérdidas Ópticas</a:t>
            </a:r>
          </a:p>
        </p:txBody>
      </p:sp>
      <p:sp>
        <p:nvSpPr>
          <p:cNvPr id="3" name="Rectangle 2"/>
          <p:cNvSpPr/>
          <p:nvPr/>
        </p:nvSpPr>
        <p:spPr>
          <a:xfrm>
            <a:off x="365760" y="1097280"/>
            <a:ext cx="5592927"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5410047" cy="411480"/>
          </a:xfrm>
          <a:prstGeom prst="rect">
            <a:avLst/>
          </a:prstGeom>
          <a:noFill/>
        </p:spPr>
        <p:txBody>
          <a:bodyPr wrap="none">
            <a:spAutoFit/>
          </a:bodyPr>
          <a:lstStyle/>
          <a:p>
            <a:pPr>
              <a:defRPr sz="1800">
                <a:solidFill>
                  <a:srgbClr val="E8A838"/>
                </a:solidFill>
              </a:defRPr>
            </a:pPr>
            <a:r>
              <a:rPr sz="1800" b="1">
                <a:solidFill>
                  <a:srgbClr val="E8A838"/>
                </a:solidFill>
              </a:rPr>
              <a:t>Transposición de Recurso y Modificadores</a:t>
            </a:r>
          </a:p>
        </p:txBody>
      </p:sp>
      <p:sp>
        <p:nvSpPr>
          <p:cNvPr id="5" name="TextBox 4"/>
          <p:cNvSpPr txBox="1"/>
          <p:nvPr/>
        </p:nvSpPr>
        <p:spPr>
          <a:xfrm>
            <a:off x="548640" y="1645920"/>
            <a:ext cx="5227167" cy="3657600"/>
          </a:xfrm>
          <a:prstGeom prst="rect">
            <a:avLst/>
          </a:prstGeom>
          <a:noFill/>
        </p:spPr>
        <p:txBody>
          <a:bodyPr wrap="square">
            <a:spAutoFit/>
          </a:bodyPr>
          <a:lstStyle/>
          <a:p>
            <a:pPr algn="l">
              <a:defRPr sz="1700">
                <a:solidFill>
                  <a:srgbClr val="FFFFFF"/>
                </a:solidFill>
              </a:defRPr>
            </a:pPr>
            <a:r>
              <a:rPr sz="1700">
                <a:solidFill>
                  <a:srgbClr val="FFFFFF"/>
                </a:solidFill>
              </a:rPr>
              <a:t>• </a:t>
            </a:r>
            <a:r>
              <a:rPr sz="1700" b="1">
                <a:solidFill>
                  <a:srgbClr val="FFFFFF"/>
                </a:solidFill>
              </a:rPr>
              <a:t>Modelo de Perez:</a:t>
            </a:r>
            <a:r>
              <a:rPr sz="1700">
                <a:solidFill>
                  <a:srgbClr val="FFFFFF"/>
                </a:solidFill>
              </a:rPr>
              <a:t> Ejecución del algoritmo en `pvlib` para calcular la irradiancia total en el Plano del Arreglo ($G_{poa}$).</a:t>
            </a:r>
          </a:p>
          <a:p>
            <a:pPr algn="l">
              <a:defRPr sz="1700">
                <a:solidFill>
                  <a:srgbClr val="FFFFFF"/>
                </a:solidFill>
              </a:defRPr>
            </a:pPr>
          </a:p>
          <a:p>
            <a:pPr algn="l">
              <a:defRPr sz="1700">
                <a:solidFill>
                  <a:srgbClr val="FFFFFF"/>
                </a:solidFill>
              </a:defRPr>
            </a:pPr>
            <a:r>
              <a:rPr sz="1700">
                <a:solidFill>
                  <a:srgbClr val="FFFFFF"/>
                </a:solidFill>
              </a:rPr>
              <a:t>• </a:t>
            </a:r>
            <a:r>
              <a:rPr sz="1700" b="1">
                <a:solidFill>
                  <a:srgbClr val="FFFFFF"/>
                </a:solidFill>
              </a:rPr>
              <a:t>Modificador IAM:</a:t>
            </a:r>
            <a:r>
              <a:rPr sz="1700">
                <a:solidFill>
                  <a:srgbClr val="FFFFFF"/>
                </a:solidFill>
              </a:rPr>
              <a:t> Simulación física de pérdidas por reflexión en el cristal de los paneles. Se utilizaron coeficientes de transmitancia basados en el espesor del vidrio (2mm) y su índice de refracción (1.526).</a:t>
            </a:r>
          </a:p>
          <a:p>
            <a:pPr algn="l">
              <a:defRPr sz="1700">
                <a:solidFill>
                  <a:srgbClr val="FFFFFF"/>
                </a:solidFill>
              </a:defRPr>
            </a:pPr>
          </a:p>
          <a:p>
            <a:pPr algn="l">
              <a:defRPr sz="1700">
                <a:solidFill>
                  <a:srgbClr val="FFFFFF"/>
                </a:solidFill>
              </a:defRPr>
            </a:pPr>
            <a:r>
              <a:rPr sz="1700">
                <a:solidFill>
                  <a:srgbClr val="FFFFFF"/>
                </a:solidFill>
              </a:rPr>
              <a:t>• </a:t>
            </a:r>
            <a:r>
              <a:rPr sz="1700" b="1">
                <a:solidFill>
                  <a:srgbClr val="FFFFFF"/>
                </a:solidFill>
              </a:rPr>
              <a:t>Modificador Espectral (AM):</a:t>
            </a:r>
            <a:r>
              <a:rPr sz="1700">
                <a:solidFill>
                  <a:srgbClr val="FFFFFF"/>
                </a:solidFill>
              </a:rPr>
              <a:t> Estimación de la masa de aire absoluta en función de la altura del sol, aplicando una corrección de cuarto orden.</a:t>
            </a:r>
          </a:p>
        </p:txBody>
      </p:sp>
      <p:sp>
        <p:nvSpPr>
          <p:cNvPr id="6" name="Rectangle 5"/>
          <p:cNvSpPr/>
          <p:nvPr/>
        </p:nvSpPr>
        <p:spPr>
          <a:xfrm>
            <a:off x="6233007" y="1097280"/>
            <a:ext cx="5592927"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24447" y="1188720"/>
            <a:ext cx="5410047" cy="411480"/>
          </a:xfrm>
          <a:prstGeom prst="rect">
            <a:avLst/>
          </a:prstGeom>
          <a:noFill/>
        </p:spPr>
        <p:txBody>
          <a:bodyPr wrap="none">
            <a:spAutoFit/>
          </a:bodyPr>
          <a:lstStyle/>
          <a:p>
            <a:pPr>
              <a:defRPr sz="1800">
                <a:solidFill>
                  <a:srgbClr val="E8A838"/>
                </a:solidFill>
              </a:defRPr>
            </a:pPr>
            <a:r>
              <a:rPr sz="1800" b="1">
                <a:solidFill>
                  <a:srgbClr val="E8A838"/>
                </a:solidFill>
              </a:rPr>
              <a:t>Estimación de Temperatura Sandia (SAPM)</a:t>
            </a:r>
          </a:p>
        </p:txBody>
      </p:sp>
      <p:sp>
        <p:nvSpPr>
          <p:cNvPr id="8" name="TextBox 7"/>
          <p:cNvSpPr txBox="1"/>
          <p:nvPr/>
        </p:nvSpPr>
        <p:spPr>
          <a:xfrm>
            <a:off x="6415887" y="1645920"/>
            <a:ext cx="5227167" cy="3657600"/>
          </a:xfrm>
          <a:prstGeom prst="rect">
            <a:avLst/>
          </a:prstGeom>
          <a:noFill/>
        </p:spPr>
        <p:txBody>
          <a:bodyPr wrap="square">
            <a:spAutoFit/>
          </a:bodyPr>
          <a:lstStyle/>
          <a:p>
            <a:pPr algn="l">
              <a:defRPr sz="1700">
                <a:solidFill>
                  <a:srgbClr val="FFFFFF"/>
                </a:solidFill>
              </a:defRPr>
            </a:pPr>
            <a:r>
              <a:rPr sz="1700">
                <a:solidFill>
                  <a:srgbClr val="FFFFFF"/>
                </a:solidFill>
              </a:rPr>
              <a:t>• </a:t>
            </a:r>
            <a:r>
              <a:rPr sz="1700" b="1">
                <a:solidFill>
                  <a:srgbClr val="FFFFFF"/>
                </a:solidFill>
              </a:rPr>
              <a:t>Modelación Tc:</a:t>
            </a:r>
            <a:r>
              <a:rPr sz="1700">
                <a:solidFill>
                  <a:srgbClr val="FFFFFF"/>
                </a:solidFill>
              </a:rPr>
              <a:t> Estimación dinámica minutal de la temperatura de celda utilizando los parámetros empíricos de encapsulado.</a:t>
            </a:r>
          </a:p>
          <a:p>
            <a:pPr algn="l">
              <a:defRPr sz="1700">
                <a:solidFill>
                  <a:srgbClr val="FFFFFF"/>
                </a:solidFill>
              </a:defRPr>
            </a:pPr>
          </a:p>
          <a:p>
            <a:pPr algn="l">
              <a:defRPr sz="1700">
                <a:solidFill>
                  <a:srgbClr val="FFFFFF"/>
                </a:solidFill>
              </a:defRPr>
            </a:pPr>
            <a:r>
              <a:rPr sz="1700">
                <a:solidFill>
                  <a:srgbClr val="FFFFFF"/>
                </a:solidFill>
              </a:rPr>
              <a:t>• </a:t>
            </a:r>
            <a:r>
              <a:rPr sz="1700" b="1">
                <a:solidFill>
                  <a:srgbClr val="FFFFFF"/>
                </a:solidFill>
              </a:rPr>
              <a:t>Asunciones Justificadas en Atacama:</a:t>
            </a:r>
          </a:p>
          <a:p>
            <a:pPr algn="l">
              <a:defRPr sz="1700">
                <a:solidFill>
                  <a:srgbClr val="FFFFFF"/>
                </a:solidFill>
              </a:defRPr>
            </a:pPr>
            <a:r>
              <a:rPr sz="1700">
                <a:solidFill>
                  <a:srgbClr val="FFFFFF"/>
                </a:solidFill>
              </a:rPr>
              <a:t>  1. </a:t>
            </a:r>
            <a:r>
              <a:rPr sz="1700" b="1">
                <a:solidFill>
                  <a:srgbClr val="FFFFFF"/>
                </a:solidFill>
              </a:rPr>
              <a:t>Velocidad del Viento:</a:t>
            </a:r>
            <a:r>
              <a:rPr sz="1700">
                <a:solidFill>
                  <a:srgbClr val="FFFFFF"/>
                </a:solidFill>
              </a:rPr>
              <a:t> Asumida constante en </a:t>
            </a:r>
            <a:r>
              <a:rPr sz="1700" b="1">
                <a:solidFill>
                  <a:srgbClr val="FFFFFF"/>
                </a:solidFill>
              </a:rPr>
              <a:t>1 m/s</a:t>
            </a:r>
            <a:r>
              <a:rPr sz="1700">
                <a:solidFill>
                  <a:srgbClr val="FFFFFF"/>
                </a:solidFill>
              </a:rPr>
              <a:t> (valor conservador para desierto que minimiza pérdidas por convección artificial).</a:t>
            </a:r>
          </a:p>
          <a:p>
            <a:pPr algn="l">
              <a:defRPr sz="1700">
                <a:solidFill>
                  <a:srgbClr val="FFFFFF"/>
                </a:solidFill>
              </a:defRPr>
            </a:pPr>
            <a:r>
              <a:rPr sz="1700">
                <a:solidFill>
                  <a:srgbClr val="FFFFFF"/>
                </a:solidFill>
              </a:rPr>
              <a:t>  2. </a:t>
            </a:r>
            <a:r>
              <a:rPr sz="1700" b="1">
                <a:solidFill>
                  <a:srgbClr val="FFFFFF"/>
                </a:solidFill>
              </a:rPr>
              <a:t>Reflectancia del Suelo (Albedo):</a:t>
            </a:r>
            <a:r>
              <a:rPr sz="1700">
                <a:solidFill>
                  <a:srgbClr val="FFFFFF"/>
                </a:solidFill>
              </a:rPr>
              <a:t> Fijada en </a:t>
            </a:r>
            <a:r>
              <a:rPr sz="1700" b="1">
                <a:solidFill>
                  <a:srgbClr val="FFFFFF"/>
                </a:solidFill>
              </a:rPr>
              <a:t>0.20</a:t>
            </a:r>
            <a:r>
              <a:rPr sz="1700">
                <a:solidFill>
                  <a:srgbClr val="FFFFFF"/>
                </a:solidFill>
              </a:rPr>
              <a:t> (suelo arenoso/árido del desierto de Atacama).</a:t>
            </a:r>
          </a:p>
        </p:txBody>
      </p:sp>
      <p:sp>
        <p:nvSpPr>
          <p:cNvPr id="9" name="TextBox 8"/>
          <p:cNvSpPr txBox="1"/>
          <p:nvPr/>
        </p:nvSpPr>
        <p:spPr>
          <a:xfrm>
            <a:off x="365760" y="6492240"/>
            <a:ext cx="11460175" cy="274320"/>
          </a:xfrm>
          <a:prstGeom prst="rect">
            <a:avLst/>
          </a:prstGeom>
          <a:noFill/>
        </p:spPr>
        <p:txBody>
          <a:bodyPr wrap="none">
            <a:spAutoFit/>
          </a:bodyPr>
          <a:lstStyle/>
          <a:p>
            <a:pPr algn="r">
              <a:defRPr sz="1000">
                <a:solidFill>
                  <a:srgbClr val="787878"/>
                </a:solidFill>
              </a:defRPr>
            </a:pPr>
            <a:r>
              <a:t>ELI556 | Grupo Alta Tensión | Lámina 8/25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365760" y="365760"/>
            <a:ext cx="11460175" cy="731520"/>
          </a:xfrm>
          <a:prstGeom prst="rect">
            <a:avLst/>
          </a:prstGeom>
          <a:noFill/>
        </p:spPr>
        <p:txBody>
          <a:bodyPr wrap="square">
            <a:spAutoFit/>
          </a:bodyPr>
          <a:lstStyle/>
          <a:p>
            <a:pPr>
              <a:defRPr sz="2400">
                <a:solidFill>
                  <a:srgbClr val="E8A838"/>
                </a:solidFill>
              </a:defRPr>
            </a:pPr>
            <a:r>
              <a:rPr sz="2400" b="1">
                <a:solidFill>
                  <a:srgbClr val="E8A838"/>
                </a:solidFill>
              </a:rPr>
              <a:t>Procedimiento: Metodología de Extracción de Parámetros en STC</a:t>
            </a:r>
          </a:p>
        </p:txBody>
      </p:sp>
      <p:sp>
        <p:nvSpPr>
          <p:cNvPr id="3" name="Rectangle 2"/>
          <p:cNvSpPr/>
          <p:nvPr/>
        </p:nvSpPr>
        <p:spPr>
          <a:xfrm>
            <a:off x="365760" y="1097280"/>
            <a:ext cx="5592927"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5410047" cy="411480"/>
          </a:xfrm>
          <a:prstGeom prst="rect">
            <a:avLst/>
          </a:prstGeom>
          <a:noFill/>
        </p:spPr>
        <p:txBody>
          <a:bodyPr wrap="none">
            <a:spAutoFit/>
          </a:bodyPr>
          <a:lstStyle/>
          <a:p>
            <a:pPr>
              <a:defRPr sz="1800">
                <a:solidFill>
                  <a:srgbClr val="E8A838"/>
                </a:solidFill>
              </a:defRPr>
            </a:pPr>
            <a:r>
              <a:rPr sz="1800" b="1">
                <a:solidFill>
                  <a:srgbClr val="E8A838"/>
                </a:solidFill>
              </a:rPr>
              <a:t>Desafío de Datasheet y Algoritmo Experimental</a:t>
            </a:r>
          </a:p>
        </p:txBody>
      </p:sp>
      <p:sp>
        <p:nvSpPr>
          <p:cNvPr id="5" name="TextBox 4"/>
          <p:cNvSpPr txBox="1"/>
          <p:nvPr/>
        </p:nvSpPr>
        <p:spPr>
          <a:xfrm>
            <a:off x="548640" y="1645920"/>
            <a:ext cx="5227167" cy="3657600"/>
          </a:xfrm>
          <a:prstGeom prst="rect">
            <a:avLst/>
          </a:prstGeom>
          <a:noFill/>
        </p:spPr>
        <p:txBody>
          <a:bodyPr wrap="square">
            <a:spAutoFit/>
          </a:bodyPr>
          <a:lstStyle/>
          <a:p>
            <a:pPr algn="l">
              <a:defRPr sz="1700">
                <a:solidFill>
                  <a:srgbClr val="FFFFFF"/>
                </a:solidFill>
              </a:defRPr>
            </a:pPr>
            <a:r>
              <a:rPr sz="1700">
                <a:solidFill>
                  <a:srgbClr val="FFFFFF"/>
                </a:solidFill>
              </a:rPr>
              <a:t>• </a:t>
            </a:r>
            <a:r>
              <a:rPr sz="1700" b="1">
                <a:solidFill>
                  <a:srgbClr val="FFFFFF"/>
                </a:solidFill>
              </a:rPr>
              <a:t>El Problema:</a:t>
            </a:r>
            <a:r>
              <a:rPr sz="1700">
                <a:solidFill>
                  <a:srgbClr val="FFFFFF"/>
                </a:solidFill>
              </a:rPr>
              <a:t> La base experimental Cocoa usa códigos del NREL (`mSi0166`, `HIT05667`) que no corresponden a marcas comerciales registradas en las librerías estándar.</a:t>
            </a:r>
          </a:p>
          <a:p>
            <a:pPr algn="l">
              <a:defRPr sz="1700">
                <a:solidFill>
                  <a:srgbClr val="FFFFFF"/>
                </a:solidFill>
              </a:defRPr>
            </a:pPr>
          </a:p>
          <a:p>
            <a:pPr algn="l">
              <a:defRPr sz="1700">
                <a:solidFill>
                  <a:srgbClr val="FFFFFF"/>
                </a:solidFill>
              </a:defRPr>
            </a:pPr>
            <a:r>
              <a:rPr sz="1700">
                <a:solidFill>
                  <a:srgbClr val="FFFFFF"/>
                </a:solidFill>
              </a:rPr>
              <a:t>• </a:t>
            </a:r>
            <a:r>
              <a:rPr sz="1700" b="1">
                <a:solidFill>
                  <a:srgbClr val="FFFFFF"/>
                </a:solidFill>
              </a:rPr>
              <a:t>Solución: Extracción Directa:</a:t>
            </a:r>
            <a:r>
              <a:rPr sz="1700">
                <a:solidFill>
                  <a:srgbClr val="FFFFFF"/>
                </a:solidFill>
              </a:rPr>
              <a:t> En lugar de buscar datasheets aproximados, se diseñó un algoritmo para encontrar las propiedades nominales directamente en las curvas medidas del CSV.</a:t>
            </a:r>
          </a:p>
          <a:p>
            <a:pPr algn="l">
              <a:defRPr sz="1700">
                <a:solidFill>
                  <a:srgbClr val="FFFFFF"/>
                </a:solidFill>
              </a:defRPr>
            </a:pPr>
          </a:p>
          <a:p>
            <a:pPr algn="l">
              <a:defRPr sz="1700">
                <a:solidFill>
                  <a:srgbClr val="FFFFFF"/>
                </a:solidFill>
              </a:defRPr>
            </a:pPr>
            <a:r>
              <a:rPr sz="1700">
                <a:solidFill>
                  <a:srgbClr val="FFFFFF"/>
                </a:solidFill>
              </a:rPr>
              <a:t>• </a:t>
            </a:r>
            <a:r>
              <a:rPr sz="1700" b="1">
                <a:solidFill>
                  <a:srgbClr val="FFFFFF"/>
                </a:solidFill>
              </a:rPr>
              <a:t>Búsqueda SRC:</a:t>
            </a:r>
            <a:r>
              <a:rPr sz="1700">
                <a:solidFill>
                  <a:srgbClr val="FFFFFF"/>
                </a:solidFill>
              </a:rPr>
              <a:t> Se filtraron los instantes experimentales bajo condiciones estándar (STC: Irradiancia $G _x0007_pprox 1000$ W/m² y temperatura de celda $T_c _x0007_pprox 25^\circ	ext{C}$).</a:t>
            </a:r>
          </a:p>
        </p:txBody>
      </p:sp>
      <p:sp>
        <p:nvSpPr>
          <p:cNvPr id="6" name="Rectangle 5"/>
          <p:cNvSpPr/>
          <p:nvPr/>
        </p:nvSpPr>
        <p:spPr>
          <a:xfrm>
            <a:off x="6233007" y="1097280"/>
            <a:ext cx="5592927"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24447" y="1188720"/>
            <a:ext cx="5410047" cy="411480"/>
          </a:xfrm>
          <a:prstGeom prst="rect">
            <a:avLst/>
          </a:prstGeom>
          <a:noFill/>
        </p:spPr>
        <p:txBody>
          <a:bodyPr wrap="none">
            <a:spAutoFit/>
          </a:bodyPr>
          <a:lstStyle/>
          <a:p>
            <a:pPr>
              <a:defRPr sz="1800">
                <a:solidFill>
                  <a:srgbClr val="E8A838"/>
                </a:solidFill>
              </a:defRPr>
            </a:pPr>
            <a:r>
              <a:rPr sz="1800" b="1">
                <a:solidFill>
                  <a:srgbClr val="E8A838"/>
                </a:solidFill>
              </a:rPr>
              <a:t>Cálculo Experimental de Coeficientes Térmicos</a:t>
            </a:r>
          </a:p>
        </p:txBody>
      </p:sp>
      <p:sp>
        <p:nvSpPr>
          <p:cNvPr id="8" name="TextBox 7"/>
          <p:cNvSpPr txBox="1"/>
          <p:nvPr/>
        </p:nvSpPr>
        <p:spPr>
          <a:xfrm>
            <a:off x="6415887" y="1645920"/>
            <a:ext cx="5227167" cy="3657600"/>
          </a:xfrm>
          <a:prstGeom prst="rect">
            <a:avLst/>
          </a:prstGeom>
          <a:noFill/>
        </p:spPr>
        <p:txBody>
          <a:bodyPr wrap="square">
            <a:spAutoFit/>
          </a:bodyPr>
          <a:lstStyle/>
          <a:p>
            <a:pPr algn="l">
              <a:defRPr sz="1700">
                <a:solidFill>
                  <a:srgbClr val="FFFFFF"/>
                </a:solidFill>
              </a:defRPr>
            </a:pPr>
            <a:r>
              <a:rPr sz="1700">
                <a:solidFill>
                  <a:srgbClr val="FFFFFF"/>
                </a:solidFill>
              </a:rPr>
              <a:t>• </a:t>
            </a:r>
            <a:r>
              <a:rPr sz="1700" b="1">
                <a:solidFill>
                  <a:srgbClr val="FFFFFF"/>
                </a:solidFill>
              </a:rPr>
              <a:t>Coeficientes de Temperatura ($_x0007_lpha_{Isc}$ y $_x0008_eta_{Voc}$):</a:t>
            </a:r>
          </a:p>
          <a:p>
            <a:pPr algn="l">
              <a:defRPr sz="1700">
                <a:solidFill>
                  <a:srgbClr val="FFFFFF"/>
                </a:solidFill>
              </a:defRPr>
            </a:pPr>
            <a:r>
              <a:rPr sz="1700">
                <a:solidFill>
                  <a:srgbClr val="FFFFFF"/>
                </a:solidFill>
              </a:rPr>
              <a:t>  Se calcularon directamente de las mediciones aplicando regresiones lineales en condiciones de alta radiación ($G &gt; 800$ W/m²).</a:t>
            </a:r>
          </a:p>
          <a:p>
            <a:pPr algn="l">
              <a:defRPr sz="1700">
                <a:solidFill>
                  <a:srgbClr val="FFFFFF"/>
                </a:solidFill>
              </a:defRPr>
            </a:pPr>
          </a:p>
          <a:p>
            <a:pPr algn="l">
              <a:defRPr sz="1700">
                <a:solidFill>
                  <a:srgbClr val="FFFFFF"/>
                </a:solidFill>
              </a:defRPr>
            </a:pPr>
            <a:r>
              <a:rPr sz="1700">
                <a:solidFill>
                  <a:srgbClr val="FFFFFF"/>
                </a:solidFill>
              </a:rPr>
              <a:t>• </a:t>
            </a:r>
            <a:r>
              <a:rPr sz="1700" b="1">
                <a:solidFill>
                  <a:srgbClr val="FFFFFF"/>
                </a:solidFill>
              </a:rPr>
              <a:t>Normalización por Irradiancia:</a:t>
            </a:r>
          </a:p>
          <a:p>
            <a:pPr algn="l">
              <a:defRPr sz="1700">
                <a:solidFill>
                  <a:srgbClr val="FFFFFF"/>
                </a:solidFill>
              </a:defRPr>
            </a:pPr>
            <a:r>
              <a:rPr sz="1700">
                <a:solidFill>
                  <a:srgbClr val="FFFFFF"/>
                </a:solidFill>
              </a:rPr>
              <a:t>  Para la corriente de cortocircuito, se normalizó el valor frente a la irradiancia instantánea para desacoplar el efecto solar y aislar la ganancia térmica pura.</a:t>
            </a:r>
          </a:p>
        </p:txBody>
      </p:sp>
      <p:sp>
        <p:nvSpPr>
          <p:cNvPr id="9" name="TextBox 8"/>
          <p:cNvSpPr txBox="1"/>
          <p:nvPr/>
        </p:nvSpPr>
        <p:spPr>
          <a:xfrm>
            <a:off x="365760" y="6492240"/>
            <a:ext cx="11460175" cy="274320"/>
          </a:xfrm>
          <a:prstGeom prst="rect">
            <a:avLst/>
          </a:prstGeom>
          <a:noFill/>
        </p:spPr>
        <p:txBody>
          <a:bodyPr wrap="none">
            <a:spAutoFit/>
          </a:bodyPr>
          <a:lstStyle/>
          <a:p>
            <a:pPr algn="r">
              <a:defRPr sz="1000">
                <a:solidFill>
                  <a:srgbClr val="787878"/>
                </a:solidFill>
              </a:defRPr>
            </a:pPr>
            <a:r>
              <a:t>ELI556 | Grupo Alta Tensión | Lámina 9/25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365760" y="365760"/>
            <a:ext cx="11460175" cy="731520"/>
          </a:xfrm>
          <a:prstGeom prst="rect">
            <a:avLst/>
          </a:prstGeom>
          <a:noFill/>
        </p:spPr>
        <p:txBody>
          <a:bodyPr wrap="square">
            <a:spAutoFit/>
          </a:bodyPr>
          <a:lstStyle/>
          <a:p>
            <a:pPr>
              <a:defRPr sz="2400">
                <a:solidFill>
                  <a:srgbClr val="E8A838"/>
                </a:solidFill>
              </a:defRPr>
            </a:pPr>
            <a:r>
              <a:rPr sz="2400" b="1">
                <a:solidFill>
                  <a:srgbClr val="E8A838"/>
                </a:solidFill>
              </a:rPr>
              <a:t>Procedimiento: Ajuste Numérico de Parámetros de Referencia</a:t>
            </a:r>
          </a:p>
        </p:txBody>
      </p:sp>
      <p:sp>
        <p:nvSpPr>
          <p:cNvPr id="3" name="Rectangle 2"/>
          <p:cNvSpPr/>
          <p:nvPr/>
        </p:nvSpPr>
        <p:spPr>
          <a:xfrm>
            <a:off x="365760" y="1097280"/>
            <a:ext cx="5592927"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5410047" cy="411480"/>
          </a:xfrm>
          <a:prstGeom prst="rect">
            <a:avLst/>
          </a:prstGeom>
          <a:noFill/>
        </p:spPr>
        <p:txBody>
          <a:bodyPr wrap="none">
            <a:spAutoFit/>
          </a:bodyPr>
          <a:lstStyle/>
          <a:p>
            <a:pPr>
              <a:defRPr sz="1800">
                <a:solidFill>
                  <a:srgbClr val="E8A838"/>
                </a:solidFill>
              </a:defRPr>
            </a:pPr>
            <a:r>
              <a:rPr sz="1800" b="1">
                <a:solidFill>
                  <a:srgbClr val="E8A838"/>
                </a:solidFill>
              </a:rPr>
              <a:t>El Sistema de Ajuste Trascendental</a:t>
            </a:r>
          </a:p>
        </p:txBody>
      </p:sp>
      <p:sp>
        <p:nvSpPr>
          <p:cNvPr id="5" name="TextBox 4"/>
          <p:cNvSpPr txBox="1"/>
          <p:nvPr/>
        </p:nvSpPr>
        <p:spPr>
          <a:xfrm>
            <a:off x="548640" y="1645920"/>
            <a:ext cx="5227167" cy="3657600"/>
          </a:xfrm>
          <a:prstGeom prst="rect">
            <a:avLst/>
          </a:prstGeom>
          <a:noFill/>
        </p:spPr>
        <p:txBody>
          <a:bodyPr wrap="square">
            <a:spAutoFit/>
          </a:bodyPr>
          <a:lstStyle/>
          <a:p>
            <a:pPr algn="l">
              <a:defRPr sz="1700">
                <a:solidFill>
                  <a:srgbClr val="FFFFFF"/>
                </a:solidFill>
              </a:defRPr>
            </a:pPr>
            <a:r>
              <a:rPr sz="1700">
                <a:solidFill>
                  <a:srgbClr val="FFFFFF"/>
                </a:solidFill>
              </a:rPr>
              <a:t>• </a:t>
            </a:r>
            <a:r>
              <a:rPr sz="1700" b="1">
                <a:solidFill>
                  <a:srgbClr val="FFFFFF"/>
                </a:solidFill>
              </a:rPr>
              <a:t>Formulación Matemática:</a:t>
            </a:r>
            <a:r>
              <a:rPr sz="1700">
                <a:solidFill>
                  <a:srgbClr val="FFFFFF"/>
                </a:solidFill>
              </a:rPr>
              <a:t> Las ecuaciones de cortocircuito, circuito abierto, máxima potencia y derivada analítica en MPP ($dP/dV = 0$) forman un sistema no lineal trascendental de 5 incógnitas.</a:t>
            </a:r>
          </a:p>
          <a:p>
            <a:pPr algn="l">
              <a:defRPr sz="1700">
                <a:solidFill>
                  <a:srgbClr val="FFFFFF"/>
                </a:solidFill>
              </a:defRPr>
            </a:pPr>
          </a:p>
          <a:p>
            <a:pPr algn="l">
              <a:defRPr sz="1700">
                <a:solidFill>
                  <a:srgbClr val="FFFFFF"/>
                </a:solidFill>
              </a:defRPr>
            </a:pPr>
            <a:r>
              <a:rPr sz="1700">
                <a:solidFill>
                  <a:srgbClr val="FFFFFF"/>
                </a:solidFill>
              </a:rPr>
              <a:t>• </a:t>
            </a:r>
            <a:r>
              <a:rPr sz="1700" b="1">
                <a:solidFill>
                  <a:srgbClr val="FFFFFF"/>
                </a:solidFill>
              </a:rPr>
              <a:t>Implementación de Mínimos Cuadrados:</a:t>
            </a:r>
            <a:r>
              <a:rPr sz="1700">
                <a:solidFill>
                  <a:srgbClr val="FFFFFF"/>
                </a:solidFill>
              </a:rPr>
              <a:t> Ajuste del sistema a través del algoritmo de optimización numérica `scipy.optimize.minimize`.</a:t>
            </a:r>
          </a:p>
          <a:p>
            <a:pPr algn="l">
              <a:defRPr sz="1700">
                <a:solidFill>
                  <a:srgbClr val="FFFFFF"/>
                </a:solidFill>
              </a:defRPr>
            </a:pPr>
          </a:p>
          <a:p>
            <a:pPr algn="l">
              <a:defRPr sz="1700">
                <a:solidFill>
                  <a:srgbClr val="FFFFFF"/>
                </a:solidFill>
              </a:defRPr>
            </a:pPr>
            <a:r>
              <a:rPr sz="1700">
                <a:solidFill>
                  <a:srgbClr val="FFFFFF"/>
                </a:solidFill>
              </a:rPr>
              <a:t>• </a:t>
            </a:r>
            <a:r>
              <a:rPr sz="1700" b="1">
                <a:solidFill>
                  <a:srgbClr val="FFFFFF"/>
                </a:solidFill>
              </a:rPr>
              <a:t>Consistencia Física (Bounds):</a:t>
            </a:r>
            <a:r>
              <a:rPr sz="1700">
                <a:solidFill>
                  <a:srgbClr val="FFFFFF"/>
                </a:solidFill>
              </a:rPr>
              <a:t> Se restringió estrictamente que la resistencia serie fuera mayor a cero ($R</a:t>
            </a:r>
            <a:r>
              <a:rPr sz="1700" i="1">
                <a:solidFill>
                  <a:srgbClr val="FFFFFF"/>
                </a:solidFill>
              </a:rPr>
              <a:t>{s,ref} &gt; 0$) y el factor de idealidad estuviese acotado ($n</a:t>
            </a:r>
            <a:r>
              <a:rPr sz="1700">
                <a:solidFill>
                  <a:srgbClr val="FFFFFF"/>
                </a:solidFill>
              </a:rPr>
              <a:t>I \in </a:t>
            </a:r>
            <a:r>
              <a:rPr sz="1700">
                <a:solidFill>
                  <a:srgbClr val="FFFFFF"/>
                </a:solidFill>
              </a:rPr>
              <a:t>1, 2</a:t>
            </a:r>
            <a:r>
              <a:rPr sz="1700">
                <a:solidFill>
                  <a:srgbClr val="FFFFFF"/>
                </a:solidFill>
              </a:rPr>
              <a:t>$) para evitar soluciones irreales.</a:t>
            </a:r>
          </a:p>
        </p:txBody>
      </p:sp>
      <p:sp>
        <p:nvSpPr>
          <p:cNvPr id="6" name="Rectangle 5"/>
          <p:cNvSpPr/>
          <p:nvPr/>
        </p:nvSpPr>
        <p:spPr>
          <a:xfrm>
            <a:off x="6233007" y="1097280"/>
            <a:ext cx="5592927"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24447" y="1188720"/>
            <a:ext cx="5410047" cy="411480"/>
          </a:xfrm>
          <a:prstGeom prst="rect">
            <a:avLst/>
          </a:prstGeom>
          <a:noFill/>
        </p:spPr>
        <p:txBody>
          <a:bodyPr wrap="none">
            <a:spAutoFit/>
          </a:bodyPr>
          <a:lstStyle/>
          <a:p>
            <a:pPr>
              <a:defRPr sz="1800">
                <a:solidFill>
                  <a:srgbClr val="E8A838"/>
                </a:solidFill>
              </a:defRPr>
            </a:pPr>
            <a:r>
              <a:rPr sz="1800" b="1">
                <a:solidFill>
                  <a:srgbClr val="E8A838"/>
                </a:solidFill>
              </a:rPr>
              <a:t>Resultados de Parámetros en STC Extraídos</a:t>
            </a:r>
          </a:p>
        </p:txBody>
      </p:sp>
      <p:sp>
        <p:nvSpPr>
          <p:cNvPr id="8" name="TextBox 7"/>
          <p:cNvSpPr txBox="1"/>
          <p:nvPr/>
        </p:nvSpPr>
        <p:spPr>
          <a:xfrm>
            <a:off x="6415887" y="1645920"/>
            <a:ext cx="5227167" cy="3657600"/>
          </a:xfrm>
          <a:prstGeom prst="rect">
            <a:avLst/>
          </a:prstGeom>
          <a:noFill/>
        </p:spPr>
        <p:txBody>
          <a:bodyPr wrap="square">
            <a:spAutoFit/>
          </a:bodyPr>
          <a:lstStyle/>
          <a:p>
            <a:pPr algn="l">
              <a:defRPr sz="1600">
                <a:solidFill>
                  <a:srgbClr val="FFFFFF"/>
                </a:solidFill>
              </a:defRPr>
            </a:pPr>
            <a:r>
              <a:rPr sz="1600">
                <a:solidFill>
                  <a:srgbClr val="FFFFFF"/>
                </a:solidFill>
              </a:rPr>
              <a:t>• </a:t>
            </a:r>
            <a:r>
              <a:rPr sz="1600" b="1">
                <a:solidFill>
                  <a:srgbClr val="FFFFFF"/>
                </a:solidFill>
              </a:rPr>
              <a:t>Silicio Monocristalino (m-Si):</a:t>
            </a:r>
          </a:p>
          <a:p>
            <a:pPr algn="l">
              <a:defRPr sz="1600">
                <a:solidFill>
                  <a:srgbClr val="FFFFFF"/>
                </a:solidFill>
              </a:defRPr>
            </a:pPr>
            <a:r>
              <a:rPr sz="1600">
                <a:solidFill>
                  <a:srgbClr val="FFFFFF"/>
                </a:solidFill>
              </a:rPr>
              <a:t>  $I</a:t>
            </a:r>
            <a:r>
              <a:rPr sz="1600" i="1">
                <a:solidFill>
                  <a:srgbClr val="FFFFFF"/>
                </a:solidFill>
              </a:rPr>
              <a:t>{L,ref}$ = 2.768 A  |  $I</a:t>
            </a:r>
            <a:r>
              <a:rPr sz="1600">
                <a:solidFill>
                  <a:srgbClr val="FFFFFF"/>
                </a:solidFill>
              </a:rPr>
              <a:t>{0,ref}$ = $4.13 	imes 10^{-9}$ A  |  $R</a:t>
            </a:r>
            <a:r>
              <a:rPr sz="1600" i="1">
                <a:solidFill>
                  <a:srgbClr val="FFFFFF"/>
                </a:solidFill>
              </a:rPr>
              <a:t>{s,ref}$ = 0.542 $\Omega$  |  $R</a:t>
            </a:r>
            <a:r>
              <a:rPr sz="1600">
                <a:solidFill>
                  <a:srgbClr val="FFFFFF"/>
                </a:solidFill>
              </a:rPr>
              <a:t>{sh,ref}$ = 352.4 $\Omega$</a:t>
            </a:r>
          </a:p>
          <a:p>
            <a:pPr algn="l">
              <a:defRPr sz="1600">
                <a:solidFill>
                  <a:srgbClr val="FFFFFF"/>
                </a:solidFill>
              </a:defRPr>
            </a:pPr>
          </a:p>
          <a:p>
            <a:pPr algn="l">
              <a:defRPr sz="1600">
                <a:solidFill>
                  <a:srgbClr val="FFFFFF"/>
                </a:solidFill>
              </a:defRPr>
            </a:pPr>
            <a:r>
              <a:rPr sz="1600">
                <a:solidFill>
                  <a:srgbClr val="FFFFFF"/>
                </a:solidFill>
              </a:rPr>
              <a:t>• </a:t>
            </a:r>
            <a:r>
              <a:rPr sz="1600" b="1">
                <a:solidFill>
                  <a:srgbClr val="FFFFFF"/>
                </a:solidFill>
              </a:rPr>
              <a:t>Heterounión (HIT):</a:t>
            </a:r>
          </a:p>
          <a:p>
            <a:pPr algn="l">
              <a:defRPr sz="1600">
                <a:solidFill>
                  <a:srgbClr val="FFFFFF"/>
                </a:solidFill>
              </a:defRPr>
            </a:pPr>
            <a:r>
              <a:rPr sz="1600">
                <a:solidFill>
                  <a:srgbClr val="FFFFFF"/>
                </a:solidFill>
              </a:rPr>
              <a:t>  $I</a:t>
            </a:r>
            <a:r>
              <a:rPr sz="1600" i="1">
                <a:solidFill>
                  <a:srgbClr val="FFFFFF"/>
                </a:solidFill>
              </a:rPr>
              <a:t>{L,ref}$ = 5.607 A  |  $I</a:t>
            </a:r>
            <a:r>
              <a:rPr sz="1600">
                <a:solidFill>
                  <a:srgbClr val="FFFFFF"/>
                </a:solidFill>
              </a:rPr>
              <a:t>{0,ref}$ = $4.68 	imes 10^{-10}$ A  |  $R</a:t>
            </a:r>
            <a:r>
              <a:rPr sz="1600" i="1">
                <a:solidFill>
                  <a:srgbClr val="FFFFFF"/>
                </a:solidFill>
              </a:rPr>
              <a:t>{s,ref}$ = 0.412 $\Omega$  |  $R</a:t>
            </a:r>
            <a:r>
              <a:rPr sz="1600">
                <a:solidFill>
                  <a:srgbClr val="FFFFFF"/>
                </a:solidFill>
              </a:rPr>
              <a:t>{sh,ref}$ = 612.8 $\Omega$</a:t>
            </a:r>
          </a:p>
          <a:p>
            <a:pPr algn="l">
              <a:defRPr sz="1600">
                <a:solidFill>
                  <a:srgbClr val="FFFFFF"/>
                </a:solidFill>
              </a:defRPr>
            </a:pPr>
          </a:p>
          <a:p>
            <a:pPr algn="l">
              <a:defRPr sz="1600">
                <a:solidFill>
                  <a:srgbClr val="FFFFFF"/>
                </a:solidFill>
              </a:defRPr>
            </a:pPr>
            <a:r>
              <a:rPr sz="1600">
                <a:solidFill>
                  <a:srgbClr val="FFFFFF"/>
                </a:solidFill>
              </a:rPr>
              <a:t>• </a:t>
            </a:r>
            <a:r>
              <a:rPr sz="1600" b="1">
                <a:solidFill>
                  <a:srgbClr val="FFFFFF"/>
                </a:solidFill>
              </a:rPr>
              <a:t>Coherencia Física:</a:t>
            </a:r>
            <a:r>
              <a:rPr sz="1600">
                <a:solidFill>
                  <a:srgbClr val="FFFFFF"/>
                </a:solidFill>
              </a:rPr>
              <a:t> La corriente de saturación inversa de HIT es un orden de magnitud menor, demostrando su superioridad frente a la recombinación térmica.</a:t>
            </a:r>
          </a:p>
        </p:txBody>
      </p:sp>
      <p:sp>
        <p:nvSpPr>
          <p:cNvPr id="9" name="TextBox 8"/>
          <p:cNvSpPr txBox="1"/>
          <p:nvPr/>
        </p:nvSpPr>
        <p:spPr>
          <a:xfrm>
            <a:off x="365760" y="6492240"/>
            <a:ext cx="11460175" cy="274320"/>
          </a:xfrm>
          <a:prstGeom prst="rect">
            <a:avLst/>
          </a:prstGeom>
          <a:noFill/>
        </p:spPr>
        <p:txBody>
          <a:bodyPr wrap="none">
            <a:spAutoFit/>
          </a:bodyPr>
          <a:lstStyle/>
          <a:p>
            <a:pPr algn="r">
              <a:defRPr sz="1000">
                <a:solidFill>
                  <a:srgbClr val="787878"/>
                </a:solidFill>
              </a:defRPr>
            </a:pPr>
            <a:r>
              <a:t>ELI556 | Grupo Alta Tensión | Lámina 10/25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365760" y="365760"/>
            <a:ext cx="11460175" cy="731520"/>
          </a:xfrm>
          <a:prstGeom prst="rect">
            <a:avLst/>
          </a:prstGeom>
          <a:noFill/>
        </p:spPr>
        <p:txBody>
          <a:bodyPr wrap="square">
            <a:spAutoFit/>
          </a:bodyPr>
          <a:lstStyle/>
          <a:p>
            <a:pPr>
              <a:defRPr sz="2400">
                <a:solidFill>
                  <a:srgbClr val="E8A838"/>
                </a:solidFill>
              </a:defRPr>
            </a:pPr>
            <a:r>
              <a:rPr sz="2400" b="1">
                <a:solidFill>
                  <a:srgbClr val="E8A838"/>
                </a:solidFill>
              </a:rPr>
              <a:t>Procedimiento: Traslado Paramétrico y Simulación Minutal</a:t>
            </a:r>
          </a:p>
        </p:txBody>
      </p:sp>
      <p:sp>
        <p:nvSpPr>
          <p:cNvPr id="3" name="Rectangle 2"/>
          <p:cNvSpPr/>
          <p:nvPr/>
        </p:nvSpPr>
        <p:spPr>
          <a:xfrm>
            <a:off x="365760" y="1097280"/>
            <a:ext cx="5592927"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5410047" cy="411480"/>
          </a:xfrm>
          <a:prstGeom prst="rect">
            <a:avLst/>
          </a:prstGeom>
          <a:noFill/>
        </p:spPr>
        <p:txBody>
          <a:bodyPr wrap="none">
            <a:spAutoFit/>
          </a:bodyPr>
          <a:lstStyle/>
          <a:p>
            <a:pPr>
              <a:defRPr sz="1800">
                <a:solidFill>
                  <a:srgbClr val="E8A838"/>
                </a:solidFill>
              </a:defRPr>
            </a:pPr>
            <a:r>
              <a:rPr sz="1800" b="1">
                <a:solidFill>
                  <a:srgbClr val="E8A838"/>
                </a:solidFill>
              </a:rPr>
              <a:t>Escalamiento Dinámico a Condiciones Reales</a:t>
            </a:r>
          </a:p>
        </p:txBody>
      </p:sp>
      <p:sp>
        <p:nvSpPr>
          <p:cNvPr id="5" name="TextBox 4"/>
          <p:cNvSpPr txBox="1"/>
          <p:nvPr/>
        </p:nvSpPr>
        <p:spPr>
          <a:xfrm>
            <a:off x="548640" y="1645920"/>
            <a:ext cx="5227167" cy="3657600"/>
          </a:xfrm>
          <a:prstGeom prst="rect">
            <a:avLst/>
          </a:prstGeom>
          <a:noFill/>
        </p:spPr>
        <p:txBody>
          <a:bodyPr wrap="square">
            <a:spAutoFit/>
          </a:bodyPr>
          <a:lstStyle/>
          <a:p>
            <a:pPr algn="l">
              <a:defRPr sz="1700">
                <a:solidFill>
                  <a:srgbClr val="FFFFFF"/>
                </a:solidFill>
              </a:defRPr>
            </a:pPr>
            <a:r>
              <a:rPr sz="1700">
                <a:solidFill>
                  <a:srgbClr val="FFFFFF"/>
                </a:solidFill>
              </a:rPr>
              <a:t>• </a:t>
            </a:r>
            <a:r>
              <a:rPr sz="1700" b="1">
                <a:solidFill>
                  <a:srgbClr val="FFFFFF"/>
                </a:solidFill>
              </a:rPr>
              <a:t>Cálculo Temporal:</a:t>
            </a:r>
            <a:r>
              <a:rPr sz="1700">
                <a:solidFill>
                  <a:srgbClr val="FFFFFF"/>
                </a:solidFill>
              </a:rPr>
              <a:t> Para cada paso de tiempo de los 8,760 intervalos del año 2026, los 5 parámetros fueron escalados a la irradiancia incidente absorbida ($S$) y temperatura de celda ($T_c$) locales.</a:t>
            </a:r>
          </a:p>
          <a:p>
            <a:pPr algn="l">
              <a:defRPr sz="1700">
                <a:solidFill>
                  <a:srgbClr val="FFFFFF"/>
                </a:solidFill>
              </a:defRPr>
            </a:pPr>
          </a:p>
          <a:p>
            <a:pPr algn="l">
              <a:defRPr sz="1700">
                <a:solidFill>
                  <a:srgbClr val="FFFFFF"/>
                </a:solidFill>
              </a:defRPr>
            </a:pPr>
            <a:r>
              <a:rPr sz="1700">
                <a:solidFill>
                  <a:srgbClr val="FFFFFF"/>
                </a:solidFill>
              </a:rPr>
              <a:t>• </a:t>
            </a:r>
            <a:r>
              <a:rPr sz="1700" b="1">
                <a:solidFill>
                  <a:srgbClr val="FFFFFF"/>
                </a:solidFill>
              </a:rPr>
              <a:t>Traslado de De Soto:</a:t>
            </a:r>
            <a:r>
              <a:rPr sz="1700">
                <a:solidFill>
                  <a:srgbClr val="FFFFFF"/>
                </a:solidFill>
              </a:rPr>
              <a:t> Variación térmica del factor de idealidad ($a$), bandgap del silicio ($E</a:t>
            </a:r>
            <a:r>
              <a:rPr sz="1700" i="1">
                <a:solidFill>
                  <a:srgbClr val="FFFFFF"/>
                </a:solidFill>
              </a:rPr>
              <a:t>g$), corrientes de saturación ($I</a:t>
            </a:r>
            <a:r>
              <a:rPr sz="1700">
                <a:solidFill>
                  <a:srgbClr val="FFFFFF"/>
                </a:solidFill>
              </a:rPr>
              <a:t>0$) y fotogenerada ($I_L$).</a:t>
            </a:r>
          </a:p>
          <a:p>
            <a:pPr algn="l">
              <a:defRPr sz="1700">
                <a:solidFill>
                  <a:srgbClr val="FFFFFF"/>
                </a:solidFill>
              </a:defRPr>
            </a:pPr>
          </a:p>
          <a:p>
            <a:pPr algn="l">
              <a:defRPr sz="1700">
                <a:solidFill>
                  <a:srgbClr val="FFFFFF"/>
                </a:solidFill>
              </a:defRPr>
            </a:pPr>
            <a:r>
              <a:rPr sz="1700">
                <a:solidFill>
                  <a:srgbClr val="FFFFFF"/>
                </a:solidFill>
              </a:rPr>
              <a:t>• </a:t>
            </a:r>
            <a:r>
              <a:rPr sz="1700" b="1">
                <a:solidFill>
                  <a:srgbClr val="FFFFFF"/>
                </a:solidFill>
              </a:rPr>
              <a:t>Resistencia Paralelo:</a:t>
            </a:r>
            <a:r>
              <a:rPr sz="1700">
                <a:solidFill>
                  <a:srgbClr val="FFFFFF"/>
                </a:solidFill>
              </a:rPr>
              <a:t> Modelada inversamente proporcional a la irradiancia. Resistencia serie constante.</a:t>
            </a:r>
          </a:p>
        </p:txBody>
      </p:sp>
      <p:sp>
        <p:nvSpPr>
          <p:cNvPr id="6" name="Rectangle 5"/>
          <p:cNvSpPr/>
          <p:nvPr/>
        </p:nvSpPr>
        <p:spPr>
          <a:xfrm>
            <a:off x="6233007" y="1097280"/>
            <a:ext cx="5592927"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24447" y="1188720"/>
            <a:ext cx="5410047" cy="411480"/>
          </a:xfrm>
          <a:prstGeom prst="rect">
            <a:avLst/>
          </a:prstGeom>
          <a:noFill/>
        </p:spPr>
        <p:txBody>
          <a:bodyPr wrap="none">
            <a:spAutoFit/>
          </a:bodyPr>
          <a:lstStyle/>
          <a:p>
            <a:pPr>
              <a:defRPr sz="1800">
                <a:solidFill>
                  <a:srgbClr val="E8A838"/>
                </a:solidFill>
              </a:defRPr>
            </a:pPr>
            <a:r>
              <a:rPr sz="1800" b="1">
                <a:solidFill>
                  <a:srgbClr val="E8A838"/>
                </a:solidFill>
              </a:rPr>
              <a:t>Resolución Implícita del Circuito (MPP)</a:t>
            </a:r>
          </a:p>
        </p:txBody>
      </p:sp>
      <p:sp>
        <p:nvSpPr>
          <p:cNvPr id="8" name="TextBox 7"/>
          <p:cNvSpPr txBox="1"/>
          <p:nvPr/>
        </p:nvSpPr>
        <p:spPr>
          <a:xfrm>
            <a:off x="6415887" y="1645920"/>
            <a:ext cx="5227167" cy="3657600"/>
          </a:xfrm>
          <a:prstGeom prst="rect">
            <a:avLst/>
          </a:prstGeom>
          <a:noFill/>
        </p:spPr>
        <p:txBody>
          <a:bodyPr wrap="square">
            <a:spAutoFit/>
          </a:bodyPr>
          <a:lstStyle/>
          <a:p>
            <a:pPr algn="l">
              <a:defRPr sz="1700">
                <a:solidFill>
                  <a:srgbClr val="FFFFFF"/>
                </a:solidFill>
              </a:defRPr>
            </a:pPr>
            <a:r>
              <a:rPr sz="1700">
                <a:solidFill>
                  <a:srgbClr val="FFFFFF"/>
                </a:solidFill>
              </a:rPr>
              <a:t>• </a:t>
            </a:r>
            <a:r>
              <a:rPr sz="1700" b="1">
                <a:solidFill>
                  <a:srgbClr val="FFFFFF"/>
                </a:solidFill>
              </a:rPr>
              <a:t>Resolución Trascendental:</a:t>
            </a:r>
            <a:r>
              <a:rPr sz="1700">
                <a:solidFill>
                  <a:srgbClr val="FFFFFF"/>
                </a:solidFill>
              </a:rPr>
              <a:t> Dado que la corriente ($I$) depende implícitamente del voltaje y de sí misma, se empleó un algoritmo de resolución numérica robusto (`calcparams_desoto` de pvlib).</a:t>
            </a:r>
          </a:p>
          <a:p>
            <a:pPr algn="l">
              <a:defRPr sz="1700">
                <a:solidFill>
                  <a:srgbClr val="FFFFFF"/>
                </a:solidFill>
              </a:defRPr>
            </a:pPr>
          </a:p>
          <a:p>
            <a:pPr algn="l">
              <a:defRPr sz="1700">
                <a:solidFill>
                  <a:srgbClr val="FFFFFF"/>
                </a:solidFill>
              </a:defRPr>
            </a:pPr>
            <a:r>
              <a:rPr sz="1700">
                <a:solidFill>
                  <a:srgbClr val="FFFFFF"/>
                </a:solidFill>
              </a:rPr>
              <a:t>• </a:t>
            </a:r>
            <a:r>
              <a:rPr sz="1700" b="1">
                <a:solidFill>
                  <a:srgbClr val="FFFFFF"/>
                </a:solidFill>
              </a:rPr>
              <a:t>Búsqueda del MPP Minutal:</a:t>
            </a:r>
            <a:r>
              <a:rPr sz="1700">
                <a:solidFill>
                  <a:srgbClr val="FFFFFF"/>
                </a:solidFill>
              </a:rPr>
              <a:t> Se resolvió numéricamente la curva para encontrar el Punto de Máxima Potencia ($P_{mp,SDM}$) para cada registro del año.</a:t>
            </a:r>
          </a:p>
          <a:p>
            <a:pPr algn="l">
              <a:defRPr sz="1700">
                <a:solidFill>
                  <a:srgbClr val="FFFFFF"/>
                </a:solidFill>
              </a:defRPr>
            </a:pPr>
          </a:p>
          <a:p>
            <a:pPr algn="l">
              <a:defRPr sz="1700">
                <a:solidFill>
                  <a:srgbClr val="FFFFFF"/>
                </a:solidFill>
              </a:defRPr>
            </a:pPr>
            <a:r>
              <a:rPr sz="1700">
                <a:solidFill>
                  <a:srgbClr val="FFFFFF"/>
                </a:solidFill>
              </a:rPr>
              <a:t>• </a:t>
            </a:r>
            <a:r>
              <a:rPr sz="1700" b="1">
                <a:solidFill>
                  <a:srgbClr val="FFFFFF"/>
                </a:solidFill>
              </a:rPr>
              <a:t>Cómputo de Generación:</a:t>
            </a:r>
            <a:r>
              <a:rPr sz="1700">
                <a:solidFill>
                  <a:srgbClr val="FFFFFF"/>
                </a:solidFill>
              </a:rPr>
              <a:t> Integración de la potencia generada minutalmente para obtener la energía total anual producida por cada tecnología.</a:t>
            </a:r>
          </a:p>
        </p:txBody>
      </p:sp>
      <p:sp>
        <p:nvSpPr>
          <p:cNvPr id="9" name="TextBox 8"/>
          <p:cNvSpPr txBox="1"/>
          <p:nvPr/>
        </p:nvSpPr>
        <p:spPr>
          <a:xfrm>
            <a:off x="365760" y="6492240"/>
            <a:ext cx="11460175" cy="274320"/>
          </a:xfrm>
          <a:prstGeom prst="rect">
            <a:avLst/>
          </a:prstGeom>
          <a:noFill/>
        </p:spPr>
        <p:txBody>
          <a:bodyPr wrap="none">
            <a:spAutoFit/>
          </a:bodyPr>
          <a:lstStyle/>
          <a:p>
            <a:pPr algn="r">
              <a:defRPr sz="1000">
                <a:solidFill>
                  <a:srgbClr val="787878"/>
                </a:solidFill>
              </a:defRPr>
            </a:pPr>
            <a:r>
              <a:t>ELI556 | Grupo Alta Tensión | Lámina 11/25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365760" y="365760"/>
            <a:ext cx="11460175" cy="731520"/>
          </a:xfrm>
          <a:prstGeom prst="rect">
            <a:avLst/>
          </a:prstGeom>
          <a:noFill/>
        </p:spPr>
        <p:txBody>
          <a:bodyPr wrap="square">
            <a:spAutoFit/>
          </a:bodyPr>
          <a:lstStyle/>
          <a:p>
            <a:pPr>
              <a:defRPr sz="2400">
                <a:solidFill>
                  <a:srgbClr val="E8A838"/>
                </a:solidFill>
              </a:defRPr>
            </a:pPr>
            <a:r>
              <a:rPr sz="2400" b="1">
                <a:solidFill>
                  <a:srgbClr val="E8A838"/>
                </a:solidFill>
              </a:rPr>
              <a:t>d) Desarrollo y discusión: Recurso Solar y Perfil Térmico</a:t>
            </a:r>
          </a:p>
        </p:txBody>
      </p:sp>
      <p:sp>
        <p:nvSpPr>
          <p:cNvPr id="3" name="Rectangle 2"/>
          <p:cNvSpPr/>
          <p:nvPr/>
        </p:nvSpPr>
        <p:spPr>
          <a:xfrm>
            <a:off x="365760" y="1097280"/>
            <a:ext cx="6309360"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6126480" cy="411480"/>
          </a:xfrm>
          <a:prstGeom prst="rect">
            <a:avLst/>
          </a:prstGeom>
          <a:noFill/>
        </p:spPr>
        <p:txBody>
          <a:bodyPr wrap="none">
            <a:spAutoFit/>
          </a:bodyPr>
          <a:lstStyle/>
          <a:p>
            <a:pPr>
              <a:defRPr sz="1800">
                <a:solidFill>
                  <a:srgbClr val="E8A838"/>
                </a:solidFill>
              </a:defRPr>
            </a:pPr>
            <a:r>
              <a:rPr sz="1800" b="1">
                <a:solidFill>
                  <a:srgbClr val="E8A838"/>
                </a:solidFill>
              </a:rPr>
              <a:t>Distribución de Temperatura de Celda</a:t>
            </a:r>
          </a:p>
        </p:txBody>
      </p:sp>
      <p:pic>
        <p:nvPicPr>
          <p:cNvPr id="5" name="Picture 4" descr="temp_hist_HIT.png"/>
          <p:cNvPicPr>
            <a:picLocks noChangeAspect="1"/>
          </p:cNvPicPr>
          <p:nvPr/>
        </p:nvPicPr>
        <p:blipFill>
          <a:blip r:embed="rId2"/>
          <a:stretch>
            <a:fillRect/>
          </a:stretch>
        </p:blipFill>
        <p:spPr>
          <a:xfrm>
            <a:off x="685800" y="1508760"/>
            <a:ext cx="5669280" cy="4251960"/>
          </a:xfrm>
          <a:prstGeom prst="rect">
            <a:avLst/>
          </a:prstGeom>
        </p:spPr>
      </p:pic>
      <p:sp>
        <p:nvSpPr>
          <p:cNvPr id="6" name="Rectangle 5"/>
          <p:cNvSpPr/>
          <p:nvPr/>
        </p:nvSpPr>
        <p:spPr>
          <a:xfrm>
            <a:off x="6949440" y="1097280"/>
            <a:ext cx="4876495"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0" y="1188720"/>
            <a:ext cx="4693615" cy="411480"/>
          </a:xfrm>
          <a:prstGeom prst="rect">
            <a:avLst/>
          </a:prstGeom>
          <a:noFill/>
        </p:spPr>
        <p:txBody>
          <a:bodyPr wrap="none">
            <a:spAutoFit/>
          </a:bodyPr>
          <a:lstStyle/>
          <a:p>
            <a:pPr>
              <a:defRPr sz="1800">
                <a:solidFill>
                  <a:srgbClr val="E8A838"/>
                </a:solidFill>
              </a:defRPr>
            </a:pPr>
            <a:r>
              <a:rPr sz="1800" b="1">
                <a:solidFill>
                  <a:srgbClr val="E8A838"/>
                </a:solidFill>
              </a:rPr>
              <a:t>Análisis Crítico de Resultados</a:t>
            </a:r>
          </a:p>
        </p:txBody>
      </p:sp>
      <p:sp>
        <p:nvSpPr>
          <p:cNvPr id="8" name="TextBox 7"/>
          <p:cNvSpPr txBox="1"/>
          <p:nvPr/>
        </p:nvSpPr>
        <p:spPr>
          <a:xfrm>
            <a:off x="7132320" y="1645920"/>
            <a:ext cx="4510735" cy="3657600"/>
          </a:xfrm>
          <a:prstGeom prst="rect">
            <a:avLst/>
          </a:prstGeom>
          <a:noFill/>
        </p:spPr>
        <p:txBody>
          <a:bodyPr wrap="square">
            <a:spAutoFit/>
          </a:bodyPr>
          <a:lstStyle/>
          <a:p>
            <a:pPr algn="l">
              <a:defRPr sz="1700">
                <a:solidFill>
                  <a:srgbClr val="FFFFFF"/>
                </a:solidFill>
              </a:defRPr>
            </a:pPr>
            <a:r>
              <a:rPr sz="1700">
                <a:solidFill>
                  <a:srgbClr val="FFFFFF"/>
                </a:solidFill>
              </a:rPr>
              <a:t>• </a:t>
            </a:r>
            <a:r>
              <a:rPr sz="1700" b="1">
                <a:solidFill>
                  <a:srgbClr val="FFFFFF"/>
                </a:solidFill>
              </a:rPr>
              <a:t>Estrés Térmico Evidenciado:</a:t>
            </a:r>
            <a:r>
              <a:rPr sz="1700">
                <a:solidFill>
                  <a:srgbClr val="FFFFFF"/>
                </a:solidFill>
              </a:rPr>
              <a:t> El histograma térmico revela que la mayor parte de las horas de sol el panel opera entre 38°C y 50°C, con picos extremos de 65°C a 70°C.</a:t>
            </a:r>
          </a:p>
          <a:p>
            <a:pPr algn="l">
              <a:defRPr sz="1700">
                <a:solidFill>
                  <a:srgbClr val="FFFFFF"/>
                </a:solidFill>
              </a:defRPr>
            </a:pPr>
          </a:p>
          <a:p>
            <a:pPr algn="l">
              <a:defRPr sz="1700">
                <a:solidFill>
                  <a:srgbClr val="FFFFFF"/>
                </a:solidFill>
              </a:defRPr>
            </a:pPr>
            <a:r>
              <a:rPr sz="1700">
                <a:solidFill>
                  <a:srgbClr val="FFFFFF"/>
                </a:solidFill>
              </a:rPr>
              <a:t>• </a:t>
            </a:r>
            <a:r>
              <a:rPr sz="1700" b="1">
                <a:solidFill>
                  <a:srgbClr val="FFFFFF"/>
                </a:solidFill>
              </a:rPr>
              <a:t>Impacto del Viento Bajo (1 m/s):</a:t>
            </a:r>
            <a:r>
              <a:rPr sz="1700">
                <a:solidFill>
                  <a:srgbClr val="FFFFFF"/>
                </a:solidFill>
              </a:rPr>
              <a:t> La baja velocidad del viento en la modelación reduce el enfriamiento convectivo natural, maximizando el calentamiento térmico de la celda.</a:t>
            </a:r>
          </a:p>
          <a:p>
            <a:pPr algn="l">
              <a:defRPr sz="1700">
                <a:solidFill>
                  <a:srgbClr val="FFFFFF"/>
                </a:solidFill>
              </a:defRPr>
            </a:pPr>
          </a:p>
          <a:p>
            <a:pPr algn="l">
              <a:defRPr sz="1700">
                <a:solidFill>
                  <a:srgbClr val="FFFFFF"/>
                </a:solidFill>
              </a:defRPr>
            </a:pPr>
            <a:r>
              <a:rPr sz="1700">
                <a:solidFill>
                  <a:srgbClr val="FFFFFF"/>
                </a:solidFill>
              </a:rPr>
              <a:t>• </a:t>
            </a:r>
            <a:r>
              <a:rPr sz="1700" b="1">
                <a:solidFill>
                  <a:srgbClr val="FFFFFF"/>
                </a:solidFill>
              </a:rPr>
              <a:t>Consecuencia Física:</a:t>
            </a:r>
            <a:r>
              <a:rPr sz="1700">
                <a:solidFill>
                  <a:srgbClr val="FFFFFF"/>
                </a:solidFill>
              </a:rPr>
              <a:t> Las altas temperaturas aumentan la corriente de saturación inversa ($I</a:t>
            </a:r>
            <a:r>
              <a:rPr sz="1700" i="1">
                <a:solidFill>
                  <a:srgbClr val="FFFFFF"/>
                </a:solidFill>
              </a:rPr>
              <a:t>0$), degradando severamente el voltaje en circuito abierto ($V</a:t>
            </a:r>
            <a:r>
              <a:rPr sz="1700">
                <a:solidFill>
                  <a:srgbClr val="FFFFFF"/>
                </a:solidFill>
              </a:rPr>
              <a:t>{oc}$).</a:t>
            </a:r>
          </a:p>
        </p:txBody>
      </p:sp>
      <p:sp>
        <p:nvSpPr>
          <p:cNvPr id="9" name="TextBox 8"/>
          <p:cNvSpPr txBox="1"/>
          <p:nvPr/>
        </p:nvSpPr>
        <p:spPr>
          <a:xfrm>
            <a:off x="365760" y="6492240"/>
            <a:ext cx="11460175" cy="274320"/>
          </a:xfrm>
          <a:prstGeom prst="rect">
            <a:avLst/>
          </a:prstGeom>
          <a:noFill/>
        </p:spPr>
        <p:txBody>
          <a:bodyPr wrap="none">
            <a:spAutoFit/>
          </a:bodyPr>
          <a:lstStyle/>
          <a:p>
            <a:pPr algn="r">
              <a:defRPr sz="1000">
                <a:solidFill>
                  <a:srgbClr val="787878"/>
                </a:solidFill>
              </a:defRPr>
            </a:pPr>
            <a:r>
              <a:t>ELI556 | Grupo Alta Tensión | Lámina 12/25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365760" y="365760"/>
            <a:ext cx="11460175" cy="731520"/>
          </a:xfrm>
          <a:prstGeom prst="rect">
            <a:avLst/>
          </a:prstGeom>
          <a:noFill/>
        </p:spPr>
        <p:txBody>
          <a:bodyPr wrap="square">
            <a:spAutoFit/>
          </a:bodyPr>
          <a:lstStyle/>
          <a:p>
            <a:pPr>
              <a:defRPr sz="2400">
                <a:solidFill>
                  <a:srgbClr val="E8A838"/>
                </a:solidFill>
              </a:defRPr>
            </a:pPr>
            <a:r>
              <a:rPr sz="2400" b="1">
                <a:solidFill>
                  <a:srgbClr val="E8A838"/>
                </a:solidFill>
              </a:rPr>
              <a:t>d) Desarrollo y discusión: Validación del Modelo Eléctrico</a:t>
            </a:r>
          </a:p>
        </p:txBody>
      </p:sp>
      <p:sp>
        <p:nvSpPr>
          <p:cNvPr id="3" name="Rectangle 2"/>
          <p:cNvSpPr/>
          <p:nvPr/>
        </p:nvSpPr>
        <p:spPr>
          <a:xfrm>
            <a:off x="365760" y="1097280"/>
            <a:ext cx="6035040"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5852160" cy="411480"/>
          </a:xfrm>
          <a:prstGeom prst="rect">
            <a:avLst/>
          </a:prstGeom>
          <a:noFill/>
        </p:spPr>
        <p:txBody>
          <a:bodyPr wrap="none">
            <a:spAutoFit/>
          </a:bodyPr>
          <a:lstStyle/>
          <a:p>
            <a:pPr>
              <a:defRPr sz="1800">
                <a:solidFill>
                  <a:srgbClr val="E8A838"/>
                </a:solidFill>
              </a:defRPr>
            </a:pPr>
            <a:r>
              <a:rPr sz="1800" b="1">
                <a:solidFill>
                  <a:srgbClr val="E8A838"/>
                </a:solidFill>
              </a:rPr>
              <a:t>Validación: Potencia Medida vs. Simulada</a:t>
            </a:r>
          </a:p>
        </p:txBody>
      </p:sp>
      <p:pic>
        <p:nvPicPr>
          <p:cNvPr id="5" name="Picture 4" descr="val_scatter_HIT.png"/>
          <p:cNvPicPr>
            <a:picLocks noChangeAspect="1"/>
          </p:cNvPicPr>
          <p:nvPr/>
        </p:nvPicPr>
        <p:blipFill>
          <a:blip r:embed="rId2"/>
          <a:stretch>
            <a:fillRect/>
          </a:stretch>
        </p:blipFill>
        <p:spPr>
          <a:xfrm>
            <a:off x="640080" y="1554480"/>
            <a:ext cx="5486400" cy="4114800"/>
          </a:xfrm>
          <a:prstGeom prst="rect">
            <a:avLst/>
          </a:prstGeom>
        </p:spPr>
      </p:pic>
      <p:sp>
        <p:nvSpPr>
          <p:cNvPr id="6" name="Rectangle 5"/>
          <p:cNvSpPr/>
          <p:nvPr/>
        </p:nvSpPr>
        <p:spPr>
          <a:xfrm>
            <a:off x="6675120" y="1097280"/>
            <a:ext cx="5150815"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66560" y="1188720"/>
            <a:ext cx="4967935" cy="411480"/>
          </a:xfrm>
          <a:prstGeom prst="rect">
            <a:avLst/>
          </a:prstGeom>
          <a:noFill/>
        </p:spPr>
        <p:txBody>
          <a:bodyPr wrap="none">
            <a:spAutoFit/>
          </a:bodyPr>
          <a:lstStyle/>
          <a:p>
            <a:pPr>
              <a:defRPr sz="1800">
                <a:solidFill>
                  <a:srgbClr val="E8A838"/>
                </a:solidFill>
              </a:defRPr>
            </a:pPr>
            <a:r>
              <a:rPr sz="1800" b="1">
                <a:solidFill>
                  <a:srgbClr val="E8A838"/>
                </a:solidFill>
              </a:rPr>
              <a:t>Métricas de Ajuste y Rigor</a:t>
            </a:r>
          </a:p>
        </p:txBody>
      </p:sp>
      <p:sp>
        <p:nvSpPr>
          <p:cNvPr id="8" name="TextBox 7"/>
          <p:cNvSpPr txBox="1"/>
          <p:nvPr/>
        </p:nvSpPr>
        <p:spPr>
          <a:xfrm>
            <a:off x="6858000" y="1645920"/>
            <a:ext cx="4785055" cy="4114800"/>
          </a:xfrm>
          <a:prstGeom prst="rect">
            <a:avLst/>
          </a:prstGeom>
          <a:noFill/>
        </p:spPr>
        <p:txBody>
          <a:bodyPr wrap="square">
            <a:spAutoFit/>
          </a:bodyPr>
          <a:lstStyle/>
          <a:p>
            <a:pPr algn="l">
              <a:defRPr sz="1700">
                <a:solidFill>
                  <a:srgbClr val="FFFFFF"/>
                </a:solidFill>
              </a:defRPr>
            </a:pPr>
            <a:r>
              <a:rPr sz="1700">
                <a:solidFill>
                  <a:srgbClr val="FFFFFF"/>
                </a:solidFill>
              </a:rPr>
              <a:t>• </a:t>
            </a:r>
            <a:r>
              <a:rPr sz="1700" b="1">
                <a:solidFill>
                  <a:srgbClr val="FFFFFF"/>
                </a:solidFill>
              </a:rPr>
              <a:t>Alta Precisión:</a:t>
            </a:r>
            <a:r>
              <a:rPr sz="1700">
                <a:solidFill>
                  <a:srgbClr val="FFFFFF"/>
                </a:solidFill>
              </a:rPr>
              <a:t> El coeficiente de determinación $R^2 &gt; 0.99$ en la validación experimental cruzada demuestra la alta fidelidad del modelo.</a:t>
            </a:r>
          </a:p>
          <a:p>
            <a:pPr algn="l">
              <a:defRPr sz="1700">
                <a:solidFill>
                  <a:srgbClr val="FFFFFF"/>
                </a:solidFill>
              </a:defRPr>
            </a:pPr>
          </a:p>
          <a:p>
            <a:pPr algn="l">
              <a:defRPr sz="1700">
                <a:solidFill>
                  <a:srgbClr val="FFFFFF"/>
                </a:solidFill>
              </a:defRPr>
            </a:pPr>
            <a:r>
              <a:rPr sz="1700">
                <a:solidFill>
                  <a:srgbClr val="FFFFFF"/>
                </a:solidFill>
              </a:rPr>
              <a:t>• </a:t>
            </a:r>
            <a:r>
              <a:rPr sz="1700" b="1">
                <a:solidFill>
                  <a:srgbClr val="FFFFFF"/>
                </a:solidFill>
              </a:rPr>
              <a:t>RMSE Reducido:</a:t>
            </a:r>
            <a:r>
              <a:rPr sz="1700">
                <a:solidFill>
                  <a:srgbClr val="FFFFFF"/>
                </a:solidFill>
              </a:rPr>
              <a:t> Error cuadrático medio de la potencia ($RMSE$) inferior a 5W bajo condiciones nominales.</a:t>
            </a:r>
          </a:p>
          <a:p>
            <a:pPr algn="l">
              <a:defRPr sz="1700">
                <a:solidFill>
                  <a:srgbClr val="FFFFFF"/>
                </a:solidFill>
              </a:defRPr>
            </a:pPr>
          </a:p>
          <a:p>
            <a:pPr algn="l">
              <a:defRPr sz="1700">
                <a:solidFill>
                  <a:srgbClr val="FFFFFF"/>
                </a:solidFill>
              </a:defRPr>
            </a:pPr>
            <a:r>
              <a:rPr sz="1700">
                <a:solidFill>
                  <a:srgbClr val="FFFFFF"/>
                </a:solidFill>
              </a:rPr>
              <a:t>• </a:t>
            </a:r>
            <a:r>
              <a:rPr sz="1700" b="1">
                <a:solidFill>
                  <a:srgbClr val="FFFFFF"/>
                </a:solidFill>
              </a:rPr>
              <a:t>Puntos de Desviación:</a:t>
            </a:r>
            <a:r>
              <a:rPr sz="1700">
                <a:solidFill>
                  <a:srgbClr val="FFFFFF"/>
                </a:solidFill>
              </a:rPr>
              <a:t> El error máximo se concentra en la zona del codo de la curva característica I-V a irradiancias muy bajas.</a:t>
            </a:r>
          </a:p>
          <a:p>
            <a:pPr algn="l">
              <a:defRPr sz="1700">
                <a:solidFill>
                  <a:srgbClr val="FFFFFF"/>
                </a:solidFill>
              </a:defRPr>
            </a:pPr>
          </a:p>
          <a:p>
            <a:pPr algn="l">
              <a:defRPr sz="1700">
                <a:solidFill>
                  <a:srgbClr val="FFFFFF"/>
                </a:solidFill>
              </a:defRPr>
            </a:pPr>
            <a:r>
              <a:rPr sz="1700">
                <a:solidFill>
                  <a:srgbClr val="FFFFFF"/>
                </a:solidFill>
              </a:rPr>
              <a:t>• </a:t>
            </a:r>
            <a:r>
              <a:rPr sz="1700" b="1">
                <a:solidFill>
                  <a:srgbClr val="FFFFFF"/>
                </a:solidFill>
              </a:rPr>
              <a:t>Fidelidad Térmica:</a:t>
            </a:r>
            <a:r>
              <a:rPr sz="1700">
                <a:solidFill>
                  <a:srgbClr val="FFFFFF"/>
                </a:solidFill>
              </a:rPr>
              <a:t> Valida la capacidad de las ecuaciones físicas de trasladar el voltaje y potencia a condiciones reales.</a:t>
            </a:r>
          </a:p>
        </p:txBody>
      </p:sp>
      <p:sp>
        <p:nvSpPr>
          <p:cNvPr id="9" name="TextBox 8"/>
          <p:cNvSpPr txBox="1"/>
          <p:nvPr/>
        </p:nvSpPr>
        <p:spPr>
          <a:xfrm>
            <a:off x="365760" y="6492240"/>
            <a:ext cx="11460175" cy="274320"/>
          </a:xfrm>
          <a:prstGeom prst="rect">
            <a:avLst/>
          </a:prstGeom>
          <a:noFill/>
        </p:spPr>
        <p:txBody>
          <a:bodyPr wrap="none">
            <a:spAutoFit/>
          </a:bodyPr>
          <a:lstStyle/>
          <a:p>
            <a:pPr algn="r">
              <a:defRPr sz="1000">
                <a:solidFill>
                  <a:srgbClr val="787878"/>
                </a:solidFill>
              </a:defRPr>
            </a:pPr>
            <a:r>
              <a:t>ELI556 | Grupo Alta Tensión | Lámina 13/25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365760" y="365760"/>
            <a:ext cx="11460175" cy="731520"/>
          </a:xfrm>
          <a:prstGeom prst="rect">
            <a:avLst/>
          </a:prstGeom>
          <a:noFill/>
        </p:spPr>
        <p:txBody>
          <a:bodyPr wrap="square">
            <a:spAutoFit/>
          </a:bodyPr>
          <a:lstStyle/>
          <a:p>
            <a:pPr>
              <a:defRPr sz="2400">
                <a:solidFill>
                  <a:srgbClr val="E8A838"/>
                </a:solidFill>
              </a:defRPr>
            </a:pPr>
            <a:r>
              <a:rPr sz="2400" b="1">
                <a:solidFill>
                  <a:srgbClr val="E8A838"/>
                </a:solidFill>
              </a:rPr>
              <a:t>d) Desarrollo y discusión: Puntos Conflictuales y Acoplamiento Rs - n</a:t>
            </a:r>
          </a:p>
        </p:txBody>
      </p:sp>
      <p:sp>
        <p:nvSpPr>
          <p:cNvPr id="3" name="Rectangle 2"/>
          <p:cNvSpPr/>
          <p:nvPr/>
        </p:nvSpPr>
        <p:spPr>
          <a:xfrm>
            <a:off x="365760" y="1097280"/>
            <a:ext cx="5029200"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4846320" cy="411480"/>
          </a:xfrm>
          <a:prstGeom prst="rect">
            <a:avLst/>
          </a:prstGeom>
          <a:noFill/>
        </p:spPr>
        <p:txBody>
          <a:bodyPr wrap="none">
            <a:spAutoFit/>
          </a:bodyPr>
          <a:lstStyle/>
          <a:p>
            <a:pPr>
              <a:defRPr sz="1800">
                <a:solidFill>
                  <a:srgbClr val="E8A838"/>
                </a:solidFill>
              </a:defRPr>
            </a:pPr>
            <a:r>
              <a:rPr sz="1800" b="1">
                <a:solidFill>
                  <a:srgbClr val="E8A838"/>
                </a:solidFill>
              </a:rPr>
              <a:t>Acoplamiento Rs - factor de idealidad (n)</a:t>
            </a:r>
          </a:p>
        </p:txBody>
      </p:sp>
      <p:sp>
        <p:nvSpPr>
          <p:cNvPr id="5" name="TextBox 4"/>
          <p:cNvSpPr txBox="1"/>
          <p:nvPr/>
        </p:nvSpPr>
        <p:spPr>
          <a:xfrm>
            <a:off x="548640" y="1645920"/>
            <a:ext cx="4663440" cy="4114800"/>
          </a:xfrm>
          <a:prstGeom prst="rect">
            <a:avLst/>
          </a:prstGeom>
          <a:noFill/>
        </p:spPr>
        <p:txBody>
          <a:bodyPr wrap="square">
            <a:spAutoFit/>
          </a:bodyPr>
          <a:lstStyle/>
          <a:p>
            <a:pPr algn="l">
              <a:defRPr sz="1400">
                <a:solidFill>
                  <a:srgbClr val="FFFFFF"/>
                </a:solidFill>
              </a:defRPr>
            </a:pPr>
            <a:r>
              <a:rPr sz="1400">
                <a:solidFill>
                  <a:srgbClr val="FFFFFF"/>
                </a:solidFill>
              </a:rPr>
              <a:t>• </a:t>
            </a:r>
            <a:r>
              <a:rPr sz="1400" b="1">
                <a:solidFill>
                  <a:srgbClr val="FFFFFF"/>
                </a:solidFill>
              </a:rPr>
              <a:t>Alta Correlación Paramétrica:</a:t>
            </a:r>
          </a:p>
          <a:p>
            <a:pPr algn="l">
              <a:defRPr sz="1400">
                <a:solidFill>
                  <a:srgbClr val="FFFFFF"/>
                </a:solidFill>
              </a:defRPr>
            </a:pPr>
            <a:r>
              <a:rPr sz="1400">
                <a:solidFill>
                  <a:srgbClr val="FFFFFF"/>
                </a:solidFill>
              </a:rPr>
              <a:t>  Tanto la resistencia serie (</a:t>
            </a:r>
            <a:r>
              <a:rPr sz="1400" i="1">
                <a:solidFill>
                  <a:srgbClr val="FFFFFF"/>
                </a:solidFill>
              </a:rPr>
              <a:t>R</a:t>
            </a:r>
            <a:r>
              <a:rPr sz="1400" i="1">
                <a:solidFill>
                  <a:srgbClr val="FFFFFF"/>
                </a:solidFill>
              </a:rPr>
              <a:t>s</a:t>
            </a:r>
            <a:r>
              <a:rPr sz="1400">
                <a:solidFill>
                  <a:srgbClr val="FFFFFF"/>
                </a:solidFill>
              </a:rPr>
              <a:t>) como el factor de idealidad del diodo (</a:t>
            </a:r>
            <a:r>
              <a:rPr sz="1400" i="1">
                <a:solidFill>
                  <a:srgbClr val="FFFFFF"/>
                </a:solidFill>
              </a:rPr>
              <a:t>n</a:t>
            </a:r>
            <a:r>
              <a:rPr sz="1400">
                <a:solidFill>
                  <a:srgbClr val="FFFFFF"/>
                </a:solidFill>
              </a:rPr>
              <a:t>) controlan la curvatura de la curva </a:t>
            </a:r>
            <a:r>
              <a:rPr sz="1400" i="1">
                <a:solidFill>
                  <a:srgbClr val="FFFFFF"/>
                </a:solidFill>
              </a:rPr>
              <a:t>I</a:t>
            </a:r>
            <a:r>
              <a:rPr sz="1400">
                <a:solidFill>
                  <a:srgbClr val="FFFFFF"/>
                </a:solidFill>
              </a:rPr>
              <a:t>-</a:t>
            </a:r>
            <a:r>
              <a:rPr sz="1400" i="1">
                <a:solidFill>
                  <a:srgbClr val="FFFFFF"/>
                </a:solidFill>
              </a:rPr>
              <a:t>V</a:t>
            </a:r>
            <a:r>
              <a:rPr sz="1400">
                <a:solidFill>
                  <a:srgbClr val="FFFFFF"/>
                </a:solidFill>
              </a:rPr>
              <a:t> en la región cercana al Punto de Máxima Potencia (MPP).</a:t>
            </a:r>
          </a:p>
          <a:p>
            <a:pPr algn="l">
              <a:defRPr sz="1400">
                <a:solidFill>
                  <a:srgbClr val="FFFFFF"/>
                </a:solidFill>
              </a:defRPr>
            </a:pPr>
          </a:p>
          <a:p>
            <a:pPr algn="l">
              <a:defRPr sz="1400">
                <a:solidFill>
                  <a:srgbClr val="FFFFFF"/>
                </a:solidFill>
              </a:defRPr>
            </a:pPr>
            <a:r>
              <a:rPr sz="1400">
                <a:solidFill>
                  <a:srgbClr val="FFFFFF"/>
                </a:solidFill>
              </a:rPr>
              <a:t>• </a:t>
            </a:r>
            <a:r>
              <a:rPr sz="1400" b="1">
                <a:solidFill>
                  <a:srgbClr val="FFFFFF"/>
                </a:solidFill>
              </a:rPr>
              <a:t>Problema Mal Condicionado:</a:t>
            </a:r>
          </a:p>
          <a:p>
            <a:pPr algn="l">
              <a:defRPr sz="1400">
                <a:solidFill>
                  <a:srgbClr val="FFFFFF"/>
                </a:solidFill>
              </a:defRPr>
            </a:pPr>
            <a:r>
              <a:rPr sz="1400">
                <a:solidFill>
                  <a:srgbClr val="FFFFFF"/>
                </a:solidFill>
              </a:rPr>
              <a:t>  Múltiples combinaciones del par (</a:t>
            </a:r>
            <a:r>
              <a:rPr sz="1400" i="1">
                <a:solidFill>
                  <a:srgbClr val="FFFFFF"/>
                </a:solidFill>
              </a:rPr>
              <a:t>R</a:t>
            </a:r>
            <a:r>
              <a:rPr sz="1400" i="1">
                <a:solidFill>
                  <a:srgbClr val="FFFFFF"/>
                </a:solidFill>
              </a:rPr>
              <a:t>s</a:t>
            </a:r>
            <a:r>
              <a:rPr sz="1400">
                <a:solidFill>
                  <a:srgbClr val="FFFFFF"/>
                </a:solidFill>
              </a:rPr>
              <a:t>, </a:t>
            </a:r>
            <a:r>
              <a:rPr sz="1400" i="1">
                <a:solidFill>
                  <a:srgbClr val="FFFFFF"/>
                </a:solidFill>
              </a:rPr>
              <a:t>n</a:t>
            </a:r>
            <a:r>
              <a:rPr sz="1400">
                <a:solidFill>
                  <a:srgbClr val="FFFFFF"/>
                </a:solidFill>
              </a:rPr>
              <a:t>) pueden reproducir curvas </a:t>
            </a:r>
            <a:r>
              <a:rPr sz="1400" i="1">
                <a:solidFill>
                  <a:srgbClr val="FFFFFF"/>
                </a:solidFill>
              </a:rPr>
              <a:t>I</a:t>
            </a:r>
            <a:r>
              <a:rPr sz="1400">
                <a:solidFill>
                  <a:srgbClr val="FFFFFF"/>
                </a:solidFill>
              </a:rPr>
              <a:t>-</a:t>
            </a:r>
            <a:r>
              <a:rPr sz="1400" i="1">
                <a:solidFill>
                  <a:srgbClr val="FFFFFF"/>
                </a:solidFill>
              </a:rPr>
              <a:t>V</a:t>
            </a:r>
            <a:r>
              <a:rPr sz="1400">
                <a:solidFill>
                  <a:srgbClr val="FFFFFF"/>
                </a:solidFill>
              </a:rPr>
              <a:t> con errores de ajuste idénticos, lo que dificulta la identificación unívoca.</a:t>
            </a:r>
          </a:p>
          <a:p>
            <a:pPr algn="l">
              <a:defRPr sz="1400">
                <a:solidFill>
                  <a:srgbClr val="FFFFFF"/>
                </a:solidFill>
              </a:defRPr>
            </a:pPr>
          </a:p>
          <a:p>
            <a:pPr algn="l">
              <a:defRPr sz="1400">
                <a:solidFill>
                  <a:srgbClr val="FFFFFF"/>
                </a:solidFill>
              </a:defRPr>
            </a:pPr>
            <a:r>
              <a:rPr sz="1400">
                <a:solidFill>
                  <a:srgbClr val="FFFFFF"/>
                </a:solidFill>
              </a:rPr>
              <a:t>• </a:t>
            </a:r>
            <a:r>
              <a:rPr sz="1400" b="1">
                <a:solidFill>
                  <a:srgbClr val="FFFFFF"/>
                </a:solidFill>
              </a:rPr>
              <a:t>Mitigación y Solución:</a:t>
            </a:r>
          </a:p>
          <a:p>
            <a:pPr algn="l">
              <a:defRPr sz="1400">
                <a:solidFill>
                  <a:srgbClr val="FFFFFF"/>
                </a:solidFill>
              </a:defRPr>
            </a:pPr>
            <a:r>
              <a:rPr sz="1400">
                <a:solidFill>
                  <a:srgbClr val="FFFFFF"/>
                </a:solidFill>
              </a:rPr>
              <a:t>  Se implementaron restricciones físicas estrictas en la optimización por mínimos cuadrados:</a:t>
            </a:r>
          </a:p>
          <a:p>
            <a:pPr algn="l">
              <a:defRPr sz="1400">
                <a:solidFill>
                  <a:srgbClr val="FFFFFF"/>
                </a:solidFill>
              </a:defRPr>
            </a:pPr>
            <a:r>
              <a:rPr sz="1400">
                <a:solidFill>
                  <a:srgbClr val="FFFFFF"/>
                </a:solidFill>
              </a:rPr>
              <a:t>  </a:t>
            </a:r>
            <a:r>
              <a:rPr sz="1400" i="1">
                <a:solidFill>
                  <a:srgbClr val="FFFFFF"/>
                </a:solidFill>
              </a:rPr>
              <a:t>R</a:t>
            </a:r>
            <a:r>
              <a:rPr sz="1400" i="1">
                <a:solidFill>
                  <a:srgbClr val="FFFFFF"/>
                </a:solidFill>
              </a:rPr>
              <a:t>s</a:t>
            </a:r>
            <a:r>
              <a:rPr sz="1400">
                <a:solidFill>
                  <a:srgbClr val="FFFFFF"/>
                </a:solidFill>
              </a:rPr>
              <a:t> &gt; 0  |  </a:t>
            </a:r>
            <a:r>
              <a:rPr sz="1400" i="1">
                <a:solidFill>
                  <a:srgbClr val="FFFFFF"/>
                </a:solidFill>
              </a:rPr>
              <a:t>n</a:t>
            </a:r>
            <a:r>
              <a:rPr sz="1400">
                <a:solidFill>
                  <a:srgbClr val="FFFFFF"/>
                </a:solidFill>
              </a:rPr>
              <a:t> ∈ </a:t>
            </a:r>
            <a:r>
              <a:rPr sz="1400">
                <a:solidFill>
                  <a:srgbClr val="FFFFFF"/>
                </a:solidFill>
              </a:rPr>
              <a:t>1.0, 2.0</a:t>
            </a:r>
          </a:p>
          <a:p>
            <a:pPr algn="l">
              <a:defRPr sz="1400">
                <a:solidFill>
                  <a:srgbClr val="FFFFFF"/>
                </a:solidFill>
              </a:defRPr>
            </a:pPr>
            <a:r>
              <a:rPr sz="1400">
                <a:solidFill>
                  <a:srgbClr val="FFFFFF"/>
                </a:solidFill>
              </a:rPr>
              <a:t>  Esto asegura consistencia física y convergencia estable.</a:t>
            </a:r>
          </a:p>
        </p:txBody>
      </p:sp>
      <p:sp>
        <p:nvSpPr>
          <p:cNvPr id="6" name="Rectangle 5"/>
          <p:cNvSpPr/>
          <p:nvPr/>
        </p:nvSpPr>
        <p:spPr>
          <a:xfrm>
            <a:off x="5669280" y="1097280"/>
            <a:ext cx="6156655"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0" y="1188720"/>
            <a:ext cx="5973775" cy="411480"/>
          </a:xfrm>
          <a:prstGeom prst="rect">
            <a:avLst/>
          </a:prstGeom>
          <a:noFill/>
        </p:spPr>
        <p:txBody>
          <a:bodyPr wrap="none">
            <a:spAutoFit/>
          </a:bodyPr>
          <a:lstStyle/>
          <a:p>
            <a:pPr>
              <a:defRPr sz="1800">
                <a:solidFill>
                  <a:srgbClr val="E8A838"/>
                </a:solidFill>
              </a:defRPr>
            </a:pPr>
            <a:r>
              <a:rPr sz="1800" b="1">
                <a:solidFill>
                  <a:srgbClr val="E8A838"/>
                </a:solidFill>
              </a:rPr>
              <a:t>Limitaciones y Suposiciones del Modelo</a:t>
            </a:r>
          </a:p>
        </p:txBody>
      </p:sp>
      <p:sp>
        <p:nvSpPr>
          <p:cNvPr id="8" name="TextBox 7"/>
          <p:cNvSpPr txBox="1"/>
          <p:nvPr/>
        </p:nvSpPr>
        <p:spPr>
          <a:xfrm>
            <a:off x="5852160" y="1645920"/>
            <a:ext cx="5790895" cy="4114800"/>
          </a:xfrm>
          <a:prstGeom prst="rect">
            <a:avLst/>
          </a:prstGeom>
          <a:noFill/>
        </p:spPr>
        <p:txBody>
          <a:bodyPr wrap="square">
            <a:spAutoFit/>
          </a:bodyPr>
          <a:lstStyle/>
          <a:p>
            <a:pPr algn="l">
              <a:defRPr sz="1400">
                <a:solidFill>
                  <a:srgbClr val="FFFFFF"/>
                </a:solidFill>
              </a:defRPr>
            </a:pPr>
            <a:r>
              <a:rPr sz="1400">
                <a:solidFill>
                  <a:srgbClr val="FFFFFF"/>
                </a:solidFill>
              </a:rPr>
              <a:t>• </a:t>
            </a:r>
            <a:r>
              <a:rPr sz="1400" b="1">
                <a:solidFill>
                  <a:srgbClr val="FFFFFF"/>
                </a:solidFill>
              </a:rPr>
              <a:t>Resistencia Shunt (R_sh) e Irradiancia (G):</a:t>
            </a:r>
          </a:p>
          <a:p>
            <a:pPr algn="l">
              <a:defRPr sz="1400">
                <a:solidFill>
                  <a:srgbClr val="FFFFFF"/>
                </a:solidFill>
              </a:defRPr>
            </a:pPr>
            <a:r>
              <a:rPr sz="1400">
                <a:solidFill>
                  <a:srgbClr val="FFFFFF"/>
                </a:solidFill>
              </a:rPr>
              <a:t>  La relación </a:t>
            </a:r>
            <a:r>
              <a:rPr sz="1400" i="1">
                <a:solidFill>
                  <a:srgbClr val="FFFFFF"/>
                </a:solidFill>
              </a:rPr>
              <a:t>R</a:t>
            </a:r>
            <a:r>
              <a:rPr sz="1400" i="1">
                <a:solidFill>
                  <a:srgbClr val="FFFFFF"/>
                </a:solidFill>
              </a:rPr>
              <a:t>sh</a:t>
            </a:r>
            <a:r>
              <a:rPr sz="1400">
                <a:solidFill>
                  <a:srgbClr val="FFFFFF"/>
                </a:solidFill>
              </a:rPr>
              <a:t> = </a:t>
            </a:r>
            <a:r>
              <a:rPr sz="1400" i="1">
                <a:solidFill>
                  <a:srgbClr val="FFFFFF"/>
                </a:solidFill>
              </a:rPr>
              <a:t>R</a:t>
            </a:r>
            <a:r>
              <a:rPr sz="1400" i="1">
                <a:solidFill>
                  <a:srgbClr val="FFFFFF"/>
                </a:solidFill>
              </a:rPr>
              <a:t>sh,ref</a:t>
            </a:r>
            <a:r>
              <a:rPr sz="1400">
                <a:solidFill>
                  <a:srgbClr val="FFFFFF"/>
                </a:solidFill>
              </a:rPr>
              <a:t> · (</a:t>
            </a:r>
            <a:r>
              <a:rPr sz="1400" i="1">
                <a:solidFill>
                  <a:srgbClr val="FFFFFF"/>
                </a:solidFill>
              </a:rPr>
              <a:t>S</a:t>
            </a:r>
            <a:r>
              <a:rPr sz="1400" i="1">
                <a:solidFill>
                  <a:srgbClr val="FFFFFF"/>
                </a:solidFill>
              </a:rPr>
              <a:t>ref</a:t>
            </a:r>
            <a:r>
              <a:rPr sz="1400">
                <a:solidFill>
                  <a:srgbClr val="FFFFFF"/>
                </a:solidFill>
              </a:rPr>
              <a:t>/</a:t>
            </a:r>
            <a:r>
              <a:rPr sz="1400" i="1">
                <a:solidFill>
                  <a:srgbClr val="FFFFFF"/>
                </a:solidFill>
              </a:rPr>
              <a:t>S</a:t>
            </a:r>
            <a:r>
              <a:rPr sz="1400">
                <a:solidFill>
                  <a:srgbClr val="FFFFFF"/>
                </a:solidFill>
              </a:rPr>
              <a:t>) es empírica. A muy baja irradiancia (amanecer/ocaso), puede sobreestimar la resistencia shunt.</a:t>
            </a:r>
          </a:p>
          <a:p>
            <a:pPr algn="l">
              <a:defRPr sz="1400">
                <a:solidFill>
                  <a:srgbClr val="FFFFFF"/>
                </a:solidFill>
              </a:defRPr>
            </a:pPr>
            <a:r>
              <a:rPr sz="1400">
                <a:solidFill>
                  <a:srgbClr val="FFFFFF"/>
                </a:solidFill>
              </a:rPr>
              <a:t>  *Impacto:* Despreciable en el PR anual, ya que esas horas representan una fracción mínima de la energía total.</a:t>
            </a:r>
          </a:p>
          <a:p>
            <a:pPr algn="l">
              <a:defRPr sz="1400">
                <a:solidFill>
                  <a:srgbClr val="FFFFFF"/>
                </a:solidFill>
              </a:defRPr>
            </a:pPr>
          </a:p>
          <a:p>
            <a:pPr algn="l">
              <a:defRPr sz="1400">
                <a:solidFill>
                  <a:srgbClr val="FFFFFF"/>
                </a:solidFill>
              </a:defRPr>
            </a:pPr>
            <a:r>
              <a:rPr sz="1400">
                <a:solidFill>
                  <a:srgbClr val="FFFFFF"/>
                </a:solidFill>
              </a:rPr>
              <a:t>• </a:t>
            </a:r>
            <a:r>
              <a:rPr sz="1400" b="1">
                <a:solidFill>
                  <a:srgbClr val="FFFFFF"/>
                </a:solidFill>
              </a:rPr>
              <a:t>Rs Constante con la Temperatura:</a:t>
            </a:r>
          </a:p>
          <a:p>
            <a:pPr algn="l">
              <a:defRPr sz="1400">
                <a:solidFill>
                  <a:srgbClr val="FFFFFF"/>
                </a:solidFill>
              </a:defRPr>
            </a:pPr>
            <a:r>
              <a:rPr sz="1400">
                <a:solidFill>
                  <a:srgbClr val="FFFFFF"/>
                </a:solidFill>
              </a:rPr>
              <a:t>  Ignora el cambio de la resistividad del semiconductor con </a:t>
            </a:r>
            <a:r>
              <a:rPr sz="1400" i="1">
                <a:solidFill>
                  <a:srgbClr val="FFFFFF"/>
                </a:solidFill>
              </a:rPr>
              <a:t>T</a:t>
            </a:r>
            <a:r>
              <a:rPr sz="1400" i="1">
                <a:solidFill>
                  <a:srgbClr val="FFFFFF"/>
                </a:solidFill>
              </a:rPr>
              <a:t>c</a:t>
            </a:r>
            <a:r>
              <a:rPr sz="1400">
                <a:solidFill>
                  <a:srgbClr val="FFFFFF"/>
                </a:solidFill>
              </a:rPr>
              <a:t>.</a:t>
            </a:r>
          </a:p>
          <a:p>
            <a:pPr algn="l">
              <a:defRPr sz="1400">
                <a:solidFill>
                  <a:srgbClr val="FFFFFF"/>
                </a:solidFill>
              </a:defRPr>
            </a:pPr>
            <a:r>
              <a:rPr sz="1400">
                <a:solidFill>
                  <a:srgbClr val="FFFFFF"/>
                </a:solidFill>
              </a:rPr>
              <a:t>  *Justificación:* De Soto (2006) validó que mantener </a:t>
            </a:r>
            <a:r>
              <a:rPr sz="1400" i="1">
                <a:solidFill>
                  <a:srgbClr val="FFFFFF"/>
                </a:solidFill>
              </a:rPr>
              <a:t>R</a:t>
            </a:r>
            <a:r>
              <a:rPr sz="1400" i="1">
                <a:solidFill>
                  <a:srgbClr val="FFFFFF"/>
                </a:solidFill>
              </a:rPr>
              <a:t>s</a:t>
            </a:r>
            <a:r>
              <a:rPr sz="1400">
                <a:solidFill>
                  <a:srgbClr val="FFFFFF"/>
                </a:solidFill>
              </a:rPr>
              <a:t> constante produce errores de potencia &lt; 2% frente a datos experimentales NIST.</a:t>
            </a:r>
          </a:p>
          <a:p>
            <a:pPr algn="l">
              <a:defRPr sz="1400">
                <a:solidFill>
                  <a:srgbClr val="FFFFFF"/>
                </a:solidFill>
              </a:defRPr>
            </a:pPr>
          </a:p>
          <a:p>
            <a:pPr algn="l">
              <a:defRPr sz="1400">
                <a:solidFill>
                  <a:srgbClr val="FFFFFF"/>
                </a:solidFill>
              </a:defRPr>
            </a:pPr>
            <a:r>
              <a:rPr sz="1400">
                <a:solidFill>
                  <a:srgbClr val="FFFFFF"/>
                </a:solidFill>
              </a:rPr>
              <a:t>• </a:t>
            </a:r>
            <a:r>
              <a:rPr sz="1400" b="1">
                <a:solidFill>
                  <a:srgbClr val="FFFFFF"/>
                </a:solidFill>
              </a:rPr>
              <a:t>Bandgap lineal con la Temperatura:</a:t>
            </a:r>
          </a:p>
          <a:p>
            <a:pPr algn="l">
              <a:defRPr sz="1400">
                <a:solidFill>
                  <a:srgbClr val="FFFFFF"/>
                </a:solidFill>
              </a:defRPr>
            </a:pPr>
            <a:r>
              <a:rPr sz="1400">
                <a:solidFill>
                  <a:srgbClr val="FFFFFF"/>
                </a:solidFill>
              </a:rPr>
              <a:t>  La relación del bandgap del Silicio con la temperatura se asume lineal, simplificando la ecuación real no lineal de Varshni.</a:t>
            </a:r>
          </a:p>
          <a:p>
            <a:pPr algn="l">
              <a:defRPr sz="1400">
                <a:solidFill>
                  <a:srgbClr val="FFFFFF"/>
                </a:solidFill>
              </a:defRPr>
            </a:pPr>
            <a:r>
              <a:rPr sz="1400">
                <a:solidFill>
                  <a:srgbClr val="FFFFFF"/>
                </a:solidFill>
              </a:rPr>
              <a:t>  *Impacto:* El error inducido es menor al 1% en el rango operacional (0°C a 70°C).</a:t>
            </a:r>
          </a:p>
        </p:txBody>
      </p:sp>
      <p:sp>
        <p:nvSpPr>
          <p:cNvPr id="9" name="TextBox 8"/>
          <p:cNvSpPr txBox="1"/>
          <p:nvPr/>
        </p:nvSpPr>
        <p:spPr>
          <a:xfrm>
            <a:off x="365760" y="6492240"/>
            <a:ext cx="11460175" cy="274320"/>
          </a:xfrm>
          <a:prstGeom prst="rect">
            <a:avLst/>
          </a:prstGeom>
          <a:noFill/>
        </p:spPr>
        <p:txBody>
          <a:bodyPr wrap="none">
            <a:spAutoFit/>
          </a:bodyPr>
          <a:lstStyle/>
          <a:p>
            <a:pPr algn="r">
              <a:defRPr sz="1000">
                <a:solidFill>
                  <a:srgbClr val="787878"/>
                </a:solidFill>
              </a:defRPr>
            </a:pPr>
            <a:r>
              <a:t>ELI556 | Grupo Alta Tensión | Lámina 14/25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365760" y="365760"/>
            <a:ext cx="11460175" cy="731520"/>
          </a:xfrm>
          <a:prstGeom prst="rect">
            <a:avLst/>
          </a:prstGeom>
          <a:noFill/>
        </p:spPr>
        <p:txBody>
          <a:bodyPr wrap="square">
            <a:spAutoFit/>
          </a:bodyPr>
          <a:lstStyle/>
          <a:p>
            <a:pPr>
              <a:defRPr sz="2400">
                <a:solidFill>
                  <a:srgbClr val="E8A838"/>
                </a:solidFill>
              </a:defRPr>
            </a:pPr>
            <a:r>
              <a:rPr sz="2400" b="1">
                <a:solidFill>
                  <a:srgbClr val="E8A838"/>
                </a:solidFill>
              </a:rPr>
              <a:t>d) Desarrollo y discusión: Pérdidas Térmicas y Performance Ratio</a:t>
            </a:r>
          </a:p>
        </p:txBody>
      </p:sp>
      <p:sp>
        <p:nvSpPr>
          <p:cNvPr id="3" name="Rectangle 2"/>
          <p:cNvSpPr/>
          <p:nvPr/>
        </p:nvSpPr>
        <p:spPr>
          <a:xfrm>
            <a:off x="365760" y="1097280"/>
            <a:ext cx="6949440"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6766560" cy="411480"/>
          </a:xfrm>
          <a:prstGeom prst="rect">
            <a:avLst/>
          </a:prstGeom>
          <a:noFill/>
        </p:spPr>
        <p:txBody>
          <a:bodyPr wrap="none">
            <a:spAutoFit/>
          </a:bodyPr>
          <a:lstStyle/>
          <a:p>
            <a:pPr>
              <a:defRPr sz="1800">
                <a:solidFill>
                  <a:srgbClr val="E8A838"/>
                </a:solidFill>
              </a:defRPr>
            </a:pPr>
            <a:r>
              <a:rPr sz="1800" b="1">
                <a:solidFill>
                  <a:srgbClr val="E8A838"/>
                </a:solidFill>
              </a:rPr>
              <a:t>Normalización por Potencia Nominal</a:t>
            </a:r>
          </a:p>
        </p:txBody>
      </p:sp>
      <p:pic>
        <p:nvPicPr>
          <p:cNvPr id="5" name="Picture 4" descr="degradacion_termica_scatter.png"/>
          <p:cNvPicPr>
            <a:picLocks noChangeAspect="1"/>
          </p:cNvPicPr>
          <p:nvPr/>
        </p:nvPicPr>
        <p:blipFill>
          <a:blip r:embed="rId2"/>
          <a:stretch>
            <a:fillRect/>
          </a:stretch>
        </p:blipFill>
        <p:spPr>
          <a:xfrm>
            <a:off x="731520" y="1645920"/>
            <a:ext cx="6217920" cy="3695556"/>
          </a:xfrm>
          <a:prstGeom prst="rect">
            <a:avLst/>
          </a:prstGeom>
        </p:spPr>
      </p:pic>
      <p:sp>
        <p:nvSpPr>
          <p:cNvPr id="6" name="Rectangle 5"/>
          <p:cNvSpPr/>
          <p:nvPr/>
        </p:nvSpPr>
        <p:spPr>
          <a:xfrm>
            <a:off x="7589520" y="1097280"/>
            <a:ext cx="4236415"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0" y="1188720"/>
            <a:ext cx="4053535" cy="411480"/>
          </a:xfrm>
          <a:prstGeom prst="rect">
            <a:avLst/>
          </a:prstGeom>
          <a:noFill/>
        </p:spPr>
        <p:txBody>
          <a:bodyPr wrap="none">
            <a:spAutoFit/>
          </a:bodyPr>
          <a:lstStyle/>
          <a:p>
            <a:pPr>
              <a:defRPr sz="1800">
                <a:solidFill>
                  <a:srgbClr val="E8A838"/>
                </a:solidFill>
              </a:defRPr>
            </a:pPr>
            <a:r>
              <a:rPr sz="1800" b="1">
                <a:solidFill>
                  <a:srgbClr val="E8A838"/>
                </a:solidFill>
              </a:rPr>
              <a:t>Observación Científica</a:t>
            </a:r>
          </a:p>
        </p:txBody>
      </p:sp>
      <p:sp>
        <p:nvSpPr>
          <p:cNvPr id="8" name="TextBox 7"/>
          <p:cNvSpPr txBox="1"/>
          <p:nvPr/>
        </p:nvSpPr>
        <p:spPr>
          <a:xfrm>
            <a:off x="7772400" y="1645920"/>
            <a:ext cx="3870655" cy="4114800"/>
          </a:xfrm>
          <a:prstGeom prst="rect">
            <a:avLst/>
          </a:prstGeom>
          <a:noFill/>
        </p:spPr>
        <p:txBody>
          <a:bodyPr wrap="square">
            <a:spAutoFit/>
          </a:bodyPr>
          <a:lstStyle/>
          <a:p>
            <a:pPr algn="l">
              <a:defRPr sz="1700">
                <a:solidFill>
                  <a:srgbClr val="FFFFFF"/>
                </a:solidFill>
              </a:defRPr>
            </a:pPr>
            <a:r>
              <a:rPr sz="1700">
                <a:solidFill>
                  <a:srgbClr val="FFFFFF"/>
                </a:solidFill>
              </a:rPr>
              <a:t>• </a:t>
            </a:r>
            <a:r>
              <a:rPr sz="1700" b="1">
                <a:solidFill>
                  <a:srgbClr val="FFFFFF"/>
                </a:solidFill>
              </a:rPr>
              <a:t>Heterounión (HIT - Naranja):</a:t>
            </a:r>
            <a:r>
              <a:rPr sz="1700">
                <a:solidFill>
                  <a:srgbClr val="FFFFFF"/>
                </a:solidFill>
              </a:rPr>
              <a:t> Pendiente suave y controlada. Su bajo coeficiente térmico de potencia (-0.26 %/°C) mantiene una alta eficiencia de conversión incluso a temperaturas de 65°C.</a:t>
            </a:r>
          </a:p>
          <a:p>
            <a:pPr algn="l">
              <a:defRPr sz="1700">
                <a:solidFill>
                  <a:srgbClr val="FFFFFF"/>
                </a:solidFill>
              </a:defRPr>
            </a:pPr>
          </a:p>
          <a:p>
            <a:pPr algn="l">
              <a:defRPr sz="1700">
                <a:solidFill>
                  <a:srgbClr val="FFFFFF"/>
                </a:solidFill>
              </a:defRPr>
            </a:pPr>
            <a:r>
              <a:rPr sz="1700">
                <a:solidFill>
                  <a:srgbClr val="FFFFFF"/>
                </a:solidFill>
              </a:rPr>
              <a:t>• </a:t>
            </a:r>
            <a:r>
              <a:rPr sz="1700" b="1">
                <a:solidFill>
                  <a:srgbClr val="FFFFFF"/>
                </a:solidFill>
              </a:rPr>
              <a:t>Silicio Monocristalino (m-Si - Azul):</a:t>
            </a:r>
            <a:r>
              <a:rPr sz="1700">
                <a:solidFill>
                  <a:srgbClr val="FFFFFF"/>
                </a:solidFill>
              </a:rPr>
              <a:t> Caída térmica severa. Su alto coeficiente térmico (-0.40 %/°C) penaliza drásticamente el voltaje durante las horas pico de irradiancia desértica.</a:t>
            </a:r>
          </a:p>
          <a:p>
            <a:pPr algn="l">
              <a:defRPr sz="1700">
                <a:solidFill>
                  <a:srgbClr val="FFFFFF"/>
                </a:solidFill>
              </a:defRPr>
            </a:pPr>
          </a:p>
          <a:p>
            <a:pPr algn="l">
              <a:defRPr sz="1700">
                <a:solidFill>
                  <a:srgbClr val="FFFFFF"/>
                </a:solidFill>
              </a:defRPr>
            </a:pPr>
            <a:r>
              <a:rPr sz="1700">
                <a:solidFill>
                  <a:srgbClr val="FFFFFF"/>
                </a:solidFill>
              </a:rPr>
              <a:t>• </a:t>
            </a:r>
            <a:r>
              <a:rPr sz="1700" b="1">
                <a:solidFill>
                  <a:srgbClr val="FFFFFF"/>
                </a:solidFill>
              </a:rPr>
              <a:t>Impacto en PR:</a:t>
            </a:r>
            <a:r>
              <a:rPr sz="1700">
                <a:solidFill>
                  <a:srgbClr val="FFFFFF"/>
                </a:solidFill>
              </a:rPr>
              <a:t> Esta diferencia de comportamiento explica la brecha mensual y anual de rendimiento entre ambas tecnologías.</a:t>
            </a:r>
          </a:p>
        </p:txBody>
      </p:sp>
      <p:sp>
        <p:nvSpPr>
          <p:cNvPr id="9" name="TextBox 8"/>
          <p:cNvSpPr txBox="1"/>
          <p:nvPr/>
        </p:nvSpPr>
        <p:spPr>
          <a:xfrm>
            <a:off x="365760" y="6492240"/>
            <a:ext cx="11460175" cy="274320"/>
          </a:xfrm>
          <a:prstGeom prst="rect">
            <a:avLst/>
          </a:prstGeom>
          <a:noFill/>
        </p:spPr>
        <p:txBody>
          <a:bodyPr wrap="none">
            <a:spAutoFit/>
          </a:bodyPr>
          <a:lstStyle/>
          <a:p>
            <a:pPr algn="r">
              <a:defRPr sz="1000">
                <a:solidFill>
                  <a:srgbClr val="787878"/>
                </a:solidFill>
              </a:defRPr>
            </a:pPr>
            <a:r>
              <a:t>ELI556 | Grupo Alta Tensión | Lámina 15/25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365760" y="365760"/>
            <a:ext cx="11460175" cy="731520"/>
          </a:xfrm>
          <a:prstGeom prst="rect">
            <a:avLst/>
          </a:prstGeom>
          <a:noFill/>
        </p:spPr>
        <p:txBody>
          <a:bodyPr wrap="square">
            <a:spAutoFit/>
          </a:bodyPr>
          <a:lstStyle/>
          <a:p>
            <a:pPr>
              <a:defRPr sz="2400">
                <a:solidFill>
                  <a:srgbClr val="E8A838"/>
                </a:solidFill>
              </a:defRPr>
            </a:pPr>
            <a:r>
              <a:rPr sz="2400" b="1">
                <a:solidFill>
                  <a:srgbClr val="E8A838"/>
                </a:solidFill>
              </a:rPr>
              <a:t>d) Desarrollo y discusión: Veredicto Técnico y Económico</a:t>
            </a:r>
          </a:p>
        </p:txBody>
      </p:sp>
      <p:sp>
        <p:nvSpPr>
          <p:cNvPr id="3" name="Rectangle 2"/>
          <p:cNvSpPr/>
          <p:nvPr/>
        </p:nvSpPr>
        <p:spPr>
          <a:xfrm>
            <a:off x="365760" y="1097280"/>
            <a:ext cx="5592927"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5410047" cy="411480"/>
          </a:xfrm>
          <a:prstGeom prst="rect">
            <a:avLst/>
          </a:prstGeom>
          <a:noFill/>
        </p:spPr>
        <p:txBody>
          <a:bodyPr wrap="none">
            <a:spAutoFit/>
          </a:bodyPr>
          <a:lstStyle/>
          <a:p>
            <a:pPr>
              <a:defRPr sz="1800">
                <a:solidFill>
                  <a:srgbClr val="E8A838"/>
                </a:solidFill>
              </a:defRPr>
            </a:pPr>
            <a:r>
              <a:rPr sz="1800" b="1">
                <a:solidFill>
                  <a:srgbClr val="E8A838"/>
                </a:solidFill>
              </a:rPr>
              <a:t>Veredicto de Rendimiento (PR Anual)</a:t>
            </a:r>
          </a:p>
        </p:txBody>
      </p:sp>
      <p:sp>
        <p:nvSpPr>
          <p:cNvPr id="5" name="TextBox 4"/>
          <p:cNvSpPr txBox="1"/>
          <p:nvPr/>
        </p:nvSpPr>
        <p:spPr>
          <a:xfrm>
            <a:off x="548640" y="1645920"/>
            <a:ext cx="5227167" cy="4114800"/>
          </a:xfrm>
          <a:prstGeom prst="rect">
            <a:avLst/>
          </a:prstGeom>
          <a:noFill/>
        </p:spPr>
        <p:txBody>
          <a:bodyPr wrap="square">
            <a:spAutoFit/>
          </a:bodyPr>
          <a:lstStyle/>
          <a:p>
            <a:pPr algn="l">
              <a:defRPr sz="1800">
                <a:solidFill>
                  <a:srgbClr val="E8A838"/>
                </a:solidFill>
              </a:defRPr>
            </a:pPr>
            <a:r>
              <a:rPr sz="1800" b="1">
                <a:solidFill>
                  <a:srgbClr val="E8A838"/>
                </a:solidFill>
              </a:rPr>
              <a:t>• </a:t>
            </a:r>
            <a:r>
              <a:rPr sz="1800" b="1">
                <a:solidFill>
                  <a:srgbClr val="E8A838"/>
                </a:solidFill>
              </a:rPr>
              <a:t>Performance Ratio Anual m-Si:</a:t>
            </a:r>
            <a:r>
              <a:rPr sz="1800" b="1">
                <a:solidFill>
                  <a:srgbClr val="E8A838"/>
                </a:solidFill>
              </a:rPr>
              <a:t> 84.53%</a:t>
            </a:r>
          </a:p>
          <a:p>
            <a:pPr algn="l">
              <a:defRPr sz="1800">
                <a:solidFill>
                  <a:srgbClr val="E8A838"/>
                </a:solidFill>
              </a:defRPr>
            </a:pPr>
          </a:p>
          <a:p>
            <a:pPr algn="l">
              <a:defRPr sz="1800">
                <a:solidFill>
                  <a:srgbClr val="E8A838"/>
                </a:solidFill>
              </a:defRPr>
            </a:pPr>
            <a:r>
              <a:rPr sz="1800" b="1">
                <a:solidFill>
                  <a:srgbClr val="E8A838"/>
                </a:solidFill>
              </a:rPr>
              <a:t>• </a:t>
            </a:r>
            <a:r>
              <a:rPr sz="1800" b="1">
                <a:solidFill>
                  <a:srgbClr val="E8A838"/>
                </a:solidFill>
              </a:rPr>
              <a:t>Performance Ratio Anual HIT:</a:t>
            </a:r>
            <a:r>
              <a:rPr sz="1800" b="1">
                <a:solidFill>
                  <a:srgbClr val="E8A838"/>
                </a:solidFill>
              </a:rPr>
              <a:t> 86.92%</a:t>
            </a:r>
          </a:p>
          <a:p>
            <a:pPr algn="l">
              <a:defRPr sz="1800">
                <a:solidFill>
                  <a:srgbClr val="E8A838"/>
                </a:solidFill>
              </a:defRPr>
            </a:pPr>
          </a:p>
          <a:p>
            <a:pPr algn="l">
              <a:defRPr sz="1800">
                <a:solidFill>
                  <a:srgbClr val="E8A838"/>
                </a:solidFill>
              </a:defRPr>
            </a:pPr>
            <a:r>
              <a:rPr sz="1800" b="1">
                <a:solidFill>
                  <a:srgbClr val="E8A838"/>
                </a:solidFill>
              </a:rPr>
              <a:t>• </a:t>
            </a:r>
            <a:r>
              <a:rPr sz="1800" b="1">
                <a:solidFill>
                  <a:srgbClr val="E8A838"/>
                </a:solidFill>
              </a:rPr>
              <a:t>Diferencia Neta en PR:</a:t>
            </a:r>
            <a:r>
              <a:rPr sz="1800" b="1">
                <a:solidFill>
                  <a:srgbClr val="E8A838"/>
                </a:solidFill>
              </a:rPr>
              <a:t> </a:t>
            </a:r>
            <a:r>
              <a:rPr sz="1800" b="1">
                <a:solidFill>
                  <a:srgbClr val="E8A838"/>
                </a:solidFill>
              </a:rPr>
              <a:t>+2.39%</a:t>
            </a:r>
            <a:r>
              <a:rPr sz="1800" b="1">
                <a:solidFill>
                  <a:srgbClr val="E8A838"/>
                </a:solidFill>
              </a:rPr>
              <a:t> a favor de HIT.</a:t>
            </a:r>
          </a:p>
          <a:p>
            <a:pPr algn="l">
              <a:defRPr sz="1800">
                <a:solidFill>
                  <a:srgbClr val="E8A838"/>
                </a:solidFill>
              </a:defRPr>
            </a:pPr>
          </a:p>
          <a:p>
            <a:pPr algn="l">
              <a:defRPr sz="1800">
                <a:solidFill>
                  <a:srgbClr val="E8A838"/>
                </a:solidFill>
              </a:defRPr>
            </a:pPr>
            <a:r>
              <a:rPr sz="1800" b="1">
                <a:solidFill>
                  <a:srgbClr val="E8A838"/>
                </a:solidFill>
              </a:rPr>
              <a:t>• </a:t>
            </a:r>
            <a:r>
              <a:rPr sz="1800" b="1">
                <a:solidFill>
                  <a:srgbClr val="E8A838"/>
                </a:solidFill>
              </a:rPr>
              <a:t>Conclusión Técnica:</a:t>
            </a:r>
            <a:r>
              <a:rPr sz="1800" b="1">
                <a:solidFill>
                  <a:srgbClr val="E8A838"/>
                </a:solidFill>
              </a:rPr>
              <a:t> La tecnología HIT es categóricamente superior en el desierto debido a que su estructura física de capas delgadas amortigua la pérdida de tensión ($V_{oc}$) debida a la excitación térmica de portadores.</a:t>
            </a:r>
          </a:p>
        </p:txBody>
      </p:sp>
      <p:sp>
        <p:nvSpPr>
          <p:cNvPr id="6" name="Rectangle 5"/>
          <p:cNvSpPr/>
          <p:nvPr/>
        </p:nvSpPr>
        <p:spPr>
          <a:xfrm>
            <a:off x="6233007" y="1097280"/>
            <a:ext cx="5592927"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24447" y="1188720"/>
            <a:ext cx="5410047" cy="411480"/>
          </a:xfrm>
          <a:prstGeom prst="rect">
            <a:avLst/>
          </a:prstGeom>
          <a:noFill/>
        </p:spPr>
        <p:txBody>
          <a:bodyPr wrap="none">
            <a:spAutoFit/>
          </a:bodyPr>
          <a:lstStyle/>
          <a:p>
            <a:pPr>
              <a:defRPr sz="1800">
                <a:solidFill>
                  <a:srgbClr val="E8A838"/>
                </a:solidFill>
              </a:defRPr>
            </a:pPr>
            <a:r>
              <a:rPr sz="1800" b="1">
                <a:solidFill>
                  <a:srgbClr val="E8A838"/>
                </a:solidFill>
              </a:rPr>
              <a:t>Impacto y Viabilidad en Plantas de 100 MWp</a:t>
            </a:r>
          </a:p>
        </p:txBody>
      </p:sp>
      <p:sp>
        <p:nvSpPr>
          <p:cNvPr id="8" name="TextBox 7"/>
          <p:cNvSpPr txBox="1"/>
          <p:nvPr/>
        </p:nvSpPr>
        <p:spPr>
          <a:xfrm>
            <a:off x="6415887" y="1645920"/>
            <a:ext cx="5227167" cy="4114800"/>
          </a:xfrm>
          <a:prstGeom prst="rect">
            <a:avLst/>
          </a:prstGeom>
          <a:noFill/>
        </p:spPr>
        <p:txBody>
          <a:bodyPr wrap="square">
            <a:spAutoFit/>
          </a:bodyPr>
          <a:lstStyle/>
          <a:p>
            <a:pPr algn="l">
              <a:defRPr sz="1600">
                <a:solidFill>
                  <a:srgbClr val="FFFFFF"/>
                </a:solidFill>
              </a:defRPr>
            </a:pPr>
            <a:r>
              <a:rPr sz="1600">
                <a:solidFill>
                  <a:srgbClr val="FFFFFF"/>
                </a:solidFill>
              </a:rPr>
              <a:t>• </a:t>
            </a:r>
            <a:r>
              <a:rPr sz="1600" b="1">
                <a:solidFill>
                  <a:srgbClr val="FFFFFF"/>
                </a:solidFill>
              </a:rPr>
              <a:t>Generación Adicional:</a:t>
            </a:r>
            <a:r>
              <a:rPr sz="1600">
                <a:solidFill>
                  <a:srgbClr val="FFFFFF"/>
                </a:solidFill>
              </a:rPr>
              <a:t> Para una planta de 100 MWp, cada +1% de PR equivale a ~2,500 MWh de energía extra anual.</a:t>
            </a:r>
          </a:p>
          <a:p>
            <a:pPr algn="l">
              <a:defRPr sz="1600">
                <a:solidFill>
                  <a:srgbClr val="FFFFFF"/>
                </a:solidFill>
              </a:defRPr>
            </a:pPr>
          </a:p>
          <a:p>
            <a:pPr algn="l">
              <a:defRPr sz="1600">
                <a:solidFill>
                  <a:srgbClr val="FFFFFF"/>
                </a:solidFill>
              </a:defRPr>
            </a:pPr>
            <a:r>
              <a:rPr sz="1600">
                <a:solidFill>
                  <a:srgbClr val="FFFFFF"/>
                </a:solidFill>
              </a:rPr>
              <a:t>• </a:t>
            </a:r>
            <a:r>
              <a:rPr sz="1600" b="1">
                <a:solidFill>
                  <a:srgbClr val="FFFFFF"/>
                </a:solidFill>
              </a:rPr>
              <a:t>Ganancia Total:</a:t>
            </a:r>
            <a:r>
              <a:rPr sz="1600">
                <a:solidFill>
                  <a:srgbClr val="FFFFFF"/>
                </a:solidFill>
              </a:rPr>
              <a:t> El incremento de +2.39% de PR con la tecnología HIT representa </a:t>
            </a:r>
            <a:r>
              <a:rPr sz="1600" b="1">
                <a:solidFill>
                  <a:srgbClr val="FFFFFF"/>
                </a:solidFill>
              </a:rPr>
              <a:t>~6,000 MWh/año adicionales</a:t>
            </a:r>
            <a:r>
              <a:rPr sz="1600">
                <a:solidFill>
                  <a:srgbClr val="FFFFFF"/>
                </a:solidFill>
              </a:rPr>
              <a:t>.</a:t>
            </a:r>
          </a:p>
          <a:p>
            <a:pPr algn="l">
              <a:defRPr sz="1600">
                <a:solidFill>
                  <a:srgbClr val="FFFFFF"/>
                </a:solidFill>
              </a:defRPr>
            </a:pPr>
          </a:p>
          <a:p>
            <a:pPr algn="l">
              <a:defRPr sz="1600">
                <a:solidFill>
                  <a:srgbClr val="FFFFFF"/>
                </a:solidFill>
              </a:defRPr>
            </a:pPr>
            <a:r>
              <a:rPr sz="1600">
                <a:solidFill>
                  <a:srgbClr val="FFFFFF"/>
                </a:solidFill>
              </a:rPr>
              <a:t>• </a:t>
            </a:r>
            <a:r>
              <a:rPr sz="1600" b="1">
                <a:solidFill>
                  <a:srgbClr val="FFFFFF"/>
                </a:solidFill>
              </a:rPr>
              <a:t>Impacto Financiero:</a:t>
            </a:r>
            <a:r>
              <a:rPr sz="1600">
                <a:solidFill>
                  <a:srgbClr val="FFFFFF"/>
                </a:solidFill>
              </a:rPr>
              <a:t> A una tarifa de venta de USD 45/MWh, esto significa una mayor facturación neta de </a:t>
            </a:r>
            <a:r>
              <a:rPr sz="1600" b="1">
                <a:solidFill>
                  <a:srgbClr val="FFFFFF"/>
                </a:solidFill>
              </a:rPr>
              <a:t>USD 270,000 anuales</a:t>
            </a:r>
            <a:r>
              <a:rPr sz="1600">
                <a:solidFill>
                  <a:srgbClr val="FFFFFF"/>
                </a:solidFill>
              </a:rPr>
              <a:t>.</a:t>
            </a:r>
          </a:p>
          <a:p>
            <a:pPr algn="l">
              <a:defRPr sz="1600">
                <a:solidFill>
                  <a:srgbClr val="FFFFFF"/>
                </a:solidFill>
              </a:defRPr>
            </a:pPr>
          </a:p>
          <a:p>
            <a:pPr algn="l">
              <a:defRPr sz="1600">
                <a:solidFill>
                  <a:srgbClr val="FFFFFF"/>
                </a:solidFill>
              </a:defRPr>
            </a:pPr>
            <a:r>
              <a:rPr sz="1600">
                <a:solidFill>
                  <a:srgbClr val="FFFFFF"/>
                </a:solidFill>
              </a:rPr>
              <a:t>• </a:t>
            </a:r>
            <a:r>
              <a:rPr sz="1600" b="1">
                <a:solidFill>
                  <a:srgbClr val="FFFFFF"/>
                </a:solidFill>
              </a:rPr>
              <a:t>Recomendación de Compra:</a:t>
            </a:r>
            <a:r>
              <a:rPr sz="1600">
                <a:solidFill>
                  <a:srgbClr val="FFFFFF"/>
                </a:solidFill>
              </a:rPr>
              <a:t> Se justifica económicamente la inversión en HIT si el costo extra del panel (capex) es inferior a la tasa de amortización de estos ingresos extra en 25 años.</a:t>
            </a:r>
          </a:p>
        </p:txBody>
      </p:sp>
      <p:sp>
        <p:nvSpPr>
          <p:cNvPr id="9" name="TextBox 8"/>
          <p:cNvSpPr txBox="1"/>
          <p:nvPr/>
        </p:nvSpPr>
        <p:spPr>
          <a:xfrm>
            <a:off x="365760" y="6492240"/>
            <a:ext cx="11460175" cy="274320"/>
          </a:xfrm>
          <a:prstGeom prst="rect">
            <a:avLst/>
          </a:prstGeom>
          <a:noFill/>
        </p:spPr>
        <p:txBody>
          <a:bodyPr wrap="none">
            <a:spAutoFit/>
          </a:bodyPr>
          <a:lstStyle/>
          <a:p>
            <a:pPr algn="r">
              <a:defRPr sz="1000">
                <a:solidFill>
                  <a:srgbClr val="787878"/>
                </a:solidFill>
              </a:defRPr>
            </a:pPr>
            <a:r>
              <a:t>ELI556 | Grupo Alta Tensión | Lámina 16/25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365760" y="365760"/>
            <a:ext cx="11460175" cy="731520"/>
          </a:xfrm>
          <a:prstGeom prst="rect">
            <a:avLst/>
          </a:prstGeom>
          <a:noFill/>
        </p:spPr>
        <p:txBody>
          <a:bodyPr wrap="square">
            <a:spAutoFit/>
          </a:bodyPr>
          <a:lstStyle/>
          <a:p>
            <a:pPr>
              <a:defRPr sz="2400">
                <a:solidFill>
                  <a:srgbClr val="E8A838"/>
                </a:solidFill>
              </a:defRPr>
            </a:pPr>
            <a:r>
              <a:rPr sz="2400" b="1">
                <a:solidFill>
                  <a:srgbClr val="E8A838"/>
                </a:solidFill>
              </a:rPr>
              <a:t>e) Conclusiones y propuestas de trabajos futuros</a:t>
            </a:r>
          </a:p>
        </p:txBody>
      </p:sp>
      <p:sp>
        <p:nvSpPr>
          <p:cNvPr id="3" name="Rectangle 2"/>
          <p:cNvSpPr/>
          <p:nvPr/>
        </p:nvSpPr>
        <p:spPr>
          <a:xfrm>
            <a:off x="365760" y="1097280"/>
            <a:ext cx="5592927"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5410047" cy="411480"/>
          </a:xfrm>
          <a:prstGeom prst="rect">
            <a:avLst/>
          </a:prstGeom>
          <a:noFill/>
        </p:spPr>
        <p:txBody>
          <a:bodyPr wrap="none">
            <a:spAutoFit/>
          </a:bodyPr>
          <a:lstStyle/>
          <a:p>
            <a:pPr>
              <a:defRPr sz="1800">
                <a:solidFill>
                  <a:srgbClr val="E8A838"/>
                </a:solidFill>
              </a:defRPr>
            </a:pPr>
            <a:r>
              <a:rPr sz="1800" b="1">
                <a:solidFill>
                  <a:srgbClr val="E8A838"/>
                </a:solidFill>
              </a:rPr>
              <a:t>Conclusiones del Estudio</a:t>
            </a:r>
          </a:p>
        </p:txBody>
      </p:sp>
      <p:sp>
        <p:nvSpPr>
          <p:cNvPr id="5" name="TextBox 4"/>
          <p:cNvSpPr txBox="1"/>
          <p:nvPr/>
        </p:nvSpPr>
        <p:spPr>
          <a:xfrm>
            <a:off x="548640" y="1645920"/>
            <a:ext cx="5227167" cy="4114800"/>
          </a:xfrm>
          <a:prstGeom prst="rect">
            <a:avLst/>
          </a:prstGeom>
          <a:noFill/>
        </p:spPr>
        <p:txBody>
          <a:bodyPr wrap="square">
            <a:spAutoFit/>
          </a:bodyPr>
          <a:lstStyle/>
          <a:p>
            <a:pPr algn="l">
              <a:defRPr sz="1700">
                <a:solidFill>
                  <a:srgbClr val="E8A838"/>
                </a:solidFill>
              </a:defRPr>
            </a:pPr>
            <a:r>
              <a:rPr sz="1700">
                <a:solidFill>
                  <a:srgbClr val="E8A838"/>
                </a:solidFill>
              </a:rPr>
              <a:t>1. </a:t>
            </a:r>
            <a:r>
              <a:rPr sz="1700" b="1">
                <a:solidFill>
                  <a:srgbClr val="E8A838"/>
                </a:solidFill>
              </a:rPr>
              <a:t>Fidelidad Metodológica:</a:t>
            </a:r>
            <a:r>
              <a:rPr sz="1700">
                <a:solidFill>
                  <a:srgbClr val="E8A838"/>
                </a:solidFill>
              </a:rPr>
              <a:t> La emulación geográfica y estacional por traslación temporal fue coherente, permitiendo simular Atacama con data de Cocoa.</a:t>
            </a:r>
          </a:p>
          <a:p>
            <a:pPr algn="l">
              <a:defRPr sz="1700">
                <a:solidFill>
                  <a:srgbClr val="E8A838"/>
                </a:solidFill>
              </a:defRPr>
            </a:pPr>
          </a:p>
          <a:p>
            <a:pPr algn="l">
              <a:defRPr sz="1700">
                <a:solidFill>
                  <a:srgbClr val="E8A838"/>
                </a:solidFill>
              </a:defRPr>
            </a:pPr>
            <a:r>
              <a:rPr sz="1700">
                <a:solidFill>
                  <a:srgbClr val="E8A838"/>
                </a:solidFill>
              </a:rPr>
              <a:t>2. </a:t>
            </a:r>
            <a:r>
              <a:rPr sz="1700" b="1">
                <a:solidFill>
                  <a:srgbClr val="E8A838"/>
                </a:solidFill>
              </a:rPr>
              <a:t>Ajuste Robusto:</a:t>
            </a:r>
            <a:r>
              <a:rPr sz="1700">
                <a:solidFill>
                  <a:srgbClr val="E8A838"/>
                </a:solidFill>
              </a:rPr>
              <a:t> El modelo De Soto de 5 parámetros reprodujo con alta precisión ($R^2 &gt; 0.99$) el comportamiento del circuito.</a:t>
            </a:r>
          </a:p>
          <a:p>
            <a:pPr algn="l">
              <a:defRPr sz="1700">
                <a:solidFill>
                  <a:srgbClr val="E8A838"/>
                </a:solidFill>
              </a:defRPr>
            </a:pPr>
          </a:p>
          <a:p>
            <a:pPr algn="l">
              <a:defRPr sz="1700">
                <a:solidFill>
                  <a:srgbClr val="E8A838"/>
                </a:solidFill>
              </a:defRPr>
            </a:pPr>
            <a:r>
              <a:rPr sz="1700">
                <a:solidFill>
                  <a:srgbClr val="E8A838"/>
                </a:solidFill>
              </a:rPr>
              <a:t>3. </a:t>
            </a:r>
            <a:r>
              <a:rPr sz="1700" b="1">
                <a:solidFill>
                  <a:srgbClr val="E8A838"/>
                </a:solidFill>
              </a:rPr>
              <a:t>HIT Vencedor:</a:t>
            </a:r>
            <a:r>
              <a:rPr sz="1700">
                <a:solidFill>
                  <a:srgbClr val="E8A838"/>
                </a:solidFill>
              </a:rPr>
              <a:t> HIT superó en 2.39% de PR a m-Si por su bajo coeficiente de temperatura de potencia.</a:t>
            </a:r>
          </a:p>
          <a:p>
            <a:pPr algn="l">
              <a:defRPr sz="1700">
                <a:solidFill>
                  <a:srgbClr val="E8A838"/>
                </a:solidFill>
              </a:defRPr>
            </a:pPr>
          </a:p>
          <a:p>
            <a:pPr algn="l">
              <a:defRPr sz="1700">
                <a:solidFill>
                  <a:srgbClr val="E8A838"/>
                </a:solidFill>
              </a:defRPr>
            </a:pPr>
            <a:r>
              <a:rPr sz="1700">
                <a:solidFill>
                  <a:srgbClr val="E8A838"/>
                </a:solidFill>
              </a:rPr>
              <a:t>4. </a:t>
            </a:r>
            <a:r>
              <a:rPr sz="1700" b="1">
                <a:solidFill>
                  <a:srgbClr val="E8A838"/>
                </a:solidFill>
              </a:rPr>
              <a:t>Recomendación:</a:t>
            </a:r>
            <a:r>
              <a:rPr sz="1700">
                <a:solidFill>
                  <a:srgbClr val="E8A838"/>
                </a:solidFill>
              </a:rPr>
              <a:t> HIT es técnicamente superior para plantas desérticas de alta irradiancia y alta temperatura.</a:t>
            </a:r>
          </a:p>
        </p:txBody>
      </p:sp>
      <p:sp>
        <p:nvSpPr>
          <p:cNvPr id="6" name="Rectangle 5"/>
          <p:cNvSpPr/>
          <p:nvPr/>
        </p:nvSpPr>
        <p:spPr>
          <a:xfrm>
            <a:off x="6233007" y="1097280"/>
            <a:ext cx="5592927"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24447" y="1188720"/>
            <a:ext cx="5410047" cy="411480"/>
          </a:xfrm>
          <a:prstGeom prst="rect">
            <a:avLst/>
          </a:prstGeom>
          <a:noFill/>
        </p:spPr>
        <p:txBody>
          <a:bodyPr wrap="none">
            <a:spAutoFit/>
          </a:bodyPr>
          <a:lstStyle/>
          <a:p>
            <a:pPr>
              <a:defRPr sz="1800">
                <a:solidFill>
                  <a:srgbClr val="E8A838"/>
                </a:solidFill>
              </a:defRPr>
            </a:pPr>
            <a:r>
              <a:rPr sz="1800" b="1">
                <a:solidFill>
                  <a:srgbClr val="E8A838"/>
                </a:solidFill>
              </a:rPr>
              <a:t>Propuestas de Trabajos Futuros</a:t>
            </a:r>
          </a:p>
        </p:txBody>
      </p:sp>
      <p:sp>
        <p:nvSpPr>
          <p:cNvPr id="8" name="TextBox 7"/>
          <p:cNvSpPr txBox="1"/>
          <p:nvPr/>
        </p:nvSpPr>
        <p:spPr>
          <a:xfrm>
            <a:off x="6415887" y="1645920"/>
            <a:ext cx="5227167" cy="4114800"/>
          </a:xfrm>
          <a:prstGeom prst="rect">
            <a:avLst/>
          </a:prstGeom>
          <a:noFill/>
        </p:spPr>
        <p:txBody>
          <a:bodyPr wrap="square">
            <a:spAutoFit/>
          </a:bodyPr>
          <a:lstStyle/>
          <a:p>
            <a:pPr algn="l">
              <a:defRPr sz="1600">
                <a:solidFill>
                  <a:srgbClr val="FFFFFF"/>
                </a:solidFill>
              </a:defRPr>
            </a:pPr>
            <a:r>
              <a:rPr sz="1600">
                <a:solidFill>
                  <a:srgbClr val="FFFFFF"/>
                </a:solidFill>
              </a:rPr>
              <a:t>• </a:t>
            </a:r>
            <a:r>
              <a:rPr sz="1600" b="1">
                <a:solidFill>
                  <a:srgbClr val="FFFFFF"/>
                </a:solidFill>
              </a:rPr>
              <a:t>Integración de Bifacialidad:</a:t>
            </a:r>
            <a:r>
              <a:rPr sz="1600">
                <a:solidFill>
                  <a:srgbClr val="FFFFFF"/>
                </a:solidFill>
              </a:rPr>
              <a:t> Incorporar el aporte de la irradiancia reflejada (albedo desértico, $_x000D_ho &gt; 0.25$) en la cara posterior del módulo.</a:t>
            </a:r>
          </a:p>
          <a:p>
            <a:pPr algn="l">
              <a:defRPr sz="1600">
                <a:solidFill>
                  <a:srgbClr val="FFFFFF"/>
                </a:solidFill>
              </a:defRPr>
            </a:pPr>
          </a:p>
          <a:p>
            <a:pPr algn="l">
              <a:defRPr sz="1600">
                <a:solidFill>
                  <a:srgbClr val="FFFFFF"/>
                </a:solidFill>
              </a:defRPr>
            </a:pPr>
            <a:r>
              <a:rPr sz="1600">
                <a:solidFill>
                  <a:srgbClr val="FFFFFF"/>
                </a:solidFill>
              </a:rPr>
              <a:t>• </a:t>
            </a:r>
            <a:r>
              <a:rPr sz="1600" b="1">
                <a:solidFill>
                  <a:srgbClr val="FFFFFF"/>
                </a:solidFill>
              </a:rPr>
              <a:t>Pérdidas por Soiling:</a:t>
            </a:r>
            <a:r>
              <a:rPr sz="1600">
                <a:solidFill>
                  <a:srgbClr val="FFFFFF"/>
                </a:solidFill>
              </a:rPr>
              <a:t> Modelar la acumulación de polvo desértico en la superficie del cristal, factor de pérdida de rendimiento crítico en Atacama.</a:t>
            </a:r>
          </a:p>
          <a:p>
            <a:pPr algn="l">
              <a:defRPr sz="1600">
                <a:solidFill>
                  <a:srgbClr val="FFFFFF"/>
                </a:solidFill>
              </a:defRPr>
            </a:pPr>
          </a:p>
          <a:p>
            <a:pPr algn="l">
              <a:defRPr sz="1600">
                <a:solidFill>
                  <a:srgbClr val="FFFFFF"/>
                </a:solidFill>
              </a:defRPr>
            </a:pPr>
            <a:r>
              <a:rPr sz="1600">
                <a:solidFill>
                  <a:srgbClr val="FFFFFF"/>
                </a:solidFill>
              </a:rPr>
              <a:t>• </a:t>
            </a:r>
            <a:r>
              <a:rPr sz="1600" b="1">
                <a:solidFill>
                  <a:srgbClr val="FFFFFF"/>
                </a:solidFill>
              </a:rPr>
              <a:t>Estudio Espectral Avanzado:</a:t>
            </a:r>
            <a:r>
              <a:rPr sz="1600">
                <a:solidFill>
                  <a:srgbClr val="FFFFFF"/>
                </a:solidFill>
              </a:rPr>
              <a:t> Evaluar el efecto de la masa de aire sobre la eficiencia cuántica de la celda de heterounión.</a:t>
            </a:r>
          </a:p>
          <a:p>
            <a:pPr algn="l">
              <a:defRPr sz="1600">
                <a:solidFill>
                  <a:srgbClr val="FFFFFF"/>
                </a:solidFill>
              </a:defRPr>
            </a:pPr>
          </a:p>
          <a:p>
            <a:pPr algn="l">
              <a:defRPr sz="1600">
                <a:solidFill>
                  <a:srgbClr val="FFFFFF"/>
                </a:solidFill>
              </a:defRPr>
            </a:pPr>
            <a:r>
              <a:rPr sz="1600">
                <a:solidFill>
                  <a:srgbClr val="FFFFFF"/>
                </a:solidFill>
              </a:rPr>
              <a:t>• </a:t>
            </a:r>
            <a:r>
              <a:rPr sz="1600" b="1">
                <a:solidFill>
                  <a:srgbClr val="FFFFFF"/>
                </a:solidFill>
              </a:rPr>
              <a:t>Análisis de Doble Diodo:</a:t>
            </a:r>
            <a:r>
              <a:rPr sz="1600">
                <a:solidFill>
                  <a:srgbClr val="FFFFFF"/>
                </a:solidFill>
              </a:rPr>
              <a:t> Capturar los efectos de recombinación no ideal a baja irradiancia.</a:t>
            </a:r>
          </a:p>
        </p:txBody>
      </p:sp>
      <p:sp>
        <p:nvSpPr>
          <p:cNvPr id="9" name="TextBox 8"/>
          <p:cNvSpPr txBox="1"/>
          <p:nvPr/>
        </p:nvSpPr>
        <p:spPr>
          <a:xfrm>
            <a:off x="365760" y="6492240"/>
            <a:ext cx="11460175" cy="274320"/>
          </a:xfrm>
          <a:prstGeom prst="rect">
            <a:avLst/>
          </a:prstGeom>
          <a:noFill/>
        </p:spPr>
        <p:txBody>
          <a:bodyPr wrap="none">
            <a:spAutoFit/>
          </a:bodyPr>
          <a:lstStyle/>
          <a:p>
            <a:pPr algn="r">
              <a:defRPr sz="1000">
                <a:solidFill>
                  <a:srgbClr val="787878"/>
                </a:solidFill>
              </a:defRPr>
            </a:pPr>
            <a:r>
              <a:t>ELI556 | Grupo Alta Tensión | Lámina 17/25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365760" y="365760"/>
            <a:ext cx="11460175" cy="731520"/>
          </a:xfrm>
          <a:prstGeom prst="rect">
            <a:avLst/>
          </a:prstGeom>
          <a:noFill/>
        </p:spPr>
        <p:txBody>
          <a:bodyPr wrap="square">
            <a:spAutoFit/>
          </a:bodyPr>
          <a:lstStyle/>
          <a:p>
            <a:pPr>
              <a:defRPr sz="2400">
                <a:solidFill>
                  <a:srgbClr val="E8A838"/>
                </a:solidFill>
              </a:defRPr>
            </a:pPr>
            <a:r>
              <a:rPr sz="2400" b="1">
                <a:solidFill>
                  <a:srgbClr val="E8A838"/>
                </a:solidFill>
              </a:rPr>
              <a:t>Referencias</a:t>
            </a:r>
          </a:p>
        </p:txBody>
      </p:sp>
      <p:sp>
        <p:nvSpPr>
          <p:cNvPr id="3" name="TextBox 2"/>
          <p:cNvSpPr txBox="1"/>
          <p:nvPr/>
        </p:nvSpPr>
        <p:spPr>
          <a:xfrm>
            <a:off x="365760" y="1828800"/>
            <a:ext cx="11460175" cy="3657600"/>
          </a:xfrm>
          <a:prstGeom prst="rect">
            <a:avLst/>
          </a:prstGeom>
          <a:noFill/>
        </p:spPr>
        <p:txBody>
          <a:bodyPr wrap="square">
            <a:spAutoFit/>
          </a:bodyPr>
          <a:lstStyle/>
          <a:p>
            <a:pPr algn="l">
              <a:defRPr sz="1800">
                <a:solidFill>
                  <a:srgbClr val="FFFFFF"/>
                </a:solidFill>
              </a:defRPr>
            </a:pPr>
            <a:r>
              <a:rPr sz="1800">
                <a:solidFill>
                  <a:srgbClr val="FFFFFF"/>
                </a:solidFill>
              </a:rPr>
              <a:t>1. De Soto, W., Klein, S.A., Beckman, W.A. (2006). "Improvement and validation of a model for photovoltaic array performance." Solar Energy 80 (2006) 78–88.</a:t>
            </a:r>
          </a:p>
          <a:p>
            <a:pPr algn="l">
              <a:defRPr sz="1800">
                <a:solidFill>
                  <a:srgbClr val="FFFFFF"/>
                </a:solidFill>
              </a:defRPr>
            </a:pPr>
          </a:p>
          <a:p>
            <a:pPr algn="l">
              <a:defRPr sz="1800">
                <a:solidFill>
                  <a:srgbClr val="FFFFFF"/>
                </a:solidFill>
              </a:defRPr>
            </a:pPr>
            <a:r>
              <a:rPr sz="1800">
                <a:solidFill>
                  <a:srgbClr val="FFFFFF"/>
                </a:solidFill>
              </a:rPr>
              <a:t>2. Sandia National Laboratories - Photovoltaic Array Performance Model (Sandia Report SAND2004-3535).</a:t>
            </a:r>
          </a:p>
          <a:p>
            <a:pPr algn="l">
              <a:defRPr sz="1800">
                <a:solidFill>
                  <a:srgbClr val="FFFFFF"/>
                </a:solidFill>
              </a:defRPr>
            </a:pPr>
          </a:p>
          <a:p>
            <a:pPr algn="l">
              <a:defRPr sz="1800">
                <a:solidFill>
                  <a:srgbClr val="FFFFFF"/>
                </a:solidFill>
              </a:defRPr>
            </a:pPr>
            <a:r>
              <a:rPr sz="1800">
                <a:solidFill>
                  <a:srgbClr val="FFFFFF"/>
                </a:solidFill>
              </a:rPr>
              <a:t>3. NREL Cocoa Dataset - Experimental Measurements for Model Validation.</a:t>
            </a:r>
          </a:p>
          <a:p>
            <a:pPr algn="l">
              <a:defRPr sz="1800">
                <a:solidFill>
                  <a:srgbClr val="FFFFFF"/>
                </a:solidFill>
              </a:defRPr>
            </a:pPr>
          </a:p>
          <a:p>
            <a:pPr algn="l">
              <a:defRPr sz="1800">
                <a:solidFill>
                  <a:srgbClr val="FFFFFF"/>
                </a:solidFill>
              </a:defRPr>
            </a:pPr>
            <a:r>
              <a:rPr sz="1800">
                <a:solidFill>
                  <a:srgbClr val="FFFFFF"/>
                </a:solidFill>
              </a:rPr>
              <a:t>4. pvlib-python Library documentation &amp; community contributors.</a:t>
            </a:r>
          </a:p>
          <a:p>
            <a:pPr algn="l">
              <a:defRPr sz="1800">
                <a:solidFill>
                  <a:srgbClr val="FFFFFF"/>
                </a:solidFill>
              </a:defRPr>
            </a:pPr>
          </a:p>
          <a:p>
            <a:pPr algn="l">
              <a:defRPr sz="1800">
                <a:solidFill>
                  <a:srgbClr val="FFFFFF"/>
                </a:solidFill>
              </a:defRPr>
            </a:pPr>
            <a:r>
              <a:rPr sz="1800">
                <a:solidFill>
                  <a:srgbClr val="FFFFFF"/>
                </a:solidFill>
              </a:rPr>
              <a:t>5. Marion, B. et al. (2014). "Cocoa, Florida Data Set for Validating PV Models." NREL Technical Report.</a:t>
            </a:r>
          </a:p>
          <a:p>
            <a:pPr algn="l">
              <a:defRPr sz="1800">
                <a:solidFill>
                  <a:srgbClr val="FFFFFF"/>
                </a:solidFill>
              </a:defRPr>
            </a:pPr>
          </a:p>
          <a:p>
            <a:pPr algn="l">
              <a:defRPr sz="1800">
                <a:solidFill>
                  <a:srgbClr val="FFFFFF"/>
                </a:solidFill>
              </a:defRPr>
            </a:pPr>
            <a:r>
              <a:rPr sz="1800">
                <a:solidFill>
                  <a:srgbClr val="FFFFFF"/>
                </a:solidFill>
              </a:rPr>
              <a:t>Agradecimientos al Departamento de Electrotecnia de la UTFSM.</a:t>
            </a:r>
          </a:p>
        </p:txBody>
      </p:sp>
      <p:sp>
        <p:nvSpPr>
          <p:cNvPr id="4" name="TextBox 3"/>
          <p:cNvSpPr txBox="1"/>
          <p:nvPr/>
        </p:nvSpPr>
        <p:spPr>
          <a:xfrm>
            <a:off x="365760" y="6492240"/>
            <a:ext cx="11460175" cy="274320"/>
          </a:xfrm>
          <a:prstGeom prst="rect">
            <a:avLst/>
          </a:prstGeom>
          <a:noFill/>
        </p:spPr>
        <p:txBody>
          <a:bodyPr wrap="none">
            <a:spAutoFit/>
          </a:bodyPr>
          <a:lstStyle/>
          <a:p>
            <a:pPr algn="r">
              <a:defRPr sz="1000">
                <a:solidFill>
                  <a:srgbClr val="787878"/>
                </a:solidFill>
              </a:defRPr>
            </a:pPr>
            <a:r>
              <a:t>ELI556 | Grupo Alta Tensión | Lámina 18/25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365760" y="365760"/>
            <a:ext cx="11460175" cy="731520"/>
          </a:xfrm>
          <a:prstGeom prst="rect">
            <a:avLst/>
          </a:prstGeom>
          <a:noFill/>
        </p:spPr>
        <p:txBody>
          <a:bodyPr wrap="square">
            <a:spAutoFit/>
          </a:bodyPr>
          <a:lstStyle/>
          <a:p>
            <a:pPr>
              <a:defRPr sz="2400">
                <a:solidFill>
                  <a:srgbClr val="E8A838"/>
                </a:solidFill>
              </a:defRPr>
            </a:pPr>
            <a:r>
              <a:rPr sz="2400" b="1">
                <a:solidFill>
                  <a:srgbClr val="E8A838"/>
                </a:solidFill>
              </a:rPr>
              <a:t>Anexo I: Ecuaciones de Transposición y Absorción Solar</a:t>
            </a:r>
          </a:p>
        </p:txBody>
      </p:sp>
      <p:sp>
        <p:nvSpPr>
          <p:cNvPr id="3" name="Rectangle 2"/>
          <p:cNvSpPr/>
          <p:nvPr/>
        </p:nvSpPr>
        <p:spPr>
          <a:xfrm>
            <a:off x="365760" y="1097280"/>
            <a:ext cx="5029200"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4846320" cy="411480"/>
          </a:xfrm>
          <a:prstGeom prst="rect">
            <a:avLst/>
          </a:prstGeom>
          <a:noFill/>
        </p:spPr>
        <p:txBody>
          <a:bodyPr wrap="none">
            <a:spAutoFit/>
          </a:bodyPr>
          <a:lstStyle/>
          <a:p>
            <a:pPr>
              <a:defRPr sz="1800">
                <a:solidFill>
                  <a:srgbClr val="E8A838"/>
                </a:solidFill>
              </a:defRPr>
            </a:pPr>
            <a:r>
              <a:rPr sz="1800" b="1">
                <a:solidFill>
                  <a:srgbClr val="E8A838"/>
                </a:solidFill>
              </a:rPr>
              <a:t>Transposición POA (Modelo de Perez)</a:t>
            </a:r>
          </a:p>
        </p:txBody>
      </p:sp>
      <p:sp>
        <p:nvSpPr>
          <p:cNvPr id="5" name="TextBox 4"/>
          <p:cNvSpPr txBox="1"/>
          <p:nvPr/>
        </p:nvSpPr>
        <p:spPr>
          <a:xfrm>
            <a:off x="548640" y="1554480"/>
            <a:ext cx="4663440" cy="320040"/>
          </a:xfrm>
          <a:prstGeom prst="rect">
            <a:avLst/>
          </a:prstGeom>
          <a:noFill/>
        </p:spPr>
        <p:txBody>
          <a:bodyPr wrap="square">
            <a:spAutoFit/>
          </a:bodyPr>
          <a:lstStyle/>
          <a:p>
            <a:pPr algn="l">
              <a:defRPr sz="1500">
                <a:solidFill>
                  <a:srgbClr val="FFFFFF"/>
                </a:solidFill>
              </a:defRPr>
            </a:pPr>
            <a:r>
              <a:rPr sz="1500">
                <a:solidFill>
                  <a:srgbClr val="FFFFFF"/>
                </a:solidFill>
              </a:rPr>
              <a:t>Calcula la irradiancia incidente total en el plano inclinado del panel:</a:t>
            </a:r>
          </a:p>
        </p:txBody>
      </p:sp>
      <p:pic>
        <p:nvPicPr>
          <p:cNvPr id="6" name="Picture 5" descr="eq_a8e4ce8b7b155acb59ba2491ed70f40b.png"/>
          <p:cNvPicPr>
            <a:picLocks noChangeAspect="1"/>
          </p:cNvPicPr>
          <p:nvPr/>
        </p:nvPicPr>
        <p:blipFill>
          <a:blip r:embed="rId2"/>
          <a:stretch>
            <a:fillRect/>
          </a:stretch>
        </p:blipFill>
        <p:spPr>
          <a:xfrm>
            <a:off x="548640" y="2011680"/>
            <a:ext cx="4663440" cy="318540"/>
          </a:xfrm>
          <a:prstGeom prst="rect">
            <a:avLst/>
          </a:prstGeom>
        </p:spPr>
      </p:pic>
      <p:sp>
        <p:nvSpPr>
          <p:cNvPr id="7" name="TextBox 6"/>
          <p:cNvSpPr txBox="1"/>
          <p:nvPr/>
        </p:nvSpPr>
        <p:spPr>
          <a:xfrm>
            <a:off x="548640" y="2926080"/>
            <a:ext cx="4663440" cy="2743200"/>
          </a:xfrm>
          <a:prstGeom prst="rect">
            <a:avLst/>
          </a:prstGeom>
          <a:noFill/>
        </p:spPr>
        <p:txBody>
          <a:bodyPr wrap="square">
            <a:spAutoFit/>
          </a:bodyPr>
          <a:lstStyle/>
          <a:p>
            <a:pPr algn="l">
              <a:defRPr sz="1500">
                <a:solidFill>
                  <a:srgbClr val="E8A838"/>
                </a:solidFill>
              </a:defRPr>
            </a:pPr>
            <a:r>
              <a:rPr sz="1500">
                <a:solidFill>
                  <a:srgbClr val="E8A838"/>
                </a:solidFill>
              </a:rPr>
              <a:t>Donde:</a:t>
            </a:r>
          </a:p>
          <a:p>
            <a:pPr algn="l">
              <a:defRPr sz="1500">
                <a:solidFill>
                  <a:srgbClr val="E8A838"/>
                </a:solidFill>
              </a:defRPr>
            </a:pPr>
            <a:r>
              <a:rPr sz="1500">
                <a:solidFill>
                  <a:srgbClr val="E8A838"/>
                </a:solidFill>
              </a:rPr>
              <a:t>• </a:t>
            </a:r>
            <a:r>
              <a:rPr sz="1500" i="1">
                <a:solidFill>
                  <a:srgbClr val="E8A838"/>
                </a:solidFill>
              </a:rPr>
              <a:t>G</a:t>
            </a:r>
            <a:r>
              <a:rPr sz="1500" i="1">
                <a:solidFill>
                  <a:srgbClr val="E8A838"/>
                </a:solidFill>
              </a:rPr>
              <a:t>b</a:t>
            </a:r>
            <a:r>
              <a:rPr sz="1500">
                <a:solidFill>
                  <a:srgbClr val="E8A838"/>
                </a:solidFill>
              </a:rPr>
              <a:t> / </a:t>
            </a:r>
            <a:r>
              <a:rPr sz="1500" i="1">
                <a:solidFill>
                  <a:srgbClr val="E8A838"/>
                </a:solidFill>
              </a:rPr>
              <a:t>G</a:t>
            </a:r>
            <a:r>
              <a:rPr sz="1500" i="1">
                <a:solidFill>
                  <a:srgbClr val="E8A838"/>
                </a:solidFill>
              </a:rPr>
              <a:t>d</a:t>
            </a:r>
            <a:r>
              <a:rPr sz="1500">
                <a:solidFill>
                  <a:srgbClr val="E8A838"/>
                </a:solidFill>
              </a:rPr>
              <a:t> / </a:t>
            </a:r>
            <a:r>
              <a:rPr sz="1500" i="1">
                <a:solidFill>
                  <a:srgbClr val="E8A838"/>
                </a:solidFill>
              </a:rPr>
              <a:t>G</a:t>
            </a:r>
            <a:r>
              <a:rPr sz="1500">
                <a:solidFill>
                  <a:srgbClr val="E8A838"/>
                </a:solidFill>
              </a:rPr>
              <a:t>: Irradiancia directa, difusa y global (W/m²).</a:t>
            </a:r>
          </a:p>
          <a:p>
            <a:pPr algn="l">
              <a:defRPr sz="1500">
                <a:solidFill>
                  <a:srgbClr val="E8A838"/>
                </a:solidFill>
              </a:defRPr>
            </a:pPr>
            <a:r>
              <a:rPr sz="1500">
                <a:solidFill>
                  <a:srgbClr val="E8A838"/>
                </a:solidFill>
              </a:rPr>
              <a:t>• </a:t>
            </a:r>
            <a:r>
              <a:rPr sz="1500" i="1">
                <a:solidFill>
                  <a:srgbClr val="E8A838"/>
                </a:solidFill>
              </a:rPr>
              <a:t>β</a:t>
            </a:r>
            <a:r>
              <a:rPr sz="1500">
                <a:solidFill>
                  <a:srgbClr val="E8A838"/>
                </a:solidFill>
              </a:rPr>
              <a:t> (Tilt): Ángulo de inclinación del panel (22.91°).</a:t>
            </a:r>
          </a:p>
          <a:p>
            <a:pPr algn="l">
              <a:defRPr sz="1500">
                <a:solidFill>
                  <a:srgbClr val="E8A838"/>
                </a:solidFill>
              </a:defRPr>
            </a:pPr>
            <a:r>
              <a:rPr sz="1500">
                <a:solidFill>
                  <a:srgbClr val="E8A838"/>
                </a:solidFill>
              </a:rPr>
              <a:t>• </a:t>
            </a:r>
            <a:r>
              <a:rPr sz="1500" i="1">
                <a:solidFill>
                  <a:srgbClr val="E8A838"/>
                </a:solidFill>
              </a:rPr>
              <a:t>ρ</a:t>
            </a:r>
            <a:r>
              <a:rPr sz="1500">
                <a:solidFill>
                  <a:srgbClr val="E8A838"/>
                </a:solidFill>
              </a:rPr>
              <a:t> (Albedo): Reflectancia del suelo desértico (~0.20).</a:t>
            </a:r>
          </a:p>
          <a:p>
            <a:pPr algn="l">
              <a:defRPr sz="1500">
                <a:solidFill>
                  <a:srgbClr val="E8A838"/>
                </a:solidFill>
              </a:defRPr>
            </a:pPr>
            <a:r>
              <a:rPr sz="1500">
                <a:solidFill>
                  <a:srgbClr val="E8A838"/>
                </a:solidFill>
              </a:rPr>
              <a:t>• </a:t>
            </a:r>
            <a:r>
              <a:rPr sz="1500" i="1">
                <a:solidFill>
                  <a:srgbClr val="E8A838"/>
                </a:solidFill>
              </a:rPr>
              <a:t>R</a:t>
            </a:r>
            <a:r>
              <a:rPr sz="1500" i="1">
                <a:solidFill>
                  <a:srgbClr val="E8A838"/>
                </a:solidFill>
              </a:rPr>
              <a:t>beam</a:t>
            </a:r>
            <a:r>
              <a:rPr sz="1500">
                <a:solidFill>
                  <a:srgbClr val="E8A838"/>
                </a:solidFill>
              </a:rPr>
              <a:t>: Factor de transposición geométrica directa.</a:t>
            </a:r>
          </a:p>
        </p:txBody>
      </p:sp>
      <p:sp>
        <p:nvSpPr>
          <p:cNvPr id="8" name="Rectangle 7"/>
          <p:cNvSpPr/>
          <p:nvPr/>
        </p:nvSpPr>
        <p:spPr>
          <a:xfrm>
            <a:off x="5669280" y="1097280"/>
            <a:ext cx="6156655"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60720" y="1188720"/>
            <a:ext cx="5973775" cy="411480"/>
          </a:xfrm>
          <a:prstGeom prst="rect">
            <a:avLst/>
          </a:prstGeom>
          <a:noFill/>
        </p:spPr>
        <p:txBody>
          <a:bodyPr wrap="none">
            <a:spAutoFit/>
          </a:bodyPr>
          <a:lstStyle/>
          <a:p>
            <a:pPr>
              <a:defRPr sz="1800">
                <a:solidFill>
                  <a:srgbClr val="E8A838"/>
                </a:solidFill>
              </a:defRPr>
            </a:pPr>
            <a:r>
              <a:rPr sz="1800" b="1">
                <a:solidFill>
                  <a:srgbClr val="E8A838"/>
                </a:solidFill>
              </a:rPr>
              <a:t>Absorción en Celda (Pérdidas Ópticas)</a:t>
            </a:r>
          </a:p>
        </p:txBody>
      </p:sp>
      <p:sp>
        <p:nvSpPr>
          <p:cNvPr id="10" name="TextBox 9"/>
          <p:cNvSpPr txBox="1"/>
          <p:nvPr/>
        </p:nvSpPr>
        <p:spPr>
          <a:xfrm>
            <a:off x="5852160" y="1554480"/>
            <a:ext cx="5790895" cy="320040"/>
          </a:xfrm>
          <a:prstGeom prst="rect">
            <a:avLst/>
          </a:prstGeom>
          <a:noFill/>
        </p:spPr>
        <p:txBody>
          <a:bodyPr wrap="square">
            <a:spAutoFit/>
          </a:bodyPr>
          <a:lstStyle/>
          <a:p>
            <a:pPr algn="l">
              <a:defRPr sz="1500">
                <a:solidFill>
                  <a:srgbClr val="FFFFFF"/>
                </a:solidFill>
              </a:defRPr>
            </a:pPr>
            <a:r>
              <a:rPr sz="1500">
                <a:solidFill>
                  <a:srgbClr val="FFFFFF"/>
                </a:solidFill>
              </a:rPr>
              <a:t>Modela la radiación neta que penetra y es absorbida por la celda solar:</a:t>
            </a:r>
          </a:p>
        </p:txBody>
      </p:sp>
      <p:pic>
        <p:nvPicPr>
          <p:cNvPr id="11" name="Picture 10" descr="eq_506bad7002e524c24e9cb60bf8ff68ae.png"/>
          <p:cNvPicPr>
            <a:picLocks noChangeAspect="1"/>
          </p:cNvPicPr>
          <p:nvPr/>
        </p:nvPicPr>
        <p:blipFill>
          <a:blip r:embed="rId3"/>
          <a:stretch>
            <a:fillRect/>
          </a:stretch>
        </p:blipFill>
        <p:spPr>
          <a:xfrm>
            <a:off x="5852160" y="1874519"/>
            <a:ext cx="2251076" cy="384048"/>
          </a:xfrm>
          <a:prstGeom prst="rect">
            <a:avLst/>
          </a:prstGeom>
        </p:spPr>
      </p:pic>
      <p:pic>
        <p:nvPicPr>
          <p:cNvPr id="12" name="Picture 11" descr="eq_c9e0e5966a79a53d7e6daf086af3f7eb.png"/>
          <p:cNvPicPr>
            <a:picLocks noChangeAspect="1"/>
          </p:cNvPicPr>
          <p:nvPr/>
        </p:nvPicPr>
        <p:blipFill>
          <a:blip r:embed="rId4"/>
          <a:stretch>
            <a:fillRect/>
          </a:stretch>
        </p:blipFill>
        <p:spPr>
          <a:xfrm>
            <a:off x="6720840" y="2286000"/>
            <a:ext cx="2120992" cy="384048"/>
          </a:xfrm>
          <a:prstGeom prst="rect">
            <a:avLst/>
          </a:prstGeom>
        </p:spPr>
      </p:pic>
      <p:pic>
        <p:nvPicPr>
          <p:cNvPr id="13" name="Picture 12" descr="eq_678fcbf570fad393118f2ab814b44019.png"/>
          <p:cNvPicPr>
            <a:picLocks noChangeAspect="1"/>
          </p:cNvPicPr>
          <p:nvPr/>
        </p:nvPicPr>
        <p:blipFill>
          <a:blip r:embed="rId5"/>
          <a:stretch>
            <a:fillRect/>
          </a:stretch>
        </p:blipFill>
        <p:spPr>
          <a:xfrm>
            <a:off x="6720840" y="2697480"/>
            <a:ext cx="2363204" cy="384048"/>
          </a:xfrm>
          <a:prstGeom prst="rect">
            <a:avLst/>
          </a:prstGeom>
        </p:spPr>
      </p:pic>
      <p:sp>
        <p:nvSpPr>
          <p:cNvPr id="14" name="TextBox 13"/>
          <p:cNvSpPr txBox="1"/>
          <p:nvPr/>
        </p:nvSpPr>
        <p:spPr>
          <a:xfrm>
            <a:off x="5852160" y="3337560"/>
            <a:ext cx="5790895" cy="2377440"/>
          </a:xfrm>
          <a:prstGeom prst="rect">
            <a:avLst/>
          </a:prstGeom>
          <a:noFill/>
        </p:spPr>
        <p:txBody>
          <a:bodyPr wrap="square">
            <a:spAutoFit/>
          </a:bodyPr>
          <a:lstStyle/>
          <a:p>
            <a:pPr algn="l">
              <a:defRPr sz="1600">
                <a:solidFill>
                  <a:srgbClr val="FFFFFF"/>
                </a:solidFill>
              </a:defRPr>
            </a:pPr>
            <a:r>
              <a:rPr sz="1600">
                <a:solidFill>
                  <a:srgbClr val="FFFFFF"/>
                </a:solidFill>
              </a:rPr>
              <a:t>Donde:</a:t>
            </a:r>
          </a:p>
          <a:p>
            <a:pPr algn="l">
              <a:defRPr sz="1600">
                <a:solidFill>
                  <a:srgbClr val="FFFFFF"/>
                </a:solidFill>
              </a:defRPr>
            </a:pPr>
            <a:r>
              <a:rPr sz="1600">
                <a:solidFill>
                  <a:srgbClr val="FFFFFF"/>
                </a:solidFill>
              </a:rPr>
              <a:t>• </a:t>
            </a:r>
            <a:r>
              <a:rPr sz="1600" i="1">
                <a:solidFill>
                  <a:srgbClr val="FFFFFF"/>
                </a:solidFill>
              </a:rPr>
              <a:t>S</a:t>
            </a:r>
            <a:r>
              <a:rPr sz="1600">
                <a:solidFill>
                  <a:srgbClr val="FFFFFF"/>
                </a:solidFill>
              </a:rPr>
              <a:t> / </a:t>
            </a:r>
            <a:r>
              <a:rPr sz="1600" i="1">
                <a:solidFill>
                  <a:srgbClr val="FFFFFF"/>
                </a:solidFill>
              </a:rPr>
              <a:t>S</a:t>
            </a:r>
            <a:r>
              <a:rPr sz="1600" i="1">
                <a:solidFill>
                  <a:srgbClr val="FFFFFF"/>
                </a:solidFill>
              </a:rPr>
              <a:t>ref</a:t>
            </a:r>
            <a:r>
              <a:rPr sz="1600">
                <a:solidFill>
                  <a:srgbClr val="FFFFFF"/>
                </a:solidFill>
              </a:rPr>
              <a:t>: Irradiancia efectiva y de referencia (1000 W/m²).</a:t>
            </a:r>
          </a:p>
          <a:p>
            <a:pPr algn="l">
              <a:defRPr sz="1600">
                <a:solidFill>
                  <a:srgbClr val="FFFFFF"/>
                </a:solidFill>
              </a:defRPr>
            </a:pPr>
            <a:r>
              <a:rPr sz="1600">
                <a:solidFill>
                  <a:srgbClr val="FFFFFF"/>
                </a:solidFill>
              </a:rPr>
              <a:t>• </a:t>
            </a:r>
            <a:r>
              <a:rPr sz="1600" i="1">
                <a:solidFill>
                  <a:srgbClr val="FFFFFF"/>
                </a:solidFill>
              </a:rPr>
              <a:t>K</a:t>
            </a:r>
            <a:r>
              <a:rPr sz="1600" i="1">
                <a:solidFill>
                  <a:srgbClr val="FFFFFF"/>
                </a:solidFill>
              </a:rPr>
              <a:t>τα,b</a:t>
            </a:r>
            <a:r>
              <a:rPr sz="1600">
                <a:solidFill>
                  <a:srgbClr val="FFFFFF"/>
                </a:solidFill>
              </a:rPr>
              <a:t> / </a:t>
            </a:r>
            <a:r>
              <a:rPr sz="1600" i="1">
                <a:solidFill>
                  <a:srgbClr val="FFFFFF"/>
                </a:solidFill>
              </a:rPr>
              <a:t>K</a:t>
            </a:r>
            <a:r>
              <a:rPr sz="1600" i="1">
                <a:solidFill>
                  <a:srgbClr val="FFFFFF"/>
                </a:solidFill>
              </a:rPr>
              <a:t>τα,d</a:t>
            </a:r>
            <a:r>
              <a:rPr sz="1600">
                <a:solidFill>
                  <a:srgbClr val="FFFFFF"/>
                </a:solidFill>
              </a:rPr>
              <a:t> / </a:t>
            </a:r>
            <a:r>
              <a:rPr sz="1600" i="1">
                <a:solidFill>
                  <a:srgbClr val="FFFFFF"/>
                </a:solidFill>
              </a:rPr>
              <a:t>K</a:t>
            </a:r>
            <a:r>
              <a:rPr sz="1600" i="1">
                <a:solidFill>
                  <a:srgbClr val="FFFFFF"/>
                </a:solidFill>
              </a:rPr>
              <a:t>τα,g</a:t>
            </a:r>
            <a:r>
              <a:rPr sz="1600">
                <a:solidFill>
                  <a:srgbClr val="FFFFFF"/>
                </a:solidFill>
              </a:rPr>
              <a:t>: Modificadores por IAM para directa, difusa y albedo.</a:t>
            </a:r>
          </a:p>
          <a:p>
            <a:pPr algn="l">
              <a:defRPr sz="1600">
                <a:solidFill>
                  <a:srgbClr val="FFFFFF"/>
                </a:solidFill>
              </a:defRPr>
            </a:pPr>
            <a:r>
              <a:rPr sz="1600">
                <a:solidFill>
                  <a:srgbClr val="FFFFFF"/>
                </a:solidFill>
              </a:rPr>
              <a:t>• Modela las pérdidas ópticas reflectivas por ángulo de incidencia.</a:t>
            </a:r>
          </a:p>
        </p:txBody>
      </p:sp>
      <p:sp>
        <p:nvSpPr>
          <p:cNvPr id="15" name="TextBox 14"/>
          <p:cNvSpPr txBox="1"/>
          <p:nvPr/>
        </p:nvSpPr>
        <p:spPr>
          <a:xfrm>
            <a:off x="365760" y="6492240"/>
            <a:ext cx="11460175" cy="274320"/>
          </a:xfrm>
          <a:prstGeom prst="rect">
            <a:avLst/>
          </a:prstGeom>
          <a:noFill/>
        </p:spPr>
        <p:txBody>
          <a:bodyPr wrap="none">
            <a:spAutoFit/>
          </a:bodyPr>
          <a:lstStyle/>
          <a:p>
            <a:pPr algn="r">
              <a:defRPr sz="1000">
                <a:solidFill>
                  <a:srgbClr val="787878"/>
                </a:solidFill>
              </a:defRPr>
            </a:pPr>
            <a:r>
              <a:t>ELI556 | Grupo Alta Tensión | Lámina 19/25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365760" y="365760"/>
            <a:ext cx="11460175" cy="731520"/>
          </a:xfrm>
          <a:prstGeom prst="rect">
            <a:avLst/>
          </a:prstGeom>
          <a:noFill/>
        </p:spPr>
        <p:txBody>
          <a:bodyPr wrap="square">
            <a:spAutoFit/>
          </a:bodyPr>
          <a:lstStyle/>
          <a:p>
            <a:pPr>
              <a:defRPr sz="2400">
                <a:solidFill>
                  <a:srgbClr val="E8A838"/>
                </a:solidFill>
              </a:defRPr>
            </a:pPr>
            <a:r>
              <a:rPr sz="2400" b="1">
                <a:solidFill>
                  <a:srgbClr val="E8A838"/>
                </a:solidFill>
              </a:rPr>
              <a:t>Anexo II: Ecuaciones de Modificadores Ópticos (IAM y Masa de Aire)</a:t>
            </a:r>
          </a:p>
        </p:txBody>
      </p:sp>
      <p:sp>
        <p:nvSpPr>
          <p:cNvPr id="3" name="Rectangle 2"/>
          <p:cNvSpPr/>
          <p:nvPr/>
        </p:nvSpPr>
        <p:spPr>
          <a:xfrm>
            <a:off x="365760" y="1097280"/>
            <a:ext cx="5592927"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5410047" cy="411480"/>
          </a:xfrm>
          <a:prstGeom prst="rect">
            <a:avLst/>
          </a:prstGeom>
          <a:noFill/>
        </p:spPr>
        <p:txBody>
          <a:bodyPr wrap="none">
            <a:spAutoFit/>
          </a:bodyPr>
          <a:lstStyle/>
          <a:p>
            <a:pPr>
              <a:defRPr sz="1800">
                <a:solidFill>
                  <a:srgbClr val="E8A838"/>
                </a:solidFill>
              </a:defRPr>
            </a:pPr>
            <a:r>
              <a:rPr sz="1800" b="1">
                <a:solidFill>
                  <a:srgbClr val="E8A838"/>
                </a:solidFill>
              </a:rPr>
              <a:t>Modificador por Ángulo de Incidencia (IAM)</a:t>
            </a:r>
          </a:p>
        </p:txBody>
      </p:sp>
      <p:sp>
        <p:nvSpPr>
          <p:cNvPr id="5" name="TextBox 4"/>
          <p:cNvSpPr txBox="1"/>
          <p:nvPr/>
        </p:nvSpPr>
        <p:spPr>
          <a:xfrm>
            <a:off x="548640" y="1554480"/>
            <a:ext cx="5227167" cy="320040"/>
          </a:xfrm>
          <a:prstGeom prst="rect">
            <a:avLst/>
          </a:prstGeom>
          <a:noFill/>
        </p:spPr>
        <p:txBody>
          <a:bodyPr wrap="square">
            <a:spAutoFit/>
          </a:bodyPr>
          <a:lstStyle/>
          <a:p>
            <a:pPr algn="l">
              <a:defRPr sz="1500">
                <a:solidFill>
                  <a:srgbClr val="FFFFFF"/>
                </a:solidFill>
              </a:defRPr>
            </a:pPr>
            <a:r>
              <a:rPr sz="1500">
                <a:solidFill>
                  <a:srgbClr val="FFFFFF"/>
                </a:solidFill>
              </a:rPr>
              <a:t>Ecuación física basada en Ley de Snell y Bouguer:</a:t>
            </a:r>
          </a:p>
        </p:txBody>
      </p:sp>
      <p:pic>
        <p:nvPicPr>
          <p:cNvPr id="6" name="Picture 5" descr="eq_8a7d35cd9feb6147f12570daab65475e.png"/>
          <p:cNvPicPr>
            <a:picLocks noChangeAspect="1"/>
          </p:cNvPicPr>
          <p:nvPr/>
        </p:nvPicPr>
        <p:blipFill>
          <a:blip r:embed="rId2"/>
          <a:stretch>
            <a:fillRect/>
          </a:stretch>
        </p:blipFill>
        <p:spPr>
          <a:xfrm>
            <a:off x="640080" y="1920240"/>
            <a:ext cx="1234440" cy="411480"/>
          </a:xfrm>
          <a:prstGeom prst="rect">
            <a:avLst/>
          </a:prstGeom>
        </p:spPr>
      </p:pic>
      <p:pic>
        <p:nvPicPr>
          <p:cNvPr id="7" name="Picture 6" descr="eq_a96da545a4088927f7bf0f7dbce729ea.png"/>
          <p:cNvPicPr>
            <a:picLocks noChangeAspect="1"/>
          </p:cNvPicPr>
          <p:nvPr/>
        </p:nvPicPr>
        <p:blipFill>
          <a:blip r:embed="rId3"/>
          <a:stretch>
            <a:fillRect/>
          </a:stretch>
        </p:blipFill>
        <p:spPr>
          <a:xfrm>
            <a:off x="640080" y="2468880"/>
            <a:ext cx="4108233" cy="411480"/>
          </a:xfrm>
          <a:prstGeom prst="rect">
            <a:avLst/>
          </a:prstGeom>
        </p:spPr>
      </p:pic>
      <p:pic>
        <p:nvPicPr>
          <p:cNvPr id="8" name="Picture 7" descr="eq_cd4ce63955ff79583978e1e85e9828d5.png"/>
          <p:cNvPicPr>
            <a:picLocks noChangeAspect="1"/>
          </p:cNvPicPr>
          <p:nvPr/>
        </p:nvPicPr>
        <p:blipFill>
          <a:blip r:embed="rId4"/>
          <a:stretch>
            <a:fillRect/>
          </a:stretch>
        </p:blipFill>
        <p:spPr>
          <a:xfrm>
            <a:off x="640080" y="3154680"/>
            <a:ext cx="1974028" cy="365760"/>
          </a:xfrm>
          <a:prstGeom prst="rect">
            <a:avLst/>
          </a:prstGeom>
        </p:spPr>
      </p:pic>
      <p:sp>
        <p:nvSpPr>
          <p:cNvPr id="9" name="TextBox 8"/>
          <p:cNvSpPr txBox="1"/>
          <p:nvPr/>
        </p:nvSpPr>
        <p:spPr>
          <a:xfrm>
            <a:off x="548640" y="3931920"/>
            <a:ext cx="5227167" cy="1828800"/>
          </a:xfrm>
          <a:prstGeom prst="rect">
            <a:avLst/>
          </a:prstGeom>
          <a:noFill/>
        </p:spPr>
        <p:txBody>
          <a:bodyPr wrap="square">
            <a:spAutoFit/>
          </a:bodyPr>
          <a:lstStyle/>
          <a:p>
            <a:pPr algn="l">
              <a:defRPr sz="1500">
                <a:solidFill>
                  <a:srgbClr val="E8A838"/>
                </a:solidFill>
              </a:defRPr>
            </a:pPr>
            <a:r>
              <a:rPr sz="1500">
                <a:solidFill>
                  <a:srgbClr val="E8A838"/>
                </a:solidFill>
              </a:rPr>
              <a:t>Donde:</a:t>
            </a:r>
          </a:p>
          <a:p>
            <a:pPr algn="l">
              <a:defRPr sz="1500">
                <a:solidFill>
                  <a:srgbClr val="E8A838"/>
                </a:solidFill>
              </a:defRPr>
            </a:pPr>
            <a:r>
              <a:rPr sz="1500">
                <a:solidFill>
                  <a:srgbClr val="E8A838"/>
                </a:solidFill>
              </a:rPr>
              <a:t>• </a:t>
            </a:r>
            <a:r>
              <a:rPr sz="1500" i="1">
                <a:solidFill>
                  <a:srgbClr val="E8A838"/>
                </a:solidFill>
              </a:rPr>
              <a:t>θ</a:t>
            </a:r>
            <a:r>
              <a:rPr sz="1500">
                <a:solidFill>
                  <a:srgbClr val="E8A838"/>
                </a:solidFill>
              </a:rPr>
              <a:t>: Ángulo de incidencia  |  </a:t>
            </a:r>
            <a:r>
              <a:rPr sz="1500" i="1">
                <a:solidFill>
                  <a:srgbClr val="E8A838"/>
                </a:solidFill>
              </a:rPr>
              <a:t>n</a:t>
            </a:r>
            <a:r>
              <a:rPr sz="1500">
                <a:solidFill>
                  <a:srgbClr val="E8A838"/>
                </a:solidFill>
              </a:rPr>
              <a:t> = 1.526 (Índice de refracción del vidrio).</a:t>
            </a:r>
          </a:p>
          <a:p>
            <a:pPr algn="l">
              <a:defRPr sz="1500">
                <a:solidFill>
                  <a:srgbClr val="E8A838"/>
                </a:solidFill>
              </a:defRPr>
            </a:pPr>
            <a:r>
              <a:rPr sz="1500">
                <a:solidFill>
                  <a:srgbClr val="E8A838"/>
                </a:solidFill>
              </a:rPr>
              <a:t>• </a:t>
            </a:r>
            <a:r>
              <a:rPr sz="1500" i="1">
                <a:solidFill>
                  <a:srgbClr val="E8A838"/>
                </a:solidFill>
              </a:rPr>
              <a:t>K</a:t>
            </a:r>
            <a:r>
              <a:rPr sz="1500">
                <a:solidFill>
                  <a:srgbClr val="E8A838"/>
                </a:solidFill>
              </a:rPr>
              <a:t> = 4 m⁻¹ (Extinción del vidrio)  |  </a:t>
            </a:r>
            <a:r>
              <a:rPr sz="1500" i="1">
                <a:solidFill>
                  <a:srgbClr val="E8A838"/>
                </a:solidFill>
              </a:rPr>
              <a:t>L</a:t>
            </a:r>
            <a:r>
              <a:rPr sz="1500">
                <a:solidFill>
                  <a:srgbClr val="E8A838"/>
                </a:solidFill>
              </a:rPr>
              <a:t> = 2 mm (Espesor del vidrio).</a:t>
            </a:r>
          </a:p>
        </p:txBody>
      </p:sp>
      <p:sp>
        <p:nvSpPr>
          <p:cNvPr id="10" name="Rectangle 9"/>
          <p:cNvSpPr/>
          <p:nvPr/>
        </p:nvSpPr>
        <p:spPr>
          <a:xfrm>
            <a:off x="6233007" y="1097280"/>
            <a:ext cx="5592927"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24447" y="1188720"/>
            <a:ext cx="5410047" cy="411480"/>
          </a:xfrm>
          <a:prstGeom prst="rect">
            <a:avLst/>
          </a:prstGeom>
          <a:noFill/>
        </p:spPr>
        <p:txBody>
          <a:bodyPr wrap="none">
            <a:spAutoFit/>
          </a:bodyPr>
          <a:lstStyle/>
          <a:p>
            <a:pPr>
              <a:defRPr sz="1800">
                <a:solidFill>
                  <a:srgbClr val="E8A838"/>
                </a:solidFill>
              </a:defRPr>
            </a:pPr>
            <a:r>
              <a:rPr sz="1800" b="1">
                <a:solidFill>
                  <a:srgbClr val="E8A838"/>
                </a:solidFill>
              </a:rPr>
              <a:t>Modificador por Masa de Aire (AM)</a:t>
            </a:r>
          </a:p>
        </p:txBody>
      </p:sp>
      <p:sp>
        <p:nvSpPr>
          <p:cNvPr id="12" name="TextBox 11"/>
          <p:cNvSpPr txBox="1"/>
          <p:nvPr/>
        </p:nvSpPr>
        <p:spPr>
          <a:xfrm>
            <a:off x="6415887" y="1508760"/>
            <a:ext cx="5227167" cy="502920"/>
          </a:xfrm>
          <a:prstGeom prst="rect">
            <a:avLst/>
          </a:prstGeom>
          <a:noFill/>
        </p:spPr>
        <p:txBody>
          <a:bodyPr wrap="square">
            <a:spAutoFit/>
          </a:bodyPr>
          <a:lstStyle/>
          <a:p>
            <a:pPr algn="l">
              <a:defRPr sz="1500">
                <a:solidFill>
                  <a:srgbClr val="FFFFFF"/>
                </a:solidFill>
              </a:defRPr>
            </a:pPr>
            <a:r>
              <a:rPr sz="1500">
                <a:solidFill>
                  <a:srgbClr val="FFFFFF"/>
                </a:solidFill>
              </a:rPr>
              <a:t>Corrige el desajuste del espectro según la atmósfera atravesada:</a:t>
            </a:r>
          </a:p>
        </p:txBody>
      </p:sp>
      <p:pic>
        <p:nvPicPr>
          <p:cNvPr id="13" name="Picture 12" descr="eq_d906b2c1975077e1fc2fda1e56aae0c4.png"/>
          <p:cNvPicPr>
            <a:picLocks noChangeAspect="1"/>
          </p:cNvPicPr>
          <p:nvPr/>
        </p:nvPicPr>
        <p:blipFill>
          <a:blip r:embed="rId5"/>
          <a:stretch>
            <a:fillRect/>
          </a:stretch>
        </p:blipFill>
        <p:spPr>
          <a:xfrm>
            <a:off x="6507327" y="2148840"/>
            <a:ext cx="5029200" cy="333513"/>
          </a:xfrm>
          <a:prstGeom prst="rect">
            <a:avLst/>
          </a:prstGeom>
        </p:spPr>
      </p:pic>
      <p:pic>
        <p:nvPicPr>
          <p:cNvPr id="14" name="Picture 13" descr="eq_a92345a0e73bcc5feb98374753acda41.png"/>
          <p:cNvPicPr>
            <a:picLocks noChangeAspect="1"/>
          </p:cNvPicPr>
          <p:nvPr/>
        </p:nvPicPr>
        <p:blipFill>
          <a:blip r:embed="rId6"/>
          <a:stretch>
            <a:fillRect/>
          </a:stretch>
        </p:blipFill>
        <p:spPr>
          <a:xfrm>
            <a:off x="6507327" y="2834640"/>
            <a:ext cx="3687419" cy="438912"/>
          </a:xfrm>
          <a:prstGeom prst="rect">
            <a:avLst/>
          </a:prstGeom>
        </p:spPr>
      </p:pic>
      <p:sp>
        <p:nvSpPr>
          <p:cNvPr id="15" name="TextBox 14"/>
          <p:cNvSpPr txBox="1"/>
          <p:nvPr/>
        </p:nvSpPr>
        <p:spPr>
          <a:xfrm>
            <a:off x="6415887" y="3749039"/>
            <a:ext cx="5227167" cy="2286000"/>
          </a:xfrm>
          <a:prstGeom prst="rect">
            <a:avLst/>
          </a:prstGeom>
          <a:noFill/>
        </p:spPr>
        <p:txBody>
          <a:bodyPr wrap="square">
            <a:spAutoFit/>
          </a:bodyPr>
          <a:lstStyle/>
          <a:p>
            <a:pPr algn="l">
              <a:defRPr sz="1500">
                <a:solidFill>
                  <a:srgbClr val="FFFFFF"/>
                </a:solidFill>
              </a:defRPr>
            </a:pPr>
            <a:r>
              <a:rPr sz="1500">
                <a:solidFill>
                  <a:srgbClr val="FFFFFF"/>
                </a:solidFill>
              </a:rPr>
              <a:t>Donde:</a:t>
            </a:r>
          </a:p>
          <a:p>
            <a:pPr algn="l">
              <a:defRPr sz="1500">
                <a:solidFill>
                  <a:srgbClr val="FFFFFF"/>
                </a:solidFill>
              </a:defRPr>
            </a:pPr>
            <a:r>
              <a:rPr sz="1500">
                <a:solidFill>
                  <a:srgbClr val="FFFFFF"/>
                </a:solidFill>
              </a:rPr>
              <a:t>• </a:t>
            </a:r>
            <a:r>
              <a:rPr sz="1500" i="1">
                <a:solidFill>
                  <a:srgbClr val="FFFFFF"/>
                </a:solidFill>
              </a:rPr>
              <a:t>AM</a:t>
            </a:r>
            <a:r>
              <a:rPr sz="1500">
                <a:solidFill>
                  <a:srgbClr val="FFFFFF"/>
                </a:solidFill>
              </a:rPr>
              <a:t>: Masa de aire absoluta  |  </a:t>
            </a:r>
            <a:r>
              <a:rPr sz="1500" i="1">
                <a:solidFill>
                  <a:srgbClr val="FFFFFF"/>
                </a:solidFill>
              </a:rPr>
              <a:t>θ</a:t>
            </a:r>
            <a:r>
              <a:rPr sz="1500" i="1">
                <a:solidFill>
                  <a:srgbClr val="FFFFFF"/>
                </a:solidFill>
              </a:rPr>
              <a:t>z</a:t>
            </a:r>
            <a:r>
              <a:rPr sz="1500">
                <a:solidFill>
                  <a:srgbClr val="FFFFFF"/>
                </a:solidFill>
              </a:rPr>
              <a:t>: Ángulo cenital del sol.</a:t>
            </a:r>
          </a:p>
          <a:p>
            <a:pPr algn="l">
              <a:defRPr sz="1500">
                <a:solidFill>
                  <a:srgbClr val="FFFFFF"/>
                </a:solidFill>
              </a:defRPr>
            </a:pPr>
            <a:r>
              <a:rPr sz="1500">
                <a:solidFill>
                  <a:srgbClr val="FFFFFF"/>
                </a:solidFill>
              </a:rPr>
              <a:t>• </a:t>
            </a:r>
            <a:r>
              <a:rPr sz="1500" i="1">
                <a:solidFill>
                  <a:srgbClr val="FFFFFF"/>
                </a:solidFill>
              </a:rPr>
              <a:t>a</a:t>
            </a:r>
            <a:r>
              <a:rPr sz="1500" i="1">
                <a:solidFill>
                  <a:srgbClr val="FFFFFF"/>
                </a:solidFill>
              </a:rPr>
              <a:t>0</a:t>
            </a:r>
            <a:r>
              <a:rPr sz="1500">
                <a:solidFill>
                  <a:srgbClr val="FFFFFF"/>
                </a:solidFill>
              </a:rPr>
              <a:t> a </a:t>
            </a:r>
            <a:r>
              <a:rPr sz="1500" i="1">
                <a:solidFill>
                  <a:srgbClr val="FFFFFF"/>
                </a:solidFill>
              </a:rPr>
              <a:t>a</a:t>
            </a:r>
            <a:r>
              <a:rPr sz="1500" i="1">
                <a:solidFill>
                  <a:srgbClr val="FFFFFF"/>
                </a:solidFill>
              </a:rPr>
              <a:t>4</a:t>
            </a:r>
            <a:r>
              <a:rPr sz="1500">
                <a:solidFill>
                  <a:srgbClr val="FFFFFF"/>
                </a:solidFill>
              </a:rPr>
              <a:t>: Coeficientes empíricos espectrales de la celda.</a:t>
            </a:r>
          </a:p>
          <a:p>
            <a:pPr algn="l">
              <a:defRPr sz="1500">
                <a:solidFill>
                  <a:srgbClr val="FFFFFF"/>
                </a:solidFill>
              </a:defRPr>
            </a:pPr>
            <a:r>
              <a:rPr sz="1500">
                <a:solidFill>
                  <a:srgbClr val="FFFFFF"/>
                </a:solidFill>
              </a:rPr>
              <a:t>• </a:t>
            </a:r>
            <a:r>
              <a:rPr sz="1500" i="1">
                <a:solidFill>
                  <a:srgbClr val="FFFFFF"/>
                </a:solidFill>
              </a:rPr>
              <a:t>M</a:t>
            </a:r>
            <a:r>
              <a:rPr sz="1500" i="1">
                <a:solidFill>
                  <a:srgbClr val="FFFFFF"/>
                </a:solidFill>
              </a:rPr>
              <a:t>ref</a:t>
            </a:r>
            <a:r>
              <a:rPr sz="1500">
                <a:solidFill>
                  <a:srgbClr val="FFFFFF"/>
                </a:solidFill>
              </a:rPr>
              <a:t>: Transmitancia espectral a condiciones de referencia (AM 1.5g).</a:t>
            </a:r>
          </a:p>
        </p:txBody>
      </p:sp>
      <p:sp>
        <p:nvSpPr>
          <p:cNvPr id="16" name="TextBox 15"/>
          <p:cNvSpPr txBox="1"/>
          <p:nvPr/>
        </p:nvSpPr>
        <p:spPr>
          <a:xfrm>
            <a:off x="365760" y="6492240"/>
            <a:ext cx="11460175" cy="274320"/>
          </a:xfrm>
          <a:prstGeom prst="rect">
            <a:avLst/>
          </a:prstGeom>
          <a:noFill/>
        </p:spPr>
        <p:txBody>
          <a:bodyPr wrap="none">
            <a:spAutoFit/>
          </a:bodyPr>
          <a:lstStyle/>
          <a:p>
            <a:pPr algn="r">
              <a:defRPr sz="1000">
                <a:solidFill>
                  <a:srgbClr val="787878"/>
                </a:solidFill>
              </a:defRPr>
            </a:pPr>
            <a:r>
              <a:t>ELI556 | Grupo Alta Tensión | Lámina 20/25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365760" y="365760"/>
            <a:ext cx="11460175" cy="731520"/>
          </a:xfrm>
          <a:prstGeom prst="rect">
            <a:avLst/>
          </a:prstGeom>
          <a:noFill/>
        </p:spPr>
        <p:txBody>
          <a:bodyPr wrap="square">
            <a:spAutoFit/>
          </a:bodyPr>
          <a:lstStyle/>
          <a:p>
            <a:pPr>
              <a:defRPr sz="2400">
                <a:solidFill>
                  <a:srgbClr val="E8A838"/>
                </a:solidFill>
              </a:defRPr>
            </a:pPr>
            <a:r>
              <a:rPr sz="2400" b="1">
                <a:solidFill>
                  <a:srgbClr val="E8A838"/>
                </a:solidFill>
              </a:rPr>
              <a:t>Anexo III: Ecuaciones del Perfil Térmico (Modelo Sandia SAPM)</a:t>
            </a:r>
          </a:p>
        </p:txBody>
      </p:sp>
      <p:sp>
        <p:nvSpPr>
          <p:cNvPr id="3" name="Rectangle 2"/>
          <p:cNvSpPr/>
          <p:nvPr/>
        </p:nvSpPr>
        <p:spPr>
          <a:xfrm>
            <a:off x="365760" y="1097280"/>
            <a:ext cx="11460175" cy="201168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411480"/>
          </a:xfrm>
          <a:prstGeom prst="rect">
            <a:avLst/>
          </a:prstGeom>
          <a:noFill/>
        </p:spPr>
        <p:txBody>
          <a:bodyPr wrap="none">
            <a:spAutoFit/>
          </a:bodyPr>
          <a:lstStyle/>
          <a:p>
            <a:pPr>
              <a:defRPr sz="1800">
                <a:solidFill>
                  <a:srgbClr val="E8A838"/>
                </a:solidFill>
              </a:defRPr>
            </a:pPr>
            <a:r>
              <a:rPr sz="1800" b="1">
                <a:solidFill>
                  <a:srgbClr val="E8A838"/>
                </a:solidFill>
              </a:rPr>
              <a:t>Ecuación de Sandia para Temperatura de Celda</a:t>
            </a:r>
          </a:p>
        </p:txBody>
      </p:sp>
      <p:sp>
        <p:nvSpPr>
          <p:cNvPr id="5" name="TextBox 4"/>
          <p:cNvSpPr txBox="1"/>
          <p:nvPr/>
        </p:nvSpPr>
        <p:spPr>
          <a:xfrm>
            <a:off x="548640" y="1508760"/>
            <a:ext cx="11094415" cy="320040"/>
          </a:xfrm>
          <a:prstGeom prst="rect">
            <a:avLst/>
          </a:prstGeom>
          <a:noFill/>
        </p:spPr>
        <p:txBody>
          <a:bodyPr wrap="square">
            <a:spAutoFit/>
          </a:bodyPr>
          <a:lstStyle/>
          <a:p>
            <a:pPr algn="l">
              <a:defRPr sz="1500">
                <a:solidFill>
                  <a:srgbClr val="FFFFFF"/>
                </a:solidFill>
              </a:defRPr>
            </a:pPr>
            <a:r>
              <a:rPr sz="1500">
                <a:solidFill>
                  <a:srgbClr val="FFFFFF"/>
                </a:solidFill>
              </a:rPr>
              <a:t>La temperatura de la celda fotovoltaica se modela a partir del equilibrio térmico dinámico:</a:t>
            </a:r>
          </a:p>
        </p:txBody>
      </p:sp>
      <p:pic>
        <p:nvPicPr>
          <p:cNvPr id="6" name="Picture 5" descr="eq_6df31a59eeb699d8d30eef1fac483410.png"/>
          <p:cNvPicPr>
            <a:picLocks noChangeAspect="1"/>
          </p:cNvPicPr>
          <p:nvPr/>
        </p:nvPicPr>
        <p:blipFill>
          <a:blip r:embed="rId2"/>
          <a:stretch>
            <a:fillRect/>
          </a:stretch>
        </p:blipFill>
        <p:spPr>
          <a:xfrm>
            <a:off x="2011680" y="1965960"/>
            <a:ext cx="5029200" cy="481247"/>
          </a:xfrm>
          <a:prstGeom prst="rect">
            <a:avLst/>
          </a:prstGeom>
        </p:spPr>
      </p:pic>
      <p:sp>
        <p:nvSpPr>
          <p:cNvPr id="7" name="Rectangle 6"/>
          <p:cNvSpPr/>
          <p:nvPr/>
        </p:nvSpPr>
        <p:spPr>
          <a:xfrm>
            <a:off x="365760" y="3291840"/>
            <a:ext cx="4572000" cy="283464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3383280"/>
            <a:ext cx="4389120" cy="411480"/>
          </a:xfrm>
          <a:prstGeom prst="rect">
            <a:avLst/>
          </a:prstGeom>
          <a:noFill/>
        </p:spPr>
        <p:txBody>
          <a:bodyPr wrap="none">
            <a:spAutoFit/>
          </a:bodyPr>
          <a:lstStyle/>
          <a:p>
            <a:pPr>
              <a:defRPr sz="1800">
                <a:solidFill>
                  <a:srgbClr val="E8A838"/>
                </a:solidFill>
              </a:defRPr>
            </a:pPr>
            <a:r>
              <a:rPr sz="1800" b="1">
                <a:solidFill>
                  <a:srgbClr val="E8A838"/>
                </a:solidFill>
              </a:rPr>
              <a:t>Glosario de Variables</a:t>
            </a:r>
          </a:p>
        </p:txBody>
      </p:sp>
      <p:sp>
        <p:nvSpPr>
          <p:cNvPr id="9" name="TextBox 8"/>
          <p:cNvSpPr txBox="1"/>
          <p:nvPr/>
        </p:nvSpPr>
        <p:spPr>
          <a:xfrm>
            <a:off x="548640" y="3749039"/>
            <a:ext cx="4206240" cy="2103120"/>
          </a:xfrm>
          <a:prstGeom prst="rect">
            <a:avLst/>
          </a:prstGeom>
          <a:noFill/>
        </p:spPr>
        <p:txBody>
          <a:bodyPr wrap="square">
            <a:spAutoFit/>
          </a:bodyPr>
          <a:lstStyle/>
          <a:p>
            <a:pPr algn="l">
              <a:defRPr sz="1500">
                <a:solidFill>
                  <a:srgbClr val="E8A838"/>
                </a:solidFill>
              </a:defRPr>
            </a:pPr>
            <a:r>
              <a:rPr sz="1500">
                <a:solidFill>
                  <a:srgbClr val="E8A838"/>
                </a:solidFill>
              </a:rPr>
              <a:t>• </a:t>
            </a:r>
            <a:r>
              <a:rPr sz="1500" i="1">
                <a:solidFill>
                  <a:srgbClr val="E8A838"/>
                </a:solidFill>
              </a:rPr>
              <a:t>T</a:t>
            </a:r>
            <a:r>
              <a:rPr sz="1500" i="1">
                <a:solidFill>
                  <a:srgbClr val="E8A838"/>
                </a:solidFill>
              </a:rPr>
              <a:t>c</a:t>
            </a:r>
            <a:r>
              <a:rPr sz="1500">
                <a:solidFill>
                  <a:srgbClr val="E8A838"/>
                </a:solidFill>
              </a:rPr>
              <a:t> / </a:t>
            </a:r>
            <a:r>
              <a:rPr sz="1500" i="1">
                <a:solidFill>
                  <a:srgbClr val="E8A838"/>
                </a:solidFill>
              </a:rPr>
              <a:t>T</a:t>
            </a:r>
            <a:r>
              <a:rPr sz="1500" i="1">
                <a:solidFill>
                  <a:srgbClr val="E8A838"/>
                </a:solidFill>
              </a:rPr>
              <a:t>a</a:t>
            </a:r>
            <a:r>
              <a:rPr sz="1500">
                <a:solidFill>
                  <a:srgbClr val="E8A838"/>
                </a:solidFill>
              </a:rPr>
              <a:t>: Temp. de celda y ambiental (°C).</a:t>
            </a:r>
          </a:p>
          <a:p>
            <a:pPr algn="l">
              <a:defRPr sz="1500">
                <a:solidFill>
                  <a:srgbClr val="E8A838"/>
                </a:solidFill>
              </a:defRPr>
            </a:pPr>
            <a:r>
              <a:rPr sz="1500">
                <a:solidFill>
                  <a:srgbClr val="E8A838"/>
                </a:solidFill>
              </a:rPr>
              <a:t>• </a:t>
            </a:r>
            <a:r>
              <a:rPr sz="1500" i="1">
                <a:solidFill>
                  <a:srgbClr val="E8A838"/>
                </a:solidFill>
              </a:rPr>
              <a:t>G</a:t>
            </a:r>
            <a:r>
              <a:rPr sz="1500" i="1">
                <a:solidFill>
                  <a:srgbClr val="E8A838"/>
                </a:solidFill>
              </a:rPr>
              <a:t>poa</a:t>
            </a:r>
            <a:r>
              <a:rPr sz="1500">
                <a:solidFill>
                  <a:srgbClr val="E8A838"/>
                </a:solidFill>
              </a:rPr>
              <a:t>: Irradiancia total en plano de panel (W/m²).</a:t>
            </a:r>
          </a:p>
          <a:p>
            <a:pPr algn="l">
              <a:defRPr sz="1500">
                <a:solidFill>
                  <a:srgbClr val="E8A838"/>
                </a:solidFill>
              </a:defRPr>
            </a:pPr>
            <a:r>
              <a:rPr sz="1500">
                <a:solidFill>
                  <a:srgbClr val="E8A838"/>
                </a:solidFill>
              </a:rPr>
              <a:t>• </a:t>
            </a:r>
            <a:r>
              <a:rPr sz="1500" i="1">
                <a:solidFill>
                  <a:srgbClr val="E8A838"/>
                </a:solidFill>
              </a:rPr>
              <a:t>v</a:t>
            </a:r>
            <a:r>
              <a:rPr sz="1500" i="1">
                <a:solidFill>
                  <a:srgbClr val="E8A838"/>
                </a:solidFill>
              </a:rPr>
              <a:t>w</a:t>
            </a:r>
            <a:r>
              <a:rPr sz="1500">
                <a:solidFill>
                  <a:srgbClr val="E8A838"/>
                </a:solidFill>
              </a:rPr>
              <a:t>: Velocidad de viento circundante (m/s).</a:t>
            </a:r>
          </a:p>
          <a:p>
            <a:pPr algn="l">
              <a:defRPr sz="1500">
                <a:solidFill>
                  <a:srgbClr val="E8A838"/>
                </a:solidFill>
              </a:defRPr>
            </a:pPr>
            <a:r>
              <a:rPr sz="1500">
                <a:solidFill>
                  <a:srgbClr val="E8A838"/>
                </a:solidFill>
              </a:rPr>
              <a:t>• </a:t>
            </a:r>
            <a:r>
              <a:rPr sz="1500" i="1">
                <a:solidFill>
                  <a:srgbClr val="E8A838"/>
                </a:solidFill>
              </a:rPr>
              <a:t>a</a:t>
            </a:r>
            <a:r>
              <a:rPr sz="1500">
                <a:solidFill>
                  <a:srgbClr val="E8A838"/>
                </a:solidFill>
              </a:rPr>
              <a:t>, </a:t>
            </a:r>
            <a:r>
              <a:rPr sz="1500" i="1">
                <a:solidFill>
                  <a:srgbClr val="E8A838"/>
                </a:solidFill>
              </a:rPr>
              <a:t>b</a:t>
            </a:r>
            <a:r>
              <a:rPr sz="1500">
                <a:solidFill>
                  <a:srgbClr val="E8A838"/>
                </a:solidFill>
              </a:rPr>
              <a:t>, </a:t>
            </a:r>
            <a:r>
              <a:rPr sz="1500" i="1">
                <a:solidFill>
                  <a:srgbClr val="E8A838"/>
                </a:solidFill>
              </a:rPr>
              <a:t>ΔT</a:t>
            </a:r>
            <a:r>
              <a:rPr sz="1500">
                <a:solidFill>
                  <a:srgbClr val="E8A838"/>
                </a:solidFill>
              </a:rPr>
              <a:t>: Parámetros empíricos de encapsulado.</a:t>
            </a:r>
          </a:p>
        </p:txBody>
      </p:sp>
      <p:sp>
        <p:nvSpPr>
          <p:cNvPr id="10" name="Rectangle 9"/>
          <p:cNvSpPr/>
          <p:nvPr/>
        </p:nvSpPr>
        <p:spPr>
          <a:xfrm>
            <a:off x="5212080" y="3291840"/>
            <a:ext cx="6613855" cy="283464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0" y="3383280"/>
            <a:ext cx="6430975" cy="411480"/>
          </a:xfrm>
          <a:prstGeom prst="rect">
            <a:avLst/>
          </a:prstGeom>
          <a:noFill/>
        </p:spPr>
        <p:txBody>
          <a:bodyPr wrap="none">
            <a:spAutoFit/>
          </a:bodyPr>
          <a:lstStyle/>
          <a:p>
            <a:pPr>
              <a:defRPr sz="1800">
                <a:solidFill>
                  <a:srgbClr val="E8A838"/>
                </a:solidFill>
              </a:defRPr>
            </a:pPr>
            <a:r>
              <a:rPr sz="1800" b="1">
                <a:solidFill>
                  <a:srgbClr val="E8A838"/>
                </a:solidFill>
              </a:rPr>
              <a:t>Coeficientes Empíricos Utilizados</a:t>
            </a:r>
          </a:p>
        </p:txBody>
      </p:sp>
      <p:sp>
        <p:nvSpPr>
          <p:cNvPr id="12" name="TextBox 11"/>
          <p:cNvSpPr txBox="1"/>
          <p:nvPr/>
        </p:nvSpPr>
        <p:spPr>
          <a:xfrm>
            <a:off x="5394960" y="3749039"/>
            <a:ext cx="6248095" cy="2103120"/>
          </a:xfrm>
          <a:prstGeom prst="rect">
            <a:avLst/>
          </a:prstGeom>
          <a:noFill/>
        </p:spPr>
        <p:txBody>
          <a:bodyPr wrap="square">
            <a:spAutoFit/>
          </a:bodyPr>
          <a:lstStyle/>
          <a:p>
            <a:pPr algn="l">
              <a:defRPr sz="1400">
                <a:solidFill>
                  <a:srgbClr val="FFFFFF"/>
                </a:solidFill>
              </a:defRPr>
            </a:pPr>
            <a:r>
              <a:rPr sz="1400">
                <a:solidFill>
                  <a:srgbClr val="FFFFFF"/>
                </a:solidFill>
              </a:rPr>
              <a:t>• </a:t>
            </a:r>
            <a:r>
              <a:rPr sz="1400" b="1">
                <a:solidFill>
                  <a:srgbClr val="FFFFFF"/>
                </a:solidFill>
              </a:rPr>
              <a:t>Silicio Monocristalino (m-Si) — glass/polymer (marco estándar):</a:t>
            </a:r>
          </a:p>
          <a:p>
            <a:pPr algn="l">
              <a:defRPr sz="1400">
                <a:solidFill>
                  <a:srgbClr val="FFFFFF"/>
                </a:solidFill>
              </a:defRPr>
            </a:pPr>
            <a:r>
              <a:rPr sz="1400">
                <a:solidFill>
                  <a:srgbClr val="FFFFFF"/>
                </a:solidFill>
              </a:rPr>
              <a:t>  </a:t>
            </a:r>
            <a:r>
              <a:rPr sz="1400" i="1">
                <a:solidFill>
                  <a:srgbClr val="FFFFFF"/>
                </a:solidFill>
              </a:rPr>
              <a:t>a</a:t>
            </a:r>
            <a:r>
              <a:rPr sz="1400">
                <a:solidFill>
                  <a:srgbClr val="FFFFFF"/>
                </a:solidFill>
              </a:rPr>
              <a:t> = -3.56  |  </a:t>
            </a:r>
            <a:r>
              <a:rPr sz="1400" i="1">
                <a:solidFill>
                  <a:srgbClr val="FFFFFF"/>
                </a:solidFill>
              </a:rPr>
              <a:t>b</a:t>
            </a:r>
            <a:r>
              <a:rPr sz="1400">
                <a:solidFill>
                  <a:srgbClr val="FFFFFF"/>
                </a:solidFill>
              </a:rPr>
              <a:t> = -0.075  |  </a:t>
            </a:r>
            <a:r>
              <a:rPr sz="1400" i="1">
                <a:solidFill>
                  <a:srgbClr val="FFFFFF"/>
                </a:solidFill>
              </a:rPr>
              <a:t>ΔT</a:t>
            </a:r>
            <a:r>
              <a:rPr sz="1400">
                <a:solidFill>
                  <a:srgbClr val="FFFFFF"/>
                </a:solidFill>
              </a:rPr>
              <a:t> = 3.0 °C</a:t>
            </a:r>
          </a:p>
          <a:p>
            <a:pPr algn="l">
              <a:defRPr sz="1400">
                <a:solidFill>
                  <a:srgbClr val="FFFFFF"/>
                </a:solidFill>
              </a:defRPr>
            </a:pPr>
          </a:p>
          <a:p>
            <a:pPr algn="l">
              <a:defRPr sz="1400">
                <a:solidFill>
                  <a:srgbClr val="FFFFFF"/>
                </a:solidFill>
              </a:defRPr>
            </a:pPr>
            <a:r>
              <a:rPr sz="1400">
                <a:solidFill>
                  <a:srgbClr val="FFFFFF"/>
                </a:solidFill>
              </a:rPr>
              <a:t>• </a:t>
            </a:r>
            <a:r>
              <a:rPr sz="1400" b="1">
                <a:solidFill>
                  <a:srgbClr val="FFFFFF"/>
                </a:solidFill>
              </a:rPr>
              <a:t>Heterounión (HIT) — glass/glass (encapsulado térmico premium):</a:t>
            </a:r>
          </a:p>
          <a:p>
            <a:pPr algn="l">
              <a:defRPr sz="1400">
                <a:solidFill>
                  <a:srgbClr val="FFFFFF"/>
                </a:solidFill>
              </a:defRPr>
            </a:pPr>
            <a:r>
              <a:rPr sz="1400">
                <a:solidFill>
                  <a:srgbClr val="FFFFFF"/>
                </a:solidFill>
              </a:rPr>
              <a:t>  </a:t>
            </a:r>
            <a:r>
              <a:rPr sz="1400" i="1">
                <a:solidFill>
                  <a:srgbClr val="FFFFFF"/>
                </a:solidFill>
              </a:rPr>
              <a:t>a</a:t>
            </a:r>
            <a:r>
              <a:rPr sz="1400">
                <a:solidFill>
                  <a:srgbClr val="FFFFFF"/>
                </a:solidFill>
              </a:rPr>
              <a:t> = -3.47  |  </a:t>
            </a:r>
            <a:r>
              <a:rPr sz="1400" i="1">
                <a:solidFill>
                  <a:srgbClr val="FFFFFF"/>
                </a:solidFill>
              </a:rPr>
              <a:t>b</a:t>
            </a:r>
            <a:r>
              <a:rPr sz="1400">
                <a:solidFill>
                  <a:srgbClr val="FFFFFF"/>
                </a:solidFill>
              </a:rPr>
              <a:t> = -0.059  |  </a:t>
            </a:r>
            <a:r>
              <a:rPr sz="1400" i="1">
                <a:solidFill>
                  <a:srgbClr val="FFFFFF"/>
                </a:solidFill>
              </a:rPr>
              <a:t>ΔT</a:t>
            </a:r>
            <a:r>
              <a:rPr sz="1400">
                <a:solidFill>
                  <a:srgbClr val="FFFFFF"/>
                </a:solidFill>
              </a:rPr>
              <a:t> = 3.0 °C</a:t>
            </a:r>
          </a:p>
          <a:p>
            <a:pPr algn="l">
              <a:defRPr sz="1400">
                <a:solidFill>
                  <a:srgbClr val="FFFFFF"/>
                </a:solidFill>
              </a:defRPr>
            </a:pPr>
          </a:p>
          <a:p>
            <a:pPr algn="l">
              <a:defRPr sz="1400">
                <a:solidFill>
                  <a:srgbClr val="FFFFFF"/>
                </a:solidFill>
              </a:defRPr>
            </a:pPr>
            <a:r>
              <a:rPr sz="1400">
                <a:solidFill>
                  <a:srgbClr val="FFFFFF"/>
                </a:solidFill>
              </a:rPr>
              <a:t>Estos coeficientes están validados empíricamente por el Sandia National Laboratories.</a:t>
            </a:r>
          </a:p>
        </p:txBody>
      </p:sp>
      <p:sp>
        <p:nvSpPr>
          <p:cNvPr id="13" name="TextBox 12"/>
          <p:cNvSpPr txBox="1"/>
          <p:nvPr/>
        </p:nvSpPr>
        <p:spPr>
          <a:xfrm>
            <a:off x="365760" y="6492240"/>
            <a:ext cx="11460175" cy="274320"/>
          </a:xfrm>
          <a:prstGeom prst="rect">
            <a:avLst/>
          </a:prstGeom>
          <a:noFill/>
        </p:spPr>
        <p:txBody>
          <a:bodyPr wrap="none">
            <a:spAutoFit/>
          </a:bodyPr>
          <a:lstStyle/>
          <a:p>
            <a:pPr algn="r">
              <a:defRPr sz="1000">
                <a:solidFill>
                  <a:srgbClr val="787878"/>
                </a:solidFill>
              </a:defRPr>
            </a:pPr>
            <a:r>
              <a:t>ELI556 | Grupo Alta Tensión | Lámina 21/25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365760" y="365760"/>
            <a:ext cx="11460175" cy="731520"/>
          </a:xfrm>
          <a:prstGeom prst="rect">
            <a:avLst/>
          </a:prstGeom>
          <a:noFill/>
        </p:spPr>
        <p:txBody>
          <a:bodyPr wrap="square">
            <a:spAutoFit/>
          </a:bodyPr>
          <a:lstStyle/>
          <a:p>
            <a:pPr>
              <a:defRPr sz="2400">
                <a:solidFill>
                  <a:srgbClr val="E8A838"/>
                </a:solidFill>
              </a:defRPr>
            </a:pPr>
            <a:r>
              <a:rPr sz="2400" b="1">
                <a:solidFill>
                  <a:srgbClr val="E8A838"/>
                </a:solidFill>
              </a:rPr>
              <a:t>Anexo IV: Ecuaciones del Modelo Eléctrico de un Diodo (SDM)</a:t>
            </a:r>
          </a:p>
        </p:txBody>
      </p:sp>
      <p:sp>
        <p:nvSpPr>
          <p:cNvPr id="3" name="Rectangle 2"/>
          <p:cNvSpPr/>
          <p:nvPr/>
        </p:nvSpPr>
        <p:spPr>
          <a:xfrm>
            <a:off x="365760" y="1097280"/>
            <a:ext cx="11460175" cy="201168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411480"/>
          </a:xfrm>
          <a:prstGeom prst="rect">
            <a:avLst/>
          </a:prstGeom>
          <a:noFill/>
        </p:spPr>
        <p:txBody>
          <a:bodyPr wrap="none">
            <a:spAutoFit/>
          </a:bodyPr>
          <a:lstStyle/>
          <a:p>
            <a:pPr>
              <a:defRPr sz="1800">
                <a:solidFill>
                  <a:srgbClr val="E8A838"/>
                </a:solidFill>
              </a:defRPr>
            </a:pPr>
            <a:r>
              <a:rPr sz="1800" b="1">
                <a:solidFill>
                  <a:srgbClr val="E8A838"/>
                </a:solidFill>
              </a:rPr>
              <a:t>Ecuación Trascendental del Circuito Equivalente</a:t>
            </a:r>
          </a:p>
        </p:txBody>
      </p:sp>
      <p:sp>
        <p:nvSpPr>
          <p:cNvPr id="5" name="TextBox 4"/>
          <p:cNvSpPr txBox="1"/>
          <p:nvPr/>
        </p:nvSpPr>
        <p:spPr>
          <a:xfrm>
            <a:off x="548640" y="1508760"/>
            <a:ext cx="11094415" cy="320040"/>
          </a:xfrm>
          <a:prstGeom prst="rect">
            <a:avLst/>
          </a:prstGeom>
          <a:noFill/>
        </p:spPr>
        <p:txBody>
          <a:bodyPr wrap="square">
            <a:spAutoFit/>
          </a:bodyPr>
          <a:lstStyle/>
          <a:p>
            <a:pPr algn="l">
              <a:defRPr sz="1500">
                <a:solidFill>
                  <a:srgbClr val="FFFFFF"/>
                </a:solidFill>
              </a:defRPr>
            </a:pPr>
            <a:r>
              <a:rPr sz="1500">
                <a:solidFill>
                  <a:srgbClr val="FFFFFF"/>
                </a:solidFill>
              </a:rPr>
              <a:t>Ecuación implícita de corriente del modelo de diodo simple con resistencias parásitas (Rs y Rsh):</a:t>
            </a:r>
          </a:p>
        </p:txBody>
      </p:sp>
      <p:pic>
        <p:nvPicPr>
          <p:cNvPr id="6" name="Picture 5" descr="eq_0f6e22b8305268a9b05c626661276e2a.png"/>
          <p:cNvPicPr>
            <a:picLocks noChangeAspect="1"/>
          </p:cNvPicPr>
          <p:nvPr/>
        </p:nvPicPr>
        <p:blipFill>
          <a:blip r:embed="rId2"/>
          <a:stretch>
            <a:fillRect/>
          </a:stretch>
        </p:blipFill>
        <p:spPr>
          <a:xfrm>
            <a:off x="1463040" y="1965960"/>
            <a:ext cx="4259669" cy="384048"/>
          </a:xfrm>
          <a:prstGeom prst="rect">
            <a:avLst/>
          </a:prstGeom>
        </p:spPr>
      </p:pic>
      <p:sp>
        <p:nvSpPr>
          <p:cNvPr id="7" name="Rectangle 6"/>
          <p:cNvSpPr/>
          <p:nvPr/>
        </p:nvSpPr>
        <p:spPr>
          <a:xfrm>
            <a:off x="365760" y="3291840"/>
            <a:ext cx="4937760" cy="283464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3383280"/>
            <a:ext cx="4754880" cy="411480"/>
          </a:xfrm>
          <a:prstGeom prst="rect">
            <a:avLst/>
          </a:prstGeom>
          <a:noFill/>
        </p:spPr>
        <p:txBody>
          <a:bodyPr wrap="none">
            <a:spAutoFit/>
          </a:bodyPr>
          <a:lstStyle/>
          <a:p>
            <a:pPr>
              <a:defRPr sz="1800">
                <a:solidFill>
                  <a:srgbClr val="E8A838"/>
                </a:solidFill>
              </a:defRPr>
            </a:pPr>
            <a:r>
              <a:rPr sz="1800" b="1">
                <a:solidFill>
                  <a:srgbClr val="E8A838"/>
                </a:solidFill>
              </a:rPr>
              <a:t>Factor de Idealidad Térmico (a)</a:t>
            </a:r>
          </a:p>
        </p:txBody>
      </p:sp>
      <p:sp>
        <p:nvSpPr>
          <p:cNvPr id="9" name="TextBox 8"/>
          <p:cNvSpPr txBox="1"/>
          <p:nvPr/>
        </p:nvSpPr>
        <p:spPr>
          <a:xfrm>
            <a:off x="548640" y="3657600"/>
            <a:ext cx="4572000" cy="320040"/>
          </a:xfrm>
          <a:prstGeom prst="rect">
            <a:avLst/>
          </a:prstGeom>
          <a:noFill/>
        </p:spPr>
        <p:txBody>
          <a:bodyPr wrap="square">
            <a:spAutoFit/>
          </a:bodyPr>
          <a:lstStyle/>
          <a:p>
            <a:pPr algn="l">
              <a:defRPr sz="1500">
                <a:solidFill>
                  <a:srgbClr val="FFFFFF"/>
                </a:solidFill>
              </a:defRPr>
            </a:pPr>
            <a:r>
              <a:rPr sz="1500">
                <a:solidFill>
                  <a:srgbClr val="FFFFFF"/>
                </a:solidFill>
              </a:rPr>
              <a:t>El factor de idealidad térmico se define formalmente como:</a:t>
            </a:r>
          </a:p>
        </p:txBody>
      </p:sp>
      <p:pic>
        <p:nvPicPr>
          <p:cNvPr id="10" name="Picture 9" descr="eq_81b193729b5e8ca3d3141349bc52cf9d.png"/>
          <p:cNvPicPr>
            <a:picLocks noChangeAspect="1"/>
          </p:cNvPicPr>
          <p:nvPr/>
        </p:nvPicPr>
        <p:blipFill>
          <a:blip r:embed="rId3"/>
          <a:stretch>
            <a:fillRect/>
          </a:stretch>
        </p:blipFill>
        <p:spPr>
          <a:xfrm>
            <a:off x="822960" y="4160520"/>
            <a:ext cx="1762055" cy="438912"/>
          </a:xfrm>
          <a:prstGeom prst="rect">
            <a:avLst/>
          </a:prstGeom>
        </p:spPr>
      </p:pic>
      <p:sp>
        <p:nvSpPr>
          <p:cNvPr id="11" name="TextBox 10"/>
          <p:cNvSpPr txBox="1"/>
          <p:nvPr/>
        </p:nvSpPr>
        <p:spPr>
          <a:xfrm>
            <a:off x="548640" y="4800600"/>
            <a:ext cx="4572000" cy="914400"/>
          </a:xfrm>
          <a:prstGeom prst="rect">
            <a:avLst/>
          </a:prstGeom>
          <a:noFill/>
        </p:spPr>
        <p:txBody>
          <a:bodyPr wrap="square">
            <a:spAutoFit/>
          </a:bodyPr>
          <a:lstStyle/>
          <a:p>
            <a:pPr algn="l">
              <a:defRPr sz="1400">
                <a:solidFill>
                  <a:srgbClr val="E8A838"/>
                </a:solidFill>
              </a:defRPr>
            </a:pPr>
            <a:r>
              <a:rPr sz="1400">
                <a:solidFill>
                  <a:srgbClr val="E8A838"/>
                </a:solidFill>
              </a:rPr>
              <a:t>Donde:</a:t>
            </a:r>
          </a:p>
          <a:p>
            <a:pPr algn="l">
              <a:defRPr sz="1400">
                <a:solidFill>
                  <a:srgbClr val="E8A838"/>
                </a:solidFill>
              </a:defRPr>
            </a:pPr>
            <a:r>
              <a:rPr sz="1400">
                <a:solidFill>
                  <a:srgbClr val="E8A838"/>
                </a:solidFill>
              </a:rPr>
              <a:t>• </a:t>
            </a:r>
            <a:r>
              <a:rPr sz="1400" i="1">
                <a:solidFill>
                  <a:srgbClr val="E8A838"/>
                </a:solidFill>
              </a:rPr>
              <a:t>N</a:t>
            </a:r>
            <a:r>
              <a:rPr sz="1400" i="1">
                <a:solidFill>
                  <a:srgbClr val="E8A838"/>
                </a:solidFill>
              </a:rPr>
              <a:t>s</a:t>
            </a:r>
            <a:r>
              <a:rPr sz="1400">
                <a:solidFill>
                  <a:srgbClr val="E8A838"/>
                </a:solidFill>
              </a:rPr>
              <a:t>: Número de celdas en serie (m-Si: 36, HIT: 72).</a:t>
            </a:r>
          </a:p>
          <a:p>
            <a:pPr algn="l">
              <a:defRPr sz="1400">
                <a:solidFill>
                  <a:srgbClr val="E8A838"/>
                </a:solidFill>
              </a:defRPr>
            </a:pPr>
            <a:r>
              <a:rPr sz="1400">
                <a:solidFill>
                  <a:srgbClr val="E8A838"/>
                </a:solidFill>
              </a:rPr>
              <a:t>• </a:t>
            </a:r>
            <a:r>
              <a:rPr sz="1400" i="1">
                <a:solidFill>
                  <a:srgbClr val="E8A838"/>
                </a:solidFill>
              </a:rPr>
              <a:t>n</a:t>
            </a:r>
            <a:r>
              <a:rPr sz="1400" i="1">
                <a:solidFill>
                  <a:srgbClr val="E8A838"/>
                </a:solidFill>
              </a:rPr>
              <a:t>I</a:t>
            </a:r>
            <a:r>
              <a:rPr sz="1400">
                <a:solidFill>
                  <a:srgbClr val="E8A838"/>
                </a:solidFill>
              </a:rPr>
              <a:t>: Factor de idealidad del diodo (idealmente entre 1 y 2).</a:t>
            </a:r>
          </a:p>
        </p:txBody>
      </p:sp>
      <p:sp>
        <p:nvSpPr>
          <p:cNvPr id="12" name="Rectangle 11"/>
          <p:cNvSpPr/>
          <p:nvPr/>
        </p:nvSpPr>
        <p:spPr>
          <a:xfrm>
            <a:off x="5577840" y="3291840"/>
            <a:ext cx="6248095" cy="283464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0" y="3383280"/>
            <a:ext cx="6065215" cy="411480"/>
          </a:xfrm>
          <a:prstGeom prst="rect">
            <a:avLst/>
          </a:prstGeom>
          <a:noFill/>
        </p:spPr>
        <p:txBody>
          <a:bodyPr wrap="none">
            <a:spAutoFit/>
          </a:bodyPr>
          <a:lstStyle/>
          <a:p>
            <a:pPr>
              <a:defRPr sz="1800">
                <a:solidFill>
                  <a:srgbClr val="E8A838"/>
                </a:solidFill>
              </a:defRPr>
            </a:pPr>
            <a:r>
              <a:rPr sz="1800" b="1">
                <a:solidFill>
                  <a:srgbClr val="E8A838"/>
                </a:solidFill>
              </a:rPr>
              <a:t>Glosario de Parámetros Físicos</a:t>
            </a:r>
          </a:p>
        </p:txBody>
      </p:sp>
      <p:sp>
        <p:nvSpPr>
          <p:cNvPr id="14" name="TextBox 13"/>
          <p:cNvSpPr txBox="1"/>
          <p:nvPr/>
        </p:nvSpPr>
        <p:spPr>
          <a:xfrm>
            <a:off x="5760720" y="3657600"/>
            <a:ext cx="5882335" cy="2103120"/>
          </a:xfrm>
          <a:prstGeom prst="rect">
            <a:avLst/>
          </a:prstGeom>
          <a:noFill/>
        </p:spPr>
        <p:txBody>
          <a:bodyPr wrap="square">
            <a:spAutoFit/>
          </a:bodyPr>
          <a:lstStyle/>
          <a:p>
            <a:pPr algn="l">
              <a:defRPr sz="1400">
                <a:solidFill>
                  <a:srgbClr val="FFFFFF"/>
                </a:solidFill>
              </a:defRPr>
            </a:pPr>
            <a:r>
              <a:rPr sz="1400">
                <a:solidFill>
                  <a:srgbClr val="FFFFFF"/>
                </a:solidFill>
              </a:rPr>
              <a:t>• </a:t>
            </a:r>
            <a:r>
              <a:rPr sz="1400" i="1">
                <a:solidFill>
                  <a:srgbClr val="FFFFFF"/>
                </a:solidFill>
              </a:rPr>
              <a:t>I</a:t>
            </a:r>
            <a:r>
              <a:rPr sz="1400">
                <a:solidFill>
                  <a:srgbClr val="FFFFFF"/>
                </a:solidFill>
              </a:rPr>
              <a:t> / </a:t>
            </a:r>
            <a:r>
              <a:rPr sz="1400" i="1">
                <a:solidFill>
                  <a:srgbClr val="FFFFFF"/>
                </a:solidFill>
              </a:rPr>
              <a:t>V</a:t>
            </a:r>
            <a:r>
              <a:rPr sz="1400">
                <a:solidFill>
                  <a:srgbClr val="FFFFFF"/>
                </a:solidFill>
              </a:rPr>
              <a:t>: Corriente y voltaje de salida (A, V).</a:t>
            </a:r>
          </a:p>
          <a:p>
            <a:pPr algn="l">
              <a:defRPr sz="1400">
                <a:solidFill>
                  <a:srgbClr val="FFFFFF"/>
                </a:solidFill>
              </a:defRPr>
            </a:pPr>
            <a:r>
              <a:rPr sz="1400">
                <a:solidFill>
                  <a:srgbClr val="FFFFFF"/>
                </a:solidFill>
              </a:rPr>
              <a:t>• </a:t>
            </a:r>
            <a:r>
              <a:rPr sz="1400" i="1">
                <a:solidFill>
                  <a:srgbClr val="FFFFFF"/>
                </a:solidFill>
              </a:rPr>
              <a:t>I</a:t>
            </a:r>
            <a:r>
              <a:rPr sz="1400" i="1">
                <a:solidFill>
                  <a:srgbClr val="FFFFFF"/>
                </a:solidFill>
              </a:rPr>
              <a:t>L</a:t>
            </a:r>
            <a:r>
              <a:rPr sz="1400">
                <a:solidFill>
                  <a:srgbClr val="FFFFFF"/>
                </a:solidFill>
              </a:rPr>
              <a:t>: Corriente fotogenerada por el efecto fotoeléctrico (A).</a:t>
            </a:r>
          </a:p>
          <a:p>
            <a:pPr algn="l">
              <a:defRPr sz="1400">
                <a:solidFill>
                  <a:srgbClr val="FFFFFF"/>
                </a:solidFill>
              </a:defRPr>
            </a:pPr>
            <a:r>
              <a:rPr sz="1400">
                <a:solidFill>
                  <a:srgbClr val="FFFFFF"/>
                </a:solidFill>
              </a:rPr>
              <a:t>• </a:t>
            </a:r>
            <a:r>
              <a:rPr sz="1400" i="1">
                <a:solidFill>
                  <a:srgbClr val="FFFFFF"/>
                </a:solidFill>
              </a:rPr>
              <a:t>I</a:t>
            </a:r>
            <a:r>
              <a:rPr sz="1400" i="1">
                <a:solidFill>
                  <a:srgbClr val="FFFFFF"/>
                </a:solidFill>
              </a:rPr>
              <a:t>0</a:t>
            </a:r>
            <a:r>
              <a:rPr sz="1400">
                <a:solidFill>
                  <a:srgbClr val="FFFFFF"/>
                </a:solidFill>
              </a:rPr>
              <a:t>: Corriente de saturación inversa de la unión P-N (A).</a:t>
            </a:r>
          </a:p>
          <a:p>
            <a:pPr algn="l">
              <a:defRPr sz="1400">
                <a:solidFill>
                  <a:srgbClr val="FFFFFF"/>
                </a:solidFill>
              </a:defRPr>
            </a:pPr>
            <a:r>
              <a:rPr sz="1400">
                <a:solidFill>
                  <a:srgbClr val="FFFFFF"/>
                </a:solidFill>
              </a:rPr>
              <a:t>• </a:t>
            </a:r>
            <a:r>
              <a:rPr sz="1400" i="1">
                <a:solidFill>
                  <a:srgbClr val="FFFFFF"/>
                </a:solidFill>
              </a:rPr>
              <a:t>R</a:t>
            </a:r>
            <a:r>
              <a:rPr sz="1400" i="1">
                <a:solidFill>
                  <a:srgbClr val="FFFFFF"/>
                </a:solidFill>
              </a:rPr>
              <a:t>s</a:t>
            </a:r>
            <a:r>
              <a:rPr sz="1400">
                <a:solidFill>
                  <a:srgbClr val="FFFFFF"/>
                </a:solidFill>
              </a:rPr>
              <a:t> / </a:t>
            </a:r>
            <a:r>
              <a:rPr sz="1400" i="1">
                <a:solidFill>
                  <a:srgbClr val="FFFFFF"/>
                </a:solidFill>
              </a:rPr>
              <a:t>R</a:t>
            </a:r>
            <a:r>
              <a:rPr sz="1400" i="1">
                <a:solidFill>
                  <a:srgbClr val="FFFFFF"/>
                </a:solidFill>
              </a:rPr>
              <a:t>sh</a:t>
            </a:r>
            <a:r>
              <a:rPr sz="1400">
                <a:solidFill>
                  <a:srgbClr val="FFFFFF"/>
                </a:solidFill>
              </a:rPr>
              <a:t>: Resistencias parásitas en serie y paralelo (shunt) (Ω).</a:t>
            </a:r>
          </a:p>
          <a:p>
            <a:pPr algn="l">
              <a:defRPr sz="1400">
                <a:solidFill>
                  <a:srgbClr val="FFFFFF"/>
                </a:solidFill>
              </a:defRPr>
            </a:pPr>
            <a:r>
              <a:rPr sz="1400">
                <a:solidFill>
                  <a:srgbClr val="FFFFFF"/>
                </a:solidFill>
              </a:rPr>
              <a:t>• </a:t>
            </a:r>
            <a:r>
              <a:rPr sz="1400" i="1">
                <a:solidFill>
                  <a:srgbClr val="FFFFFF"/>
                </a:solidFill>
              </a:rPr>
              <a:t>k</a:t>
            </a:r>
            <a:r>
              <a:rPr sz="1400">
                <a:solidFill>
                  <a:srgbClr val="FFFFFF"/>
                </a:solidFill>
              </a:rPr>
              <a:t> / </a:t>
            </a:r>
            <a:r>
              <a:rPr sz="1400" i="1">
                <a:solidFill>
                  <a:srgbClr val="FFFFFF"/>
                </a:solidFill>
              </a:rPr>
              <a:t>q</a:t>
            </a:r>
            <a:r>
              <a:rPr sz="1400">
                <a:solidFill>
                  <a:srgbClr val="FFFFFF"/>
                </a:solidFill>
              </a:rPr>
              <a:t> / </a:t>
            </a:r>
            <a:r>
              <a:rPr sz="1400" i="1">
                <a:solidFill>
                  <a:srgbClr val="FFFFFF"/>
                </a:solidFill>
              </a:rPr>
              <a:t>T</a:t>
            </a:r>
            <a:r>
              <a:rPr sz="1400" i="1">
                <a:solidFill>
                  <a:srgbClr val="FFFFFF"/>
                </a:solidFill>
              </a:rPr>
              <a:t>c</a:t>
            </a:r>
            <a:r>
              <a:rPr sz="1400">
                <a:solidFill>
                  <a:srgbClr val="FFFFFF"/>
                </a:solidFill>
              </a:rPr>
              <a:t>: Constante de Boltzmann, carga elemental y temperatura de celda (K).</a:t>
            </a:r>
          </a:p>
        </p:txBody>
      </p:sp>
      <p:sp>
        <p:nvSpPr>
          <p:cNvPr id="15" name="TextBox 14"/>
          <p:cNvSpPr txBox="1"/>
          <p:nvPr/>
        </p:nvSpPr>
        <p:spPr>
          <a:xfrm>
            <a:off x="365760" y="6492240"/>
            <a:ext cx="11460175" cy="274320"/>
          </a:xfrm>
          <a:prstGeom prst="rect">
            <a:avLst/>
          </a:prstGeom>
          <a:noFill/>
        </p:spPr>
        <p:txBody>
          <a:bodyPr wrap="none">
            <a:spAutoFit/>
          </a:bodyPr>
          <a:lstStyle/>
          <a:p>
            <a:pPr algn="r">
              <a:defRPr sz="1000">
                <a:solidFill>
                  <a:srgbClr val="787878"/>
                </a:solidFill>
              </a:defRPr>
            </a:pPr>
            <a:r>
              <a:t>ELI556 | Grupo Alta Tensión | Lámina 22/25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365760" y="365760"/>
            <a:ext cx="11460175" cy="731520"/>
          </a:xfrm>
          <a:prstGeom prst="rect">
            <a:avLst/>
          </a:prstGeom>
          <a:noFill/>
        </p:spPr>
        <p:txBody>
          <a:bodyPr wrap="square">
            <a:spAutoFit/>
          </a:bodyPr>
          <a:lstStyle/>
          <a:p>
            <a:pPr>
              <a:defRPr sz="2400">
                <a:solidFill>
                  <a:srgbClr val="E8A838"/>
                </a:solidFill>
              </a:defRPr>
            </a:pPr>
            <a:r>
              <a:rPr sz="2400" b="1">
                <a:solidFill>
                  <a:srgbClr val="E8A838"/>
                </a:solidFill>
              </a:rPr>
              <a:t>Anexo V: Ecuaciones de Extracción en STC y Derivada Analítica</a:t>
            </a:r>
          </a:p>
        </p:txBody>
      </p:sp>
      <p:sp>
        <p:nvSpPr>
          <p:cNvPr id="3" name="Rectangle 2"/>
          <p:cNvSpPr/>
          <p:nvPr/>
        </p:nvSpPr>
        <p:spPr>
          <a:xfrm>
            <a:off x="365760" y="1097280"/>
            <a:ext cx="4572000"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4389120" cy="411480"/>
          </a:xfrm>
          <a:prstGeom prst="rect">
            <a:avLst/>
          </a:prstGeom>
          <a:noFill/>
        </p:spPr>
        <p:txBody>
          <a:bodyPr wrap="none">
            <a:spAutoFit/>
          </a:bodyPr>
          <a:lstStyle/>
          <a:p>
            <a:pPr>
              <a:defRPr sz="1800">
                <a:solidFill>
                  <a:srgbClr val="E8A838"/>
                </a:solidFill>
              </a:defRPr>
            </a:pPr>
            <a:r>
              <a:rPr sz="1800" b="1">
                <a:solidFill>
                  <a:srgbClr val="E8A838"/>
                </a:solidFill>
              </a:rPr>
              <a:t>Ajuste en STC</a:t>
            </a:r>
          </a:p>
        </p:txBody>
      </p:sp>
      <p:sp>
        <p:nvSpPr>
          <p:cNvPr id="5" name="TextBox 4"/>
          <p:cNvSpPr txBox="1"/>
          <p:nvPr/>
        </p:nvSpPr>
        <p:spPr>
          <a:xfrm>
            <a:off x="548640" y="1554480"/>
            <a:ext cx="4206240" cy="1463040"/>
          </a:xfrm>
          <a:prstGeom prst="rect">
            <a:avLst/>
          </a:prstGeom>
          <a:noFill/>
        </p:spPr>
        <p:txBody>
          <a:bodyPr wrap="square">
            <a:spAutoFit/>
          </a:bodyPr>
          <a:lstStyle/>
          <a:p>
            <a:pPr algn="l">
              <a:defRPr sz="1500">
                <a:solidFill>
                  <a:srgbClr val="FFFFFF"/>
                </a:solidFill>
              </a:defRPr>
            </a:pPr>
            <a:r>
              <a:rPr sz="1500">
                <a:solidFill>
                  <a:srgbClr val="FFFFFF"/>
                </a:solidFill>
              </a:rPr>
              <a:t>Condiciones que determinan los 5 parámetros de referencia en STC (1000 W/m², 25°C):</a:t>
            </a:r>
          </a:p>
          <a:p>
            <a:pPr algn="l">
              <a:defRPr sz="1500">
                <a:solidFill>
                  <a:srgbClr val="FFFFFF"/>
                </a:solidFill>
              </a:defRPr>
            </a:pPr>
          </a:p>
          <a:p>
            <a:pPr algn="l">
              <a:defRPr sz="1500">
                <a:solidFill>
                  <a:srgbClr val="FFFFFF"/>
                </a:solidFill>
              </a:defRPr>
            </a:pPr>
            <a:r>
              <a:rPr sz="1500">
                <a:solidFill>
                  <a:srgbClr val="FFFFFF"/>
                </a:solidFill>
              </a:rPr>
              <a:t>1. Cortocircuito: </a:t>
            </a:r>
            <a:r>
              <a:rPr sz="1500" i="1">
                <a:solidFill>
                  <a:srgbClr val="FFFFFF"/>
                </a:solidFill>
              </a:rPr>
              <a:t>V</a:t>
            </a:r>
            <a:r>
              <a:rPr sz="1500">
                <a:solidFill>
                  <a:srgbClr val="FFFFFF"/>
                </a:solidFill>
              </a:rPr>
              <a:t> = 0, </a:t>
            </a:r>
            <a:r>
              <a:rPr sz="1500" i="1">
                <a:solidFill>
                  <a:srgbClr val="FFFFFF"/>
                </a:solidFill>
              </a:rPr>
              <a:t>I</a:t>
            </a:r>
            <a:r>
              <a:rPr sz="1500">
                <a:solidFill>
                  <a:srgbClr val="FFFFFF"/>
                </a:solidFill>
              </a:rPr>
              <a:t> = </a:t>
            </a:r>
            <a:r>
              <a:rPr sz="1500" i="1">
                <a:solidFill>
                  <a:srgbClr val="FFFFFF"/>
                </a:solidFill>
              </a:rPr>
              <a:t>I</a:t>
            </a:r>
            <a:r>
              <a:rPr sz="1500" i="1">
                <a:solidFill>
                  <a:srgbClr val="FFFFFF"/>
                </a:solidFill>
              </a:rPr>
              <a:t>sc,ref</a:t>
            </a:r>
          </a:p>
          <a:p>
            <a:pPr algn="l">
              <a:defRPr sz="1500">
                <a:solidFill>
                  <a:srgbClr val="FFFFFF"/>
                </a:solidFill>
              </a:defRPr>
            </a:pPr>
            <a:r>
              <a:rPr sz="1500">
                <a:solidFill>
                  <a:srgbClr val="FFFFFF"/>
                </a:solidFill>
              </a:rPr>
              <a:t>2. Circuito Abierto: </a:t>
            </a:r>
            <a:r>
              <a:rPr sz="1500" i="1">
                <a:solidFill>
                  <a:srgbClr val="FFFFFF"/>
                </a:solidFill>
              </a:rPr>
              <a:t>I</a:t>
            </a:r>
            <a:r>
              <a:rPr sz="1500">
                <a:solidFill>
                  <a:srgbClr val="FFFFFF"/>
                </a:solidFill>
              </a:rPr>
              <a:t> = 0, </a:t>
            </a:r>
            <a:r>
              <a:rPr sz="1500" i="1">
                <a:solidFill>
                  <a:srgbClr val="FFFFFF"/>
                </a:solidFill>
              </a:rPr>
              <a:t>V</a:t>
            </a:r>
            <a:r>
              <a:rPr sz="1500">
                <a:solidFill>
                  <a:srgbClr val="FFFFFF"/>
                </a:solidFill>
              </a:rPr>
              <a:t> = </a:t>
            </a:r>
            <a:r>
              <a:rPr sz="1500" i="1">
                <a:solidFill>
                  <a:srgbClr val="FFFFFF"/>
                </a:solidFill>
              </a:rPr>
              <a:t>V</a:t>
            </a:r>
            <a:r>
              <a:rPr sz="1500" i="1">
                <a:solidFill>
                  <a:srgbClr val="FFFFFF"/>
                </a:solidFill>
              </a:rPr>
              <a:t>oc,ref</a:t>
            </a:r>
          </a:p>
          <a:p>
            <a:pPr algn="l">
              <a:defRPr sz="1500">
                <a:solidFill>
                  <a:srgbClr val="FFFFFF"/>
                </a:solidFill>
              </a:defRPr>
            </a:pPr>
            <a:r>
              <a:rPr sz="1500">
                <a:solidFill>
                  <a:srgbClr val="FFFFFF"/>
                </a:solidFill>
              </a:rPr>
              <a:t>3. Máxima Potencia: </a:t>
            </a:r>
            <a:r>
              <a:rPr sz="1500" i="1">
                <a:solidFill>
                  <a:srgbClr val="FFFFFF"/>
                </a:solidFill>
              </a:rPr>
              <a:t>I</a:t>
            </a:r>
            <a:r>
              <a:rPr sz="1500">
                <a:solidFill>
                  <a:srgbClr val="FFFFFF"/>
                </a:solidFill>
              </a:rPr>
              <a:t> = </a:t>
            </a:r>
            <a:r>
              <a:rPr sz="1500" i="1">
                <a:solidFill>
                  <a:srgbClr val="FFFFFF"/>
                </a:solidFill>
              </a:rPr>
              <a:t>I</a:t>
            </a:r>
            <a:r>
              <a:rPr sz="1500" i="1">
                <a:solidFill>
                  <a:srgbClr val="FFFFFF"/>
                </a:solidFill>
              </a:rPr>
              <a:t>mp,ref</a:t>
            </a:r>
            <a:r>
              <a:rPr sz="1500">
                <a:solidFill>
                  <a:srgbClr val="FFFFFF"/>
                </a:solidFill>
              </a:rPr>
              <a:t>, </a:t>
            </a:r>
            <a:r>
              <a:rPr sz="1500" i="1">
                <a:solidFill>
                  <a:srgbClr val="FFFFFF"/>
                </a:solidFill>
              </a:rPr>
              <a:t>V</a:t>
            </a:r>
            <a:r>
              <a:rPr sz="1500">
                <a:solidFill>
                  <a:srgbClr val="FFFFFF"/>
                </a:solidFill>
              </a:rPr>
              <a:t> = </a:t>
            </a:r>
            <a:r>
              <a:rPr sz="1500" i="1">
                <a:solidFill>
                  <a:srgbClr val="FFFFFF"/>
                </a:solidFill>
              </a:rPr>
              <a:t>V</a:t>
            </a:r>
            <a:r>
              <a:rPr sz="1500" i="1">
                <a:solidFill>
                  <a:srgbClr val="FFFFFF"/>
                </a:solidFill>
              </a:rPr>
              <a:t>mp,ref</a:t>
            </a:r>
          </a:p>
          <a:p>
            <a:pPr algn="l">
              <a:defRPr sz="1500">
                <a:solidFill>
                  <a:srgbClr val="FFFFFF"/>
                </a:solidFill>
              </a:defRPr>
            </a:pPr>
            <a:r>
              <a:rPr sz="1500">
                <a:solidFill>
                  <a:srgbClr val="FFFFFF"/>
                </a:solidFill>
              </a:rPr>
              <a:t>4. Derivada de Potencia en MPP (d</a:t>
            </a:r>
            <a:r>
              <a:rPr sz="1500" i="1">
                <a:solidFill>
                  <a:srgbClr val="FFFFFF"/>
                </a:solidFill>
              </a:rPr>
              <a:t>P</a:t>
            </a:r>
            <a:r>
              <a:rPr sz="1500">
                <a:solidFill>
                  <a:srgbClr val="FFFFFF"/>
                </a:solidFill>
              </a:rPr>
              <a:t>/d</a:t>
            </a:r>
            <a:r>
              <a:rPr sz="1500" i="1">
                <a:solidFill>
                  <a:srgbClr val="FFFFFF"/>
                </a:solidFill>
              </a:rPr>
              <a:t>V</a:t>
            </a:r>
            <a:r>
              <a:rPr sz="1500">
                <a:solidFill>
                  <a:srgbClr val="FFFFFF"/>
                </a:solidFill>
              </a:rPr>
              <a:t> = 0):</a:t>
            </a:r>
          </a:p>
        </p:txBody>
      </p:sp>
      <p:pic>
        <p:nvPicPr>
          <p:cNvPr id="6" name="Picture 5" descr="eq_cc2b86fbacba503d5f0c9a0e295f4a34.png"/>
          <p:cNvPicPr>
            <a:picLocks noChangeAspect="1"/>
          </p:cNvPicPr>
          <p:nvPr/>
        </p:nvPicPr>
        <p:blipFill>
          <a:blip r:embed="rId2"/>
          <a:stretch>
            <a:fillRect/>
          </a:stretch>
        </p:blipFill>
        <p:spPr>
          <a:xfrm>
            <a:off x="548640" y="3108960"/>
            <a:ext cx="2173560" cy="594360"/>
          </a:xfrm>
          <a:prstGeom prst="rect">
            <a:avLst/>
          </a:prstGeom>
        </p:spPr>
      </p:pic>
      <p:sp>
        <p:nvSpPr>
          <p:cNvPr id="7" name="TextBox 6"/>
          <p:cNvSpPr txBox="1"/>
          <p:nvPr/>
        </p:nvSpPr>
        <p:spPr>
          <a:xfrm>
            <a:off x="548640" y="3886200"/>
            <a:ext cx="4206240" cy="320040"/>
          </a:xfrm>
          <a:prstGeom prst="rect">
            <a:avLst/>
          </a:prstGeom>
          <a:noFill/>
        </p:spPr>
        <p:txBody>
          <a:bodyPr wrap="square">
            <a:spAutoFit/>
          </a:bodyPr>
          <a:lstStyle/>
          <a:p>
            <a:pPr algn="l">
              <a:defRPr sz="1500">
                <a:solidFill>
                  <a:srgbClr val="FFFFFF"/>
                </a:solidFill>
              </a:defRPr>
            </a:pPr>
            <a:r>
              <a:rPr sz="1500">
                <a:solidFill>
                  <a:srgbClr val="FFFFFF"/>
                </a:solidFill>
              </a:rPr>
              <a:t>5. Coeficiente térmico experimental de </a:t>
            </a:r>
            <a:r>
              <a:rPr sz="1500" i="1">
                <a:solidFill>
                  <a:srgbClr val="FFFFFF"/>
                </a:solidFill>
              </a:rPr>
              <a:t>V</a:t>
            </a:r>
            <a:r>
              <a:rPr sz="1500" i="1">
                <a:solidFill>
                  <a:srgbClr val="FFFFFF"/>
                </a:solidFill>
              </a:rPr>
              <a:t>oc</a:t>
            </a:r>
            <a:r>
              <a:rPr sz="1500">
                <a:solidFill>
                  <a:srgbClr val="FFFFFF"/>
                </a:solidFill>
              </a:rPr>
              <a:t>:</a:t>
            </a:r>
          </a:p>
        </p:txBody>
      </p:sp>
      <p:pic>
        <p:nvPicPr>
          <p:cNvPr id="8" name="Picture 7" descr="eq_f96c26b5e5df4b01883ec3fa71a97116.png"/>
          <p:cNvPicPr>
            <a:picLocks noChangeAspect="1"/>
          </p:cNvPicPr>
          <p:nvPr/>
        </p:nvPicPr>
        <p:blipFill>
          <a:blip r:embed="rId3"/>
          <a:stretch>
            <a:fillRect/>
          </a:stretch>
        </p:blipFill>
        <p:spPr>
          <a:xfrm>
            <a:off x="548640" y="4297680"/>
            <a:ext cx="1579746" cy="594360"/>
          </a:xfrm>
          <a:prstGeom prst="rect">
            <a:avLst/>
          </a:prstGeom>
        </p:spPr>
      </p:pic>
      <p:sp>
        <p:nvSpPr>
          <p:cNvPr id="9" name="Rectangle 8"/>
          <p:cNvSpPr/>
          <p:nvPr/>
        </p:nvSpPr>
        <p:spPr>
          <a:xfrm>
            <a:off x="5212080" y="1097280"/>
            <a:ext cx="6613855"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1188720"/>
            <a:ext cx="6430975" cy="411480"/>
          </a:xfrm>
          <a:prstGeom prst="rect">
            <a:avLst/>
          </a:prstGeom>
          <a:noFill/>
        </p:spPr>
        <p:txBody>
          <a:bodyPr wrap="none">
            <a:spAutoFit/>
          </a:bodyPr>
          <a:lstStyle/>
          <a:p>
            <a:pPr>
              <a:defRPr sz="1800">
                <a:solidFill>
                  <a:srgbClr val="E8A838"/>
                </a:solidFill>
              </a:defRPr>
            </a:pPr>
            <a:r>
              <a:rPr sz="1800" b="1">
                <a:solidFill>
                  <a:srgbClr val="E8A838"/>
                </a:solidFill>
              </a:rPr>
              <a:t>Derivada Analítica Completa en MPP</a:t>
            </a:r>
          </a:p>
        </p:txBody>
      </p:sp>
      <p:sp>
        <p:nvSpPr>
          <p:cNvPr id="11" name="TextBox 10"/>
          <p:cNvSpPr txBox="1"/>
          <p:nvPr/>
        </p:nvSpPr>
        <p:spPr>
          <a:xfrm>
            <a:off x="5394960" y="1554480"/>
            <a:ext cx="6248095" cy="548640"/>
          </a:xfrm>
          <a:prstGeom prst="rect">
            <a:avLst/>
          </a:prstGeom>
          <a:noFill/>
        </p:spPr>
        <p:txBody>
          <a:bodyPr wrap="square">
            <a:spAutoFit/>
          </a:bodyPr>
          <a:lstStyle/>
          <a:p>
            <a:pPr algn="l">
              <a:defRPr sz="1500">
                <a:solidFill>
                  <a:srgbClr val="FFFFFF"/>
                </a:solidFill>
              </a:defRPr>
            </a:pPr>
            <a:r>
              <a:rPr sz="1500">
                <a:solidFill>
                  <a:srgbClr val="FFFFFF"/>
                </a:solidFill>
              </a:rPr>
              <a:t>Para la optimización, se derivó analíticamente la ecuación implícita en la zona del MPP:</a:t>
            </a:r>
          </a:p>
        </p:txBody>
      </p:sp>
      <p:pic>
        <p:nvPicPr>
          <p:cNvPr id="12" name="Picture 11" descr="eq_a76554b1ee03916d0fb4d4b17eb59988.png"/>
          <p:cNvPicPr>
            <a:picLocks noChangeAspect="1"/>
          </p:cNvPicPr>
          <p:nvPr/>
        </p:nvPicPr>
        <p:blipFill>
          <a:blip r:embed="rId4"/>
          <a:stretch>
            <a:fillRect/>
          </a:stretch>
        </p:blipFill>
        <p:spPr>
          <a:xfrm>
            <a:off x="5394960" y="2194560"/>
            <a:ext cx="4002528" cy="621792"/>
          </a:xfrm>
          <a:prstGeom prst="rect">
            <a:avLst/>
          </a:prstGeom>
        </p:spPr>
      </p:pic>
      <p:sp>
        <p:nvSpPr>
          <p:cNvPr id="13" name="TextBox 12"/>
          <p:cNvSpPr txBox="1"/>
          <p:nvPr/>
        </p:nvSpPr>
        <p:spPr>
          <a:xfrm>
            <a:off x="5394960" y="2971800"/>
            <a:ext cx="6248095" cy="320040"/>
          </a:xfrm>
          <a:prstGeom prst="rect">
            <a:avLst/>
          </a:prstGeom>
          <a:noFill/>
        </p:spPr>
        <p:txBody>
          <a:bodyPr wrap="square">
            <a:spAutoFit/>
          </a:bodyPr>
          <a:lstStyle/>
          <a:p>
            <a:pPr algn="l">
              <a:defRPr sz="1500">
                <a:solidFill>
                  <a:srgbClr val="FFFFFF"/>
                </a:solidFill>
              </a:defRPr>
            </a:pPr>
            <a:r>
              <a:rPr sz="1500">
                <a:solidFill>
                  <a:srgbClr val="FFFFFF"/>
                </a:solidFill>
              </a:rPr>
              <a:t>Donde los coeficientes internos del diodo se definen como:</a:t>
            </a:r>
          </a:p>
        </p:txBody>
      </p:sp>
      <p:pic>
        <p:nvPicPr>
          <p:cNvPr id="14" name="Picture 13" descr="eq_d3cc56a0e87a29528d48690a85598da7.png"/>
          <p:cNvPicPr>
            <a:picLocks noChangeAspect="1"/>
          </p:cNvPicPr>
          <p:nvPr/>
        </p:nvPicPr>
        <p:blipFill>
          <a:blip r:embed="rId5"/>
          <a:stretch>
            <a:fillRect/>
          </a:stretch>
        </p:blipFill>
        <p:spPr>
          <a:xfrm>
            <a:off x="5394960" y="3383280"/>
            <a:ext cx="2413292" cy="502920"/>
          </a:xfrm>
          <a:prstGeom prst="rect">
            <a:avLst/>
          </a:prstGeom>
        </p:spPr>
      </p:pic>
      <p:pic>
        <p:nvPicPr>
          <p:cNvPr id="15" name="Picture 14" descr="eq_383431ee7cb363d006acacfdbffa99d2.png"/>
          <p:cNvPicPr>
            <a:picLocks noChangeAspect="1"/>
          </p:cNvPicPr>
          <p:nvPr/>
        </p:nvPicPr>
        <p:blipFill>
          <a:blip r:embed="rId6"/>
          <a:stretch>
            <a:fillRect/>
          </a:stretch>
        </p:blipFill>
        <p:spPr>
          <a:xfrm>
            <a:off x="5394960" y="3977639"/>
            <a:ext cx="867047" cy="411480"/>
          </a:xfrm>
          <a:prstGeom prst="rect">
            <a:avLst/>
          </a:prstGeom>
        </p:spPr>
      </p:pic>
      <p:sp>
        <p:nvSpPr>
          <p:cNvPr id="16" name="TextBox 15"/>
          <p:cNvSpPr txBox="1"/>
          <p:nvPr/>
        </p:nvSpPr>
        <p:spPr>
          <a:xfrm>
            <a:off x="365760" y="6492240"/>
            <a:ext cx="11460175" cy="274320"/>
          </a:xfrm>
          <a:prstGeom prst="rect">
            <a:avLst/>
          </a:prstGeom>
          <a:noFill/>
        </p:spPr>
        <p:txBody>
          <a:bodyPr wrap="none">
            <a:spAutoFit/>
          </a:bodyPr>
          <a:lstStyle/>
          <a:p>
            <a:pPr algn="r">
              <a:defRPr sz="1000">
                <a:solidFill>
                  <a:srgbClr val="787878"/>
                </a:solidFill>
              </a:defRPr>
            </a:pPr>
            <a:r>
              <a:t>ELI556 | Grupo Alta Tensión | Lámina 23/25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365760" y="365760"/>
            <a:ext cx="11460175" cy="731520"/>
          </a:xfrm>
          <a:prstGeom prst="rect">
            <a:avLst/>
          </a:prstGeom>
          <a:noFill/>
        </p:spPr>
        <p:txBody>
          <a:bodyPr wrap="square">
            <a:spAutoFit/>
          </a:bodyPr>
          <a:lstStyle/>
          <a:p>
            <a:pPr>
              <a:defRPr sz="2400">
                <a:solidFill>
                  <a:srgbClr val="E8A838"/>
                </a:solidFill>
              </a:defRPr>
            </a:pPr>
            <a:r>
              <a:rPr sz="2400" b="1">
                <a:solidFill>
                  <a:srgbClr val="E8A838"/>
                </a:solidFill>
              </a:rPr>
              <a:t>Anexo VI: Ecuaciones de Escalamiento a Condiciones de Operación</a:t>
            </a:r>
          </a:p>
        </p:txBody>
      </p:sp>
      <p:sp>
        <p:nvSpPr>
          <p:cNvPr id="3" name="Rectangle 2"/>
          <p:cNvSpPr/>
          <p:nvPr/>
        </p:nvSpPr>
        <p:spPr>
          <a:xfrm>
            <a:off x="365760" y="1097280"/>
            <a:ext cx="5592927"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5410047" cy="411480"/>
          </a:xfrm>
          <a:prstGeom prst="rect">
            <a:avLst/>
          </a:prstGeom>
          <a:noFill/>
        </p:spPr>
        <p:txBody>
          <a:bodyPr wrap="none">
            <a:spAutoFit/>
          </a:bodyPr>
          <a:lstStyle/>
          <a:p>
            <a:pPr>
              <a:defRPr sz="1800">
                <a:solidFill>
                  <a:srgbClr val="E8A838"/>
                </a:solidFill>
              </a:defRPr>
            </a:pPr>
            <a:r>
              <a:rPr sz="1800" b="1">
                <a:solidFill>
                  <a:srgbClr val="E8A838"/>
                </a:solidFill>
              </a:rPr>
              <a:t>Corrientes y Factor de Idealidad</a:t>
            </a:r>
          </a:p>
        </p:txBody>
      </p:sp>
      <p:sp>
        <p:nvSpPr>
          <p:cNvPr id="5" name="TextBox 4"/>
          <p:cNvSpPr txBox="1"/>
          <p:nvPr/>
        </p:nvSpPr>
        <p:spPr>
          <a:xfrm>
            <a:off x="548640" y="1554480"/>
            <a:ext cx="5227167" cy="274320"/>
          </a:xfrm>
          <a:prstGeom prst="rect">
            <a:avLst/>
          </a:prstGeom>
          <a:noFill/>
        </p:spPr>
        <p:txBody>
          <a:bodyPr wrap="square">
            <a:spAutoFit/>
          </a:bodyPr>
          <a:lstStyle/>
          <a:p>
            <a:pPr algn="l">
              <a:defRPr sz="1500">
                <a:solidFill>
                  <a:srgbClr val="FFFFFF"/>
                </a:solidFill>
              </a:defRPr>
            </a:pPr>
            <a:r>
              <a:rPr sz="1500">
                <a:solidFill>
                  <a:srgbClr val="FFFFFF"/>
                </a:solidFill>
              </a:rPr>
              <a:t>1. Corriente Fotogenerada (</a:t>
            </a:r>
            <a:r>
              <a:rPr sz="1500" i="1">
                <a:solidFill>
                  <a:srgbClr val="FFFFFF"/>
                </a:solidFill>
              </a:rPr>
              <a:t>I</a:t>
            </a:r>
            <a:r>
              <a:rPr sz="1500" i="1">
                <a:solidFill>
                  <a:srgbClr val="FFFFFF"/>
                </a:solidFill>
              </a:rPr>
              <a:t>L</a:t>
            </a:r>
            <a:r>
              <a:rPr sz="1500">
                <a:solidFill>
                  <a:srgbClr val="FFFFFF"/>
                </a:solidFill>
              </a:rPr>
              <a:t>):</a:t>
            </a:r>
          </a:p>
        </p:txBody>
      </p:sp>
      <p:pic>
        <p:nvPicPr>
          <p:cNvPr id="6" name="Picture 5" descr="eq_ff8bf6d291204b91b8f99a74fbb13960.png"/>
          <p:cNvPicPr>
            <a:picLocks noChangeAspect="1"/>
          </p:cNvPicPr>
          <p:nvPr/>
        </p:nvPicPr>
        <p:blipFill>
          <a:blip r:embed="rId2"/>
          <a:stretch>
            <a:fillRect/>
          </a:stretch>
        </p:blipFill>
        <p:spPr>
          <a:xfrm>
            <a:off x="640080" y="1874519"/>
            <a:ext cx="5029200" cy="410163"/>
          </a:xfrm>
          <a:prstGeom prst="rect">
            <a:avLst/>
          </a:prstGeom>
        </p:spPr>
      </p:pic>
      <p:sp>
        <p:nvSpPr>
          <p:cNvPr id="7" name="TextBox 6"/>
          <p:cNvSpPr txBox="1"/>
          <p:nvPr/>
        </p:nvSpPr>
        <p:spPr>
          <a:xfrm>
            <a:off x="548640" y="2514600"/>
            <a:ext cx="5227167" cy="274320"/>
          </a:xfrm>
          <a:prstGeom prst="rect">
            <a:avLst/>
          </a:prstGeom>
          <a:noFill/>
        </p:spPr>
        <p:txBody>
          <a:bodyPr wrap="square">
            <a:spAutoFit/>
          </a:bodyPr>
          <a:lstStyle/>
          <a:p>
            <a:pPr algn="l">
              <a:defRPr sz="1500">
                <a:solidFill>
                  <a:srgbClr val="FFFFFF"/>
                </a:solidFill>
              </a:defRPr>
            </a:pPr>
            <a:r>
              <a:rPr sz="1500">
                <a:solidFill>
                  <a:srgbClr val="FFFFFF"/>
                </a:solidFill>
              </a:rPr>
              <a:t>2. Corriente de Saturación Inversa (</a:t>
            </a:r>
            <a:r>
              <a:rPr sz="1500" i="1">
                <a:solidFill>
                  <a:srgbClr val="FFFFFF"/>
                </a:solidFill>
              </a:rPr>
              <a:t>I</a:t>
            </a:r>
            <a:r>
              <a:rPr sz="1500" i="1">
                <a:solidFill>
                  <a:srgbClr val="FFFFFF"/>
                </a:solidFill>
              </a:rPr>
              <a:t>0</a:t>
            </a:r>
            <a:r>
              <a:rPr sz="1500">
                <a:solidFill>
                  <a:srgbClr val="FFFFFF"/>
                </a:solidFill>
              </a:rPr>
              <a:t>):</a:t>
            </a:r>
          </a:p>
        </p:txBody>
      </p:sp>
      <p:pic>
        <p:nvPicPr>
          <p:cNvPr id="8" name="Picture 7" descr="eq_147b7f3a535fae0ea51286e3e32c141f.png"/>
          <p:cNvPicPr>
            <a:picLocks noChangeAspect="1"/>
          </p:cNvPicPr>
          <p:nvPr/>
        </p:nvPicPr>
        <p:blipFill>
          <a:blip r:embed="rId3"/>
          <a:stretch>
            <a:fillRect/>
          </a:stretch>
        </p:blipFill>
        <p:spPr>
          <a:xfrm>
            <a:off x="640080" y="2834640"/>
            <a:ext cx="4083403" cy="530352"/>
          </a:xfrm>
          <a:prstGeom prst="rect">
            <a:avLst/>
          </a:prstGeom>
        </p:spPr>
      </p:pic>
      <p:sp>
        <p:nvSpPr>
          <p:cNvPr id="9" name="TextBox 8"/>
          <p:cNvSpPr txBox="1"/>
          <p:nvPr/>
        </p:nvSpPr>
        <p:spPr>
          <a:xfrm>
            <a:off x="548640" y="3520440"/>
            <a:ext cx="5227167" cy="274320"/>
          </a:xfrm>
          <a:prstGeom prst="rect">
            <a:avLst/>
          </a:prstGeom>
          <a:noFill/>
        </p:spPr>
        <p:txBody>
          <a:bodyPr wrap="square">
            <a:spAutoFit/>
          </a:bodyPr>
          <a:lstStyle/>
          <a:p>
            <a:pPr algn="l">
              <a:defRPr sz="1500">
                <a:solidFill>
                  <a:srgbClr val="FFFFFF"/>
                </a:solidFill>
              </a:defRPr>
            </a:pPr>
            <a:r>
              <a:rPr sz="1500">
                <a:solidFill>
                  <a:srgbClr val="FFFFFF"/>
                </a:solidFill>
              </a:rPr>
              <a:t>3. Factor de Idealidad térmico (</a:t>
            </a:r>
            <a:r>
              <a:rPr sz="1500" i="1">
                <a:solidFill>
                  <a:srgbClr val="FFFFFF"/>
                </a:solidFill>
              </a:rPr>
              <a:t>a</a:t>
            </a:r>
            <a:r>
              <a:rPr sz="1500">
                <a:solidFill>
                  <a:srgbClr val="FFFFFF"/>
                </a:solidFill>
              </a:rPr>
              <a:t>):</a:t>
            </a:r>
          </a:p>
        </p:txBody>
      </p:sp>
      <p:pic>
        <p:nvPicPr>
          <p:cNvPr id="10" name="Picture 9" descr="eq_4d3e1415cb08b8bc20f12f74abe8552d.png"/>
          <p:cNvPicPr>
            <a:picLocks noChangeAspect="1"/>
          </p:cNvPicPr>
          <p:nvPr/>
        </p:nvPicPr>
        <p:blipFill>
          <a:blip r:embed="rId4"/>
          <a:stretch>
            <a:fillRect/>
          </a:stretch>
        </p:blipFill>
        <p:spPr>
          <a:xfrm>
            <a:off x="640080" y="3840480"/>
            <a:ext cx="1089660" cy="502920"/>
          </a:xfrm>
          <a:prstGeom prst="rect">
            <a:avLst/>
          </a:prstGeom>
        </p:spPr>
      </p:pic>
      <p:sp>
        <p:nvSpPr>
          <p:cNvPr id="11" name="TextBox 10"/>
          <p:cNvSpPr txBox="1"/>
          <p:nvPr/>
        </p:nvSpPr>
        <p:spPr>
          <a:xfrm>
            <a:off x="365760" y="6492240"/>
            <a:ext cx="11460175" cy="274320"/>
          </a:xfrm>
          <a:prstGeom prst="rect">
            <a:avLst/>
          </a:prstGeom>
          <a:noFill/>
        </p:spPr>
        <p:txBody>
          <a:bodyPr wrap="none">
            <a:spAutoFit/>
          </a:bodyPr>
          <a:lstStyle/>
          <a:p>
            <a:pPr algn="r">
              <a:defRPr sz="1000">
                <a:solidFill>
                  <a:srgbClr val="787878"/>
                </a:solidFill>
              </a:defRPr>
            </a:pPr>
            <a:r>
              <a:t>ELI556 | Grupo Alta Tensión | Lámina 24/25</a:t>
            </a:r>
          </a:p>
        </p:txBody>
      </p:sp>
      <p:sp>
        <p:nvSpPr>
          <p:cNvPr id="12" name="Rectangle 11"/>
          <p:cNvSpPr/>
          <p:nvPr/>
        </p:nvSpPr>
        <p:spPr>
          <a:xfrm>
            <a:off x="6233007" y="1097280"/>
            <a:ext cx="5592927" cy="502920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24447" y="1188720"/>
            <a:ext cx="5410047" cy="411480"/>
          </a:xfrm>
          <a:prstGeom prst="rect">
            <a:avLst/>
          </a:prstGeom>
          <a:noFill/>
        </p:spPr>
        <p:txBody>
          <a:bodyPr wrap="none">
            <a:spAutoFit/>
          </a:bodyPr>
          <a:lstStyle/>
          <a:p>
            <a:pPr>
              <a:defRPr sz="1800">
                <a:solidFill>
                  <a:srgbClr val="E8A838"/>
                </a:solidFill>
              </a:defRPr>
            </a:pPr>
            <a:r>
              <a:rPr sz="1800" b="1">
                <a:solidFill>
                  <a:srgbClr val="E8A838"/>
                </a:solidFill>
              </a:rPr>
              <a:t>Resistencias y Energía de Bandgap</a:t>
            </a:r>
          </a:p>
        </p:txBody>
      </p:sp>
      <p:sp>
        <p:nvSpPr>
          <p:cNvPr id="14" name="TextBox 13"/>
          <p:cNvSpPr txBox="1"/>
          <p:nvPr/>
        </p:nvSpPr>
        <p:spPr>
          <a:xfrm>
            <a:off x="6415887" y="1554480"/>
            <a:ext cx="5227167" cy="274320"/>
          </a:xfrm>
          <a:prstGeom prst="rect">
            <a:avLst/>
          </a:prstGeom>
          <a:noFill/>
        </p:spPr>
        <p:txBody>
          <a:bodyPr wrap="square">
            <a:spAutoFit/>
          </a:bodyPr>
          <a:lstStyle/>
          <a:p>
            <a:pPr algn="l">
              <a:defRPr sz="1500">
                <a:solidFill>
                  <a:srgbClr val="FFFFFF"/>
                </a:solidFill>
              </a:defRPr>
            </a:pPr>
            <a:r>
              <a:rPr sz="1500">
                <a:solidFill>
                  <a:srgbClr val="FFFFFF"/>
                </a:solidFill>
              </a:rPr>
              <a:t>4. Resistencia Shunt (</a:t>
            </a:r>
            <a:r>
              <a:rPr sz="1500" i="1">
                <a:solidFill>
                  <a:srgbClr val="FFFFFF"/>
                </a:solidFill>
              </a:rPr>
              <a:t>R</a:t>
            </a:r>
            <a:r>
              <a:rPr sz="1500" i="1">
                <a:solidFill>
                  <a:srgbClr val="FFFFFF"/>
                </a:solidFill>
              </a:rPr>
              <a:t>sh</a:t>
            </a:r>
            <a:r>
              <a:rPr sz="1500">
                <a:solidFill>
                  <a:srgbClr val="FFFFFF"/>
                </a:solidFill>
              </a:rPr>
              <a:t>):</a:t>
            </a:r>
          </a:p>
        </p:txBody>
      </p:sp>
      <p:pic>
        <p:nvPicPr>
          <p:cNvPr id="15" name="Picture 14" descr="eq_41b6b711a3ee54ec226a0ceb62a105c8.png"/>
          <p:cNvPicPr>
            <a:picLocks noChangeAspect="1"/>
          </p:cNvPicPr>
          <p:nvPr/>
        </p:nvPicPr>
        <p:blipFill>
          <a:blip r:embed="rId5"/>
          <a:stretch>
            <a:fillRect/>
          </a:stretch>
        </p:blipFill>
        <p:spPr>
          <a:xfrm>
            <a:off x="6507327" y="1874519"/>
            <a:ext cx="2736281" cy="502920"/>
          </a:xfrm>
          <a:prstGeom prst="rect">
            <a:avLst/>
          </a:prstGeom>
        </p:spPr>
      </p:pic>
      <p:sp>
        <p:nvSpPr>
          <p:cNvPr id="16" name="TextBox 15"/>
          <p:cNvSpPr txBox="1"/>
          <p:nvPr/>
        </p:nvSpPr>
        <p:spPr>
          <a:xfrm>
            <a:off x="6415887" y="2514600"/>
            <a:ext cx="5227167" cy="274320"/>
          </a:xfrm>
          <a:prstGeom prst="rect">
            <a:avLst/>
          </a:prstGeom>
          <a:noFill/>
        </p:spPr>
        <p:txBody>
          <a:bodyPr wrap="square">
            <a:spAutoFit/>
          </a:bodyPr>
          <a:lstStyle/>
          <a:p>
            <a:pPr algn="l">
              <a:defRPr sz="1500">
                <a:solidFill>
                  <a:srgbClr val="FFFFFF"/>
                </a:solidFill>
              </a:defRPr>
            </a:pPr>
            <a:r>
              <a:rPr sz="1500">
                <a:solidFill>
                  <a:srgbClr val="FFFFFF"/>
                </a:solidFill>
              </a:rPr>
              <a:t>5. Energía de Bandgap del Silicio (</a:t>
            </a:r>
            <a:r>
              <a:rPr sz="1500" i="1">
                <a:solidFill>
                  <a:srgbClr val="FFFFFF"/>
                </a:solidFill>
              </a:rPr>
              <a:t>E</a:t>
            </a:r>
            <a:r>
              <a:rPr sz="1500" i="1">
                <a:solidFill>
                  <a:srgbClr val="FFFFFF"/>
                </a:solidFill>
              </a:rPr>
              <a:t>g</a:t>
            </a:r>
            <a:r>
              <a:rPr sz="1500">
                <a:solidFill>
                  <a:srgbClr val="FFFFFF"/>
                </a:solidFill>
              </a:rPr>
              <a:t>):</a:t>
            </a:r>
          </a:p>
        </p:txBody>
      </p:sp>
      <p:pic>
        <p:nvPicPr>
          <p:cNvPr id="17" name="Picture 16" descr="eq_0ed50450f33c4ace764411b1918723c3.png"/>
          <p:cNvPicPr>
            <a:picLocks noChangeAspect="1"/>
          </p:cNvPicPr>
          <p:nvPr/>
        </p:nvPicPr>
        <p:blipFill>
          <a:blip r:embed="rId6"/>
          <a:stretch>
            <a:fillRect/>
          </a:stretch>
        </p:blipFill>
        <p:spPr>
          <a:xfrm>
            <a:off x="6507327" y="2834640"/>
            <a:ext cx="4082181" cy="502920"/>
          </a:xfrm>
          <a:prstGeom prst="rect">
            <a:avLst/>
          </a:prstGeom>
        </p:spPr>
      </p:pic>
      <p:sp>
        <p:nvSpPr>
          <p:cNvPr id="18" name="TextBox 17"/>
          <p:cNvSpPr txBox="1"/>
          <p:nvPr/>
        </p:nvSpPr>
        <p:spPr>
          <a:xfrm>
            <a:off x="6415887" y="3520440"/>
            <a:ext cx="5227167" cy="2468880"/>
          </a:xfrm>
          <a:prstGeom prst="rect">
            <a:avLst/>
          </a:prstGeom>
          <a:noFill/>
        </p:spPr>
        <p:txBody>
          <a:bodyPr wrap="square">
            <a:spAutoFit/>
          </a:bodyPr>
          <a:lstStyle/>
          <a:p>
            <a:pPr algn="l">
              <a:defRPr sz="1500">
                <a:solidFill>
                  <a:srgbClr val="FFFFFF"/>
                </a:solidFill>
              </a:defRPr>
            </a:pPr>
            <a:r>
              <a:rPr sz="1500">
                <a:solidFill>
                  <a:srgbClr val="FFFFFF"/>
                </a:solidFill>
              </a:rPr>
              <a:t>Suposiciones Físicas Justificadas:</a:t>
            </a:r>
          </a:p>
          <a:p>
            <a:pPr algn="l">
              <a:defRPr sz="1500">
                <a:solidFill>
                  <a:srgbClr val="FFFFFF"/>
                </a:solidFill>
              </a:defRPr>
            </a:pPr>
            <a:r>
              <a:rPr sz="1500">
                <a:solidFill>
                  <a:srgbClr val="FFFFFF"/>
                </a:solidFill>
              </a:rPr>
              <a:t>• </a:t>
            </a:r>
            <a:r>
              <a:rPr sz="1500" i="1">
                <a:solidFill>
                  <a:srgbClr val="FFFFFF"/>
                </a:solidFill>
              </a:rPr>
              <a:t>R</a:t>
            </a:r>
            <a:r>
              <a:rPr sz="1500" i="1">
                <a:solidFill>
                  <a:srgbClr val="FFFFFF"/>
                </a:solidFill>
              </a:rPr>
              <a:t>s</a:t>
            </a:r>
            <a:r>
              <a:rPr sz="1500">
                <a:solidFill>
                  <a:srgbClr val="FFFFFF"/>
                </a:solidFill>
              </a:rPr>
              <a:t> Constante: Se asume </a:t>
            </a:r>
            <a:r>
              <a:rPr sz="1500" i="1">
                <a:solidFill>
                  <a:srgbClr val="FFFFFF"/>
                </a:solidFill>
              </a:rPr>
              <a:t>R</a:t>
            </a:r>
            <a:r>
              <a:rPr sz="1500" i="1">
                <a:solidFill>
                  <a:srgbClr val="FFFFFF"/>
                </a:solidFill>
              </a:rPr>
              <a:t>s</a:t>
            </a:r>
            <a:r>
              <a:rPr sz="1500">
                <a:solidFill>
                  <a:srgbClr val="FFFFFF"/>
                </a:solidFill>
              </a:rPr>
              <a:t> = </a:t>
            </a:r>
            <a:r>
              <a:rPr sz="1500" i="1">
                <a:solidFill>
                  <a:srgbClr val="FFFFFF"/>
                </a:solidFill>
              </a:rPr>
              <a:t>R</a:t>
            </a:r>
            <a:r>
              <a:rPr sz="1500" i="1">
                <a:solidFill>
                  <a:srgbClr val="FFFFFF"/>
                </a:solidFill>
              </a:rPr>
              <a:t>s,ref</a:t>
            </a:r>
            <a:r>
              <a:rPr sz="1500">
                <a:solidFill>
                  <a:srgbClr val="FFFFFF"/>
                </a:solidFill>
              </a:rPr>
              <a:t>.</a:t>
            </a:r>
          </a:p>
          <a:p>
            <a:pPr algn="l">
              <a:defRPr sz="1500">
                <a:solidFill>
                  <a:srgbClr val="FFFFFF"/>
                </a:solidFill>
              </a:defRPr>
            </a:pPr>
            <a:r>
              <a:rPr sz="1500">
                <a:solidFill>
                  <a:srgbClr val="FFFFFF"/>
                </a:solidFill>
              </a:rPr>
              <a:t>• </a:t>
            </a:r>
            <a:r>
              <a:rPr sz="1500" i="1">
                <a:solidFill>
                  <a:srgbClr val="FFFFFF"/>
                </a:solidFill>
              </a:rPr>
              <a:t>R</a:t>
            </a:r>
            <a:r>
              <a:rPr sz="1500" i="1">
                <a:solidFill>
                  <a:srgbClr val="FFFFFF"/>
                </a:solidFill>
              </a:rPr>
              <a:t>sh</a:t>
            </a:r>
            <a:r>
              <a:rPr sz="1500">
                <a:solidFill>
                  <a:srgbClr val="FFFFFF"/>
                </a:solidFill>
              </a:rPr>
              <a:t> Dependiente de G: Modelada inversamente proporcional a la irradiancia incidente efectiva </a:t>
            </a:r>
            <a:r>
              <a:rPr sz="1500" i="1">
                <a:solidFill>
                  <a:srgbClr val="FFFFFF"/>
                </a:solidFill>
              </a:rPr>
              <a:t>S</a:t>
            </a:r>
            <a:r>
              <a:rPr sz="1500">
                <a:solidFill>
                  <a:srgbClr val="FFFFFF"/>
                </a:solidFill>
              </a:rPr>
              <a:t>.</a:t>
            </a:r>
          </a:p>
          <a:p>
            <a:pPr algn="l">
              <a:defRPr sz="1500">
                <a:solidFill>
                  <a:srgbClr val="FFFFFF"/>
                </a:solidFill>
              </a:defRPr>
            </a:pPr>
            <a:r>
              <a:rPr sz="1500">
                <a:solidFill>
                  <a:srgbClr val="FFFFFF"/>
                </a:solidFill>
              </a:rPr>
              <a:t>• </a:t>
            </a:r>
            <a:r>
              <a:rPr sz="1500" i="1">
                <a:solidFill>
                  <a:srgbClr val="FFFFFF"/>
                </a:solidFill>
              </a:rPr>
              <a:t>E</a:t>
            </a:r>
            <a:r>
              <a:rPr sz="1500" i="1">
                <a:solidFill>
                  <a:srgbClr val="FFFFFF"/>
                </a:solidFill>
              </a:rPr>
              <a:t>g,ref</a:t>
            </a:r>
            <a:r>
              <a:rPr sz="1500">
                <a:solidFill>
                  <a:srgbClr val="FFFFFF"/>
                </a:solidFill>
              </a:rPr>
              <a:t> = 1.121 eV para el Silicio a 25°C.</a:t>
            </a:r>
          </a:p>
        </p:txBody>
      </p:sp>
      <p:sp>
        <p:nvSpPr>
          <p:cNvPr id="19" name="TextBox 18"/>
          <p:cNvSpPr txBox="1"/>
          <p:nvPr/>
        </p:nvSpPr>
        <p:spPr>
          <a:xfrm>
            <a:off x="365760" y="6492240"/>
            <a:ext cx="11460175" cy="274320"/>
          </a:xfrm>
          <a:prstGeom prst="rect">
            <a:avLst/>
          </a:prstGeom>
          <a:noFill/>
        </p:spPr>
        <p:txBody>
          <a:bodyPr wrap="none">
            <a:spAutoFit/>
          </a:bodyPr>
          <a:lstStyle/>
          <a:p>
            <a:pPr algn="r">
              <a:defRPr sz="1000">
                <a:solidFill>
                  <a:srgbClr val="787878"/>
                </a:solidFill>
              </a:defRPr>
            </a:pPr>
            <a:r>
              <a:t>ELI556 | Grupo Alta Tensión | Lámina 24/25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365760" y="365760"/>
            <a:ext cx="11460175" cy="731520"/>
          </a:xfrm>
          <a:prstGeom prst="rect">
            <a:avLst/>
          </a:prstGeom>
          <a:noFill/>
        </p:spPr>
        <p:txBody>
          <a:bodyPr wrap="square">
            <a:spAutoFit/>
          </a:bodyPr>
          <a:lstStyle/>
          <a:p>
            <a:pPr>
              <a:defRPr sz="2400">
                <a:solidFill>
                  <a:srgbClr val="E8A838"/>
                </a:solidFill>
              </a:defRPr>
            </a:pPr>
            <a:r>
              <a:rPr sz="2400" b="1">
                <a:solidFill>
                  <a:srgbClr val="E8A838"/>
                </a:solidFill>
              </a:rPr>
              <a:t>Anexo VII: Ecuaciones para el Cálculo del Performance Ratio</a:t>
            </a:r>
          </a:p>
        </p:txBody>
      </p:sp>
      <p:sp>
        <p:nvSpPr>
          <p:cNvPr id="3" name="Rectangle 2"/>
          <p:cNvSpPr/>
          <p:nvPr/>
        </p:nvSpPr>
        <p:spPr>
          <a:xfrm>
            <a:off x="365760" y="1097280"/>
            <a:ext cx="11460175" cy="201168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411480"/>
          </a:xfrm>
          <a:prstGeom prst="rect">
            <a:avLst/>
          </a:prstGeom>
          <a:noFill/>
        </p:spPr>
        <p:txBody>
          <a:bodyPr wrap="none">
            <a:spAutoFit/>
          </a:bodyPr>
          <a:lstStyle/>
          <a:p>
            <a:pPr>
              <a:defRPr sz="1800">
                <a:solidFill>
                  <a:srgbClr val="E8A838"/>
                </a:solidFill>
              </a:defRPr>
            </a:pPr>
            <a:r>
              <a:rPr sz="1800" b="1">
                <a:solidFill>
                  <a:srgbClr val="E8A838"/>
                </a:solidFill>
              </a:rPr>
              <a:t>Ecuación de Rendimiento Global del PR</a:t>
            </a:r>
          </a:p>
        </p:txBody>
      </p:sp>
      <p:sp>
        <p:nvSpPr>
          <p:cNvPr id="5" name="TextBox 4"/>
          <p:cNvSpPr txBox="1"/>
          <p:nvPr/>
        </p:nvSpPr>
        <p:spPr>
          <a:xfrm>
            <a:off x="548640" y="1508760"/>
            <a:ext cx="11094415" cy="320040"/>
          </a:xfrm>
          <a:prstGeom prst="rect">
            <a:avLst/>
          </a:prstGeom>
          <a:noFill/>
        </p:spPr>
        <p:txBody>
          <a:bodyPr wrap="square">
            <a:spAutoFit/>
          </a:bodyPr>
          <a:lstStyle/>
          <a:p>
            <a:pPr algn="l">
              <a:defRPr sz="1500">
                <a:solidFill>
                  <a:srgbClr val="FFFFFF"/>
                </a:solidFill>
              </a:defRPr>
            </a:pPr>
            <a:r>
              <a:rPr sz="1500">
                <a:solidFill>
                  <a:srgbClr val="FFFFFF"/>
                </a:solidFill>
              </a:rPr>
              <a:t>El Performance Ratio (</a:t>
            </a:r>
            <a:r>
              <a:rPr sz="1500" i="1">
                <a:solidFill>
                  <a:srgbClr val="FFFFFF"/>
                </a:solidFill>
              </a:rPr>
              <a:t>PR</a:t>
            </a:r>
            <a:r>
              <a:rPr sz="1500">
                <a:solidFill>
                  <a:srgbClr val="FFFFFF"/>
                </a:solidFill>
              </a:rPr>
              <a:t>) evalúa la eficiencia neta del sistema fotovoltaico frente a condiciones estándar de referencia:</a:t>
            </a:r>
          </a:p>
        </p:txBody>
      </p:sp>
      <p:pic>
        <p:nvPicPr>
          <p:cNvPr id="6" name="Picture 5" descr="eq_89f2913b946191ae2d2668e37f8cda9b.png"/>
          <p:cNvPicPr>
            <a:picLocks noChangeAspect="1"/>
          </p:cNvPicPr>
          <p:nvPr/>
        </p:nvPicPr>
        <p:blipFill>
          <a:blip r:embed="rId2"/>
          <a:stretch>
            <a:fillRect/>
          </a:stretch>
        </p:blipFill>
        <p:spPr>
          <a:xfrm>
            <a:off x="822960" y="1920240"/>
            <a:ext cx="6620222" cy="685800"/>
          </a:xfrm>
          <a:prstGeom prst="rect">
            <a:avLst/>
          </a:prstGeom>
        </p:spPr>
      </p:pic>
      <p:sp>
        <p:nvSpPr>
          <p:cNvPr id="7" name="Rectangle 6"/>
          <p:cNvSpPr/>
          <p:nvPr/>
        </p:nvSpPr>
        <p:spPr>
          <a:xfrm>
            <a:off x="365760" y="3291840"/>
            <a:ext cx="4754880" cy="283464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3383280"/>
            <a:ext cx="4572000" cy="411480"/>
          </a:xfrm>
          <a:prstGeom prst="rect">
            <a:avLst/>
          </a:prstGeom>
          <a:noFill/>
        </p:spPr>
        <p:txBody>
          <a:bodyPr wrap="none">
            <a:spAutoFit/>
          </a:bodyPr>
          <a:lstStyle/>
          <a:p>
            <a:pPr>
              <a:defRPr sz="1800">
                <a:solidFill>
                  <a:srgbClr val="E8A838"/>
                </a:solidFill>
              </a:defRPr>
            </a:pPr>
            <a:r>
              <a:rPr sz="1800" b="1">
                <a:solidFill>
                  <a:srgbClr val="E8A838"/>
                </a:solidFill>
              </a:rPr>
              <a:t>Glosario de Variables</a:t>
            </a:r>
          </a:p>
        </p:txBody>
      </p:sp>
      <p:sp>
        <p:nvSpPr>
          <p:cNvPr id="9" name="TextBox 8"/>
          <p:cNvSpPr txBox="1"/>
          <p:nvPr/>
        </p:nvSpPr>
        <p:spPr>
          <a:xfrm>
            <a:off x="548640" y="3749039"/>
            <a:ext cx="4389120" cy="2103120"/>
          </a:xfrm>
          <a:prstGeom prst="rect">
            <a:avLst/>
          </a:prstGeom>
          <a:noFill/>
        </p:spPr>
        <p:txBody>
          <a:bodyPr wrap="square">
            <a:spAutoFit/>
          </a:bodyPr>
          <a:lstStyle/>
          <a:p>
            <a:pPr algn="l">
              <a:defRPr sz="1400">
                <a:solidFill>
                  <a:srgbClr val="E8A838"/>
                </a:solidFill>
              </a:defRPr>
            </a:pPr>
            <a:r>
              <a:rPr sz="1400">
                <a:solidFill>
                  <a:srgbClr val="E8A838"/>
                </a:solidFill>
              </a:rPr>
              <a:t>• </a:t>
            </a:r>
            <a:r>
              <a:rPr sz="1400" i="1">
                <a:solidFill>
                  <a:srgbClr val="E8A838"/>
                </a:solidFill>
              </a:rPr>
              <a:t>V</a:t>
            </a:r>
            <a:r>
              <a:rPr sz="1400" i="1">
                <a:solidFill>
                  <a:srgbClr val="E8A838"/>
                </a:solidFill>
              </a:rPr>
              <a:t>mp,t</a:t>
            </a:r>
            <a:r>
              <a:rPr sz="1400">
                <a:solidFill>
                  <a:srgbClr val="E8A838"/>
                </a:solidFill>
              </a:rPr>
              <a:t> / </a:t>
            </a:r>
            <a:r>
              <a:rPr sz="1400" i="1">
                <a:solidFill>
                  <a:srgbClr val="E8A838"/>
                </a:solidFill>
              </a:rPr>
              <a:t>I</a:t>
            </a:r>
            <a:r>
              <a:rPr sz="1400" i="1">
                <a:solidFill>
                  <a:srgbClr val="E8A838"/>
                </a:solidFill>
              </a:rPr>
              <a:t>mp,t</a:t>
            </a:r>
            <a:r>
              <a:rPr sz="1400">
                <a:solidFill>
                  <a:srgbClr val="E8A838"/>
                </a:solidFill>
              </a:rPr>
              <a:t>: Tensión y corriente MPP horarias del SDM.</a:t>
            </a:r>
          </a:p>
          <a:p>
            <a:pPr algn="l">
              <a:defRPr sz="1400">
                <a:solidFill>
                  <a:srgbClr val="E8A838"/>
                </a:solidFill>
              </a:defRPr>
            </a:pPr>
            <a:r>
              <a:rPr sz="1400">
                <a:solidFill>
                  <a:srgbClr val="E8A838"/>
                </a:solidFill>
              </a:rPr>
              <a:t>• </a:t>
            </a:r>
            <a:r>
              <a:rPr sz="1400" i="1">
                <a:solidFill>
                  <a:srgbClr val="E8A838"/>
                </a:solidFill>
              </a:rPr>
              <a:t>P</a:t>
            </a:r>
            <a:r>
              <a:rPr sz="1400" i="1">
                <a:solidFill>
                  <a:srgbClr val="E8A838"/>
                </a:solidFill>
              </a:rPr>
              <a:t>STC</a:t>
            </a:r>
            <a:r>
              <a:rPr sz="1400">
                <a:solidFill>
                  <a:srgbClr val="E8A838"/>
                </a:solidFill>
              </a:rPr>
              <a:t>: Potencia nominal del panel en STC (m-Si: 46.68 W | HIT: 217.52 W).</a:t>
            </a:r>
          </a:p>
          <a:p>
            <a:pPr algn="l">
              <a:defRPr sz="1400">
                <a:solidFill>
                  <a:srgbClr val="E8A838"/>
                </a:solidFill>
              </a:defRPr>
            </a:pPr>
            <a:r>
              <a:rPr sz="1400">
                <a:solidFill>
                  <a:srgbClr val="E8A838"/>
                </a:solidFill>
              </a:rPr>
              <a:t>• </a:t>
            </a:r>
            <a:r>
              <a:rPr sz="1400" i="1">
                <a:solidFill>
                  <a:srgbClr val="E8A838"/>
                </a:solidFill>
              </a:rPr>
              <a:t>G</a:t>
            </a:r>
            <a:r>
              <a:rPr sz="1400" i="1">
                <a:solidFill>
                  <a:srgbClr val="E8A838"/>
                </a:solidFill>
              </a:rPr>
              <a:t>poa,t</a:t>
            </a:r>
            <a:r>
              <a:rPr sz="1400">
                <a:solidFill>
                  <a:srgbClr val="E8A838"/>
                </a:solidFill>
              </a:rPr>
              <a:t>: Irradiancia instantánea en el plano del panel (W/m²).</a:t>
            </a:r>
          </a:p>
          <a:p>
            <a:pPr algn="l">
              <a:defRPr sz="1400">
                <a:solidFill>
                  <a:srgbClr val="E8A838"/>
                </a:solidFill>
              </a:defRPr>
            </a:pPr>
            <a:r>
              <a:rPr sz="1400">
                <a:solidFill>
                  <a:srgbClr val="E8A838"/>
                </a:solidFill>
              </a:rPr>
              <a:t>• </a:t>
            </a:r>
            <a:r>
              <a:rPr sz="1400" i="1">
                <a:solidFill>
                  <a:srgbClr val="E8A838"/>
                </a:solidFill>
              </a:rPr>
              <a:t>G</a:t>
            </a:r>
            <a:r>
              <a:rPr sz="1400" i="1">
                <a:solidFill>
                  <a:srgbClr val="E8A838"/>
                </a:solidFill>
              </a:rPr>
              <a:t>ref</a:t>
            </a:r>
            <a:r>
              <a:rPr sz="1400">
                <a:solidFill>
                  <a:srgbClr val="E8A838"/>
                </a:solidFill>
              </a:rPr>
              <a:t>: Irradiancia de referencia a condiciones STC (1000 W/m²).</a:t>
            </a:r>
          </a:p>
        </p:txBody>
      </p:sp>
      <p:sp>
        <p:nvSpPr>
          <p:cNvPr id="10" name="Rectangle 9"/>
          <p:cNvSpPr/>
          <p:nvPr/>
        </p:nvSpPr>
        <p:spPr>
          <a:xfrm>
            <a:off x="5394960" y="3291840"/>
            <a:ext cx="6430975" cy="2834640"/>
          </a:xfrm>
          <a:prstGeom prst="rect">
            <a:avLst/>
          </a:prstGeom>
          <a:solidFill>
            <a:srgbClr val="22223A"/>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0" y="3383280"/>
            <a:ext cx="6248095" cy="411480"/>
          </a:xfrm>
          <a:prstGeom prst="rect">
            <a:avLst/>
          </a:prstGeom>
          <a:noFill/>
        </p:spPr>
        <p:txBody>
          <a:bodyPr wrap="none">
            <a:spAutoFit/>
          </a:bodyPr>
          <a:lstStyle/>
          <a:p>
            <a:pPr>
              <a:defRPr sz="1800">
                <a:solidFill>
                  <a:srgbClr val="E8A838"/>
                </a:solidFill>
              </a:defRPr>
            </a:pPr>
            <a:r>
              <a:rPr sz="1800" b="1">
                <a:solidFill>
                  <a:srgbClr val="E8A838"/>
                </a:solidFill>
              </a:rPr>
              <a:t>Pérdidas Penalizadas por el PR</a:t>
            </a:r>
          </a:p>
        </p:txBody>
      </p:sp>
      <p:sp>
        <p:nvSpPr>
          <p:cNvPr id="12" name="TextBox 11"/>
          <p:cNvSpPr txBox="1"/>
          <p:nvPr/>
        </p:nvSpPr>
        <p:spPr>
          <a:xfrm>
            <a:off x="5577840" y="3749039"/>
            <a:ext cx="6065215" cy="2103120"/>
          </a:xfrm>
          <a:prstGeom prst="rect">
            <a:avLst/>
          </a:prstGeom>
          <a:noFill/>
        </p:spPr>
        <p:txBody>
          <a:bodyPr wrap="square">
            <a:spAutoFit/>
          </a:bodyPr>
          <a:lstStyle/>
          <a:p>
            <a:pPr algn="l">
              <a:defRPr sz="1500">
                <a:solidFill>
                  <a:srgbClr val="FFFFFF"/>
                </a:solidFill>
              </a:defRPr>
            </a:pPr>
            <a:r>
              <a:rPr sz="1500">
                <a:solidFill>
                  <a:srgbClr val="FFFFFF"/>
                </a:solidFill>
              </a:rPr>
              <a:t>• </a:t>
            </a:r>
            <a:r>
              <a:rPr sz="1500" b="1">
                <a:solidFill>
                  <a:srgbClr val="FFFFFF"/>
                </a:solidFill>
              </a:rPr>
              <a:t>Pérdidas Térmicas:</a:t>
            </a:r>
            <a:r>
              <a:rPr sz="1500">
                <a:solidFill>
                  <a:srgbClr val="FFFFFF"/>
                </a:solidFill>
              </a:rPr>
              <a:t> Caídas debidas a la elevada temperatura </a:t>
            </a:r>
            <a:r>
              <a:rPr sz="1500" i="1">
                <a:solidFill>
                  <a:srgbClr val="FFFFFF"/>
                </a:solidFill>
              </a:rPr>
              <a:t>T</a:t>
            </a:r>
            <a:r>
              <a:rPr sz="1500" i="1">
                <a:solidFill>
                  <a:srgbClr val="FFFFFF"/>
                </a:solidFill>
              </a:rPr>
              <a:t>c</a:t>
            </a:r>
            <a:r>
              <a:rPr sz="1500">
                <a:solidFill>
                  <a:srgbClr val="FFFFFF"/>
                </a:solidFill>
              </a:rPr>
              <a:t>.</a:t>
            </a:r>
          </a:p>
          <a:p>
            <a:pPr algn="l">
              <a:defRPr sz="1500">
                <a:solidFill>
                  <a:srgbClr val="FFFFFF"/>
                </a:solidFill>
              </a:defRPr>
            </a:pPr>
            <a:r>
              <a:rPr sz="1500">
                <a:solidFill>
                  <a:srgbClr val="FFFFFF"/>
                </a:solidFill>
              </a:rPr>
              <a:t>• </a:t>
            </a:r>
            <a:r>
              <a:rPr sz="1500" b="1">
                <a:solidFill>
                  <a:srgbClr val="FFFFFF"/>
                </a:solidFill>
              </a:rPr>
              <a:t>Pérdidas Ópticas:</a:t>
            </a:r>
            <a:r>
              <a:rPr sz="1500">
                <a:solidFill>
                  <a:srgbClr val="FFFFFF"/>
                </a:solidFill>
              </a:rPr>
              <a:t> Pérdidas reflectivas por ángulo de incidencia (IAM).</a:t>
            </a:r>
          </a:p>
          <a:p>
            <a:pPr algn="l">
              <a:defRPr sz="1500">
                <a:solidFill>
                  <a:srgbClr val="FFFFFF"/>
                </a:solidFill>
              </a:defRPr>
            </a:pPr>
            <a:r>
              <a:rPr sz="1500">
                <a:solidFill>
                  <a:srgbClr val="FFFFFF"/>
                </a:solidFill>
              </a:rPr>
              <a:t>• </a:t>
            </a:r>
            <a:r>
              <a:rPr sz="1500" b="1">
                <a:solidFill>
                  <a:srgbClr val="FFFFFF"/>
                </a:solidFill>
              </a:rPr>
              <a:t>Pérdidas Espectrales:</a:t>
            </a:r>
            <a:r>
              <a:rPr sz="1500">
                <a:solidFill>
                  <a:srgbClr val="FFFFFF"/>
                </a:solidFill>
              </a:rPr>
              <a:t> Desajustes causados por la Masa de Aire (AM).</a:t>
            </a:r>
          </a:p>
          <a:p>
            <a:pPr algn="l">
              <a:defRPr sz="1500">
                <a:solidFill>
                  <a:srgbClr val="FFFFFF"/>
                </a:solidFill>
              </a:defRPr>
            </a:pPr>
            <a:r>
              <a:rPr sz="1500">
                <a:solidFill>
                  <a:srgbClr val="FFFFFF"/>
                </a:solidFill>
              </a:rPr>
              <a:t>• </a:t>
            </a:r>
            <a:r>
              <a:rPr sz="1500" b="1">
                <a:solidFill>
                  <a:srgbClr val="FFFFFF"/>
                </a:solidFill>
              </a:rPr>
              <a:t>Pérdidas Óhmicas:</a:t>
            </a:r>
            <a:r>
              <a:rPr sz="1500">
                <a:solidFill>
                  <a:srgbClr val="FFFFFF"/>
                </a:solidFill>
              </a:rPr>
              <a:t> Pérdidas resistivas en la resistencia serie </a:t>
            </a:r>
            <a:r>
              <a:rPr sz="1500" i="1">
                <a:solidFill>
                  <a:srgbClr val="FFFFFF"/>
                </a:solidFill>
              </a:rPr>
              <a:t>R</a:t>
            </a:r>
            <a:r>
              <a:rPr sz="1500" i="1">
                <a:solidFill>
                  <a:srgbClr val="FFFFFF"/>
                </a:solidFill>
              </a:rPr>
              <a:t>s</a:t>
            </a:r>
            <a:r>
              <a:rPr sz="1500">
                <a:solidFill>
                  <a:srgbClr val="FFFFFF"/>
                </a:solidFill>
              </a:rPr>
              <a:t>.</a:t>
            </a:r>
          </a:p>
        </p:txBody>
      </p:sp>
      <p:sp>
        <p:nvSpPr>
          <p:cNvPr id="13" name="TextBox 12"/>
          <p:cNvSpPr txBox="1"/>
          <p:nvPr/>
        </p:nvSpPr>
        <p:spPr>
          <a:xfrm>
            <a:off x="365760" y="6492240"/>
            <a:ext cx="11460175" cy="274320"/>
          </a:xfrm>
          <a:prstGeom prst="rect">
            <a:avLst/>
          </a:prstGeom>
          <a:noFill/>
        </p:spPr>
        <p:txBody>
          <a:bodyPr wrap="none">
            <a:spAutoFit/>
          </a:bodyPr>
          <a:lstStyle/>
          <a:p>
            <a:pPr algn="r">
              <a:defRPr sz="1000">
                <a:solidFill>
                  <a:srgbClr val="787878"/>
                </a:solidFill>
              </a:defRPr>
            </a:pPr>
            <a:r>
              <a:t>ELI556 | Grupo Alta Tensión | Lámina 25/25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