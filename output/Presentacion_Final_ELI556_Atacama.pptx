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Familias Tecnológicas en Dataset Cocoa (NREL) </a:t>
            </a:r>
            <a:r>
              <a:rPr sz="1800" b="1">
                <a:solidFill>
                  <a:srgbClr val="E8A838"/>
                </a:solidFill>
              </a:rPr>
              <a:t>[5]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 / 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 con Capa Fina Intrínseca)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(Seleniuro de Cobre, Indio y Galio)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panel inclinado: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óptimo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56692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1887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real que penetra y es absorbida por la celda:</a:t>
            </a:r>
          </a:p>
        </p:txBody>
      </p:sp>
      <p:pic>
        <p:nvPicPr>
          <p:cNvPr id="11" name="Picture 10" descr="eq_bb06151bcf09291bead73672e21c10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74519"/>
            <a:ext cx="2459783" cy="1280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52160" y="333756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Donde: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 i="1">
                <a:solidFill>
                  <a:srgbClr val="FFFFFF"/>
                </a:solidFill>
              </a:rPr>
              <a:t>ref</a:t>
            </a:r>
            <a:r>
              <a:rPr sz="16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τα,b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τα,d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τα,g</a:t>
            </a:r>
            <a:r>
              <a:rPr sz="16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Incorpora las pérdidas ópticas por ángulo de incidencia</a:t>
            </a:r>
            <a:r>
              <a:rPr sz="1600">
                <a:solidFill>
                  <a:srgbClr val="FFFFFF"/>
                </a:solidFill>
              </a:rPr>
              <a:t>[2]</a:t>
            </a:r>
            <a:r>
              <a:rPr sz="16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(Absorción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08760"/>
            <a:ext cx="518144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14884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749039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Temperatura de Celda (Sandia SAPM) </a:t>
            </a:r>
            <a:r>
              <a:rPr sz="2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La temperatura interna de la celda (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) depende de la irradiancia incidente y de la velocidad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plano de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local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291840"/>
            <a:ext cx="61264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38328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Empíricos por Tecnología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749039"/>
            <a:ext cx="5760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Silicio Monocristalino (m-Si) — glass/polymer: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-3.56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-0.075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Disipación estándar, mayor calentamiento.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Heterounión (HIT) — glass/glass: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-3.47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-0.059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Retiene más calor, pero se compensa por su bajo coeficiente térmico.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08760"/>
            <a:ext cx="5852160" cy="4389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Modelo de 5 Parámetros: Diodo Simple (SDM) </a:t>
            </a:r>
            <a:r>
              <a:rPr sz="2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comportamiento eléctrico del módulo se modela mediante la ecuación trascendental del diodo: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Factor de Idealidad Térmico (a)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factor de idealidad térmico se define formalmente como:</a:t>
            </a:r>
          </a:p>
        </p:txBody>
      </p:sp>
      <p:pic>
        <p:nvPicPr>
          <p:cNvPr id="10" name="Picture 9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es el número de celdas en serie (m-Si: 36, HIT: 72).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291840"/>
            <a:ext cx="576072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5577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</a:t>
            </a:r>
            <a:r>
              <a:rPr sz="1400">
                <a:solidFill>
                  <a:srgbClr val="FFFFFF"/>
                </a:solidFill>
              </a:rPr>
              <a:t>: Corrientes fotogenerada y de saturación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: Resistencia serie (pérdidas) y paralelo (fugas) (Ω).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k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q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: Constante de Boltzmann, carga elemental y Temp. (K).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Extracción en STC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Se extraen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sh,ref</a:t>
            </a:r>
            <a:r>
              <a:rPr sz="1500">
                <a:solidFill>
                  <a:srgbClr val="FFFFFF"/>
                </a:solidFill>
              </a:rPr>
              <a:t> en STC: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Cortocircuito: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Circuito Abierto: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Máxima Potencia: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mp,ref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Pendiente en MPP (d</a:t>
            </a:r>
            <a:r>
              <a:rPr sz="1500" i="1">
                <a:solidFill>
                  <a:srgbClr val="FFFFFF"/>
                </a:solidFill>
              </a:rPr>
              <a:t>P</a:t>
            </a:r>
            <a:r>
              <a:rPr sz="1500">
                <a:solidFill>
                  <a:srgbClr val="FFFFFF"/>
                </a:solidFill>
              </a:rPr>
              <a:t>/d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21735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8862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Coeficiente térmico de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157974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12064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→ Parámetros base para el escalado dinámico a las condiciones reales de Atacama.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1097280"/>
            <a:ext cx="61264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18872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Derivada Analítica en MPP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5544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Para acoplar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3" name="Picture 12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94560"/>
            <a:ext cx="4002528" cy="6217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94960" y="29718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 los coeficientes se definen como:</a:t>
            </a:r>
          </a:p>
        </p:txBody>
      </p:sp>
      <p:pic>
        <p:nvPicPr>
          <p:cNvPr id="15" name="Picture 14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383280"/>
            <a:ext cx="2413292" cy="502920"/>
          </a:xfrm>
          <a:prstGeom prst="rect">
            <a:avLst/>
          </a:prstGeom>
        </p:spPr>
      </p:pic>
      <p:pic>
        <p:nvPicPr>
          <p:cNvPr id="16" name="Picture 15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977639"/>
            <a:ext cx="867047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94960" y="452628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>
                <a:solidFill>
                  <a:srgbClr val="E8A838"/>
                </a:solidFill>
              </a:rPr>
              <a:t> &gt; 0,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 i="1">
                <a:solidFill>
                  <a:srgbClr val="E8A838"/>
                </a:solidFill>
              </a:rPr>
              <a:t>I</a:t>
            </a:r>
            <a:r>
              <a:rPr sz="1500">
                <a:solidFill>
                  <a:srgbClr val="E8A838"/>
                </a:solidFill>
              </a:rPr>
              <a:t> ∈ </a:t>
            </a:r>
            <a:r>
              <a:rPr sz="1500">
                <a:solidFill>
                  <a:srgbClr val="E8A838"/>
                </a:solidFill>
              </a:rPr>
              <a:t>1, 2</a:t>
            </a:r>
            <a:r>
              <a:rPr sz="15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029200" cy="4101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51460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4083403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044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10896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572000"/>
            <a:ext cx="51814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298.15 K (25°C)  | 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M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: Transmitancia espectral a STC.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1874519"/>
            <a:ext cx="2736281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251460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4082181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0167" y="3520440"/>
            <a:ext cx="51814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fugas asociadas a portadores minoritarios.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Performance Ratio (</a:t>
            </a:r>
            <a:r>
              <a:rPr sz="1500" i="1">
                <a:solidFill>
                  <a:srgbClr val="FFFFFF"/>
                </a:solidFill>
              </a:rPr>
              <a:t>PR</a:t>
            </a:r>
            <a:r>
              <a:rPr sz="1500">
                <a:solidFill>
                  <a:srgbClr val="FFFFFF"/>
                </a:solidFill>
              </a:rPr>
              <a:t>) evalúa la eficiencia neta del sistema fotovoltaico frente a condiciones de referencia STC:</a:t>
            </a:r>
          </a:p>
        </p:txBody>
      </p:sp>
      <p:pic>
        <p:nvPicPr>
          <p:cNvPr id="6" name="Picture 5" descr="eq_a7cd84c1dfc4bbc488901a2df137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1726410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mp,SDM</a:t>
            </a:r>
            <a:r>
              <a:rPr sz="1400">
                <a:solidFill>
                  <a:srgbClr val="E8A838"/>
                </a:solidFill>
              </a:rPr>
              <a:t>: Potencia MPP simulada hora a hora con De Soto</a:t>
            </a:r>
            <a:r>
              <a:rPr sz="1400">
                <a:solidFill>
                  <a:srgbClr val="E8A838"/>
                </a:solidFill>
              </a:rPr>
              <a:t>[1]</a:t>
            </a:r>
            <a:r>
              <a:rPr sz="1400">
                <a:solidFill>
                  <a:srgbClr val="E8A838"/>
                </a:solidFill>
              </a:rPr>
              <a:t> (W).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STC</a:t>
            </a:r>
            <a:r>
              <a:rPr sz="1400">
                <a:solidFill>
                  <a:srgbClr val="E8A838"/>
                </a:solidFill>
              </a:rPr>
              <a:t>: Potencia nominal en STC (m-Si: 46.68 W | HIT: 217.52 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poa</a:t>
            </a:r>
            <a:r>
              <a:rPr sz="1400">
                <a:solidFill>
                  <a:srgbClr val="E8A838"/>
                </a:solidFill>
              </a:rPr>
              <a:t>: Irradiancia calculada en el plano del panel (W/m²).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1000: Irradiancia de referencia a STC (W/m²).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3291840"/>
            <a:ext cx="59436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Pérdidas Penalizadas por el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749039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Térmicas:</a:t>
            </a:r>
            <a:r>
              <a:rPr sz="1500">
                <a:solidFill>
                  <a:srgbClr val="FFFFFF"/>
                </a:solidFill>
              </a:rPr>
              <a:t> Caídas debidas a la elevada temperatura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Ópticas:</a:t>
            </a:r>
            <a:r>
              <a:rPr sz="1500">
                <a:solidFill>
                  <a:srgbClr val="FFFFFF"/>
                </a:solidFill>
              </a:rPr>
              <a:t> Efectos reflectivos por ángulo de incidencia (IAM).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Espectrales:</a:t>
            </a:r>
            <a:r>
              <a:rPr sz="1500">
                <a:solidFill>
                  <a:srgbClr val="FFFFFF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Óhmicas:</a:t>
            </a:r>
            <a:r>
              <a:rPr sz="1500">
                <a:solidFill>
                  <a:srgbClr val="FFFFFF"/>
                </a:solidFill>
              </a:rPr>
              <a:t> Pérdidas resistivas en la resistencia serie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