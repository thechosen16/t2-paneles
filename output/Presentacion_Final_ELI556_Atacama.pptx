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>
                <a:solidFill>
                  <a:srgbClr val="F1C40F"/>
                </a:solidFill>
              </a:defRPr>
            </a:pPr>
            <a:r>
              <a:rPr sz="38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34640"/>
            <a:ext cx="41148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728655" cy="256032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800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Integrantes / Estudiantes: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Profesor Guía: Carlos Cardenas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Limpios:</a:t>
            </a:r>
            <a:r>
              <a:rPr sz="1700">
                <a:solidFill>
                  <a:srgbClr val="FBFCFD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Efecto de Altitud:</a:t>
            </a:r>
            <a:r>
              <a:rPr sz="1700">
                <a:solidFill>
                  <a:srgbClr val="FBFCFD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Estudio Geográfico:</a:t>
            </a:r>
            <a:r>
              <a:rPr sz="1700">
                <a:solidFill>
                  <a:srgbClr val="FBFCFD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El Estrés Térmico de Operación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7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Literatura Académica y Modelos Utilizados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un Diodo Simple (SDM)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Estructura circuital clásica que describe eléctricamente la celda. Incorpora las pérdidas óhmicas en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las corrientes de fuga shunt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). *(Ecuación en Anexo IV, Lámina 22)*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Térmico de Sandia (SAPM) [King et al., 2004]: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Estima dinámicamente la temperatura interna de la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4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a partir de la irradiancia incidente y el viento. *(Ecuación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Transposición de Perez (1990) [Perez et al., 1990]: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Traducción geométrica de irradiancia sobre plano inclinado, modelando el cielo difuso anisotrópico. *(Ecuación en Anexo I, Lámina 19)*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Algoritmo de Parámetros de De Soto (2006)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Fórmulas para trasladar los parámetros desde STC a condiciones operacionales basándose en la energía de bandgap. *(Ecuaciones en Anexos V y VI, Láminas 23 y 24)*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1" name="Picture 10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y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Flujo de Procesamiento y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1: Ingesta de Datos (NREL Cocoa) [Marion et al., 2014]: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Extracción selectiva de variables de recurso solar y métricas de curvas I-V completas a partir del dataset experimental.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2: Filtro de Emulación Geográfica: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Traslación espacial, proyección a 2026 y desfase estacional de +6 meses para alinear el clima del Hemisferio Sur.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3: Modelamiento Físico y Ajuste Numérico: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Cálculo térmico de Sandia </a:t>
            </a:r>
            <a:r>
              <a:rPr sz="1300">
                <a:solidFill>
                  <a:srgbClr val="FBFCFD"/>
                </a:solidFill>
              </a:rPr>
              <a:t>King et al., 2004</a:t>
            </a:r>
            <a:r>
              <a:rPr sz="1300">
                <a:solidFill>
                  <a:srgbClr val="FBFCFD"/>
                </a:solidFill>
              </a:rPr>
              <a:t> y ajuste de mínimos cuadrados para obtener los 5 parámetros de De Soto </a:t>
            </a:r>
            <a:r>
              <a:rPr sz="1300">
                <a:solidFill>
                  <a:srgbClr val="FBFCFD"/>
                </a:solidFill>
              </a:rPr>
              <a:t>De Soto et al., 2006</a:t>
            </a:r>
            <a:r>
              <a:rPr sz="1300">
                <a:solidFill>
                  <a:srgbClr val="FBFCFD"/>
                </a:solidFill>
              </a:rPr>
              <a:t> en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4: Simulación Minutal de Operación: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Escalamiento dinámico de parámetros (Modelo De Soto) y resolución implícita de I-V mediante pvlib </a:t>
            </a:r>
            <a:r>
              <a:rPr sz="1300">
                <a:solidFill>
                  <a:srgbClr val="FBFCFD"/>
                </a:solidFill>
              </a:rPr>
              <a:t>Holmgren et al., 2018</a:t>
            </a:r>
            <a:r>
              <a:rPr sz="1300">
                <a:solidFill>
                  <a:srgbClr val="FBFCFD"/>
                </a:solidFill>
              </a:rPr>
              <a:t>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5: Evaluación de Performance Ratio (PR):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Integración anual y mensual del </a:t>
            </a:r>
            <a:r>
              <a:rPr sz="1300" i="1">
                <a:solidFill>
                  <a:srgbClr val="FBFCFD"/>
                </a:solidFill>
              </a:rPr>
              <a:t>PR</a:t>
            </a:r>
            <a:r>
              <a:rPr sz="1300">
                <a:solidFill>
                  <a:srgbClr val="FBFCFD"/>
                </a:solidFill>
              </a:rPr>
              <a:t> utilizando el estándar IEC 61724-1. *(Fórmulas y glosario en Anexo VII, Lámina 25)*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Pipeline de Simulación</a:t>
            </a:r>
          </a:p>
        </p:txBody>
      </p:sp>
      <p:pic>
        <p:nvPicPr>
          <p:cNvPr id="11" name="Picture 10" descr="simulation_pipelin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Procesamiento de Curvas I-V Minutales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Dataset experimental Cocoa (NREL) </a:t>
            </a:r>
            <a:r>
              <a:rPr sz="1700">
                <a:solidFill>
                  <a:srgbClr val="FBFCFD"/>
                </a:solidFill>
              </a:rPr>
              <a:t>Marion et al., 2014</a:t>
            </a:r>
            <a:r>
              <a:rPr sz="1700">
                <a:solidFill>
                  <a:srgbClr val="FBFCFD"/>
                </a:solidFill>
              </a:rPr>
              <a:t>. Contiene curvas I-V completas y mediciones meteorológicas minuto a minuto.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de Big Data:</a:t>
            </a:r>
            <a:r>
              <a:rPr sz="1700">
                <a:solidFill>
                  <a:srgbClr val="FBFCFD"/>
                </a:solidFill>
              </a:rPr>
              <a:t> Los archivos CSV unitarios superan los 100MB por tecnología, acumulando millones de registros de longitudes variables.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Lectores convencionales (e.g., Pandas `read_csv`) agotan la memoria RAM y fallan debido a caracteres atípicos en la metadata.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Solución: Pipeline de Lectura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Lector en Streaming:</a:t>
            </a:r>
            <a:r>
              <a:rPr sz="1700">
                <a:solidFill>
                  <a:srgbClr val="FBFCFD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Extracción Selectiva [Marion et al., 2014]:</a:t>
            </a:r>
            <a:r>
              <a:rPr sz="1700">
                <a:solidFill>
                  <a:srgbClr val="FBFCFD"/>
                </a:solidFill>
              </a:rPr>
              <a:t> Se ignoraron las series de curvas I-V completas en la carga inicial y se extrajeron únicamente los metadatos y puntos clave de operación (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700" i="1">
                <a:solidFill>
                  <a:srgbClr val="FBFCFD"/>
                </a:solidFill>
              </a:rPr>
              <a:t>sc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700" i="1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7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7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P</a:t>
            </a:r>
            <a:r>
              <a:rPr sz="17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 Automática:</a:t>
            </a:r>
            <a:r>
              <a:rPr sz="1700">
                <a:solidFill>
                  <a:srgbClr val="FBFCFD"/>
                </a:solidFill>
              </a:rPr>
              <a:t> Se descartaron registros nocturnos ($G &lt; 10$ W/m²) o incompletos, acelerando la simulación anual del recurso solar un 95%.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Mapa de Emulación Hemisférica</a:t>
            </a:r>
          </a:p>
        </p:txBody>
      </p:sp>
      <p:pic>
        <p:nvPicPr>
          <p:cNvPr id="7" name="Picture 6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4632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Implementación del Filtro de Emulación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Inconsistencia Estacional (Florida → Atacama):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Los datos experimentales de NREL Cocoa </a:t>
            </a:r>
            <a:r>
              <a:rPr sz="1400">
                <a:solidFill>
                  <a:srgbClr val="FBFCFD"/>
                </a:solidFill>
              </a:rPr>
              <a:t>Marion et al., 2014</a:t>
            </a:r>
            <a:r>
              <a:rPr sz="1400">
                <a:solidFill>
                  <a:srgbClr val="FBFCFD"/>
                </a:solidFill>
              </a:rPr>
              <a:t> se midieron en el Hemisferio Norte. Simularlos directamente en el Hemisferio Sur crearía un desfase físico absurdo entre solsticios e inviernos térmicos.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Desfase Temporal (+6 Meses):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implementó un desplazamiento estacional exacto de +6 meses (+182 días). Así, el perfil de calor de Florida coincide coherentemente con el verano del Hemisferio Sur.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Traducción Espacial a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Timestamp remapeado a 2026 con coordenadas de San Pedro de Atacama (Latitud −22.91° S, Longitud −68.20° W, Altitud 2400m) para calcular la inclinación óptima anual de </a:t>
            </a:r>
            <a:r>
              <a:rPr sz="1400" b="1">
                <a:solidFill>
                  <a:srgbClr val="FBFCFD"/>
                </a:solidFill>
              </a:rPr>
              <a:t>22.91° Norte</a:t>
            </a:r>
            <a:r>
              <a:rPr sz="14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FBFCFD"/>
                </a:solidFill>
              </a:rPr>
              <a:t>Holmgren et al., 2018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Alineación de Coordenadas: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Ajuste del ángulo cenital y azimutal en pvlib para simular una captación fotovoltaica impecable sin sombras locales.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de Recurso y Modificadores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Perez:</a:t>
            </a:r>
            <a:r>
              <a:rPr sz="1600">
                <a:solidFill>
                  <a:srgbClr val="FBFCFD"/>
                </a:solidFill>
              </a:rPr>
              <a:t> Ejecución del algoritmo </a:t>
            </a:r>
            <a:r>
              <a:rPr sz="1600">
                <a:solidFill>
                  <a:srgbClr val="FBFCFD"/>
                </a:solidFill>
              </a:rPr>
              <a:t>Perez et al., 1990</a:t>
            </a:r>
            <a:r>
              <a:rPr sz="1600">
                <a:solidFill>
                  <a:srgbClr val="FBFCFD"/>
                </a:solidFill>
              </a:rPr>
              <a:t> en pvlib para calcular la irradiancia total en el Plano del Arreglo ($G_{poa}$). *(Ecuación en Anexo I, Lámina 19)*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IAM:</a:t>
            </a:r>
            <a:r>
              <a:rPr sz="1600">
                <a:solidFill>
                  <a:srgbClr val="FBFCFD"/>
                </a:solidFill>
              </a:rPr>
              <a:t> Pérdidas por reflexión en el cristal basadas en la Ley de Snell y Bouguer </a:t>
            </a:r>
            <a:r>
              <a:rPr sz="1600">
                <a:solidFill>
                  <a:srgbClr val="FBFCFD"/>
                </a:solidFill>
              </a:rPr>
              <a:t>King et al., 2004</a:t>
            </a:r>
            <a:r>
              <a:rPr sz="1600">
                <a:solidFill>
                  <a:srgbClr val="FBFCFD"/>
                </a:solidFill>
              </a:rPr>
              <a:t> (espesor 2mm, índice refracción 1.526). *(Fórmulas en Anexo II, Lámina 20)*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Espectral (AM):</a:t>
            </a:r>
            <a:r>
              <a:rPr sz="1600">
                <a:solidFill>
                  <a:srgbClr val="FBFCFD"/>
                </a:solidFill>
              </a:rPr>
              <a:t> Corrección empírica de masa de aire de cuarto orden </a:t>
            </a:r>
            <a:r>
              <a:rPr sz="1600">
                <a:solidFill>
                  <a:srgbClr val="FBFCFD"/>
                </a:solidFill>
              </a:rPr>
              <a:t>King et al., 2004</a:t>
            </a:r>
            <a:r>
              <a:rPr sz="1600">
                <a:solidFill>
                  <a:srgbClr val="FBFCFD"/>
                </a:solidFill>
              </a:rPr>
              <a:t> según la elevación del sol. *(Fórmula en Anexo II, Lámina 20)*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Estimación de Temperatura Sandia (SAPM)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Modelación Tc:</a:t>
            </a:r>
            <a:r>
              <a:rPr sz="1600">
                <a:solidFill>
                  <a:srgbClr val="FBFCFD"/>
                </a:solidFill>
              </a:rPr>
              <a:t> Estimación dinámica de la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6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usando coeficientes empíricos de encapsulado del modelo de Sandia </a:t>
            </a:r>
            <a:r>
              <a:rPr sz="1600">
                <a:solidFill>
                  <a:srgbClr val="FBFCFD"/>
                </a:solidFill>
              </a:rPr>
              <a:t>King et al., 2004</a:t>
            </a:r>
            <a:r>
              <a:rPr sz="1600">
                <a:solidFill>
                  <a:srgbClr val="FBFCFD"/>
                </a:solidFill>
              </a:rPr>
              <a:t>. *(Fórmula en Anexo III, Lámina 21)*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Asunciones Justificadas en Atacama: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1. </a:t>
            </a:r>
            <a:r>
              <a:rPr sz="1600" b="1">
                <a:solidFill>
                  <a:srgbClr val="FBFCFD"/>
                </a:solidFill>
              </a:rPr>
              <a:t>Velocidad del Viento:</a:t>
            </a:r>
            <a:r>
              <a:rPr sz="1600">
                <a:solidFill>
                  <a:srgbClr val="FBFCFD"/>
                </a:solidFill>
              </a:rPr>
              <a:t> Fijada constante en </a:t>
            </a:r>
            <a:r>
              <a:rPr sz="1600" b="1">
                <a:solidFill>
                  <a:srgbClr val="FBFCFD"/>
                </a:solidFill>
              </a:rPr>
              <a:t>1 m/s</a:t>
            </a:r>
            <a:r>
              <a:rPr sz="1600">
                <a:solidFill>
                  <a:srgbClr val="FBFCFD"/>
                </a:solidFill>
              </a:rPr>
              <a:t> (valor conservador de diseño que minimiza pérdidas por convección artificial).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2. </a:t>
            </a:r>
            <a:r>
              <a:rPr sz="1600" b="1">
                <a:solidFill>
                  <a:srgbClr val="FBFCFD"/>
                </a:solidFill>
              </a:rPr>
              <a:t>Reflectancia del Suelo (Albedo):</a:t>
            </a:r>
            <a:r>
              <a:rPr sz="1600">
                <a:solidFill>
                  <a:srgbClr val="FBFCFD"/>
                </a:solidFill>
              </a:rPr>
              <a:t> Fijada en </a:t>
            </a:r>
            <a:r>
              <a:rPr sz="1600" b="1">
                <a:solidFill>
                  <a:srgbClr val="FBFCFD"/>
                </a:solidFill>
              </a:rPr>
              <a:t>0.20</a:t>
            </a:r>
            <a:r>
              <a:rPr sz="1600">
                <a:solidFill>
                  <a:srgbClr val="FBFCFD"/>
                </a:solidFill>
              </a:rPr>
              <a:t> (suelo arenoso/árido típico del desierto de Atacama).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Desafío de Datasheet y Algoritmo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 Problema:</a:t>
            </a:r>
            <a:r>
              <a:rPr sz="1700">
                <a:solidFill>
                  <a:srgbClr val="FBFCFD"/>
                </a:solidFill>
              </a:rPr>
              <a:t> La base experimental Cocoa usa códigos internos del NREL (`mSi0166`, `HIT05667`) que no figuran directamente en datasheets comerciales estándar.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Solución: Extracción en STC:</a:t>
            </a:r>
            <a:r>
              <a:rPr sz="1700">
                <a:solidFill>
                  <a:srgbClr val="FBFCFD"/>
                </a:solidFill>
              </a:rPr>
              <a:t> Se diseñó un algoritmo para caracterizar las propiedades nominales directamente desde la base de datos experimental minutal </a:t>
            </a:r>
            <a:r>
              <a:rPr sz="1700">
                <a:solidFill>
                  <a:srgbClr val="FBFCFD"/>
                </a:solidFill>
              </a:rPr>
              <a:t>De Soto et al., 2006</a:t>
            </a:r>
            <a:r>
              <a:rPr sz="1700">
                <a:solidFill>
                  <a:srgbClr val="FBFCFD"/>
                </a:solidFill>
              </a:rPr>
              <a:t>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Condiciones de Referencia (SRC):</a:t>
            </a:r>
            <a:r>
              <a:rPr sz="1700">
                <a:solidFill>
                  <a:srgbClr val="FBFCFD"/>
                </a:solidFill>
              </a:rPr>
              <a:t> Se filtraron mediciones instantáneas bajo condiciones estándar ($G \approx 1000$ W/m² y temperatura de celda $T_c \approx 25^\circ\text{C}$).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Cálculo Experimental de Coeficientes Térmicos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Coeficientes Térmicos ($_x0007_lpha_{Isc}$ y $_x0008_eta_{Voc}$):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Calculados directamente de los datos usando regresiones lineales en periodos estables y de alta radiación ($G &gt; 800$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Normalización y Consistencia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La corriente de cortocircuito se normalizó por irradiancia efectiva para aislar el coeficiente de ganancia térmica pura y asegurar consistencia paramétrica.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Sistema de Ajuste Trascendental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Formulación Matemática:</a:t>
            </a:r>
            <a:r>
              <a:rPr sz="1600">
                <a:solidFill>
                  <a:srgbClr val="FBFCFD"/>
                </a:solidFill>
              </a:rPr>
              <a:t> Ecuaciones del modelo SDM de 5 parámetros planteadas en STC para cortocircuito, circuito abierto y máxima potencia </a:t>
            </a:r>
            <a:r>
              <a:rPr sz="1600">
                <a:solidFill>
                  <a:srgbClr val="FBFCFD"/>
                </a:solidFill>
              </a:rPr>
              <a:t>De Soto et al., 2006</a:t>
            </a:r>
            <a:r>
              <a:rPr sz="1600">
                <a:solidFill>
                  <a:srgbClr val="FBFCFD"/>
                </a:solidFill>
              </a:rPr>
              <a:t>. *(Ecuación en Anexo V, Lámina 23)*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Optimización de Mínimos Cuadrados:</a:t>
            </a:r>
            <a:r>
              <a:rPr sz="1600">
                <a:solidFill>
                  <a:srgbClr val="FBFCFD"/>
                </a:solidFill>
              </a:rPr>
              <a:t> Resolución simultánea del sistema no lineal trascendental mediante scipy en Python para obtener los valores óptimos nominales.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Consistencia Física (Bounds):</a:t>
            </a:r>
            <a:r>
              <a:rPr sz="1600">
                <a:solidFill>
                  <a:srgbClr val="FBFCFD"/>
                </a:solidFill>
              </a:rPr>
              <a:t> Restricciones explícitas de resistencia serie mayor a cero ($R</a:t>
            </a:r>
            <a:r>
              <a:rPr sz="1600" i="1">
                <a:solidFill>
                  <a:srgbClr val="FBFCFD"/>
                </a:solidFill>
              </a:rPr>
              <a:t>{s,ref} &gt; 0$) y factor de idealidad $n</a:t>
            </a:r>
            <a:r>
              <a:rPr sz="1600">
                <a:solidFill>
                  <a:srgbClr val="FBFCFD"/>
                </a:solidFill>
              </a:rPr>
              <a:t>I \in </a:t>
            </a:r>
            <a:r>
              <a:rPr sz="1600">
                <a:solidFill>
                  <a:srgbClr val="FBFCFD"/>
                </a:solidFill>
              </a:rPr>
              <a:t>1, 2</a:t>
            </a:r>
            <a:r>
              <a:rPr sz="1600">
                <a:solidFill>
                  <a:srgbClr val="FBFCFD"/>
                </a:solidFill>
              </a:rPr>
              <a:t>$ para garantizar sentido físico.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Resultados de Parámetros en STC Extraídos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(Silicio Monocristalino)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$I</a:t>
            </a:r>
            <a:r>
              <a:rPr sz="1600" i="1">
                <a:solidFill>
                  <a:srgbClr val="FBFCFD"/>
                </a:solidFill>
              </a:rPr>
              <a:t>{L,ref}$ = 2.768 A  |  $I</a:t>
            </a:r>
            <a:r>
              <a:rPr sz="1600">
                <a:solidFill>
                  <a:srgbClr val="FBFCFD"/>
                </a:solidFill>
              </a:rPr>
              <a:t>{0,ref}$ = $4.13 \times 10^{-9}$ A  |  $R</a:t>
            </a:r>
            <a:r>
              <a:rPr sz="1600" i="1">
                <a:solidFill>
                  <a:srgbClr val="FBFCFD"/>
                </a:solidFill>
              </a:rPr>
              <a:t>{s,ref}$ = 0.542 $\Omega$  |  $R</a:t>
            </a:r>
            <a:r>
              <a:rPr sz="1600">
                <a:solidFill>
                  <a:srgbClr val="FBFCFD"/>
                </a:solidFill>
              </a:rPr>
              <a:t>{sh,ref}$ = 352.4 $\Omega$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(Heterounión)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$I</a:t>
            </a:r>
            <a:r>
              <a:rPr sz="1600" i="1">
                <a:solidFill>
                  <a:srgbClr val="FBFCFD"/>
                </a:solidFill>
              </a:rPr>
              <a:t>{L,ref}$ = 5.607 A  |  $I</a:t>
            </a:r>
            <a:r>
              <a:rPr sz="1600">
                <a:solidFill>
                  <a:srgbClr val="FBFCFD"/>
                </a:solidFill>
              </a:rPr>
              <a:t>{0,ref}$ = $4.68 \times 10^{-10}$ A  |  $R</a:t>
            </a:r>
            <a:r>
              <a:rPr sz="1600" i="1">
                <a:solidFill>
                  <a:srgbClr val="FBFCFD"/>
                </a:solidFill>
              </a:rPr>
              <a:t>{s,ref}$ = 0.412 $\Omega$  |  $R</a:t>
            </a:r>
            <a:r>
              <a:rPr sz="1600">
                <a:solidFill>
                  <a:srgbClr val="FBFCFD"/>
                </a:solidFill>
              </a:rPr>
              <a:t>{sh,ref}$ = 612.8 $\Omega$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Coherencia Física:</a:t>
            </a:r>
            <a:r>
              <a:rPr sz="1600">
                <a:solidFill>
                  <a:srgbClr val="FBFCFD"/>
                </a:solidFill>
              </a:rPr>
              <a:t> La corriente de saturación inversa ($I_0$) de HIT es un orden de magnitud inferior, demostrando su menor recombinación intrínseca por temperatura.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Escalamiento Dinámico a Condiciones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Traslado de De Soto:</a:t>
            </a:r>
            <a:r>
              <a:rPr sz="1600">
                <a:solidFill>
                  <a:srgbClr val="FBFCFD"/>
                </a:solidFill>
              </a:rPr>
              <a:t> Para cada intervalo de la simulación anual 2026, los 5 parámetros se escalaron a la irradiancia efectiva ($S$) y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6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locales </a:t>
            </a:r>
            <a:r>
              <a:rPr sz="1600">
                <a:solidFill>
                  <a:srgbClr val="FBFCFD"/>
                </a:solidFill>
              </a:rPr>
              <a:t>De Soto et al., 2006</a:t>
            </a:r>
            <a:r>
              <a:rPr sz="1600">
                <a:solidFill>
                  <a:srgbClr val="FBFCFD"/>
                </a:solidFill>
              </a:rPr>
              <a:t>. *(Ecuaciones en Anexo VI, Lámina 24)*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Dependencia del Bandgap:</a:t>
            </a:r>
            <a:r>
              <a:rPr sz="1600">
                <a:solidFill>
                  <a:srgbClr val="FBFCFD"/>
                </a:solidFill>
              </a:rPr>
              <a:t> Variación térmica no lineal del bandgap de silicio (</a:t>
            </a:r>
            <a:r>
              <a:rPr sz="1600" i="1">
                <a:solidFill>
                  <a:srgbClr val="FBFCFD"/>
                </a:solidFill>
              </a:rPr>
              <a:t>E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) y factor de idealidad térmico (</a:t>
            </a:r>
            <a:r>
              <a:rPr sz="1600" i="1">
                <a:solidFill>
                  <a:srgbClr val="FBFCFD"/>
                </a:solidFill>
              </a:rPr>
              <a:t>a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Resistencias Shunt y Serie:</a:t>
            </a:r>
            <a:r>
              <a:rPr sz="1600">
                <a:solidFill>
                  <a:srgbClr val="FBFCFD"/>
                </a:solidFill>
              </a:rPr>
              <a:t> Resistencia paralelo inversamente proporcional a la irradiancia. Resistencia serie asumida constante según validaciones NIST </a:t>
            </a:r>
            <a:r>
              <a:rPr sz="1600">
                <a:solidFill>
                  <a:srgbClr val="FBFCFD"/>
                </a:solidFill>
              </a:rPr>
              <a:t>De Soto et al., 2006</a:t>
            </a:r>
            <a:r>
              <a:rPr sz="16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Resolución Implícita del Circuito (MPP)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Resolución Numérica:</a:t>
            </a:r>
            <a:r>
              <a:rPr sz="1600">
                <a:solidFill>
                  <a:srgbClr val="FBFCFD"/>
                </a:solidFill>
              </a:rPr>
              <a:t> Empleo del algoritmo implícito `calcparams_desoto` de pvlib </a:t>
            </a:r>
            <a:r>
              <a:rPr sz="1600">
                <a:solidFill>
                  <a:srgbClr val="FBFCFD"/>
                </a:solidFill>
              </a:rPr>
              <a:t>Holmgren et al., 2018</a:t>
            </a:r>
            <a:r>
              <a:rPr sz="1600">
                <a:solidFill>
                  <a:srgbClr val="FBFCFD"/>
                </a:solidFill>
              </a:rPr>
              <a:t> para obtener los parámetros en cada minuto.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Búsqueda del MPP:</a:t>
            </a:r>
            <a:r>
              <a:rPr sz="1600">
                <a:solidFill>
                  <a:srgbClr val="FBFCFD"/>
                </a:solidFill>
              </a:rPr>
              <a:t> Se resolvió la ecuación trascendental del diodo simple utilizando la función W de Lambert para ubicar el Punto de Máxima Potencia ($P_{mp,SDM}$).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Cómputo de Energía:</a:t>
            </a:r>
            <a:r>
              <a:rPr sz="1600">
                <a:solidFill>
                  <a:srgbClr val="FBFCFD"/>
                </a:solidFill>
              </a:rPr>
              <a:t> Integración temporal de la potencia útil minutal para consolidar la energía anual generada por cada panel.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Distribución de Temperatura de Celda</a:t>
            </a:r>
          </a:p>
        </p:txBody>
      </p:sp>
      <p:pic>
        <p:nvPicPr>
          <p:cNvPr id="7" name="Picture 6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0" y="1097280"/>
            <a:ext cx="487649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18872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Picos Térmicos Extremos de Celda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4510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65°C a 70°C</a:t>
            </a:r>
            <a:r>
              <a:rPr sz="1600" b="1">
                <a:solidFill>
                  <a:srgbClr val="FF5E3A"/>
                </a:solidFill>
              </a:rPr>
              <a:t> de temperatura operativa recurrente durante las horas del mediodía solar en Atacama.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743200"/>
            <a:ext cx="487649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83464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00400"/>
            <a:ext cx="45107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Estrés Térmico Evidenciado:</a:t>
            </a:r>
            <a:r>
              <a:rPr sz="1300">
                <a:solidFill>
                  <a:srgbClr val="FBFCFD"/>
                </a:solidFill>
              </a:rPr>
              <a:t> La simulación térmica minutal revela temperaturas de celda operativas recurrentes muy por encima de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Enfriamiento Convectivo Limitado:</a:t>
            </a:r>
            <a:r>
              <a:rPr sz="1300">
                <a:solidFill>
                  <a:srgbClr val="FBFCFD"/>
                </a:solidFill>
              </a:rPr>
              <a:t> Al asumir velocidad de viento conservadora de 1 m/s en SAPM </a:t>
            </a:r>
            <a:r>
              <a:rPr sz="1300">
                <a:solidFill>
                  <a:srgbClr val="FBFCFD"/>
                </a:solidFill>
              </a:rPr>
              <a:t>King et al., 2004</a:t>
            </a:r>
            <a:r>
              <a:rPr sz="1300">
                <a:solidFill>
                  <a:srgbClr val="FBFCFD"/>
                </a:solidFill>
              </a:rPr>
              <a:t>, se modela el escenario de mayor estrés físico.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Voltaje [De Soto et al., 2006]:</a:t>
            </a:r>
            <a:r>
              <a:rPr sz="1300">
                <a:solidFill>
                  <a:srgbClr val="FBFCFD"/>
                </a:solidFill>
              </a:rPr>
              <a:t> El calentamiento incrementa la corriente de saturación inversa ($I</a:t>
            </a:r>
            <a:r>
              <a:rPr sz="1300" i="1">
                <a:solidFill>
                  <a:srgbClr val="FBFCFD"/>
                </a:solidFill>
              </a:rPr>
              <a:t>0$), deprimiendo la tensión de circuito abierto ($V</a:t>
            </a:r>
            <a:r>
              <a:rPr sz="1300">
                <a:solidFill>
                  <a:srgbClr val="FBFCFD"/>
                </a:solidFill>
              </a:rPr>
              <a:t>{oc}$).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Validación: Potencia Medida vs. Simulada</a:t>
            </a:r>
          </a:p>
        </p:txBody>
      </p:sp>
      <p:pic>
        <p:nvPicPr>
          <p:cNvPr id="7" name="Picture 6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097280"/>
            <a:ext cx="51508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097280"/>
            <a:ext cx="73152" cy="1463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18872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785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00D2FF"/>
                </a:solidFill>
              </a:defRPr>
            </a:pPr>
            <a:r>
              <a:rPr sz="1600" b="1">
                <a:solidFill>
                  <a:srgbClr val="00D2FF"/>
                </a:solidFill>
              </a:rPr>
              <a:t>R² &gt; 0.99</a:t>
            </a:r>
            <a:r>
              <a:rPr sz="1600" b="1">
                <a:solidFill>
                  <a:srgbClr val="00D2FF"/>
                </a:solidFill>
              </a:rPr>
              <a:t>  |  </a:t>
            </a:r>
            <a:r>
              <a:rPr sz="1600" b="1">
                <a:solidFill>
                  <a:srgbClr val="00D2FF"/>
                </a:solidFill>
              </a:rPr>
              <a:t>RMSE &lt; 5W</a:t>
            </a:r>
            <a:r>
              <a:rPr sz="1600" b="1">
                <a:solidFill>
                  <a:srgbClr val="00D2FF"/>
                </a:solidFill>
              </a:rPr>
              <a:t> de desviación minutal promedio bajo condiciones solares plenas.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43200"/>
            <a:ext cx="51508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3464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Métricas de Ajuste y Rigor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00400"/>
            <a:ext cx="47850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Fidelidad del Ajuste [De Soto et al., 2006]:</a:t>
            </a:r>
            <a:r>
              <a:rPr sz="1300">
                <a:solidFill>
                  <a:srgbClr val="FBFCFD"/>
                </a:solidFill>
              </a:rPr>
              <a:t> Coeficiente de determinación $R^2 &gt; 0.99$ en validación cruzada frente a datos medidos, confirmando la precisión del modelo en todo el espectro.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Desviación Minutal (RMSE):</a:t>
            </a:r>
            <a:r>
              <a:rPr sz="1300">
                <a:solidFill>
                  <a:srgbClr val="FBFCFD"/>
                </a:solidFill>
              </a:rPr>
              <a:t> Error cuadrático medio ($RMSE$) extremadamente bajo en periodos estables diurnos.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Zonas de Discrepancia:</a:t>
            </a:r>
            <a:r>
              <a:rPr sz="1300">
                <a:solidFill>
                  <a:srgbClr val="FBFCFD"/>
                </a:solidFill>
              </a:rPr>
              <a:t> Leve dispersión en irradiancias bajas por la idealización empírica de la resistencia shunt.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Acoplamiento Rs - factor de idealidad 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Alta Correlación Paramétrica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resistencia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el factor de idealidad del diodo (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influyen de manera similar en la redondez de la curva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-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 cerca del MPP.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Problema Matemático Mal Condicionado: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Múltiples combinaciones del par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pueden resultar en un ajuste idéntico de curvas con un error residual mínimo similar, perdiendo significado físico real.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Mitigación y Solución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fijaron límites estrictos en el optimizador multivariable: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&gt; 0  | 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 ∈ </a:t>
            </a:r>
            <a:r>
              <a:rPr sz="1400">
                <a:solidFill>
                  <a:srgbClr val="FBFCFD"/>
                </a:solidFill>
              </a:rPr>
              <a:t>1.0, 2.0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Esto evita la convergencia a soluciones matemáticamente correctas pero físicamente imposibles.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Resistencia Shunt (R_sh) e Irradiancia (G):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=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sh,ref</a:t>
            </a:r>
            <a:r>
              <a:rPr sz="1400">
                <a:solidFill>
                  <a:srgbClr val="FBFCFD"/>
                </a:solidFill>
              </a:rPr>
              <a:t> · (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 i="1">
                <a:solidFill>
                  <a:srgbClr val="FBFCFD"/>
                </a:solidFill>
              </a:rPr>
              <a:t>ref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Rs Constante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4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675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Normalización por Potencia Nominal</a:t>
            </a:r>
          </a:p>
        </p:txBody>
      </p:sp>
      <p:pic>
        <p:nvPicPr>
          <p:cNvPr id="7" name="Picture 6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364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18872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de Temperatura (Pmp)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870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m-Si:</a:t>
            </a:r>
            <a:r>
              <a:rPr sz="1500" b="1">
                <a:solidFill>
                  <a:srgbClr val="FF5E3A"/>
                </a:solidFill>
              </a:rPr>
              <a:t> −0.40 %/°C (Pérdidas severas)</a:t>
            </a:r>
          </a:p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HIT:</a:t>
            </a:r>
            <a:r>
              <a:rPr sz="1500" b="1">
                <a:solidFill>
                  <a:srgbClr val="FF5E3A"/>
                </a:solidFill>
              </a:rPr>
              <a:t> −0.26 %/°C (Alta tolerancia)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743200"/>
            <a:ext cx="42364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283464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00400"/>
            <a:ext cx="3870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Heterounión (HIT - Naranja) [De Soto et al., 2006]:</a:t>
            </a:r>
            <a:r>
              <a:rPr sz="1300">
                <a:solidFill>
                  <a:srgbClr val="FBFCFD"/>
                </a:solidFill>
              </a:rPr>
              <a:t> Coeficiente de temperatura muy bajo, preservando una alta eficiencia de conversión a 65°C.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Silicio (m-Si - Azul) [De Soto et al., 2006]:</a:t>
            </a:r>
            <a:r>
              <a:rPr sz="1300">
                <a:solidFill>
                  <a:srgbClr val="FBFCFD"/>
                </a:solidFill>
              </a:rPr>
              <a:t> Descenso térmico pronunciado que penaliza la potencia generada durante el mediodía solar.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PR Anual:</a:t>
            </a:r>
            <a:r>
              <a:rPr sz="1300">
                <a:solidFill>
                  <a:srgbClr val="FBFCFD"/>
                </a:solidFill>
              </a:rPr>
              <a:t> Explica mecánicamente la diferencia del Performance Ratio entre tecnologías. *(Ecuación de PR en Anexo VII, Lámina 25)*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1645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Veredicto de Performance Ratio (PR 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HIT (Heterounión): 86.92%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m-Si (Monocristalino): 84.53%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Ganancia Neta: +2.39%</a:t>
            </a:r>
            <a:r>
              <a:rPr sz="1600" b="1">
                <a:solidFill>
                  <a:srgbClr val="F1C40F"/>
                </a:solidFill>
              </a:rPr>
              <a:t> en PR anual.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3200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Conclusión Técnica de Diseño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Superioridad Física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HIT demuestra superioridad física indiscutible en Atacama. Su celda híbrida intrínsecamente resiste el calor amortiguando la caída de la tensión en circuito abierto ($V_{oc}$).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Estructura Híbrida:</a:t>
            </a:r>
            <a:r>
              <a:rPr sz="1400">
                <a:solidFill>
                  <a:srgbClr val="FBFCFD"/>
                </a:solidFill>
              </a:rPr>
              <a:t> Capas delgadas que atenúan recombinación de portadores debida a excitación térmica.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16459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Impacto Financiero (Planta de 100 MWp)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~6,000 MWh/año de generación adicional</a:t>
            </a:r>
            <a:r>
              <a:rPr sz="1600" b="1">
                <a:solidFill>
                  <a:srgbClr val="FF5E3A"/>
                </a:solidFill>
              </a:rPr>
              <a:t>  </a:t>
            </a:r>
          </a:p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+USD 270,000 anuales</a:t>
            </a:r>
            <a:r>
              <a:rPr sz="1600" b="1">
                <a:solidFill>
                  <a:srgbClr val="FF5E3A"/>
                </a:solidFill>
              </a:rPr>
              <a:t> de facturación neta.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926080"/>
            <a:ext cx="73152" cy="3200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de Retorno de Inversión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Equivalencia Energética:</a:t>
            </a:r>
            <a:r>
              <a:rPr sz="1400">
                <a:solidFill>
                  <a:srgbClr val="FBFCFD"/>
                </a:solidFill>
              </a:rPr>
              <a:t> Cada +1% de PR equivale a ~2,500 MWh de energía extra anual en una planta comercial de 100 MWp.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Viabilidad en 25 Años:</a:t>
            </a:r>
            <a:r>
              <a:rPr sz="1400">
                <a:solidFill>
                  <a:srgbClr val="FBFCFD"/>
                </a:solidFill>
              </a:rPr>
              <a:t> Una mayor facturación neta de USD 270k anuales amortiza con holgura la inversión inicial (CAPEX) extra de paneles HIT frente a m-Si.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1. </a:t>
            </a:r>
            <a:r>
              <a:rPr sz="1700" b="1">
                <a:solidFill>
                  <a:srgbClr val="FBFCFD"/>
                </a:solidFill>
              </a:rPr>
              <a:t>Fidelidad Metodológica:</a:t>
            </a:r>
            <a:r>
              <a:rPr sz="1700">
                <a:solidFill>
                  <a:srgbClr val="FBFCFD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2. </a:t>
            </a:r>
            <a:r>
              <a:rPr sz="1700" b="1">
                <a:solidFill>
                  <a:srgbClr val="FBFCFD"/>
                </a:solidFill>
              </a:rPr>
              <a:t>Ajuste Robusto:</a:t>
            </a:r>
            <a:r>
              <a:rPr sz="1700">
                <a:solidFill>
                  <a:srgbClr val="FBFCFD"/>
                </a:solidFill>
              </a:rPr>
              <a:t> El modelo De Soto de 5 parámetros reprodujo con alta precisión ($R^2 &gt; 0.99$) el comportamiento del circuito.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3. </a:t>
            </a:r>
            <a:r>
              <a:rPr sz="1700" b="1">
                <a:solidFill>
                  <a:srgbClr val="FBFCFD"/>
                </a:solidFill>
              </a:rPr>
              <a:t>HIT Vencedor:</a:t>
            </a:r>
            <a:r>
              <a:rPr sz="1700">
                <a:solidFill>
                  <a:srgbClr val="FBFCFD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4. </a:t>
            </a:r>
            <a:r>
              <a:rPr sz="1700" b="1">
                <a:solidFill>
                  <a:srgbClr val="FBFCFD"/>
                </a:solidFill>
              </a:rPr>
              <a:t>Recomendación:</a:t>
            </a:r>
            <a:r>
              <a:rPr sz="1700">
                <a:solidFill>
                  <a:srgbClr val="FBFCFD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Integración de Bifacialidad:</a:t>
            </a:r>
            <a:r>
              <a:rPr sz="1600">
                <a:solidFill>
                  <a:srgbClr val="FBFCFD"/>
                </a:solidFill>
              </a:rPr>
              <a:t> Incorporar el aporte de la irradiancia reflejada (albedo desértico, $_x000D_ho &gt; 0.25$) en la cara posterior del módulo.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por Soiling:</a:t>
            </a:r>
            <a:r>
              <a:rPr sz="1600">
                <a:solidFill>
                  <a:srgbClr val="FBFCFD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Estudio Espectral Avanzado:</a:t>
            </a:r>
            <a:r>
              <a:rPr sz="1600">
                <a:solidFill>
                  <a:srgbClr val="FBFCFD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Análisis de Doble Diodo:</a:t>
            </a:r>
            <a:r>
              <a:rPr sz="1600">
                <a:solidFill>
                  <a:srgbClr val="FBFCFD"/>
                </a:solidFill>
              </a:rPr>
              <a:t> Capturar los efectos de recombinación no ideal a baja irradiancia.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3. NREL Cocoa Dataset - Experimental Measurements for Model Validation.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4. pvlib-python Library documentation &amp; community contributors.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POA (Modelo de Perez)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8" name="Picture 7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 i="1">
                <a:solidFill>
                  <a:srgbClr val="F1C40F"/>
                </a:solidFill>
              </a:rPr>
              <a:t>d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>
                <a:solidFill>
                  <a:srgbClr val="F1C40F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β</a:t>
            </a:r>
            <a:r>
              <a:rPr sz="1500">
                <a:solidFill>
                  <a:srgbClr val="F1C40F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ρ</a:t>
            </a:r>
            <a:r>
              <a:rPr sz="1500">
                <a:solidFill>
                  <a:srgbClr val="F1C40F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R</a:t>
            </a:r>
            <a:r>
              <a:rPr sz="1500" i="1">
                <a:solidFill>
                  <a:srgbClr val="F1C40F"/>
                </a:solidFill>
              </a:rPr>
              <a:t>beam</a:t>
            </a:r>
            <a:r>
              <a:rPr sz="1500">
                <a:solidFill>
                  <a:srgbClr val="F1C40F"/>
                </a:solidFill>
              </a:rPr>
              <a:t>: Factor de transposición geométrica directa.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Absorción en Celda (Pérdidas Ópticas)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4" name="Picture 13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5" name="Picture 14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6" name="Picture 15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Donde: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 i="1">
                <a:solidFill>
                  <a:srgbClr val="FBFCFD"/>
                </a:solidFill>
              </a:rPr>
              <a:t>ref</a:t>
            </a:r>
            <a:r>
              <a:rPr sz="1600">
                <a:solidFill>
                  <a:srgbClr val="FBFCFD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600" i="1">
                <a:solidFill>
                  <a:srgbClr val="FBFCFD"/>
                </a:solidFill>
              </a:rPr>
              <a:t>τα,b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600" i="1">
                <a:solidFill>
                  <a:srgbClr val="FBFCFD"/>
                </a:solidFill>
              </a:rPr>
              <a:t>τα,d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600" i="1">
                <a:solidFill>
                  <a:srgbClr val="FBFCFD"/>
                </a:solidFill>
              </a:rPr>
              <a:t>τα,g</a:t>
            </a:r>
            <a:r>
              <a:rPr sz="1600">
                <a:solidFill>
                  <a:srgbClr val="FBFCFD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física basada en Ley de Snell y Bouguer:</a:t>
            </a:r>
          </a:p>
        </p:txBody>
      </p:sp>
      <p:pic>
        <p:nvPicPr>
          <p:cNvPr id="8" name="Picture 7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9" name="Picture 8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10" name="Picture 9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θ</a:t>
            </a:r>
            <a:r>
              <a:rPr sz="1500">
                <a:solidFill>
                  <a:srgbClr val="F1C40F"/>
                </a:solidFill>
              </a:rPr>
              <a:t>: Ángulo de incidencia  |  </a:t>
            </a:r>
            <a:r>
              <a:rPr sz="1500" i="1">
                <a:solidFill>
                  <a:srgbClr val="F1C40F"/>
                </a:solidFill>
              </a:rPr>
              <a:t>n</a:t>
            </a:r>
            <a:r>
              <a:rPr sz="1500">
                <a:solidFill>
                  <a:srgbClr val="F1C40F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K</a:t>
            </a:r>
            <a:r>
              <a:rPr sz="1500">
                <a:solidFill>
                  <a:srgbClr val="F1C40F"/>
                </a:solidFill>
              </a:rPr>
              <a:t> = 4 m⁻¹ (Extinción del vidrio)  |  </a:t>
            </a:r>
            <a:r>
              <a:rPr sz="1500" i="1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= 2 mm (Espesor del vidrio).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Masa de Aire (AM)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Corrige el desajuste del espectro según la atmósfera atravesada:</a:t>
            </a:r>
          </a:p>
        </p:txBody>
      </p:sp>
      <p:pic>
        <p:nvPicPr>
          <p:cNvPr id="16" name="Picture 15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7" name="Picture 16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AM</a:t>
            </a:r>
            <a:r>
              <a:rPr sz="1500">
                <a:solidFill>
                  <a:srgbClr val="FBFCFD"/>
                </a:solidFill>
              </a:rPr>
              <a:t>: Masa de aire absoluta  |  </a:t>
            </a:r>
            <a:r>
              <a:rPr sz="1500" i="1">
                <a:solidFill>
                  <a:srgbClr val="FBFCFD"/>
                </a:solidFill>
              </a:rPr>
              <a:t>θ</a:t>
            </a:r>
            <a:r>
              <a:rPr sz="1500" i="1">
                <a:solidFill>
                  <a:srgbClr val="FBFCFD"/>
                </a:solidFill>
              </a:rPr>
              <a:t>z</a:t>
            </a:r>
            <a:r>
              <a:rPr sz="1500">
                <a:solidFill>
                  <a:srgbClr val="FBFCFD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 a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 i="1">
                <a:solidFill>
                  <a:srgbClr val="FBFCFD"/>
                </a:solidFill>
              </a:rPr>
              <a:t>4</a:t>
            </a:r>
            <a:r>
              <a:rPr sz="1500">
                <a:solidFill>
                  <a:srgbClr val="FBFCFD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M</a:t>
            </a:r>
            <a:r>
              <a:rPr sz="1500" i="1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Transmitancia espectral a condiciones de referencia (AM 1.5g).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7" name="Picture 6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500" i="1">
                <a:solidFill>
                  <a:srgbClr val="F1C40F"/>
                </a:solidFill>
              </a:rPr>
              <a:t>c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5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 i="1">
                <a:solidFill>
                  <a:srgbClr val="F1C40F"/>
                </a:solidFill>
              </a:rPr>
              <a:t>poa</a:t>
            </a:r>
            <a:r>
              <a:rPr sz="1500">
                <a:solidFill>
                  <a:srgbClr val="F1C40F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v</a:t>
            </a:r>
            <a:r>
              <a:rPr sz="1500" i="1">
                <a:solidFill>
                  <a:srgbClr val="F1C40F"/>
                </a:solidFill>
              </a:rPr>
              <a:t>w</a:t>
            </a:r>
            <a:r>
              <a:rPr sz="1500">
                <a:solidFill>
                  <a:srgbClr val="F1C40F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ΔT</a:t>
            </a:r>
            <a:r>
              <a:rPr sz="1500">
                <a:solidFill>
                  <a:srgbClr val="F1C40F"/>
                </a:solidFill>
              </a:rPr>
              <a:t>: Parámetros empíricos de encapsulado.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338328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Silicio Monocristalino (m-Si) — glass/polymer (marco estándar):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 = -3.56  | 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= -0.075  | 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= 3.0 °C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Heterounión (HIT) — glass/glass (encapsulado térmico premium):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 = -3.47  | 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= -0.059  | 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= 3.0 °C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Estos coeficientes están validados empíricamente por el Sandia National Laboratories.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7" name="Picture 6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factor de idealidad térmico se define formalmente como:</a:t>
            </a:r>
          </a:p>
        </p:txBody>
      </p:sp>
      <p:pic>
        <p:nvPicPr>
          <p:cNvPr id="11" name="Picture 10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Donde: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400" i="1">
                <a:solidFill>
                  <a:srgbClr val="F1C40F"/>
                </a:solidFill>
              </a:rPr>
              <a:t>s</a:t>
            </a:r>
            <a:r>
              <a:rPr sz="1400">
                <a:solidFill>
                  <a:srgbClr val="F1C40F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400" i="1">
                <a:solidFill>
                  <a:srgbClr val="F1C40F"/>
                </a:solidFill>
              </a:rPr>
              <a:t>I</a:t>
            </a:r>
            <a:r>
              <a:rPr sz="1400">
                <a:solidFill>
                  <a:srgbClr val="F1C40F"/>
                </a:solidFill>
              </a:rPr>
              <a:t>: Factor de idealidad del diodo (idealmente entre 1 y 2).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338328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 i="1">
                <a:solidFill>
                  <a:srgbClr val="FBFCFD"/>
                </a:solidFill>
              </a:rPr>
              <a:t>L</a:t>
            </a:r>
            <a:r>
              <a:rPr sz="1400">
                <a:solidFill>
                  <a:srgbClr val="FBFCFD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 i="1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4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k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q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4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Ajuste en STC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Cortocircuito: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 i="1">
                <a:solidFill>
                  <a:srgbClr val="FBFCFD"/>
                </a:solidFill>
              </a:rPr>
              <a:t>sc,ref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Circuito Abierto: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 i="1">
                <a:solidFill>
                  <a:srgbClr val="FBFCFD"/>
                </a:solidFill>
              </a:rPr>
              <a:t>oc,ref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Máxima Potencia: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 i="1">
                <a:solidFill>
                  <a:srgbClr val="FBFCFD"/>
                </a:solidFill>
              </a:rPr>
              <a:t>mp,ref</a:t>
            </a:r>
            <a:r>
              <a:rPr sz="1500">
                <a:solidFill>
                  <a:srgbClr val="FBFCFD"/>
                </a:solidFill>
              </a:rPr>
              <a:t>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 i="1">
                <a:solidFill>
                  <a:srgbClr val="FBFCFD"/>
                </a:solidFill>
              </a:rPr>
              <a:t>mp,ref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Derivada de Potencia en MPP (d</a:t>
            </a:r>
            <a:r>
              <a:rPr sz="1500" i="1">
                <a:solidFill>
                  <a:srgbClr val="FBFCFD"/>
                </a:solidFill>
              </a:rPr>
              <a:t>P</a:t>
            </a:r>
            <a:r>
              <a:rPr sz="1500">
                <a:solidFill>
                  <a:srgbClr val="FBFCFD"/>
                </a:solidFill>
              </a:rPr>
              <a:t>/d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0):</a:t>
            </a:r>
          </a:p>
        </p:txBody>
      </p:sp>
      <p:pic>
        <p:nvPicPr>
          <p:cNvPr id="8" name="Picture 7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Coeficiente térmico experimental de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 i="1">
                <a:solidFill>
                  <a:srgbClr val="FBFCFD"/>
                </a:solidFill>
              </a:rPr>
              <a:t>oc</a:t>
            </a:r>
            <a:r>
              <a:rPr sz="1500">
                <a:solidFill>
                  <a:srgbClr val="FBFCFD"/>
                </a:solidFill>
              </a:rPr>
              <a:t>:</a:t>
            </a:r>
          </a:p>
        </p:txBody>
      </p:sp>
      <p:pic>
        <p:nvPicPr>
          <p:cNvPr id="10" name="Picture 9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18872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Derivada Analítica Completa en MPP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5" name="Picture 14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 los coeficientes internos del diodo se definen como:</a:t>
            </a:r>
          </a:p>
        </p:txBody>
      </p:sp>
      <p:pic>
        <p:nvPicPr>
          <p:cNvPr id="17" name="Picture 16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8" name="Picture 17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Corriente Fotogenerada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 i="1">
                <a:solidFill>
                  <a:srgbClr val="FBFCFD"/>
                </a:solidFill>
              </a:rPr>
              <a:t>L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Corriente de Saturación Inversa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0" name="Picture 9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Factor de Idealidad térmico (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2" name="Picture 11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Resistencia Shunt (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Energía de Bandgap del Silicio (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500" i="1">
                <a:solidFill>
                  <a:srgbClr val="FBFCFD"/>
                </a:solidFill>
              </a:rPr>
              <a:t>g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Constante: Se asume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s,ref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500" i="1">
                <a:solidFill>
                  <a:srgbClr val="FBFCFD"/>
                </a:solidFill>
              </a:rPr>
              <a:t>g,ref</a:t>
            </a:r>
            <a:r>
              <a:rPr sz="1500">
                <a:solidFill>
                  <a:srgbClr val="FBFCFD"/>
                </a:solidFill>
              </a:rPr>
              <a:t> = 1.121 eV para el Silicio a 25°C.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2011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Rendimiento Global del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Performance Ratio (</a:t>
            </a:r>
            <a:r>
              <a:rPr sz="1500" i="1">
                <a:solidFill>
                  <a:srgbClr val="FBFCFD"/>
                </a:solidFill>
              </a:rPr>
              <a:t>PR</a:t>
            </a:r>
            <a:r>
              <a:rPr sz="1500">
                <a:solidFill>
                  <a:srgbClr val="FBFCFD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8" name="Picture 7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291840"/>
            <a:ext cx="73152" cy="28346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3832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V</a:t>
            </a:r>
            <a:r>
              <a:rPr sz="14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 / </a:t>
            </a:r>
            <a:r>
              <a:rPr sz="1400" i="1">
                <a:solidFill>
                  <a:srgbClr val="F1C40F"/>
                </a:solidFill>
              </a:rPr>
              <a:t>I</a:t>
            </a:r>
            <a:r>
              <a:rPr sz="14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P</a:t>
            </a:r>
            <a:r>
              <a:rPr sz="1400" i="1">
                <a:solidFill>
                  <a:srgbClr val="F1C40F"/>
                </a:solidFill>
              </a:rPr>
              <a:t>STC</a:t>
            </a:r>
            <a:r>
              <a:rPr sz="1400">
                <a:solidFill>
                  <a:srgbClr val="F1C40F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400" i="1">
                <a:solidFill>
                  <a:srgbClr val="F1C40F"/>
                </a:solidFill>
              </a:rPr>
              <a:t>poa,t</a:t>
            </a:r>
            <a:r>
              <a:rPr sz="1400">
                <a:solidFill>
                  <a:srgbClr val="F1C40F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400" i="1">
                <a:solidFill>
                  <a:srgbClr val="F1C40F"/>
                </a:solidFill>
              </a:rPr>
              <a:t>ref</a:t>
            </a:r>
            <a:r>
              <a:rPr sz="1400">
                <a:solidFill>
                  <a:srgbClr val="F1C40F"/>
                </a:solidFill>
              </a:rPr>
              <a:t>: Irradiancia de referencia a condiciones STC (1000 W/m²).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2834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83280"/>
            <a:ext cx="6156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Térmicas:</a:t>
            </a:r>
            <a:r>
              <a:rPr sz="1500">
                <a:solidFill>
                  <a:srgbClr val="FBFCFD"/>
                </a:solidFill>
              </a:rPr>
              <a:t> Caídas debidas a la elevada temperatura </a:t>
            </a:r>
            <a:r>
              <a:rPr sz="1500" i="1">
                <a:solidFill>
                  <a:srgbClr val="FBFCFD"/>
                </a:solidFill>
              </a:rPr>
              <a:t>T</a:t>
            </a:r>
            <a:r>
              <a:rPr sz="1500" i="1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Ópticas:</a:t>
            </a:r>
            <a:r>
              <a:rPr sz="1500">
                <a:solidFill>
                  <a:srgbClr val="FBFCFD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Espectrales:</a:t>
            </a:r>
            <a:r>
              <a:rPr sz="1500">
                <a:solidFill>
                  <a:srgbClr val="FBFCFD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Óhmicas:</a:t>
            </a:r>
            <a:r>
              <a:rPr sz="1500">
                <a:solidFill>
                  <a:srgbClr val="FBFCFD"/>
                </a:solidFill>
              </a:rPr>
              <a:t> Pérdidas resistivas en la resistencia serie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