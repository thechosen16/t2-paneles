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Fecha de presentación: Jueves, 11 de junio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a) Introducción al problema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Contexto: 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Irradiación Excepcional:</a:t>
            </a:r>
            <a:r>
              <a:rPr sz="1700">
                <a:solidFill>
                  <a:srgbClr val="FFFFFF"/>
                </a:solidFill>
              </a:rPr>
              <a:t> Irradiancia horizontal global (GHI) anual &gt; 2900 kWh/m² (máxima a nivel mundial).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Cielos Limpios:</a:t>
            </a:r>
            <a:r>
              <a:rPr sz="1700">
                <a:solidFill>
                  <a:srgbClr val="FFFFFF"/>
                </a:solidFill>
              </a:rPr>
              <a:t> Baja atenuación atmosférica e irradiancia directa muy concentrada.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Efecto de Altitud:</a:t>
            </a:r>
            <a:r>
              <a:rPr sz="1700">
                <a:solidFill>
                  <a:srgbClr val="FFFFFF"/>
                </a:solidFill>
              </a:rPr>
              <a:t> Mayor radiación directa y UV en zonas elevadas (&gt;= 2400 m.s.n.m.).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Estudio Geográfico:</a:t>
            </a:r>
            <a:r>
              <a:rPr sz="1700">
                <a:solidFill>
                  <a:srgbClr val="FFFFFF"/>
                </a:solidFill>
              </a:rPr>
              <a:t> Simulación localizada para San Pedro de Atacama (Latitud -22.91°, Longitud -68.20°).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Desafío: El Estrés Térmico de Operación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Calentamiento Severo:</a:t>
            </a:r>
            <a:r>
              <a:rPr sz="1700">
                <a:solidFill>
                  <a:srgbClr val="FFFFFF"/>
                </a:solidFill>
              </a:rPr>
              <a:t> Las celdas solares operan a temperaturas superiores a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Degradación Térmica:</a:t>
            </a:r>
            <a:r>
              <a:rPr sz="1700">
                <a:solidFill>
                  <a:srgbClr val="FFFFFF"/>
                </a:solidFill>
              </a:rPr>
              <a:t> La potencia máxima y el voltaje decaen con el incremento de la temperatura de celda (</a:t>
            </a:r>
            <a:r>
              <a:rPr sz="1700" i="1">
                <a:solidFill>
                  <a:srgbClr val="FFFFFF"/>
                </a:solidFill>
              </a:rPr>
              <a:t>T</a:t>
            </a:r>
            <a:r>
              <a:rPr sz="1700" i="1">
                <a:solidFill>
                  <a:srgbClr val="FFFFFF"/>
                </a:solidFill>
              </a:rPr>
              <a:t>c</a:t>
            </a:r>
            <a:r>
              <a:rPr sz="1700">
                <a:solidFill>
                  <a:srgbClr val="FFFFFF"/>
                </a:solidFill>
              </a:rPr>
              <a:t>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Objetivo:</a:t>
            </a:r>
            <a:r>
              <a:rPr sz="1700">
                <a:solidFill>
                  <a:srgbClr val="FFFFFF"/>
                </a:solidFill>
              </a:rPr>
              <a:t> Modelar dinámicamente y comparar qué tecnología resiste de mejor manera este estrés térmico desértico durante el año calendario 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b) Justificación e impacto (relevancia del tema):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Comparativa de Familias del Dataset Cocoa (NREL) y Criterio de Selección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(Película Delgada)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c) Marco referencial y revisión de literatura pertinente: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Literatura Académica y Modelos Utilizados para la Consultoría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Modelo de un Diodo Simple (SDM):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El comportamiento eléctrico se modela matemáticamente a través de una ecuación implícita trascendental. Describe las pérdidas resistivas (serie,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) y las fugas de corriente (shunt,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 asociadas a la celda fotovoltaica. *(Ecuación en Anexo IV)*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Modelo Térmico de Sandia (SAPM):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Desarrollado por el Sandia National Laboratories (King et al., 2004). Estima dinámicamente la temperatura interna de la celda fotovoltaica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en función de la irradiancia incidente en el plano del panel y la velocidad de viento circundante. *(Ecuación en Anexo III)*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Modelo de Transposición de Perez (1990):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Modelo de cielo anisotrópico ampliamente aceptado por su alta precisión. Divide el recurso solar difuso en componentes circunsolar, de horizonte y difuso de fondo, permitiendo proyectar con exactitud la irradiancia en paneles inclinados. *(Ecuación en Anexo I)*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Algoritmo de Extracción Paramétrica de De Soto (2006):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Metodología para encontrar los 5 parámetros en STC resolviendo un sistema de ecuaciones analíticas y su posterior traslado a condiciones operacionales reales basándose en el bandgap del semiconductor. *(Ecuaciones en Anexos V y VI)*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Tratamiento de la Base de Datos y Carga de Big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Desafío: Procesamiento de Curvas I-V Minutales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Naturaleza de los Datos:</a:t>
            </a:r>
            <a:r>
              <a:rPr sz="1700">
                <a:solidFill>
                  <a:srgbClr val="FFFFFF"/>
                </a:solidFill>
              </a:rPr>
              <a:t> Dataset Cocoa (NREL). Contiene mediciones experimentales minuto a minuto de curvas I-V completas tomadas en Florida.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Problema de Big Data:</a:t>
            </a:r>
            <a:r>
              <a:rPr sz="1700">
                <a:solidFill>
                  <a:srgbClr val="FFFFFF"/>
                </a:solidFill>
              </a:rPr>
              <a:t> Los archivos CSV unitarios superan los 100MB por tecnología, con millones de registros de longitudes variables.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Falla del Método Estándar:</a:t>
            </a:r>
            <a:r>
              <a:rPr sz="1700">
                <a:solidFill>
                  <a:srgbClr val="FFFFFF"/>
                </a:solidFill>
              </a:rPr>
              <a:t> Lectores convencionales (Pandas `read_csv`) agotan la RAM y fallan debido a caracteres atípicos en los metadatos.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Solución: Pipeline de Lectura Eficiente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Lector en Streaming:</a:t>
            </a:r>
            <a:r>
              <a:rPr sz="1700">
                <a:solidFill>
                  <a:srgbClr val="FFFFFF"/>
                </a:solidFill>
              </a:rPr>
              <a:t> Implementación de un analizador de archivos línea por línea mediante el módulo `csv` nativo de Python.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Extracción Selectiva:</a:t>
            </a:r>
            <a:r>
              <a:rPr sz="1700">
                <a:solidFill>
                  <a:srgbClr val="FFFFFF"/>
                </a:solidFill>
              </a:rPr>
              <a:t> Se ignoraron las series de curvas I-V masivas en la carga inicial y se extrajeron únicamente los metadatos y puntos clave de operación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sc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mp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mp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P</a:t>
            </a:r>
            <a:r>
              <a:rPr sz="1700" i="1">
                <a:solidFill>
                  <a:srgbClr val="FFFFFF"/>
                </a:solidFill>
              </a:rPr>
              <a:t>mp</a:t>
            </a:r>
            <a:r>
              <a:rPr sz="1700">
                <a:solidFill>
                  <a:srgbClr val="FFFFFF"/>
                </a:solidFill>
              </a:rPr>
              <a:t>, irradiancias).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Limpieza Automática:</a:t>
            </a:r>
            <a:r>
              <a:rPr sz="1700">
                <a:solidFill>
                  <a:srgbClr val="FFFFFF"/>
                </a:solidFill>
              </a:rPr>
              <a:t> Se descartaron registros nocturnos ($G &lt; 10$ W/m²) o con datos incompletos, acelerando la simulación anual un 95%.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Filtro de Emulación Geográfica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Inconsistencia Hemisférica y Temporal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El Problema:</a:t>
            </a:r>
            <a:r>
              <a:rPr sz="1700">
                <a:solidFill>
                  <a:srgbClr val="FFFFFF"/>
                </a:solidFill>
              </a:rPr>
              <a:t> La irradiancia Cocoa es medida en el Hemisferio Norte (Florida) durante 2011-2012.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Desfase Estacional:</a:t>
            </a:r>
            <a:r>
              <a:rPr sz="1700">
                <a:solidFill>
                  <a:srgbClr val="FFFFFF"/>
                </a:solidFill>
              </a:rPr>
              <a:t> Si se simula Atacama directamente, el mes de alta radiación (Julio) coincidiría con el invierno del Hemisferio Sur, lo que produce una inconsistencia termodinámica insalvable.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Calendario:</a:t>
            </a:r>
            <a:r>
              <a:rPr sz="1700">
                <a:solidFill>
                  <a:srgbClr val="FFFFFF"/>
                </a:solidFill>
              </a:rPr>
              <a:t> Proyección al año futuro </a:t>
            </a:r>
            <a:r>
              <a:rPr sz="1700" b="1">
                <a:solidFill>
                  <a:srgbClr val="FFFFFF"/>
                </a:solidFill>
              </a:rPr>
              <a:t>2026</a:t>
            </a:r>
            <a:r>
              <a:rPr sz="1700">
                <a:solidFill>
                  <a:srgbClr val="FFFFFF"/>
                </a:solidFill>
              </a:rPr>
              <a:t> para análisis predictivo.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Implementación del Filtro de Emulación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Desfase Temporal (+6 Meses):</a:t>
            </a:r>
            <a:r>
              <a:rPr sz="1700">
                <a:solidFill>
                  <a:srgbClr val="FFFFFF"/>
                </a:solidFill>
              </a:rPr>
              <a:t> Se aplicó un desplazamiento de 182 días a los registros meteorológicos. De esta forma, el verano de Florida se alinea con el verano astronómico del Hemisferio Sur.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Traducción Espacial:</a:t>
            </a:r>
            <a:r>
              <a:rPr sz="1700">
                <a:solidFill>
                  <a:srgbClr val="FFFFFF"/>
                </a:solidFill>
              </a:rPr>
              <a:t> Modificación del archivo de cabecera a coordenadas de Atacama (Latitud −22.91° S, Longitud −68.20° W, Elevación 2400 m).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Alineación Solar:</a:t>
            </a:r>
            <a:r>
              <a:rPr sz="1700">
                <a:solidFill>
                  <a:srgbClr val="FFFFFF"/>
                </a:solidFill>
              </a:rPr>
              <a:t> Se fijó la inclinación del panel (Tilt) a </a:t>
            </a:r>
            <a:r>
              <a:rPr sz="1700" b="1">
                <a:solidFill>
                  <a:srgbClr val="FFFFFF"/>
                </a:solidFill>
              </a:rPr>
              <a:t>22.91°</a:t>
            </a:r>
            <a:r>
              <a:rPr sz="1700">
                <a:solidFill>
                  <a:srgbClr val="FFFFFF"/>
                </a:solidFill>
              </a:rPr>
              <a:t> (óptimo anual) y orientación (Azimut) a </a:t>
            </a:r>
            <a:r>
              <a:rPr sz="1700" b="1">
                <a:solidFill>
                  <a:srgbClr val="FFFFFF"/>
                </a:solidFill>
              </a:rPr>
              <a:t>0° Norte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Simulación del Perfil Térmico y Pérdidas Ópticas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de Recurso y Modificadores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Modelo de Perez:</a:t>
            </a:r>
            <a:r>
              <a:rPr sz="1700">
                <a:solidFill>
                  <a:srgbClr val="FFFFFF"/>
                </a:solidFill>
              </a:rPr>
              <a:t> Ejecución del algoritmo en `pvlib` para calcular la irradiancia total en el Plano del Arreglo ($G_{poa}$).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Modificador IAM:</a:t>
            </a:r>
            <a:r>
              <a:rPr sz="1700">
                <a:solidFill>
                  <a:srgbClr val="FFFFFF"/>
                </a:solidFill>
              </a:rPr>
              <a:t> Simulación física de pérdidas por reflexión en el cristal de los paneles. Se utilizaron coeficientes de transmitancia basados en el espesor del vidrio (2mm) y su índice de refracción (1.526).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Modificador Espectral (AM):</a:t>
            </a:r>
            <a:r>
              <a:rPr sz="1700">
                <a:solidFill>
                  <a:srgbClr val="FFFFFF"/>
                </a:solidFill>
              </a:rPr>
              <a:t> Estimación de la masa de aire absoluta en función de la altura del sol, aplicando una corrección de cuarto orden.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Estimación de Temperatura Sandia (SAPM)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Modelación Tc:</a:t>
            </a:r>
            <a:r>
              <a:rPr sz="1700">
                <a:solidFill>
                  <a:srgbClr val="FFFFFF"/>
                </a:solidFill>
              </a:rPr>
              <a:t> Estimación dinámica minutal de la temperatura de celda utilizando los parámetros empíricos de encapsulado.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Asunciones Justificadas en Atacama: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  1. </a:t>
            </a:r>
            <a:r>
              <a:rPr sz="1700" b="1">
                <a:solidFill>
                  <a:srgbClr val="FFFFFF"/>
                </a:solidFill>
              </a:rPr>
              <a:t>Velocidad del Viento:</a:t>
            </a:r>
            <a:r>
              <a:rPr sz="1700">
                <a:solidFill>
                  <a:srgbClr val="FFFFFF"/>
                </a:solidFill>
              </a:rPr>
              <a:t> Asumida constante en </a:t>
            </a:r>
            <a:r>
              <a:rPr sz="1700" b="1">
                <a:solidFill>
                  <a:srgbClr val="FFFFFF"/>
                </a:solidFill>
              </a:rPr>
              <a:t>1 m/s</a:t>
            </a:r>
            <a:r>
              <a:rPr sz="1700">
                <a:solidFill>
                  <a:srgbClr val="FFFFFF"/>
                </a:solidFill>
              </a:rPr>
              <a:t> (valor conservador para desierto que minimiza pérdidas por convección artificial).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  2. </a:t>
            </a:r>
            <a:r>
              <a:rPr sz="1700" b="1">
                <a:solidFill>
                  <a:srgbClr val="FFFFFF"/>
                </a:solidFill>
              </a:rPr>
              <a:t>Reflectancia del Suelo (Albedo):</a:t>
            </a:r>
            <a:r>
              <a:rPr sz="1700">
                <a:solidFill>
                  <a:srgbClr val="FFFFFF"/>
                </a:solidFill>
              </a:rPr>
              <a:t> Fijada en </a:t>
            </a:r>
            <a:r>
              <a:rPr sz="1700" b="1">
                <a:solidFill>
                  <a:srgbClr val="FFFFFF"/>
                </a:solidFill>
              </a:rPr>
              <a:t>0.20</a:t>
            </a:r>
            <a:r>
              <a:rPr sz="1700">
                <a:solidFill>
                  <a:srgbClr val="FFFFFF"/>
                </a:solidFill>
              </a:rPr>
              <a:t> (suelo arenoso/árido del desierto de Atacama).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Metodología de Extracción de Parámetros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Desafío de Datasheet y Algoritmo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El Problema:</a:t>
            </a:r>
            <a:r>
              <a:rPr sz="1700">
                <a:solidFill>
                  <a:srgbClr val="FFFFFF"/>
                </a:solidFill>
              </a:rPr>
              <a:t> La base experimental Cocoa usa códigos del NREL (`mSi0166`, `HIT05667`) que no corresponden a marcas comerciales registradas en las librerías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Solución: Extracción Directa:</a:t>
            </a:r>
            <a:r>
              <a:rPr sz="1700">
                <a:solidFill>
                  <a:srgbClr val="FFFFFF"/>
                </a:solidFill>
              </a:rPr>
              <a:t> En lugar de buscar datasheets aproximados, se diseñó un algoritmo para encontrar las propiedades nominales directamente en las curvas medidas del CSV.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Búsqueda SRC:</a:t>
            </a:r>
            <a:r>
              <a:rPr sz="1700">
                <a:solidFill>
                  <a:srgbClr val="FFFFFF"/>
                </a:solidFill>
              </a:rPr>
              <a:t> Se filtraron los instantes experimentales bajo condiciones estándar (STC: Irradiancia $G _x0007_pprox 1000$ W/m² y temperatura de celda $T_c _x0007_pprox 25^\circ	ext{C}$).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Cálculo Experimental de Coeficientes Térmicos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Coeficientes de Temperatura ($_x0007_lpha_{Isc}$ y $_x0008_eta_{Voc}$):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  Se calcularon directamente de las mediciones aplicando regresiones lineales en condiciones de alta radiación ($G &gt; 800$ W/m²).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Normalización por Irradiancia: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  Para la corriente de cortocircuito, se normalizó el valor frente a la irradiancia instantánea para desacoplar el efecto solar y aislar la ganancia térmica pura.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Ajuste Numérico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Sistema de Ajuste Trascendental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Formulación Matemática:</a:t>
            </a:r>
            <a:r>
              <a:rPr sz="1700">
                <a:solidFill>
                  <a:srgbClr val="FFFFFF"/>
                </a:solidFill>
              </a:rPr>
              <a:t> Las ecuaciones de cortocircuito, circuito abierto, máxima potencia y derivada analítica en MPP ($dP/dV = 0$) forman un sistema no lineal trascendental de 5 incógnitas.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Implementación de Mínimos Cuadrados:</a:t>
            </a:r>
            <a:r>
              <a:rPr sz="1700">
                <a:solidFill>
                  <a:srgbClr val="FFFFFF"/>
                </a:solidFill>
              </a:rPr>
              <a:t> Ajuste del sistema a través del algoritmo de optimización numérica `scipy.optimize.minimize`.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Consistencia Física (Bounds):</a:t>
            </a:r>
            <a:r>
              <a:rPr sz="1700">
                <a:solidFill>
                  <a:srgbClr val="FFFFFF"/>
                </a:solidFill>
              </a:rPr>
              <a:t> Se restringió estrictamente que la resistencia serie fuera mayor a cero ($R</a:t>
            </a:r>
            <a:r>
              <a:rPr sz="1700" i="1">
                <a:solidFill>
                  <a:srgbClr val="FFFFFF"/>
                </a:solidFill>
              </a:rPr>
              <a:t>{s,ref} &gt; 0$) y el factor de idealidad estuviese acotado ($n</a:t>
            </a:r>
            <a:r>
              <a:rPr sz="1700">
                <a:solidFill>
                  <a:srgbClr val="FFFFFF"/>
                </a:solidFill>
              </a:rPr>
              <a:t>I \in </a:t>
            </a:r>
            <a:r>
              <a:rPr sz="1700">
                <a:solidFill>
                  <a:srgbClr val="FFFFFF"/>
                </a:solidFill>
              </a:rPr>
              <a:t>1, 2</a:t>
            </a:r>
            <a:r>
              <a:rPr sz="1700">
                <a:solidFill>
                  <a:srgbClr val="FFFFFF"/>
                </a:solidFill>
              </a:rPr>
              <a:t>$) para evitar soluciones irreales.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Resultados de Parámetros en STC Extraídos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Silicio Monocristalino (m-Si):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$I</a:t>
            </a:r>
            <a:r>
              <a:rPr sz="1600" i="1">
                <a:solidFill>
                  <a:srgbClr val="FFFFFF"/>
                </a:solidFill>
              </a:rPr>
              <a:t>{L,ref}$ = 2.768 A  |  $I</a:t>
            </a:r>
            <a:r>
              <a:rPr sz="1600">
                <a:solidFill>
                  <a:srgbClr val="FFFFFF"/>
                </a:solidFill>
              </a:rPr>
              <a:t>{0,ref}$ = $4.13 	imes 10^{-9}$ A  |  $R</a:t>
            </a:r>
            <a:r>
              <a:rPr sz="1600" i="1">
                <a:solidFill>
                  <a:srgbClr val="FFFFFF"/>
                </a:solidFill>
              </a:rPr>
              <a:t>{s,ref}$ = 0.542 $\Omega$  |  $R</a:t>
            </a:r>
            <a:r>
              <a:rPr sz="1600">
                <a:solidFill>
                  <a:srgbClr val="FFFFFF"/>
                </a:solidFill>
              </a:rPr>
              <a:t>{sh,ref}$ = 352.4 $\Omega$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Heterounión (HIT):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$I</a:t>
            </a:r>
            <a:r>
              <a:rPr sz="1600" i="1">
                <a:solidFill>
                  <a:srgbClr val="FFFFFF"/>
                </a:solidFill>
              </a:rPr>
              <a:t>{L,ref}$ = 5.607 A  |  $I</a:t>
            </a:r>
            <a:r>
              <a:rPr sz="1600">
                <a:solidFill>
                  <a:srgbClr val="FFFFFF"/>
                </a:solidFill>
              </a:rPr>
              <a:t>{0,ref}$ = $4.68 	imes 10^{-10}$ A  |  $R</a:t>
            </a:r>
            <a:r>
              <a:rPr sz="1600" i="1">
                <a:solidFill>
                  <a:srgbClr val="FFFFFF"/>
                </a:solidFill>
              </a:rPr>
              <a:t>{s,ref}$ = 0.412 $\Omega$  |  $R</a:t>
            </a:r>
            <a:r>
              <a:rPr sz="1600">
                <a:solidFill>
                  <a:srgbClr val="FFFFFF"/>
                </a:solidFill>
              </a:rPr>
              <a:t>{sh,ref}$ = 612.8 $\Omega$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Coherencia Física:</a:t>
            </a:r>
            <a:r>
              <a:rPr sz="1600">
                <a:solidFill>
                  <a:srgbClr val="FFFFFF"/>
                </a:solidFill>
              </a:rPr>
              <a:t> La corriente de saturación inversa de HIT es un orden de magnitud menor, demostrando su superioridad frente a la recombinación térmica.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Traslado Paramétrico y Simulación Minutal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Escalamiento Dinámico a Condiciones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Cálculo Temporal:</a:t>
            </a:r>
            <a:r>
              <a:rPr sz="1700">
                <a:solidFill>
                  <a:srgbClr val="FFFFFF"/>
                </a:solidFill>
              </a:rPr>
              <a:t> Para cada paso de tiempo de los 8,760 intervalos del año 2026, los 5 parámetros fueron escalados a la irradiancia incidente absorbida ($S$) y temperatura de celda ($T_c$) locales.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Traslado de De Soto:</a:t>
            </a:r>
            <a:r>
              <a:rPr sz="1700">
                <a:solidFill>
                  <a:srgbClr val="FFFFFF"/>
                </a:solidFill>
              </a:rPr>
              <a:t> Variación térmica del factor de idealidad ($a$), bandgap del silicio ($E</a:t>
            </a:r>
            <a:r>
              <a:rPr sz="1700" i="1">
                <a:solidFill>
                  <a:srgbClr val="FFFFFF"/>
                </a:solidFill>
              </a:rPr>
              <a:t>g$), corrientes de saturación ($I</a:t>
            </a:r>
            <a:r>
              <a:rPr sz="1700">
                <a:solidFill>
                  <a:srgbClr val="FFFFFF"/>
                </a:solidFill>
              </a:rPr>
              <a:t>0$) y fotogenerada ($I_L$).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Resistencia Paralelo:</a:t>
            </a:r>
            <a:r>
              <a:rPr sz="1700">
                <a:solidFill>
                  <a:srgbClr val="FFFFFF"/>
                </a:solidFill>
              </a:rPr>
              <a:t> Modelada inversamente proporcional a la irradiancia. Resistencia serie constante.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Resolución Implícita del Circuito (MPP)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Resolución Trascendental:</a:t>
            </a:r>
            <a:r>
              <a:rPr sz="1700">
                <a:solidFill>
                  <a:srgbClr val="FFFFFF"/>
                </a:solidFill>
              </a:rPr>
              <a:t> Dado que la corriente ($I$) depende implícitamente del voltaje y de sí misma, se empleó un algoritmo de resolución numérica robusto (`calcparams_desoto` de pvlib).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Búsqueda del MPP Minutal:</a:t>
            </a:r>
            <a:r>
              <a:rPr sz="1700">
                <a:solidFill>
                  <a:srgbClr val="FFFFFF"/>
                </a:solidFill>
              </a:rPr>
              <a:t> Se resolvió numéricamente la curva para encontrar el Punto de Máxima Potencia ($P_{mp,SDM}$) para cada registro del año.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Cómputo de Generación:</a:t>
            </a:r>
            <a:r>
              <a:rPr sz="1700">
                <a:solidFill>
                  <a:srgbClr val="FFFFFF"/>
                </a:solidFill>
              </a:rPr>
              <a:t> Integración de la potencia generada minutalmente para obtener la energía total anual producida por cada tecnología.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3093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126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6928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49440" y="1097280"/>
            <a:ext cx="487649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18872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Análisis Crítico de Resultados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51073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Estrés Térmico Evidenciado:</a:t>
            </a:r>
            <a:r>
              <a:rPr sz="1700">
                <a:solidFill>
                  <a:srgbClr val="FFFFFF"/>
                </a:solidFill>
              </a:rPr>
              <a:t> El histograma térmico revela que la mayor parte de las horas de sol el panel opera entre 38°C y 50°C, con picos extremos de 65°C a 70°C.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Impacto del Viento Bajo (1 m/s):</a:t>
            </a:r>
            <a:r>
              <a:rPr sz="1700">
                <a:solidFill>
                  <a:srgbClr val="FFFFFF"/>
                </a:solidFill>
              </a:rPr>
              <a:t> La baja velocidad del viento en la modelación reduce el enfriamiento convectivo natural, maximizando el calentamiento térmico de la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Consecuencia Física:</a:t>
            </a:r>
            <a:r>
              <a:rPr sz="1700">
                <a:solidFill>
                  <a:srgbClr val="FFFFFF"/>
                </a:solidFill>
              </a:rPr>
              <a:t> Las altas temperaturas aumentan la corriente de saturación inversa ($I</a:t>
            </a:r>
            <a:r>
              <a:rPr sz="1700" i="1">
                <a:solidFill>
                  <a:srgbClr val="FFFFFF"/>
                </a:solidFill>
              </a:rPr>
              <a:t>0$), degradando severamente el voltaje en circuito abierto ($V</a:t>
            </a:r>
            <a:r>
              <a:rPr sz="1700">
                <a:solidFill>
                  <a:srgbClr val="FFFFFF"/>
                </a:solidFill>
              </a:rPr>
              <a:t>{oc}$).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0350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852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1097280"/>
            <a:ext cx="515081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 y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47850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Alta Precisión:</a:t>
            </a:r>
            <a:r>
              <a:rPr sz="1700">
                <a:solidFill>
                  <a:srgbClr val="FFFFFF"/>
                </a:solidFill>
              </a:rPr>
              <a:t> El coeficiente de determinación $R^2 &gt; 0.99$ en la validación experimental cruzada demuestra la alta fidelidad del modelo.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RMSE Reducido:</a:t>
            </a:r>
            <a:r>
              <a:rPr sz="1700">
                <a:solidFill>
                  <a:srgbClr val="FFFFFF"/>
                </a:solidFill>
              </a:rPr>
              <a:t> Error cuadrático medio de la potencia ($RMSE$) inferior a 5W bajo condiciones nominales.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Puntos de Desviación:</a:t>
            </a:r>
            <a:r>
              <a:rPr sz="1700">
                <a:solidFill>
                  <a:srgbClr val="FFFFFF"/>
                </a:solidFill>
              </a:rPr>
              <a:t> El error máximo se concentra en la zona del codo de la curva característica I-V a irradiancias muy bajas.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Fidelidad Térmica:</a:t>
            </a:r>
            <a:r>
              <a:rPr sz="1700">
                <a:solidFill>
                  <a:srgbClr val="FFFFFF"/>
                </a:solidFill>
              </a:rPr>
              <a:t> Valida la capacidad de las ecuaciones físicas de trasladar el voltaje y potencia a condiciones reales.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Puntos Conflictuales y Acoplamiento Rs - 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Acoplamiento de Pérdidas: Rs -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Alta Correlación Paramétrica: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Tanto la resistencia serie (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) como el factor de idealidad del diodo (</a:t>
            </a:r>
            <a:r>
              <a:rPr sz="1400" i="1">
                <a:solidFill>
                  <a:srgbClr val="FFFFFF"/>
                </a:solidFill>
              </a:rPr>
              <a:t>n</a:t>
            </a:r>
            <a:r>
              <a:rPr sz="1400">
                <a:solidFill>
                  <a:srgbClr val="FFFFFF"/>
                </a:solidFill>
              </a:rPr>
              <a:t>) controlan la curvatura de la curva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-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en la región cercana al Punto de Máxima Potencia (MPP).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Problema Mal Condicionado: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Múltiples combinaciones del par (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n</a:t>
            </a:r>
            <a:r>
              <a:rPr sz="1400">
                <a:solidFill>
                  <a:srgbClr val="FFFFFF"/>
                </a:solidFill>
              </a:rPr>
              <a:t>) pueden reproducir curvas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-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con errores de ajuste idénticos, lo que dificulta la identificación unívoca.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Mitigación y Solución: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Se implementaron restricciones físicas estrictas en la optimización por mínimos cuadrados: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&gt; 0  |  </a:t>
            </a:r>
            <a:r>
              <a:rPr sz="1400" i="1">
                <a:solidFill>
                  <a:srgbClr val="FFFFFF"/>
                </a:solidFill>
              </a:rPr>
              <a:t>n</a:t>
            </a:r>
            <a:r>
              <a:rPr sz="1400">
                <a:solidFill>
                  <a:srgbClr val="FFFFFF"/>
                </a:solidFill>
              </a:rPr>
              <a:t> ∈ </a:t>
            </a:r>
            <a:r>
              <a:rPr sz="1400">
                <a:solidFill>
                  <a:srgbClr val="FFFFFF"/>
                </a:solidFill>
              </a:rPr>
              <a:t>1.0, 2.0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Esto asegura consistencia física y convergencia estable.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Limitaciones y Suposiciones del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Resistencia Shunt (R_sh) e Irradiancia (G):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La relación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· (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/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) es empírica. A muy baja irradiancia (amanecer/ocaso), puede sobreestimar la resistencia shunt.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*Impacto:* Despreciable en el PR anual, ya que esas horas representan una fracción mínima de la energía total.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Rs Constante con la Temperatura: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Ignora el cambio de la resistividad del semiconductor con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*Justificación:* De Soto (2006) validó que mantener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constante produce errores de potencia &lt; 2% frente a datos experimentales NIST.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Bandgap lineal con la Temperatura: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La relación del bandgap del Silicio con la temperatura se asume lineal, simplificando la ecuación real no lineal de Varshni.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*Impacto:* El error inducido es menor al 1% en el rango operacional (0°C a 70°C).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Pérdidas Térmicas y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949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766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6955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3641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53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70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Heterounión (HIT - Naranja):</a:t>
            </a:r>
            <a:r>
              <a:rPr sz="1700">
                <a:solidFill>
                  <a:srgbClr val="FFFFFF"/>
                </a:solidFill>
              </a:rPr>
              <a:t> Pendiente suave y controlada. Su bajo coeficiente térmico de potencia (-0.26 %/°C) mantiene una alta eficiencia de conversión incluso a temperaturas de 65°C.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Silicio Monocristalino (m-Si - Azul):</a:t>
            </a:r>
            <a:r>
              <a:rPr sz="1700">
                <a:solidFill>
                  <a:srgbClr val="FFFFFF"/>
                </a:solidFill>
              </a:rPr>
              <a:t> Caída térmica severa. Su alto coeficiente térmico (-0.40 %/°C) penaliza drásticamente el voltaje durante las horas pico de irradiancia desértica.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Impacto en PR:</a:t>
            </a:r>
            <a:r>
              <a:rPr sz="1700">
                <a:solidFill>
                  <a:srgbClr val="FFFFFF"/>
                </a:solidFill>
              </a:rPr>
              <a:t> Esta diferencia de comportamiento explica la brecha mensual y anual de rendimiento entre ambas tecnologías.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Veredicto Técnico y Económico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de Rendimiento (PR Anual)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Performance Ratio Anual m-Si:</a:t>
            </a:r>
            <a:r>
              <a:rPr sz="1800" b="1">
                <a:solidFill>
                  <a:srgbClr val="E8A838"/>
                </a:solidFill>
              </a:rPr>
              <a:t>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Performance Ratio Anual HIT:</a:t>
            </a:r>
            <a:r>
              <a:rPr sz="1800" b="1">
                <a:solidFill>
                  <a:srgbClr val="E8A838"/>
                </a:solidFill>
              </a:rPr>
              <a:t>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Diferencia Neta en PR:</a:t>
            </a:r>
            <a:r>
              <a:rPr sz="1800" b="1">
                <a:solidFill>
                  <a:srgbClr val="E8A838"/>
                </a:solidFill>
              </a:rPr>
              <a:t> </a:t>
            </a:r>
            <a:r>
              <a:rPr sz="1800" b="1">
                <a:solidFill>
                  <a:srgbClr val="E8A838"/>
                </a:solidFill>
              </a:rPr>
              <a:t>+2.39%</a:t>
            </a:r>
            <a:r>
              <a:rPr sz="1800" b="1">
                <a:solidFill>
                  <a:srgbClr val="E8A838"/>
                </a:solidFill>
              </a:rPr>
              <a:t>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Conclusión Técnica:</a:t>
            </a:r>
            <a:r>
              <a:rPr sz="1800" b="1">
                <a:solidFill>
                  <a:srgbClr val="E8A838"/>
                </a:solidFill>
              </a:rPr>
              <a:t> La tecnología HIT es categóricamente superior en el desierto debido a que su estructura física de capas delgadas amortigua la pérdida de tensión ($V_{oc}$) debida a la excitación térmica de portadores.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y Viabilidad en Plantas de 100 MWp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Generación Adicional:</a:t>
            </a:r>
            <a:r>
              <a:rPr sz="1600">
                <a:solidFill>
                  <a:srgbClr val="FFFFFF"/>
                </a:solidFill>
              </a:rPr>
              <a:t> Para una planta de 100 MWp, cada +1% de PR equivale a ~2,500 MWh de energía extra anual.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Ganancia Total:</a:t>
            </a:r>
            <a:r>
              <a:rPr sz="1600">
                <a:solidFill>
                  <a:srgbClr val="FFFFFF"/>
                </a:solidFill>
              </a:rPr>
              <a:t> El incremento de +2.39% de PR con la tecnología HIT representa </a:t>
            </a:r>
            <a:r>
              <a:rPr sz="1600" b="1">
                <a:solidFill>
                  <a:srgbClr val="FFFFFF"/>
                </a:solidFill>
              </a:rPr>
              <a:t>~6,000 MWh/año adicionales</a:t>
            </a:r>
            <a:r>
              <a:rPr sz="1600">
                <a:solidFill>
                  <a:srgbClr val="FFFFFF"/>
                </a:solidFill>
              </a:rPr>
              <a:t>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Impacto Financiero:</a:t>
            </a:r>
            <a:r>
              <a:rPr sz="1600">
                <a:solidFill>
                  <a:srgbClr val="FFFFFF"/>
                </a:solidFill>
              </a:rPr>
              <a:t> A una tarifa de venta de USD 45/MWh, esto significa una mayor facturación neta de </a:t>
            </a:r>
            <a:r>
              <a:rPr sz="1600" b="1">
                <a:solidFill>
                  <a:srgbClr val="FFFFFF"/>
                </a:solidFill>
              </a:rPr>
              <a:t>USD 270,000 anuales</a:t>
            </a:r>
            <a:r>
              <a:rPr sz="1600">
                <a:solidFill>
                  <a:srgbClr val="FFFFFF"/>
                </a:solidFill>
              </a:rPr>
              <a:t>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Recomendación de Compra:</a:t>
            </a:r>
            <a:r>
              <a:rPr sz="1600">
                <a:solidFill>
                  <a:srgbClr val="FFFFFF"/>
                </a:solidFill>
              </a:rPr>
              <a:t> Se justifica económicamente la inversión en HIT si el costo extra del panel (capex) es inferior a la tasa de amortización de estos ingresos extra en 25 años.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</a:t>
            </a:r>
            <a:r>
              <a:rPr sz="1700" b="1">
                <a:solidFill>
                  <a:srgbClr val="E8A838"/>
                </a:solidFill>
              </a:rPr>
              <a:t>Fidelidad Metodológica:</a:t>
            </a:r>
            <a:r>
              <a:rPr sz="1700">
                <a:solidFill>
                  <a:srgbClr val="E8A838"/>
                </a:solidFill>
              </a:rPr>
              <a:t> La emulación geográfica y estacional por traslación temporal fue coherente, permitiendo simular Atacama con data de Cocoa.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</a:t>
            </a:r>
            <a:r>
              <a:rPr sz="1700" b="1">
                <a:solidFill>
                  <a:srgbClr val="E8A838"/>
                </a:solidFill>
              </a:rPr>
              <a:t>Ajuste Robusto:</a:t>
            </a:r>
            <a:r>
              <a:rPr sz="1700">
                <a:solidFill>
                  <a:srgbClr val="E8A838"/>
                </a:solidFill>
              </a:rPr>
              <a:t> El modelo De Soto de 5 parámetros reprodujo con alta precisión ($R^2 &gt; 0.99$) el comportamiento del circuito.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</a:t>
            </a:r>
            <a:r>
              <a:rPr sz="1700" b="1">
                <a:solidFill>
                  <a:srgbClr val="E8A838"/>
                </a:solidFill>
              </a:rPr>
              <a:t>HIT Vencedor:</a:t>
            </a:r>
            <a:r>
              <a:rPr sz="1700">
                <a:solidFill>
                  <a:srgbClr val="E8A838"/>
                </a:solidFill>
              </a:rPr>
              <a:t> HIT superó en 2.39% de PR a m-Si por su bajo coeficiente de temperatura de potencia.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</a:t>
            </a:r>
            <a:r>
              <a:rPr sz="1700" b="1">
                <a:solidFill>
                  <a:srgbClr val="E8A838"/>
                </a:solidFill>
              </a:rPr>
              <a:t>Recomendación:</a:t>
            </a:r>
            <a:r>
              <a:rPr sz="1700">
                <a:solidFill>
                  <a:srgbClr val="E8A838"/>
                </a:solidFill>
              </a:rPr>
              <a:t> HIT es técnicamente superior para plantas desérticas de alta irradiancia y alta temperatura.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Propuestas de 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Integración de Bifacialidad:</a:t>
            </a:r>
            <a:r>
              <a:rPr sz="1600">
                <a:solidFill>
                  <a:srgbClr val="FFFFFF"/>
                </a:solidFill>
              </a:rPr>
              <a:t> Incorporar el aporte de la irradiancia reflejada (albedo desértico, $_x000D_ho &gt; 0.25$) en la cara posterior del módulo.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Pérdidas por Soiling:</a:t>
            </a:r>
            <a:r>
              <a:rPr sz="1600">
                <a:solidFill>
                  <a:srgbClr val="FFFFFF"/>
                </a:solidFill>
              </a:rPr>
              <a:t> Modelar la acumulación de polvo desértico en la superficie del cristal, factor de pérdida de rendimiento crítico en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Estudio Espectral Avanzado:</a:t>
            </a:r>
            <a:r>
              <a:rPr sz="1600">
                <a:solidFill>
                  <a:srgbClr val="FFFFFF"/>
                </a:solidFill>
              </a:rPr>
              <a:t> Evaluar el efecto de la masa de aire sobre la eficiencia cuántica de la celda de heterounión.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Análisis de Doble Diodo:</a:t>
            </a:r>
            <a:r>
              <a:rPr sz="1600">
                <a:solidFill>
                  <a:srgbClr val="FFFFFF"/>
                </a:solidFill>
              </a:rPr>
              <a:t> Capturar los efectos de recombinación no ideal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I: Ecuaciones de Transposición y Absorción Solar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plano inclinado del panel: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del panel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790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neta que penetra y es absorbida por la celda solar:</a:t>
            </a:r>
          </a:p>
        </p:txBody>
      </p:sp>
      <p:pic>
        <p:nvPicPr>
          <p:cNvPr id="11" name="Picture 10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2" name="Picture 11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3" name="Picture 12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52160" y="3337560"/>
            <a:ext cx="5790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Modela las pérdidas ópticas reflectivas por ángulo de incidencia.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II: Ecuaciones de Modificadores Ópticos (IAM y Masa de Aire)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271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2271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de refracción del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(Extinción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del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1508760"/>
            <a:ext cx="522716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15887" y="3749039"/>
            <a:ext cx="52271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 a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 de la celda.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condiciones de referencia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 Sandia para Temperatura de Celda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de la celda fotovoltaica se modela a partir del equilibrio térmico dinámico: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total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 viento circundante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61385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64309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6248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 (marco estándar):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 (encapsulado térmico premium):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Estos coeficientes están validados empíricamente por el Sandia National Laboratories.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Trascendental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implícita de corriente del modelo de diodo simple con resistencias parásitas (Rs y Rsh):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Donde: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: Número de celdas en serie (m-Si: 36, HIT: 72).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: Factor de idealidad del diodo (idealmente entre 1 y 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624809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60652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8823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: Corriente fotogenerada por el efecto fotoeléctrico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 de saturación inversa de la unión P-N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Resistencias parásitas en serie y paralelo (shunt)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temperatura de celda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V: Ecuaciones de Extracción en STC y Derivada Analítica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Ajuste en STC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Condiciones que determinan los 5 parámetros de referencia en STC (1000 W/m², 25°C):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Derivada de Potencia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experimental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6138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64309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Completa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6248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la optimización, se derivó analíticamente la ecuación implícita en la zona del MPP: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971800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internos del diodo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VI: Ecuaciones de Escalamiento a Condiciones de Operación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7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15887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3520440"/>
            <a:ext cx="522716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G: Modelada inversamente proporcional a la irradiancia incidente efectiva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el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 Rendimiento Global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estándar de referencia: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del panel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instantánea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condiciones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643097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6248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60652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Pérdidas reflectivas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