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A838"/>
                </a:solidFill>
              </a:defRPr>
            </a:pPr>
            <a: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926080"/>
            <a:ext cx="114601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Modelamiento Eléctrico mediante el Modelo de 5 Parámetros de De Soto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11480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Integrantes / Estudiantes:</a:t>
            </a:r>
            <a:br/>
            <a:r>
              <a:t>Laury Gualdron  |  Sebastian Marin  |  Alejandro Hernández</a:t>
            </a:r>
            <a:br/>
            <a:br/>
            <a:r>
              <a:t>Profesor Guía: Carlos Cardenas</a:t>
            </a:r>
            <a:br/>
            <a:r>
              <a:t>ELI556 — Modelamiento y Análisis de Sistemas PV  |  Grupo Alta Tensión (AT)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Irradiancia GHI anual &gt; 2900 kWh/m² (máxima mundial).</a:t>
            </a:r>
            <a:br/>
            <a:r>
              <a:t>• Cielos extremadamente limpios con baja atenuación.</a:t>
            </a:r>
            <a:br/>
            <a:r>
              <a:t>• Altitud elevada (&gt;= 2400 m.s.n.m.): mayor radiación directa y UV.</a:t>
            </a:r>
            <a:br/>
            <a: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</a:defRPr>
            </a:pPr>
            <a:r>
              <a:t>• Las celdas solares operan a temperaturas &gt; 65°C a mediodía.</a:t>
            </a:r>
            <a:br/>
            <a:r>
              <a:t>• La potencia y el voltaje decaen fuertemente con el calor.</a:t>
            </a:r>
            <a:br/>
            <a:r>
              <a:t>• La eficiencia térmica es el factor dominante en pérdidas.</a:t>
            </a:r>
            <a:br/>
            <a: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Familias Tecnológicas en Dataset Cocoa (NREL)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28800"/>
                <a:gridCol w="1097280"/>
                <a:gridCol w="1645920"/>
                <a:gridCol w="393192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15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</a:defRPr>
            </a:pPr>
            <a:r>
              <a:t>1. Ingesta de Datos: Dataset NREL Cocoa (mediciones experimentales reales).</a:t>
            </a:r>
            <a:br/>
            <a:br/>
            <a:r>
              <a:t>2. Filtro de Emulación Geográfica: Traslación temporal (desfase de 6 meses) y re-localización espacial.</a:t>
            </a:r>
            <a:br/>
            <a:br/>
            <a:r>
              <a:t>3. Modelamiento Térmico: Modelo Sandia SAPM para estimación dinámica de la Temperatura de Celda (Tc).</a:t>
            </a:r>
            <a:br/>
            <a:br/>
            <a:r>
              <a:t>4. Caracterización Eléctrica: Extracción de los 5 parámetros De Soto en SRC usando Scipy Optimize.</a:t>
            </a:r>
            <a:br/>
            <a:br/>
            <a:r>
              <a:t>5. Simulación de Desempeño: Traslado de parámetros a operación y cómputo de PR minutal anual.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Fórmulas POA (Perez) y Absorción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1. Irradiancia en Plano de Arreglo (POA):</a:t>
            </a:r>
            <a:br/>
            <a:r>
              <a:t>$$G_{poa} = G_b \cdot R_{beam} + G_d \cdot \left(\frac{1 + \cos(\beta)}{2}\right) + G \cdot \rho \cdot \left(\frac{1 - \cos(\beta)}{2}\right)$$</a:t>
            </a:r>
            <a:br/>
            <a:br/>
            <a:r>
              <a:t>2. Irradiancia Absorbida por Celdas (S):</a:t>
            </a:r>
            <a:br/>
            <a:r>
              <a:t>$$\frac{S}{S_{ref}} = \frac{G_b}{G_{ref}} \cdot R_{beam} \cdot K_{\tau\alpha,b} + \frac{G_d}{G_{ref}} \cdot K_{\tau\alpha,d} \cdot \left(\frac{1 + \cos(\beta)}{2}\right) + \frac{G}{G_{ref}} \cdot \rho \cdot K_{\tau\alpha,g} \cdot \left(\frac{1 - \cos(\beta)}{2}\right)$$</a:t>
            </a:r>
            <a:br/>
            <a:br/>
            <a:r>
              <a:t>Donde $S_{ref} = G_{ref} = 1000\text{ W/m}^2$ en condiciones SRC.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Términos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$G_b \; / \; G_d \; / \; G$: Irradiancia directa, difusa y global horizontal ($\text{W/m}^2$).</a:t>
            </a:r>
            <a:br/>
            <a:r>
              <a:t>• $\beta$ (Tilt): Ángulo de inclinación del panel ($22.91^\circ$ optimizado).</a:t>
            </a:r>
            <a:br/>
            <a:r>
              <a:t>• $\rho$ (Albedo): Reflectancia del suelo árido desértico ($\sim 0.20$).</a:t>
            </a:r>
            <a:br/>
            <a:r>
              <a:t>• $R_{beam}$: Factor de transposición geométrica para radiación directa.</a:t>
            </a:r>
            <a:br/>
            <a:r>
              <a:t>• $K_{\tau\alpha,b} \; / \; K_{\tau\alpha,d} \; / \; K_{\tau\alpha,g}$: Modificadores por ángulo de incidencia (IAM) para componente directa, difusa y del suelo.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Ángulo de Incidencia (IAM)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8A838"/>
                </a:solidFill>
              </a:defRPr>
            </a:pPr>
            <a:r>
              <a:t>Ecuación física basada en Ley de Snell y Bouguer:</a:t>
            </a:r>
            <a:br/>
            <a:r>
              <a:t>$$K_{\tau\alpha}(\theta) = \frac{\tau(\theta)}{\tau(0)}$$</a:t>
            </a:r>
            <a:br/>
            <a:br/>
            <a:r>
              <a:t>$$\tau(\theta) = e^{-\frac{K \cdot L}{\cos(\theta_r)}} \cdot \left[ 1 - \frac{1}{2} \left( \frac{\sin^2(\theta_r - \theta)}{\sin^2(\theta_r + \theta)} + \frac{\tan^2(\theta_r - \theta)}{\tan^2(\theta_r + \theta)} \right) \right]$$</a:t>
            </a:r>
            <a:br/>
            <a:br/>
            <a:r>
              <a:t>$$\theta_r = \arcsin\left(\frac{\sin(\theta)}{n}\right)$$</a:t>
            </a:r>
            <a:br/>
            <a:br/>
            <a:r>
              <a:t>Donde:</a:t>
            </a:r>
            <a:br/>
            <a:r>
              <a:t>• $\theta$: Ángulo de incidencia solar.</a:t>
            </a:r>
            <a:br/>
            <a:r>
              <a:t>• $n = 1.526$ (Índice de refracción del vidrio templado).</a:t>
            </a:r>
            <a:br/>
            <a:r>
              <a:t>• $K = 4\text{ m}^{-1}$ (Absorción del vidrio).</a:t>
            </a:r>
            <a:br/>
            <a:r>
              <a:t>• $L = 2\text{ mm}$ (Espesor típico del vidrio).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Modificador por Masa de Aire (AM)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Corrige el desajuste del espectro solar según el espesor de la atmósfera atravesada:</a:t>
            </a:r>
            <a:br/>
            <a:r>
              <a:t>$$\frac{M}{M_{ref}} = a_0 + a_1 \cdot AM + a_2 \cdot AM^2 + a_3 \cdot AM^3 + a_4 \cdot AM^4$$</a:t>
            </a:r>
            <a:br/>
            <a:br/>
            <a:r>
              <a:t>$$AM = \frac{1}{\cos(\theta_z) + 0.5057 \cdot (96.08 - \theta_z)^{-1.634}}$$</a:t>
            </a:r>
            <a:br/>
            <a:br/>
            <a:r>
              <a:t>Donde:</a:t>
            </a:r>
            <a:br/>
            <a:r>
              <a:t>• $AM$: Masa de aire absoluta.</a:t>
            </a:r>
            <a:br/>
            <a:r>
              <a:t>• $\theta_z$: Ángulo cenital del sol.</a:t>
            </a:r>
            <a:br/>
            <a:r>
              <a:t>• $a_0, a_1, a_2, a_3, a_4$: Coeficientes empíricos espectrales.</a:t>
            </a:r>
            <a:br/>
            <a:r>
              <a:t>• $M_{ref}$: Transmitancia espectral a STC ($AM\;1.5g$).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Temperatura de Celda (Sandia SAPM)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La temperatura interna de la celda ($T_c$) depende del recurso solar y del viento:</a:t>
            </a:r>
            <a:br/>
            <a:br/>
            <a:r>
              <a:t>$$T_c = G_{poa} \cdot e^{a + b \cdot v_w} + T_a + \left(\frac{G_{poa}}{1000}\right) \cdot \Delta T$$</a:t>
            </a:r>
            <a:br/>
            <a:br/>
            <a:r>
              <a:t>Donde:</a:t>
            </a:r>
            <a:br/>
            <a:r>
              <a:t>• $T_c \; / \; T_a$: Temperatura de celda y ambiental ($^\circ\text{C}$).</a:t>
            </a:r>
            <a:br/>
            <a:r>
              <a:t>• $G_{poa}$: Irradiancia en el plano del panel ($\text{W/m}^2$).</a:t>
            </a:r>
            <a:br/>
            <a:r>
              <a:t>• $v_w$: Velocidad del viento ($\text{m/s}$).</a:t>
            </a:r>
            <a:br/>
            <a:r>
              <a:t>• $a, b, \Delta T$: Parámetros empíricos del encapsulado.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Coeficientes por Tecnología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Los parámetros empíricos varían según la disipación del marco y capas protectoras:</a:t>
            </a:r>
            <a:br/>
            <a:br/>
            <a:r>
              <a:t>1. Silicio Monocristalino (m-Si) — glass/polymer:</a:t>
            </a:r>
            <a:br/>
            <a:r>
              <a:t>   • a = -3.56  |  b = -0.075</a:t>
            </a:r>
            <a:br/>
            <a:r>
              <a:t>   • ΔT = 3.0 °C</a:t>
            </a:r>
            <a:br/>
            <a:r>
              <a:t>   → Comportamiento: Disipación estándar, mayor calentamiento.</a:t>
            </a:r>
            <a:br/>
            <a:br/>
            <a:r>
              <a:t>2. Heterounión (HIT) — glass/glass:</a:t>
            </a:r>
            <a:br/>
            <a:r>
              <a:t>   • a = -3.47  |  b = -0.059</a:t>
            </a:r>
            <a:br/>
            <a:r>
              <a:t>   • ΔT = 3.0 °C</a:t>
            </a:r>
            <a:br/>
            <a:r>
              <a:t>   → Comportamiento: Estructura de doble vidrio, retiene ligeramente más calor, pero se compensa por su bajo coeficiente térmico.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30352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Temperatura promedio diurna de celda: ~38°C a 45°C.</a:t>
            </a:r>
            <a:br/>
            <a:r>
              <a:t>• Picos térmicos extremos superan los 65°C a mediodía en verano.</a:t>
            </a:r>
            <a:br/>
            <a:r>
              <a:t>• Clima desértico seco reduce la convección natural del marco.</a:t>
            </a:r>
            <a:br/>
            <a:r>
              <a:t>• Las altas temperaturas aumentan la corriente de saturación inversa (Io), reduciendo severamente el Voc.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Modelo de 5 Parámetros: Diodo Simple (SDM)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El módulo se modela como un circuito equivalente de un diodo y pérdidas óhmicas:</a:t>
            </a:r>
            <a:br/>
            <a:br/>
            <a:r>
              <a:t>$$I = I_L - I_0 \cdot \left[ \exp\left(\frac{V + I \cdot R_s}{a}\right) - 1 \right] - \frac{V + I \cdot R_s}{R_{sh}}$$</a:t>
            </a:r>
            <a:br/>
            <a:br/>
            <a:r>
              <a:t>El factor de idealidad térmico ($a$) se define formalmente como:</a:t>
            </a:r>
            <a:br/>
            <a:br/>
            <a:r>
              <a:t>$$a = \frac{N_s \cdot n_I \cdot k \cdot T_c}{q}$$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Glosario de Parámetros Físicos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• $I \; / \; V$: Corriente y voltaje de salida (A, V).</a:t>
            </a:r>
            <a:br/>
            <a:r>
              <a:t>• $I_L$: Corriente fotogenerada por irradiancia (A).</a:t>
            </a:r>
            <a:br/>
            <a:r>
              <a:t>• $I_0$: Corriente de saturación inversa del diodo (A).</a:t>
            </a:r>
            <a:br/>
            <a:r>
              <a:t>• $R_s$: Resistencia serie de pérdidas ($\Omega$).</a:t>
            </a:r>
            <a:br/>
            <a:r>
              <a:t>• $R_{sh}$: Resistencia paralelo o shunt de fugas ($\Omega$).</a:t>
            </a:r>
            <a:br/>
            <a:r>
              <a:t>• $N_s$: Número de celdas en serie (m-Si: 36, HIT: 72).</a:t>
            </a:r>
            <a:br/>
            <a:r>
              <a:t>• $n_I$: Factor de idealidad del diodo.</a:t>
            </a:r>
            <a:br/>
            <a:r>
              <a:t>• $k$: Constante de Boltzmann ($1.3806 \times 10^{-23}\text{ J/K}$).</a:t>
            </a:r>
            <a:br/>
            <a:r>
              <a:t>• $q$: Carga elemental del electrón ($1.6022 \times 10^{-19}\text{ C}$).</a:t>
            </a:r>
            <a:br/>
            <a:r>
              <a:t>• $T_c$: Temperatura de celda absoluta (K).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Sistema No-Lineal de 5 Ecuaciones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A838"/>
                </a:solidFill>
              </a:defRPr>
            </a:pPr>
            <a:r>
              <a:t>Se extraen $a_{ref}$, $I_{L,ref}$, $I_{0,ref}$, $R_{s,ref}$, $R_{sh,ref}$ en STC:</a:t>
            </a:r>
            <a:br/>
            <a:br/>
            <a:r>
              <a:t>1. Cortocircuito ($I_{sc}$): $V = 0$, $I = I_{sc,ref}$</a:t>
            </a:r>
            <a:br/>
            <a:r>
              <a:t>2. Circuito Abierto ($V_{oc}$): $I = 0$, $V = V_{oc,ref}$</a:t>
            </a:r>
            <a:br/>
            <a:r>
              <a:t>3. Máxima Potencia (MPP): $I = I_{mp,ref}$, $V = V_{mp,ref}$</a:t>
            </a:r>
            <a:br/>
            <a:r>
              <a:t>4. Pendiente en MPP ($\frac{dP}{dV} = 0$):</a:t>
            </a:r>
            <a:br/>
            <a:r>
              <a:t>   $$\left.\frac{dI}{dV}\right|_{mp} = -\frac{I_{mp,ref}}{V_{mp,ref}}$$</a:t>
            </a:r>
            <a:br/>
            <a:r>
              <a:t>5. Coeficiente térmico de $V_{oc}$: $\beta_{Voc} = \frac{\partial V_{oc}}{\partial T_c}$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de la Derivada Analítica en MPP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</a:defRPr>
            </a:pPr>
            <a:r>
              <a:t>Para acoplar $R_s$ y el factor de idealidad, se implementa la derivada analítica obtenida del circuito:</a:t>
            </a:r>
            <a:br/>
            <a:br/>
            <a:r>
              <a:t>$$\left.\frac{dI}{dV}\right|_{mp} = -\frac{A + B}{1 + R_s \cdot A + R_s \cdot B}$$</a:t>
            </a:r>
            <a:br/>
            <a:br/>
            <a:r>
              <a:t>Donde:</a:t>
            </a:r>
            <a:br/>
            <a:r>
              <a:t>  $$A = \frac{I_0}{a} \cdot e^{\frac{V_{mp} + I_{mp} \cdot R_s}{a}}$$</a:t>
            </a:r>
            <a:br/>
            <a:r>
              <a:t>  $$B = \frac{1}{R_{sh}}$$</a:t>
            </a:r>
            <a:br/>
            <a:br/>
            <a:r>
              <a:t>La optimización se realiza mediante ajuste de mínimos cuadrados con bounds físicos ($R_s &gt; 0, n_I \in [1, 2]$).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Dependencias con (G, Tc) de De Soto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8A838"/>
                </a:solidFill>
              </a:defRPr>
            </a:pPr>
            <a:r>
              <a:t>1. Factor de Idealidad:</a:t>
            </a:r>
            <a:br/>
            <a:r>
              <a:t>$$\frac{a}{a_{ref}} = \frac{T_c}{T_{ref}}$$</a:t>
            </a:r>
            <a:br/>
            <a:br/>
            <a:r>
              <a:t>2. Corriente de Saturación Inversa ($I_0$):</a:t>
            </a:r>
            <a:br/>
            <a:r>
              <a:t>$$\frac{I_0}{I_{0,ref}} = \left(\frac{T_c}{T_{ref}}\right)^3 \cdot \exp\left[ \frac{E_{g,ref}}{k \cdot T_{ref}} - \frac{E_g}{k \cdot T_c} \right]$$</a:t>
            </a:r>
            <a:br/>
            <a:br/>
            <a:r>
              <a:t>3. Energía de Bandgap ($E_g$):</a:t>
            </a:r>
            <a:br/>
            <a:r>
              <a:t>$$\frac{E_g}{E_{g,ref}} = 1 - 0.0002677 \cdot (T_c - T_{ref})$$</a:t>
            </a:r>
            <a:br/>
            <a:r>
              <a:t>Donde $E_{g,ref} = 1.121\text{ eV}$ para Silicio a 25°C.</a:t>
            </a:r>
            <a:br/>
            <a:br/>
            <a:r>
              <a:t>4. Corriente Fotogenerada ($I_L$):</a:t>
            </a:r>
            <a:br/>
            <a:r>
              <a:t>$$I_L = \left(\frac{S}{S_{ref}}\right) \cdot \left(\frac{M}{M_{ref}}\right) \cdot \left[ I_{L,ref} + \alpha_{Isc} \cdot (T_c - T_{ref}) \right]$$</a:t>
            </a:r>
            <a:br/>
            <a:br/>
            <a:r>
              <a:t>5. Resistencia Shunt: $$R_{sh} = R_{sh,ref} \cdot \left(\frac{S_{ref}}{S}\right)$$$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Suposiciones Físicas Justificadas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• R_s Constante: Se asume R_s = R_s,ref.</a:t>
            </a:r>
            <a:br/>
            <a:r>
              <a:t>  Justificación: De Soto (2006) demuestra mediante validaciones contra NIST que la variación térmica de R_s es de segundo orden y su efecto en la curva I-V es despreciable.</a:t>
            </a:r>
            <a:br/>
            <a:br/>
            <a:r>
              <a:t>• R_sh dependiente de la Irradiancia Absorbida:</a:t>
            </a:r>
            <a:br/>
            <a:r>
              <a:t>  Sigue la relación inversamente proporcional con S para modelar cómo el aumento de portadores minoritarios abre caminos de fuga paralelos en la celda.</a:t>
            </a:r>
            <a:br/>
            <a:br/>
            <a:r>
              <a:t>• T_ref = 298.15 K (25°C)  |  S_ref = 1000 W/m².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280160"/>
            <a:ext cx="9144000" cy="39188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9436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760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41148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1097280"/>
            <a:ext cx="53949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188720"/>
            <a:ext cx="5212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459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Coeficiente de determinación R² &gt; 0.99 para ambas tecnologías.</a:t>
            </a:r>
            <a:br/>
            <a:r>
              <a:t>• RMSE &lt; 5W en condiciones estándar.</a:t>
            </a:r>
            <a:br/>
            <a:r>
              <a:t>• Validación cruzada: El modelo de De Soto reproduce con alta fidelidad las pérdidas por temperatura en celdas de silicio.</a:t>
            </a:r>
            <a:br/>
            <a: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A838"/>
                </a:solidFill>
              </a:defRPr>
            </a:pPr>
            <a:r>
              <a:t>El Performance Ratio (PR) evalúa la eficiencia neta del sistema fotovoltaico:</a:t>
            </a:r>
            <a:br/>
            <a:br/>
            <a:r>
              <a:t>$$PR = \frac{\sum P_{mp,SDM}(G, T_c)}{\sum \left[ P_{STC} \cdot \left(\frac{G_{poa}}{1000}\right) \right]}$$</a:t>
            </a:r>
            <a:br/>
            <a:br/>
            <a:r>
              <a:t>Donde:</a:t>
            </a:r>
            <a:br/>
            <a:r>
              <a:t>• $P_{mp,SDM}$: Potencia MPP simulada hora a hora con De Soto (W).</a:t>
            </a:r>
            <a:br/>
            <a:r>
              <a:t>• $P_{STC}$: Potencia nominal a STC (m-Si: 46.68 W | HIT: 217.52 W).</a:t>
            </a:r>
            <a:br/>
            <a:r>
              <a:t>• $G_{poa}$: Irradiancia calculada en el plano del panel ($\text{W/m}^2$).</a:t>
            </a:r>
            <a:br/>
            <a:r>
              <a:t>• $1000$: Irradiancia de referencia a STC ($\text{W/m}^2$).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Significado Físico del 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Indica la fracción de energía disponible que es realmente convertida en potencia útil de salida.</a:t>
            </a:r>
            <a:br/>
            <a:br/>
            <a:r>
              <a:t>• Un PR de 100% representaría un panel operando permanentemente a 25°C de temperatura de celda y sin ninguna pérdida reflectiva, de cableado o de suciedad.</a:t>
            </a:r>
            <a:br/>
            <a:br/>
            <a:r>
              <a:t>• Captura y penaliza de forma acumulativa:</a:t>
            </a:r>
            <a:br/>
            <a:r>
              <a:t>  1. Pérdidas Térmicas (elevada temperatura Tc).</a:t>
            </a:r>
            <a:br/>
            <a:r>
              <a:t>  2. Pérdidas Ópticas por Ángulo de Incidencia (IAM).</a:t>
            </a:r>
            <a:br/>
            <a:r>
              <a:t>  3. Pérdidas por Atenuación Espectral (Masa de Aire).</a:t>
            </a:r>
            <a:br/>
            <a:r>
              <a:t>  4. Pérdidas Óhmicas Internas (Resistencia Serie Rs).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1280160"/>
            <a:ext cx="777240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73075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• HIT (Naranja): Pendiente suave. Su bajo coeficiente térmico (-0.26 %/°C) mantiene una alta eficiencia de conversión incluso a 65°C de celda.</a:t>
            </a:r>
            <a:br/>
            <a:br/>
            <a: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8A838"/>
                </a:solidFill>
              </a:defRPr>
            </a:pPr>
            <a:r>
              <a:t>• Performance Ratio Anual m-Si: 84.53%</a:t>
            </a:r>
            <a:br/>
            <a:r>
              <a:t>• Performance Ratio Anual HIT: 86.92%</a:t>
            </a:r>
            <a:br/>
            <a:br/>
            <a:r>
              <a:t>• Ganancia Neta en PR: +2.39% a favor de HIT.</a:t>
            </a:r>
            <a:br/>
            <a:br/>
            <a: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Para una planta solar de gran escala de 100 MWp:</a:t>
            </a:r>
            <a:br/>
            <a:br/>
            <a:r>
              <a:t>• Cada +1% de Performance Ratio anual representa aproximadamente 2,500 MWh adicionales de generación de energía.</a:t>
            </a:r>
            <a:br/>
            <a:br/>
            <a:r>
              <a:t>• La ganancia de +2.39% de la tecnología HIT equivale a ~6,000 MWh/año adicionales de facturación neta.</a:t>
            </a:r>
            <a:br/>
            <a:br/>
            <a: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E8A838"/>
                </a:solidFill>
              </a:defRPr>
            </a:pPr>
            <a:r>
              <a:t>1. La emulación geográfica (Cocoa → Atacama) fue coherente, permitiendo evaluar el Performance Ratio real.</a:t>
            </a:r>
            <a:br/>
            <a:br/>
            <a:r>
              <a:t>2. El modelo De Soto de 5 parámetros reprodujo con altísima precisión (R² &gt; 0.99) el desempeño medido.</a:t>
            </a:r>
            <a:br/>
            <a:br/>
            <a:r>
              <a:t>3. La tecnología HIT supera en un 2.39% de PR anual al silicio monocristalino estándar.</a:t>
            </a:r>
            <a:br/>
            <a:br/>
            <a: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400">
                <a:solidFill>
                  <a:srgbClr val="E8A838"/>
                </a:solidFill>
              </a:defRPr>
            </a:pPr>
            <a: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• Integración de Bifacialidad: Modelar la ganancia por albedo posterior del suelo desértico (ρ &gt; 0.25).</a:t>
            </a:r>
            <a:br/>
            <a:br/>
            <a:r>
              <a:t>• Estudio de doble diodo: Capturar efectos de recombinación interna a baja irradiancia.</a:t>
            </a:r>
            <a:br/>
            <a:br/>
            <a:r>
              <a:t>• Pérdidas por acumulación de polvo (soiling) en el Desierto de Atacama.</a:t>
            </a:r>
            <a:br/>
            <a:br/>
            <a: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800">
                <a:solidFill>
                  <a:srgbClr val="E8A838"/>
                </a:solidFill>
              </a:defRPr>
            </a:pPr>
            <a: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• De Soto, W., Klein, S.A., Beckman, W.A. (2006). "Improvement and validation of a model for photovoltaic array performance." Solar Energy 80 (2006) 78–88.</a:t>
            </a:r>
            <a:br/>
            <a:br/>
            <a:r>
              <a:t>• Sandia National Laboratories - Photovoltaic Array Performance Model (Sandia Report SAND2004-3535).</a:t>
            </a:r>
            <a:br/>
            <a:br/>
            <a:r>
              <a:t>• NREL Cocoa Dataset - Experimental Measurements for Model Validation.</a:t>
            </a:r>
            <a:br/>
            <a:br/>
            <a:r>
              <a:t>• pvlib-python Library documentation &amp; community contributors.</a:t>
            </a:r>
            <a:br/>
            <a:br/>
            <a:r>
              <a:t>• Marion, B. et al. (2014). "Cocoa, Florida Data Set for Validating PV Models." NREL Technical Report.</a:t>
            </a:r>
            <a:br/>
            <a:br/>
            <a: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