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0"/>
            <a:ext cx="1146017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>
                <a:solidFill>
                  <a:srgbClr val="E8A838"/>
                </a:solidFill>
              </a:defRPr>
            </a:pPr>
            <a:r>
              <a:rPr sz="3600" b="1">
                <a:solidFill>
                  <a:srgbClr val="E8A838"/>
                </a:solidFill>
              </a:rPr>
              <a:t>Evaluación de Tecnologías Fotovoltaicas en el Desierto de Atacama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3474720"/>
            <a:ext cx="114601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Integrantes / Estudiantes:</a:t>
            </a:r>
          </a:p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Laury Gualdron  |  Sebastian Marin  |  Alejandro Hernández</a:t>
            </a:r>
          </a:p>
          <a:p>
            <a:pPr algn="ctr">
              <a:defRPr sz="1600">
                <a:solidFill>
                  <a:srgbClr val="FFFFFF"/>
                </a:solidFill>
              </a:defRPr>
            </a:pPr>
          </a:p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Profesor Guía: Carlos Cardenas</a:t>
            </a:r>
          </a:p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ELI556 — Modelamiento y Análisis de Sistemas PV  |  Grupo Alta Tensión (AT)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1/20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¿Por qué el Desierto de Atacama?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El Recurso Solar más Extremo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Irradiancia GHI anual &gt; 2900 kWh/m² (máxima mundial).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Cielos extremadamente limpios con baja atenuación.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Altitud elevada (&gt;= 2400 m.s.n.m.): mayor radiación directa y UV.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Coordenadas del estudio: Latitud -22.91°, Longitud -68.20°.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El Desafío Térmico desértico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Las celdas solares operan a temperaturas &gt; 65°C a mediodía.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La potencia y el voltaje decaen fuertemente con el calor.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La eficiencia térmica es el factor dominante en pérdidas.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Pregunta: ¿Qué tecnología resiste mejor este estrés extremo?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2/20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¿Por qué m-Si y HIT? Comparativa de la Base de Datos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Familias Tecnológicas en Dataset Cocoa (NREL) </a:t>
            </a:r>
            <a:r>
              <a:rPr sz="1800" b="1">
                <a:solidFill>
                  <a:srgbClr val="E8A838"/>
                </a:solidFill>
              </a:rPr>
              <a:t>[5]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11064240" cy="4114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377440"/>
                <a:gridCol w="1097280"/>
                <a:gridCol w="1645920"/>
                <a:gridCol w="3383280"/>
                <a:gridCol w="2560320"/>
              </a:tblGrid>
              <a:tr h="68580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Tecnología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Eficiencia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Coef. Temp. (Pmp)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Comportamiento en Desierto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Decisión / Rol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m-Si / x-Si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(Silicio Monocristalino / Cristalino)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17% - 21%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-0.40 %/°C (Malo)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Grandes pérdidas por calor (baja tolerancia).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E8A838"/>
                          </a:solidFill>
                        </a:defRPr>
                      </a:pPr>
                      <a:r>
                        <a:t>SELECCIONADO (Línea Base)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HIT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(Heterounión con Capa Fina Intrínseca)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20% - 22%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-0.26 %/°C (Excelente)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Mantiene alta producción bajo estrés térmico.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E8A838"/>
                          </a:solidFill>
                        </a:defRPr>
                      </a:pPr>
                      <a:r>
                        <a:t>SELECCIONADO (Premium)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CdTe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(Teluro de Cadmio)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15% - 18%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-0.28 %/°C (Excelente)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Excelente desempeño, pero posee toxicidad por Cd.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(Menor contraste)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CIGS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(Seleniuro de Cobre, Indio y Galio)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14% - 16%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-0.35 %/°C (Bueno)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Pérdidas moderadas; susceptible a la humedad.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(Sin contraste extremo)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a-Si (Película Fina)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(Silicio Amorfo)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6% - 10%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-0.20 %/°C (Excelente)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Baja eficiencia base y fuerte degradación inicial.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(Inviable comercial)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3/20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Metodología: Pipeline de Simulación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Flujo de Procesamiento Automatizado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54577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1. Ingesta de Datos: Dataset NREL Cocoa</a:t>
            </a:r>
            <a:r>
              <a:rPr sz="1900">
                <a:solidFill>
                  <a:srgbClr val="FFFFFF"/>
                </a:solidFill>
              </a:rPr>
              <a:t>[5]</a:t>
            </a:r>
            <a:r>
              <a:rPr sz="1900">
                <a:solidFill>
                  <a:srgbClr val="FFFFFF"/>
                </a:solidFill>
              </a:rPr>
              <a:t> (mediciones experimentales reales).</a:t>
            </a:r>
          </a:p>
          <a:p>
            <a:pPr algn="l">
              <a:defRPr sz="1900">
                <a:solidFill>
                  <a:srgbClr val="FFFFFF"/>
                </a:solidFill>
              </a:defRPr>
            </a:pPr>
          </a:p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2. Filtro de Emulación Geográfica: Traslación temporal (desfase de 6 meses) y re-localización espacial.</a:t>
            </a:r>
          </a:p>
          <a:p>
            <a:pPr algn="l">
              <a:defRPr sz="1900">
                <a:solidFill>
                  <a:srgbClr val="FFFFFF"/>
                </a:solidFill>
              </a:defRPr>
            </a:pPr>
          </a:p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3. Modelamiento Térmico: Modelo Sandia SAPM</a:t>
            </a:r>
            <a:r>
              <a:rPr sz="1900">
                <a:solidFill>
                  <a:srgbClr val="FFFFFF"/>
                </a:solidFill>
              </a:rPr>
              <a:t>[2]</a:t>
            </a:r>
            <a:r>
              <a:rPr sz="1900">
                <a:solidFill>
                  <a:srgbClr val="FFFFFF"/>
                </a:solidFill>
              </a:rPr>
              <a:t> para estimación dinámica de la Temperatura de Celda (</a:t>
            </a:r>
            <a:r>
              <a:rPr sz="1900" i="1">
                <a:solidFill>
                  <a:srgbClr val="FFFFFF"/>
                </a:solidFill>
              </a:rPr>
              <a:t>T</a:t>
            </a:r>
            <a:r>
              <a:rPr sz="1900" i="1">
                <a:solidFill>
                  <a:srgbClr val="FFFFFF"/>
                </a:solidFill>
              </a:rPr>
              <a:t>c</a:t>
            </a:r>
            <a:r>
              <a:rPr sz="1900">
                <a:solidFill>
                  <a:srgbClr val="FFFFFF"/>
                </a:solidFill>
              </a:rPr>
              <a:t>).</a:t>
            </a:r>
          </a:p>
          <a:p>
            <a:pPr algn="l">
              <a:defRPr sz="1900">
                <a:solidFill>
                  <a:srgbClr val="FFFFFF"/>
                </a:solidFill>
              </a:defRPr>
            </a:pPr>
          </a:p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4. Caracterización Eléctrica: Extracción de los 5 parámetros De Soto</a:t>
            </a:r>
            <a:r>
              <a:rPr sz="1900">
                <a:solidFill>
                  <a:srgbClr val="FFFFFF"/>
                </a:solidFill>
              </a:rPr>
              <a:t>[1]</a:t>
            </a:r>
            <a:r>
              <a:rPr sz="1900">
                <a:solidFill>
                  <a:srgbClr val="FFFFFF"/>
                </a:solidFill>
              </a:rPr>
              <a:t> en SRC usando Scipy Optimize.</a:t>
            </a:r>
          </a:p>
          <a:p>
            <a:pPr algn="l">
              <a:defRPr sz="1900">
                <a:solidFill>
                  <a:srgbClr val="FFFFFF"/>
                </a:solidFill>
              </a:defRPr>
            </a:pPr>
          </a:p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5. Simulación de Desempeño: Traslado de parámetros a operación y cómputo de </a:t>
            </a:r>
            <a:r>
              <a:rPr sz="1900" i="1">
                <a:solidFill>
                  <a:srgbClr val="FFFFFF"/>
                </a:solidFill>
              </a:rPr>
              <a:t>PR</a:t>
            </a:r>
            <a:r>
              <a:rPr sz="1900">
                <a:solidFill>
                  <a:srgbClr val="FFFFFF"/>
                </a:solidFill>
              </a:rPr>
              <a:t> minutal anual usando pvlib-python</a:t>
            </a:r>
            <a:r>
              <a:rPr sz="1900">
                <a:solidFill>
                  <a:srgbClr val="FFFFFF"/>
                </a:solidFill>
              </a:rPr>
              <a:t>[4]</a:t>
            </a:r>
            <a:r>
              <a:rPr sz="190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4/20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Recurso Solar: Transposición y Absorción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0292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Transposición POA (Modelo de Perez)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Calcula la irradiancia incidente total en el panel inclinado:</a:t>
            </a:r>
          </a:p>
        </p:txBody>
      </p:sp>
      <p:pic>
        <p:nvPicPr>
          <p:cNvPr id="6" name="Picture 5" descr="eq_a8e4ce8b7b155acb59ba2491ed70f4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11680"/>
            <a:ext cx="4663440" cy="3185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926080"/>
            <a:ext cx="4663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Donde: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 i="1">
                <a:solidFill>
                  <a:srgbClr val="E8A838"/>
                </a:solidFill>
              </a:rPr>
              <a:t>b</a:t>
            </a:r>
            <a:r>
              <a:rPr sz="1500">
                <a:solidFill>
                  <a:srgbClr val="E8A838"/>
                </a:solidFill>
              </a:rPr>
              <a:t> /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 i="1">
                <a:solidFill>
                  <a:srgbClr val="E8A838"/>
                </a:solidFill>
              </a:rPr>
              <a:t>d</a:t>
            </a:r>
            <a:r>
              <a:rPr sz="1500">
                <a:solidFill>
                  <a:srgbClr val="E8A838"/>
                </a:solidFill>
              </a:rPr>
              <a:t> /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>
                <a:solidFill>
                  <a:srgbClr val="E8A838"/>
                </a:solidFill>
              </a:rPr>
              <a:t>: Irradiancia directa, difusa y global (W/m²).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β</a:t>
            </a:r>
            <a:r>
              <a:rPr sz="1500">
                <a:solidFill>
                  <a:srgbClr val="E8A838"/>
                </a:solidFill>
              </a:rPr>
              <a:t> (Tilt): Ángulo de inclinación óptimo (22.91°).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ρ</a:t>
            </a:r>
            <a:r>
              <a:rPr sz="1500">
                <a:solidFill>
                  <a:srgbClr val="E8A838"/>
                </a:solidFill>
              </a:rPr>
              <a:t> (Albedo): Reflectancia del suelo desértico (~0.20).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R</a:t>
            </a:r>
            <a:r>
              <a:rPr sz="1500" i="1">
                <a:solidFill>
                  <a:srgbClr val="E8A838"/>
                </a:solidFill>
              </a:rPr>
              <a:t>beam</a:t>
            </a:r>
            <a:r>
              <a:rPr sz="1500">
                <a:solidFill>
                  <a:srgbClr val="E8A838"/>
                </a:solidFill>
              </a:rPr>
              <a:t>: Factor de transposición geométrica directa.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0" y="1097280"/>
            <a:ext cx="566928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0" y="1188720"/>
            <a:ext cx="5486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Absorción en Celda (Pérdidas Ópticas)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15544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Modela la radiación real que penetra y es absorbida por la celda:</a:t>
            </a:r>
          </a:p>
        </p:txBody>
      </p:sp>
      <p:pic>
        <p:nvPicPr>
          <p:cNvPr id="11" name="Picture 10" descr="eq_bb06151bcf09291bead73672e21c10f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1874519"/>
            <a:ext cx="2459783" cy="12801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852160" y="3337560"/>
            <a:ext cx="53035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Donde: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</a:t>
            </a:r>
            <a:r>
              <a:rPr sz="1600" i="1">
                <a:solidFill>
                  <a:srgbClr val="FFFFFF"/>
                </a:solidFill>
              </a:rPr>
              <a:t>S</a:t>
            </a:r>
            <a:r>
              <a:rPr sz="1600">
                <a:solidFill>
                  <a:srgbClr val="FFFFFF"/>
                </a:solidFill>
              </a:rPr>
              <a:t> / </a:t>
            </a:r>
            <a:r>
              <a:rPr sz="1600" i="1">
                <a:solidFill>
                  <a:srgbClr val="FFFFFF"/>
                </a:solidFill>
              </a:rPr>
              <a:t>S</a:t>
            </a:r>
            <a:r>
              <a:rPr sz="1600" i="1">
                <a:solidFill>
                  <a:srgbClr val="FFFFFF"/>
                </a:solidFill>
              </a:rPr>
              <a:t>ref</a:t>
            </a:r>
            <a:r>
              <a:rPr sz="1600">
                <a:solidFill>
                  <a:srgbClr val="FFFFFF"/>
                </a:solidFill>
              </a:rPr>
              <a:t>: Irradiancia efectiva y de referencia (1000 W/m²).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</a:t>
            </a:r>
            <a:r>
              <a:rPr sz="1600" i="1">
                <a:solidFill>
                  <a:srgbClr val="FFFFFF"/>
                </a:solidFill>
              </a:rPr>
              <a:t>K</a:t>
            </a:r>
            <a:r>
              <a:rPr sz="1600" i="1">
                <a:solidFill>
                  <a:srgbClr val="FFFFFF"/>
                </a:solidFill>
              </a:rPr>
              <a:t>τα,b</a:t>
            </a:r>
            <a:r>
              <a:rPr sz="1600">
                <a:solidFill>
                  <a:srgbClr val="FFFFFF"/>
                </a:solidFill>
              </a:rPr>
              <a:t> / </a:t>
            </a:r>
            <a:r>
              <a:rPr sz="1600" i="1">
                <a:solidFill>
                  <a:srgbClr val="FFFFFF"/>
                </a:solidFill>
              </a:rPr>
              <a:t>K</a:t>
            </a:r>
            <a:r>
              <a:rPr sz="1600" i="1">
                <a:solidFill>
                  <a:srgbClr val="FFFFFF"/>
                </a:solidFill>
              </a:rPr>
              <a:t>τα,d</a:t>
            </a:r>
            <a:r>
              <a:rPr sz="1600">
                <a:solidFill>
                  <a:srgbClr val="FFFFFF"/>
                </a:solidFill>
              </a:rPr>
              <a:t> / </a:t>
            </a:r>
            <a:r>
              <a:rPr sz="1600" i="1">
                <a:solidFill>
                  <a:srgbClr val="FFFFFF"/>
                </a:solidFill>
              </a:rPr>
              <a:t>K</a:t>
            </a:r>
            <a:r>
              <a:rPr sz="1600" i="1">
                <a:solidFill>
                  <a:srgbClr val="FFFFFF"/>
                </a:solidFill>
              </a:rPr>
              <a:t>τα,g</a:t>
            </a:r>
            <a:r>
              <a:rPr sz="1600">
                <a:solidFill>
                  <a:srgbClr val="FFFFFF"/>
                </a:solidFill>
              </a:rPr>
              <a:t>: Modificadores por IAM para directa, difusa y albedo.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Incorpora las pérdidas ópticas por ángulo de incidencia</a:t>
            </a:r>
            <a:r>
              <a:rPr sz="1600">
                <a:solidFill>
                  <a:srgbClr val="FFFFFF"/>
                </a:solidFill>
              </a:rPr>
              <a:t>[2]</a:t>
            </a:r>
            <a:r>
              <a:rPr sz="160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5/20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Modificadores Ópticos: IAM y Masa de Aire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Modificador por Ángulo de Incidencia (IAM) </a:t>
            </a:r>
            <a:r>
              <a:rPr sz="1800" b="1">
                <a:solidFill>
                  <a:srgbClr val="E8A838"/>
                </a:solidFill>
              </a:rPr>
              <a:t>[2]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Ecuación física basada en Ley de Snell y Bouguer:</a:t>
            </a:r>
          </a:p>
        </p:txBody>
      </p:sp>
      <p:pic>
        <p:nvPicPr>
          <p:cNvPr id="6" name="Picture 5" descr="eq_8a7d35cd9feb6147f12570daab6547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20240"/>
            <a:ext cx="1234440" cy="411480"/>
          </a:xfrm>
          <a:prstGeom prst="rect">
            <a:avLst/>
          </a:prstGeom>
        </p:spPr>
      </p:pic>
      <p:pic>
        <p:nvPicPr>
          <p:cNvPr id="7" name="Picture 6" descr="eq_a96da545a4088927f7bf0f7dbce729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468880"/>
            <a:ext cx="4108233" cy="411480"/>
          </a:xfrm>
          <a:prstGeom prst="rect">
            <a:avLst/>
          </a:prstGeom>
        </p:spPr>
      </p:pic>
      <p:pic>
        <p:nvPicPr>
          <p:cNvPr id="8" name="Picture 7" descr="eq_cd4ce63955ff79583978e1e85e9828d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154680"/>
            <a:ext cx="1974028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931920"/>
            <a:ext cx="5181447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Donde: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θ</a:t>
            </a:r>
            <a:r>
              <a:rPr sz="1500">
                <a:solidFill>
                  <a:srgbClr val="E8A838"/>
                </a:solidFill>
              </a:rPr>
              <a:t>: Ángulo de incidencia  |  </a:t>
            </a:r>
            <a:r>
              <a:rPr sz="1500" i="1">
                <a:solidFill>
                  <a:srgbClr val="E8A838"/>
                </a:solidFill>
              </a:rPr>
              <a:t>n</a:t>
            </a:r>
            <a:r>
              <a:rPr sz="1500">
                <a:solidFill>
                  <a:srgbClr val="E8A838"/>
                </a:solidFill>
              </a:rPr>
              <a:t> = 1.526 (Índice refracción vidrio).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K</a:t>
            </a:r>
            <a:r>
              <a:rPr sz="1500">
                <a:solidFill>
                  <a:srgbClr val="E8A838"/>
                </a:solidFill>
              </a:rPr>
              <a:t> = 4 m⁻¹ (Absorción del vidrio)  |  </a:t>
            </a:r>
            <a:r>
              <a:rPr sz="1500" i="1">
                <a:solidFill>
                  <a:srgbClr val="E8A838"/>
                </a:solidFill>
              </a:rPr>
              <a:t>L</a:t>
            </a:r>
            <a:r>
              <a:rPr sz="1500">
                <a:solidFill>
                  <a:srgbClr val="E8A838"/>
                </a:solidFill>
              </a:rPr>
              <a:t> = 2 mm (Espesor vidrio).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Modificador por Masa de Aire (AM) </a:t>
            </a:r>
            <a:r>
              <a:rPr sz="1800" b="1">
                <a:solidFill>
                  <a:srgbClr val="E8A838"/>
                </a:solidFill>
              </a:rPr>
              <a:t>[2]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1508760"/>
            <a:ext cx="5181447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Corrige el desajuste del espectro solar según la atmósfera atravesada:</a:t>
            </a:r>
          </a:p>
        </p:txBody>
      </p:sp>
      <p:pic>
        <p:nvPicPr>
          <p:cNvPr id="13" name="Picture 12" descr="eq_d906b2c1975077e1fc2fda1e56aae0c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1607" y="2148840"/>
            <a:ext cx="5029200" cy="333513"/>
          </a:xfrm>
          <a:prstGeom prst="rect">
            <a:avLst/>
          </a:prstGeom>
        </p:spPr>
      </p:pic>
      <p:pic>
        <p:nvPicPr>
          <p:cNvPr id="14" name="Picture 13" descr="eq_a92345a0e73bcc5feb98374753acda4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1607" y="2834640"/>
            <a:ext cx="3687419" cy="4389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70167" y="3749039"/>
            <a:ext cx="5181447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Donde: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AM</a:t>
            </a:r>
            <a:r>
              <a:rPr sz="1500">
                <a:solidFill>
                  <a:srgbClr val="FFFFFF"/>
                </a:solidFill>
              </a:rPr>
              <a:t>: Masa de aire absoluta  |  </a:t>
            </a:r>
            <a:r>
              <a:rPr sz="1500" i="1">
                <a:solidFill>
                  <a:srgbClr val="FFFFFF"/>
                </a:solidFill>
              </a:rPr>
              <a:t>θ</a:t>
            </a:r>
            <a:r>
              <a:rPr sz="1500" i="1">
                <a:solidFill>
                  <a:srgbClr val="FFFFFF"/>
                </a:solidFill>
              </a:rPr>
              <a:t>z</a:t>
            </a:r>
            <a:r>
              <a:rPr sz="1500">
                <a:solidFill>
                  <a:srgbClr val="FFFFFF"/>
                </a:solidFill>
              </a:rPr>
              <a:t>: Ángulo cenital del sol.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0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1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2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3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4</a:t>
            </a:r>
            <a:r>
              <a:rPr sz="1500">
                <a:solidFill>
                  <a:srgbClr val="FFFFFF"/>
                </a:solidFill>
              </a:rPr>
              <a:t>: Coeficientes empíricos espectrales.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M</a:t>
            </a:r>
            <a:r>
              <a:rPr sz="1500" i="1">
                <a:solidFill>
                  <a:srgbClr val="FFFFFF"/>
                </a:solidFill>
              </a:rPr>
              <a:t>ref</a:t>
            </a:r>
            <a:r>
              <a:rPr sz="1500">
                <a:solidFill>
                  <a:srgbClr val="FFFFFF"/>
                </a:solidFill>
              </a:rPr>
              <a:t>: Transmitancia espectral a STC (AM 1.5g).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6/20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Dinámica Horaria: Irradiancia en Día Despejado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30352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erfil_dia_tip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34440"/>
            <a:ext cx="10360152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7/20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Temperatura de Celda (Sandia SAPM) </a:t>
            </a:r>
            <a:r>
              <a:rPr sz="2800" b="1">
                <a:solidFill>
                  <a:srgbClr val="E8A838"/>
                </a:solidFill>
              </a:rPr>
              <a:t>[2]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201168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Ecuación del Modelo Térmico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La temperatura interna de la celda (</a:t>
            </a:r>
            <a:r>
              <a:rPr sz="1500" i="1">
                <a:solidFill>
                  <a:srgbClr val="FFFFFF"/>
                </a:solidFill>
              </a:rPr>
              <a:t>T</a:t>
            </a:r>
            <a:r>
              <a:rPr sz="1500" i="1">
                <a:solidFill>
                  <a:srgbClr val="FFFFFF"/>
                </a:solidFill>
              </a:rPr>
              <a:t>c</a:t>
            </a:r>
            <a:r>
              <a:rPr sz="1500">
                <a:solidFill>
                  <a:srgbClr val="FFFFFF"/>
                </a:solidFill>
              </a:rPr>
              <a:t>) depende de la irradiancia incidente y de la velocidad del viento:</a:t>
            </a:r>
          </a:p>
        </p:txBody>
      </p:sp>
      <p:pic>
        <p:nvPicPr>
          <p:cNvPr id="6" name="Picture 5" descr="eq_6df31a59eeb699d8d30eef1fac4834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965960"/>
            <a:ext cx="5029200" cy="48124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65760" y="3291840"/>
            <a:ext cx="457200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4389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Glosario de Variables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49039"/>
            <a:ext cx="4206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T</a:t>
            </a:r>
            <a:r>
              <a:rPr sz="1500" i="1">
                <a:solidFill>
                  <a:srgbClr val="E8A838"/>
                </a:solidFill>
              </a:rPr>
              <a:t>c</a:t>
            </a:r>
            <a:r>
              <a:rPr sz="1500">
                <a:solidFill>
                  <a:srgbClr val="E8A838"/>
                </a:solidFill>
              </a:rPr>
              <a:t> / </a:t>
            </a:r>
            <a:r>
              <a:rPr sz="1500" i="1">
                <a:solidFill>
                  <a:srgbClr val="E8A838"/>
                </a:solidFill>
              </a:rPr>
              <a:t>T</a:t>
            </a:r>
            <a:r>
              <a:rPr sz="1500" i="1">
                <a:solidFill>
                  <a:srgbClr val="E8A838"/>
                </a:solidFill>
              </a:rPr>
              <a:t>a</a:t>
            </a:r>
            <a:r>
              <a:rPr sz="1500">
                <a:solidFill>
                  <a:srgbClr val="E8A838"/>
                </a:solidFill>
              </a:rPr>
              <a:t>: Temp. de celda y ambiental (°C).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 i="1">
                <a:solidFill>
                  <a:srgbClr val="E8A838"/>
                </a:solidFill>
              </a:rPr>
              <a:t>poa</a:t>
            </a:r>
            <a:r>
              <a:rPr sz="1500">
                <a:solidFill>
                  <a:srgbClr val="E8A838"/>
                </a:solidFill>
              </a:rPr>
              <a:t>: Irradiancia en plano de panel (W/m²).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v</a:t>
            </a:r>
            <a:r>
              <a:rPr sz="1500" i="1">
                <a:solidFill>
                  <a:srgbClr val="E8A838"/>
                </a:solidFill>
              </a:rPr>
              <a:t>w</a:t>
            </a:r>
            <a:r>
              <a:rPr sz="1500">
                <a:solidFill>
                  <a:srgbClr val="E8A838"/>
                </a:solidFill>
              </a:rPr>
              <a:t>: Velocidad del viento local (m/s).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a</a:t>
            </a:r>
            <a:r>
              <a:rPr sz="1500">
                <a:solidFill>
                  <a:srgbClr val="E8A838"/>
                </a:solidFill>
              </a:rPr>
              <a:t>, </a:t>
            </a:r>
            <a:r>
              <a:rPr sz="1500" i="1">
                <a:solidFill>
                  <a:srgbClr val="E8A838"/>
                </a:solidFill>
              </a:rPr>
              <a:t>b</a:t>
            </a:r>
            <a:r>
              <a:rPr sz="1500">
                <a:solidFill>
                  <a:srgbClr val="E8A838"/>
                </a:solidFill>
              </a:rPr>
              <a:t>, </a:t>
            </a:r>
            <a:r>
              <a:rPr sz="1500" i="1">
                <a:solidFill>
                  <a:srgbClr val="E8A838"/>
                </a:solidFill>
              </a:rPr>
              <a:t>ΔT</a:t>
            </a:r>
            <a:r>
              <a:rPr sz="1500">
                <a:solidFill>
                  <a:srgbClr val="E8A838"/>
                </a:solidFill>
              </a:rPr>
              <a:t>: Parámetros empíricos del encapsulado.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12080" y="3291840"/>
            <a:ext cx="612648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3383280"/>
            <a:ext cx="5943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Coeficientes Empíricos por Tecnología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0" y="3749039"/>
            <a:ext cx="5760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b="1">
                <a:solidFill>
                  <a:srgbClr val="FFFFFF"/>
                </a:solidFill>
              </a:rPr>
              <a:t>Silicio Monocristalino (m-Si) — glass/polymer: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</a:t>
            </a:r>
            <a:r>
              <a:rPr sz="1400" i="1">
                <a:solidFill>
                  <a:srgbClr val="FFFFFF"/>
                </a:solidFill>
              </a:rPr>
              <a:t>a</a:t>
            </a:r>
            <a:r>
              <a:rPr sz="1400">
                <a:solidFill>
                  <a:srgbClr val="FFFFFF"/>
                </a:solidFill>
              </a:rPr>
              <a:t> = -3.56  |  </a:t>
            </a:r>
            <a:r>
              <a:rPr sz="1400" i="1">
                <a:solidFill>
                  <a:srgbClr val="FFFFFF"/>
                </a:solidFill>
              </a:rPr>
              <a:t>b</a:t>
            </a:r>
            <a:r>
              <a:rPr sz="1400">
                <a:solidFill>
                  <a:srgbClr val="FFFFFF"/>
                </a:solidFill>
              </a:rPr>
              <a:t> = -0.075  |  </a:t>
            </a:r>
            <a:r>
              <a:rPr sz="1400" i="1">
                <a:solidFill>
                  <a:srgbClr val="FFFFFF"/>
                </a:solidFill>
              </a:rPr>
              <a:t>ΔT</a:t>
            </a:r>
            <a:r>
              <a:rPr sz="1400">
                <a:solidFill>
                  <a:srgbClr val="FFFFFF"/>
                </a:solidFill>
              </a:rPr>
              <a:t> = 3.0 °C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→ Comportamiento: Disipación estándar, mayor calentamiento.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b="1">
                <a:solidFill>
                  <a:srgbClr val="FFFFFF"/>
                </a:solidFill>
              </a:rPr>
              <a:t>Heterounión (HIT) — glass/glass: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</a:t>
            </a:r>
            <a:r>
              <a:rPr sz="1400" i="1">
                <a:solidFill>
                  <a:srgbClr val="FFFFFF"/>
                </a:solidFill>
              </a:rPr>
              <a:t>a</a:t>
            </a:r>
            <a:r>
              <a:rPr sz="1400">
                <a:solidFill>
                  <a:srgbClr val="FFFFFF"/>
                </a:solidFill>
              </a:rPr>
              <a:t> = -3.47  |  </a:t>
            </a:r>
            <a:r>
              <a:rPr sz="1400" i="1">
                <a:solidFill>
                  <a:srgbClr val="FFFFFF"/>
                </a:solidFill>
              </a:rPr>
              <a:t>b</a:t>
            </a:r>
            <a:r>
              <a:rPr sz="1400">
                <a:solidFill>
                  <a:srgbClr val="FFFFFF"/>
                </a:solidFill>
              </a:rPr>
              <a:t> = -0.059  |  </a:t>
            </a:r>
            <a:r>
              <a:rPr sz="1400" i="1">
                <a:solidFill>
                  <a:srgbClr val="FFFFFF"/>
                </a:solidFill>
              </a:rPr>
              <a:t>ΔT</a:t>
            </a:r>
            <a:r>
              <a:rPr sz="1400">
                <a:solidFill>
                  <a:srgbClr val="FFFFFF"/>
                </a:solidFill>
              </a:rPr>
              <a:t> = 3.0 °C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→ Comportamiento: Retiene más calor, pero se compensa por su bajo coeficiente térmico.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8/20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Resultados Térmicos: Distribución Anual Tc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64008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6217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Distribución de Temperatura de Celda</a:t>
            </a:r>
          </a:p>
        </p:txBody>
      </p:sp>
      <p:pic>
        <p:nvPicPr>
          <p:cNvPr id="5" name="Picture 4" descr="temp_hist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508760"/>
            <a:ext cx="5852160" cy="43891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858000" y="1097280"/>
            <a:ext cx="493776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0" y="1188720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Comportamiento en Atacama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164592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Temperatura promedio diurna de celda: ~38°C a 45°C.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Picos térmicos extremos superan los 65°C a mediodía en verano.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Clima desértico seco reduce la convección natural del marco.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Las altas temperaturas aumentan la corriente de saturación inversa (</a:t>
            </a:r>
            <a:r>
              <a:rPr sz="1700" i="1">
                <a:solidFill>
                  <a:srgbClr val="FFFFFF"/>
                </a:solidFill>
              </a:rPr>
              <a:t>I</a:t>
            </a:r>
            <a:r>
              <a:rPr sz="1700" i="1">
                <a:solidFill>
                  <a:srgbClr val="FFFFFF"/>
                </a:solidFill>
              </a:rPr>
              <a:t>0</a:t>
            </a:r>
            <a:r>
              <a:rPr sz="1700">
                <a:solidFill>
                  <a:srgbClr val="FFFFFF"/>
                </a:solidFill>
              </a:rPr>
              <a:t>), reduciendo severamente el </a:t>
            </a:r>
            <a:r>
              <a:rPr sz="1700" i="1">
                <a:solidFill>
                  <a:srgbClr val="FFFFFF"/>
                </a:solidFill>
              </a:rPr>
              <a:t>V</a:t>
            </a:r>
            <a:r>
              <a:rPr sz="1700" i="1">
                <a:solidFill>
                  <a:srgbClr val="FFFFFF"/>
                </a:solidFill>
              </a:rPr>
              <a:t>oc</a:t>
            </a:r>
            <a:r>
              <a:rPr sz="170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9/20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Modelo de 5 Parámetros: Diodo Simple (SDM) </a:t>
            </a:r>
            <a:r>
              <a:rPr sz="2800" b="1">
                <a:solidFill>
                  <a:srgbClr val="E8A838"/>
                </a:solidFill>
              </a:rPr>
              <a:t>[1]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201168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Ecuación del Circuito Equivalente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El comportamiento eléctrico del módulo se modela mediante la ecuación trascendental del diodo:</a:t>
            </a:r>
          </a:p>
        </p:txBody>
      </p:sp>
      <p:pic>
        <p:nvPicPr>
          <p:cNvPr id="6" name="Picture 5" descr="eq_0f6e22b8305268a9b05c626661276e2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965960"/>
            <a:ext cx="4259669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65760" y="3291840"/>
            <a:ext cx="493776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Factor de Idealidad Térmico (a)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6576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El factor de idealidad térmico se define formalmente como:</a:t>
            </a:r>
          </a:p>
        </p:txBody>
      </p:sp>
      <p:pic>
        <p:nvPicPr>
          <p:cNvPr id="10" name="Picture 9" descr="eq_81b193729b5e8ca3d3141349bc52cf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160520"/>
            <a:ext cx="1762055" cy="438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480060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Donde </a:t>
            </a:r>
            <a:r>
              <a:rPr sz="1400" i="1">
                <a:solidFill>
                  <a:srgbClr val="E8A838"/>
                </a:solidFill>
              </a:rPr>
              <a:t>N</a:t>
            </a:r>
            <a:r>
              <a:rPr sz="1400" i="1">
                <a:solidFill>
                  <a:srgbClr val="E8A838"/>
                </a:solidFill>
              </a:rPr>
              <a:t>s</a:t>
            </a:r>
            <a:r>
              <a:rPr sz="1400">
                <a:solidFill>
                  <a:srgbClr val="E8A838"/>
                </a:solidFill>
              </a:rPr>
              <a:t> es el número de celdas en serie (m-Si: 36, HIT: 72).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77840" y="3291840"/>
            <a:ext cx="576072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3383280"/>
            <a:ext cx="5577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Glosario de Parámetros Físicos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0" y="3657600"/>
            <a:ext cx="5394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>
                <a:solidFill>
                  <a:srgbClr val="FFFFFF"/>
                </a:solidFill>
              </a:rPr>
              <a:t> / </a:t>
            </a:r>
            <a:r>
              <a:rPr sz="1400" i="1">
                <a:solidFill>
                  <a:srgbClr val="FFFFFF"/>
                </a:solidFill>
              </a:rPr>
              <a:t>V</a:t>
            </a:r>
            <a:r>
              <a:rPr sz="1400">
                <a:solidFill>
                  <a:srgbClr val="FFFFFF"/>
                </a:solidFill>
              </a:rPr>
              <a:t>: Corriente y voltaje de salida (A, V).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 i="1">
                <a:solidFill>
                  <a:srgbClr val="FFFFFF"/>
                </a:solidFill>
              </a:rPr>
              <a:t>L</a:t>
            </a:r>
            <a:r>
              <a:rPr sz="1400">
                <a:solidFill>
                  <a:srgbClr val="FFFFFF"/>
                </a:solidFill>
              </a:rPr>
              <a:t> /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 i="1">
                <a:solidFill>
                  <a:srgbClr val="FFFFFF"/>
                </a:solidFill>
              </a:rPr>
              <a:t>0</a:t>
            </a:r>
            <a:r>
              <a:rPr sz="1400">
                <a:solidFill>
                  <a:srgbClr val="FFFFFF"/>
                </a:solidFill>
              </a:rPr>
              <a:t>: Corrientes fotogenerada y de saturación (A).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i="1">
                <a:solidFill>
                  <a:srgbClr val="FFFFFF"/>
                </a:solidFill>
              </a:rPr>
              <a:t>R</a:t>
            </a:r>
            <a:r>
              <a:rPr sz="1400" i="1">
                <a:solidFill>
                  <a:srgbClr val="FFFFFF"/>
                </a:solidFill>
              </a:rPr>
              <a:t>s</a:t>
            </a:r>
            <a:r>
              <a:rPr sz="1400">
                <a:solidFill>
                  <a:srgbClr val="FFFFFF"/>
                </a:solidFill>
              </a:rPr>
              <a:t> / </a:t>
            </a:r>
            <a:r>
              <a:rPr sz="1400" i="1">
                <a:solidFill>
                  <a:srgbClr val="FFFFFF"/>
                </a:solidFill>
              </a:rPr>
              <a:t>R</a:t>
            </a:r>
            <a:r>
              <a:rPr sz="1400" i="1">
                <a:solidFill>
                  <a:srgbClr val="FFFFFF"/>
                </a:solidFill>
              </a:rPr>
              <a:t>sh</a:t>
            </a:r>
            <a:r>
              <a:rPr sz="1400">
                <a:solidFill>
                  <a:srgbClr val="FFFFFF"/>
                </a:solidFill>
              </a:rPr>
              <a:t>: Resistencia serie (pérdidas) y paralelo (fugas) (Ω).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i="1">
                <a:solidFill>
                  <a:srgbClr val="FFFFFF"/>
                </a:solidFill>
              </a:rPr>
              <a:t>k</a:t>
            </a:r>
            <a:r>
              <a:rPr sz="1400">
                <a:solidFill>
                  <a:srgbClr val="FFFFFF"/>
                </a:solidFill>
              </a:rPr>
              <a:t> / </a:t>
            </a:r>
            <a:r>
              <a:rPr sz="1400" i="1">
                <a:solidFill>
                  <a:srgbClr val="FFFFFF"/>
                </a:solidFill>
              </a:rPr>
              <a:t>q</a:t>
            </a:r>
            <a:r>
              <a:rPr sz="1400">
                <a:solidFill>
                  <a:srgbClr val="FFFFFF"/>
                </a:solidFill>
              </a:rPr>
              <a:t> / </a:t>
            </a:r>
            <a:r>
              <a:rPr sz="1400" i="1">
                <a:solidFill>
                  <a:srgbClr val="FFFFFF"/>
                </a:solidFill>
              </a:rPr>
              <a:t>T</a:t>
            </a:r>
            <a:r>
              <a:rPr sz="1400" i="1">
                <a:solidFill>
                  <a:srgbClr val="FFFFFF"/>
                </a:solidFill>
              </a:rPr>
              <a:t>c</a:t>
            </a:r>
            <a:r>
              <a:rPr sz="1400">
                <a:solidFill>
                  <a:srgbClr val="FFFFFF"/>
                </a:solidFill>
              </a:rPr>
              <a:t>: Constante de Boltzmann, carga elemental y Temp. (K).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10/20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Extracción de Parámetros de Referencia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45720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4389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Extracción en STC </a:t>
            </a:r>
            <a:r>
              <a:rPr sz="1800" b="1">
                <a:solidFill>
                  <a:srgbClr val="E8A838"/>
                </a:solidFill>
              </a:rPr>
              <a:t>[1]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4206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Se extraen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ref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L,ref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0,ref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s,ref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sh,ref</a:t>
            </a:r>
            <a:r>
              <a:rPr sz="1500">
                <a:solidFill>
                  <a:srgbClr val="FFFFFF"/>
                </a:solidFill>
              </a:rPr>
              <a:t> en STC: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1. Cortocircuito: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 = 0,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sc,ref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2. Circuito Abierto: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>
                <a:solidFill>
                  <a:srgbClr val="FFFFFF"/>
                </a:solidFill>
              </a:rPr>
              <a:t> = 0,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 i="1">
                <a:solidFill>
                  <a:srgbClr val="FFFFFF"/>
                </a:solidFill>
              </a:rPr>
              <a:t>oc,ref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3. Máxima Potencia: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mp,ref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 i="1">
                <a:solidFill>
                  <a:srgbClr val="FFFFFF"/>
                </a:solidFill>
              </a:rPr>
              <a:t>mp,ref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4. Pendiente en MPP (d</a:t>
            </a:r>
            <a:r>
              <a:rPr sz="1500" i="1">
                <a:solidFill>
                  <a:srgbClr val="FFFFFF"/>
                </a:solidFill>
              </a:rPr>
              <a:t>P</a:t>
            </a:r>
            <a:r>
              <a:rPr sz="1500">
                <a:solidFill>
                  <a:srgbClr val="FFFFFF"/>
                </a:solidFill>
              </a:rPr>
              <a:t>/d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 = 0):</a:t>
            </a:r>
          </a:p>
        </p:txBody>
      </p:sp>
      <p:pic>
        <p:nvPicPr>
          <p:cNvPr id="6" name="Picture 5" descr="eq_cc2b86fbacba503d5f0c9a0e295f4a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108960"/>
            <a:ext cx="2173560" cy="594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388620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5. Coeficiente térmico de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 i="1">
                <a:solidFill>
                  <a:srgbClr val="FFFFFF"/>
                </a:solidFill>
              </a:rPr>
              <a:t>oc</a:t>
            </a:r>
            <a:r>
              <a:rPr sz="1500">
                <a:solidFill>
                  <a:srgbClr val="FFFFFF"/>
                </a:solidFill>
              </a:rPr>
              <a:t>:</a:t>
            </a:r>
          </a:p>
        </p:txBody>
      </p:sp>
      <p:pic>
        <p:nvPicPr>
          <p:cNvPr id="8" name="Picture 7" descr="eq_f96c26b5e5df4b01883ec3fa71a971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297680"/>
            <a:ext cx="1579746" cy="594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5120640"/>
            <a:ext cx="4206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→ Parámetros base para el escalado dinámico a las condiciones reales de Atacama.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12080" y="1097280"/>
            <a:ext cx="612648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1188720"/>
            <a:ext cx="5943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Derivada Analítica en MPP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0" y="1554480"/>
            <a:ext cx="5760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Para acoplar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y el factor de idealidad, se implementa la derivada analítica obtenida del circuito:</a:t>
            </a:r>
          </a:p>
        </p:txBody>
      </p:sp>
      <p:pic>
        <p:nvPicPr>
          <p:cNvPr id="13" name="Picture 12" descr="eq_a76554b1ee03916d0fb4d4b17eb5998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0" y="2194560"/>
            <a:ext cx="4002528" cy="62179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394960" y="297180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Donde los coeficientes se definen como:</a:t>
            </a:r>
          </a:p>
        </p:txBody>
      </p:sp>
      <p:pic>
        <p:nvPicPr>
          <p:cNvPr id="15" name="Picture 14" descr="eq_d3cc56a0e87a29528d48690a85598da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94960" y="3383280"/>
            <a:ext cx="2413292" cy="502920"/>
          </a:xfrm>
          <a:prstGeom prst="rect">
            <a:avLst/>
          </a:prstGeom>
        </p:spPr>
      </p:pic>
      <p:pic>
        <p:nvPicPr>
          <p:cNvPr id="16" name="Picture 15" descr="eq_383431ee7cb363d006acacfdbffa99d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94960" y="3977639"/>
            <a:ext cx="867047" cy="4114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394960" y="4526280"/>
            <a:ext cx="5760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La optimización se realiza mediante ajuste de mínimos cuadrados con bounds físicos (</a:t>
            </a:r>
            <a:r>
              <a:rPr sz="1500" i="1">
                <a:solidFill>
                  <a:srgbClr val="E8A838"/>
                </a:solidFill>
              </a:rPr>
              <a:t>R</a:t>
            </a:r>
            <a:r>
              <a:rPr sz="1500" i="1">
                <a:solidFill>
                  <a:srgbClr val="E8A838"/>
                </a:solidFill>
              </a:rPr>
              <a:t>s</a:t>
            </a:r>
            <a:r>
              <a:rPr sz="1500">
                <a:solidFill>
                  <a:srgbClr val="E8A838"/>
                </a:solidFill>
              </a:rPr>
              <a:t> &gt; 0, </a:t>
            </a:r>
            <a:r>
              <a:rPr sz="1500" i="1">
                <a:solidFill>
                  <a:srgbClr val="E8A838"/>
                </a:solidFill>
              </a:rPr>
              <a:t>n</a:t>
            </a:r>
            <a:r>
              <a:rPr sz="1500" i="1">
                <a:solidFill>
                  <a:srgbClr val="E8A838"/>
                </a:solidFill>
              </a:rPr>
              <a:t>I</a:t>
            </a:r>
            <a:r>
              <a:rPr sz="1500">
                <a:solidFill>
                  <a:srgbClr val="E8A838"/>
                </a:solidFill>
              </a:rPr>
              <a:t> ∈ </a:t>
            </a:r>
            <a:r>
              <a:rPr sz="1500">
                <a:solidFill>
                  <a:srgbClr val="E8A838"/>
                </a:solidFill>
              </a:rPr>
              <a:t>1, 2</a:t>
            </a:r>
            <a:r>
              <a:rPr sz="1500">
                <a:solidFill>
                  <a:srgbClr val="E8A838"/>
                </a:solidFill>
              </a:rPr>
              <a:t>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11/20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Escalamiento a Condiciones Reales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Corrientes y Factor de Idealidad </a:t>
            </a:r>
            <a:r>
              <a:rPr sz="1800" b="1">
                <a:solidFill>
                  <a:srgbClr val="E8A838"/>
                </a:solidFill>
              </a:rPr>
              <a:t>[1]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1. Corriente Fotogenerada (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L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6" name="Picture 5" descr="eq_ff8bf6d291204b91b8f99a74fbb139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74519"/>
            <a:ext cx="5029200" cy="4101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51460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2. Corriente de Saturación Inversa (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0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8" name="Picture 7" descr="eq_147b7f3a535fae0ea51286e3e32c141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834640"/>
            <a:ext cx="4083403" cy="5303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52044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3. Factor de Idealidad térmico (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10" name="Picture 9" descr="eq_4d3e1415cb08b8bc20f12f74abe8552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840480"/>
            <a:ext cx="1089660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4572000"/>
            <a:ext cx="5181447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Donde: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T</a:t>
            </a:r>
            <a:r>
              <a:rPr sz="1500" i="1">
                <a:solidFill>
                  <a:srgbClr val="E8A838"/>
                </a:solidFill>
              </a:rPr>
              <a:t>ref</a:t>
            </a:r>
            <a:r>
              <a:rPr sz="1500">
                <a:solidFill>
                  <a:srgbClr val="E8A838"/>
                </a:solidFill>
              </a:rPr>
              <a:t> = 298.15 K (25°C)  |  </a:t>
            </a:r>
            <a:r>
              <a:rPr sz="1500" i="1">
                <a:solidFill>
                  <a:srgbClr val="E8A838"/>
                </a:solidFill>
              </a:rPr>
              <a:t>S</a:t>
            </a:r>
            <a:r>
              <a:rPr sz="1500" i="1">
                <a:solidFill>
                  <a:srgbClr val="E8A838"/>
                </a:solidFill>
              </a:rPr>
              <a:t>ref</a:t>
            </a:r>
            <a:r>
              <a:rPr sz="1500">
                <a:solidFill>
                  <a:srgbClr val="E8A838"/>
                </a:solidFill>
              </a:rPr>
              <a:t> = 1000 W/m².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M</a:t>
            </a:r>
            <a:r>
              <a:rPr sz="1500" i="1">
                <a:solidFill>
                  <a:srgbClr val="E8A838"/>
                </a:solidFill>
              </a:rPr>
              <a:t>ref</a:t>
            </a:r>
            <a:r>
              <a:rPr sz="1500">
                <a:solidFill>
                  <a:srgbClr val="E8A838"/>
                </a:solidFill>
              </a:rPr>
              <a:t>: Transmitancia espectral a STC.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Resistencias y Energía de Bandgap </a:t>
            </a:r>
            <a:r>
              <a:rPr sz="1800" b="1">
                <a:solidFill>
                  <a:srgbClr val="E8A838"/>
                </a:solidFill>
              </a:rPr>
              <a:t>[1]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0167" y="155448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4. Resistencia Shunt (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sh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15" name="Picture 14" descr="eq_41b6b711a3ee54ec226a0ceb62a105c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1607" y="1874519"/>
            <a:ext cx="2736281" cy="502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370167" y="251460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5. Energía de Bandgap del Silicio (</a:t>
            </a:r>
            <a:r>
              <a:rPr sz="1500" i="1">
                <a:solidFill>
                  <a:srgbClr val="FFFFFF"/>
                </a:solidFill>
              </a:rPr>
              <a:t>E</a:t>
            </a:r>
            <a:r>
              <a:rPr sz="1500" i="1">
                <a:solidFill>
                  <a:srgbClr val="FFFFFF"/>
                </a:solidFill>
              </a:rPr>
              <a:t>g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17" name="Picture 16" descr="eq_0ed50450f33c4ace764411b1918723c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1607" y="2834640"/>
            <a:ext cx="4082181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70167" y="3520440"/>
            <a:ext cx="5181447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Suposiciones Físicas Justificadas: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Constante: Se asume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s,ref</a:t>
            </a:r>
            <a:r>
              <a:rPr sz="1500">
                <a:solidFill>
                  <a:srgbClr val="FFFFFF"/>
                </a:solidFill>
              </a:rPr>
              <a:t>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  La variación térmica de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es de segundo orden y su efecto en la curva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>
                <a:solidFill>
                  <a:srgbClr val="FFFFFF"/>
                </a:solidFill>
              </a:rPr>
              <a:t>-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 es despreciable.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sh</a:t>
            </a:r>
            <a:r>
              <a:rPr sz="1500">
                <a:solidFill>
                  <a:srgbClr val="FFFFFF"/>
                </a:solidFill>
              </a:rPr>
              <a:t> dependiente de la Irradiancia Absorbida: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  Sigue la relación inversamente proporcional con 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para modelar fugas asociadas a portadores minoritarios.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E</a:t>
            </a:r>
            <a:r>
              <a:rPr sz="1500" i="1">
                <a:solidFill>
                  <a:srgbClr val="FFFFFF"/>
                </a:solidFill>
              </a:rPr>
              <a:t>g,ref</a:t>
            </a:r>
            <a:r>
              <a:rPr sz="1500">
                <a:solidFill>
                  <a:srgbClr val="FFFFFF"/>
                </a:solidFill>
              </a:rPr>
              <a:t> = 1.121 eV para Silicio a 25°C.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12/20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Validación: Reconstrucción Curvas IV en SRC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30352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urvas_iv_pv_sr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904" y="1280160"/>
            <a:ext cx="9144000" cy="39188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13/20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Validación: Potencia Medida vs. Simulada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85216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6692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Correlación de Potencia</a:t>
            </a:r>
          </a:p>
        </p:txBody>
      </p:sp>
      <p:pic>
        <p:nvPicPr>
          <p:cNvPr id="5" name="Picture 4" descr="val_scatter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5486400" cy="4114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766560" y="1097280"/>
            <a:ext cx="466344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1188720"/>
            <a:ext cx="4480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Métricas de Ajuste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1645920"/>
            <a:ext cx="42976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Coeficiente de determinación R² &gt; 0.99 para ambas tecnologías.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RMSE &lt; 5W en condiciones estándar.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Validación cruzada: El modelo de De Soto reproduce con alta fidelidad las pérdidas por temperatura en celdas de silicio.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Error máximo concentrado en la zona de codo a baja irradiancia.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14/20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Performance Ratio: Evaluación de Desempeño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201168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Ecuación Matemática del PR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El Performance Ratio (</a:t>
            </a:r>
            <a:r>
              <a:rPr sz="1500" i="1">
                <a:solidFill>
                  <a:srgbClr val="FFFFFF"/>
                </a:solidFill>
              </a:rPr>
              <a:t>PR</a:t>
            </a:r>
            <a:r>
              <a:rPr sz="1500">
                <a:solidFill>
                  <a:srgbClr val="FFFFFF"/>
                </a:solidFill>
              </a:rPr>
              <a:t>) evalúa la eficiencia neta del sistema fotovoltaico frente a condiciones de referencia STC:</a:t>
            </a:r>
          </a:p>
        </p:txBody>
      </p:sp>
      <p:pic>
        <p:nvPicPr>
          <p:cNvPr id="6" name="Picture 5" descr="eq_a94e9ad4dd062e009503f40fd565ad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874519"/>
            <a:ext cx="2292484" cy="7772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65760" y="3291840"/>
            <a:ext cx="475488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4572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Glosario de Variables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49039"/>
            <a:ext cx="43891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• </a:t>
            </a:r>
            <a:r>
              <a:rPr sz="1400" i="1">
                <a:solidFill>
                  <a:srgbClr val="E8A838"/>
                </a:solidFill>
              </a:rPr>
              <a:t>V</a:t>
            </a:r>
            <a:r>
              <a:rPr sz="1400" i="1">
                <a:solidFill>
                  <a:srgbClr val="E8A838"/>
                </a:solidFill>
              </a:rPr>
              <a:t>mp,t</a:t>
            </a:r>
            <a:r>
              <a:rPr sz="1400">
                <a:solidFill>
                  <a:srgbClr val="E8A838"/>
                </a:solidFill>
              </a:rPr>
              <a:t> / </a:t>
            </a:r>
            <a:r>
              <a:rPr sz="1400" i="1">
                <a:solidFill>
                  <a:srgbClr val="E8A838"/>
                </a:solidFill>
              </a:rPr>
              <a:t>I</a:t>
            </a:r>
            <a:r>
              <a:rPr sz="1400" i="1">
                <a:solidFill>
                  <a:srgbClr val="E8A838"/>
                </a:solidFill>
              </a:rPr>
              <a:t>mp,t</a:t>
            </a:r>
            <a:r>
              <a:rPr sz="1400">
                <a:solidFill>
                  <a:srgbClr val="E8A838"/>
                </a:solidFill>
              </a:rPr>
              <a:t>: Tensión y corriente MPP horarias del SDM</a:t>
            </a:r>
            <a:r>
              <a:rPr sz="1400">
                <a:solidFill>
                  <a:srgbClr val="E8A838"/>
                </a:solidFill>
              </a:rPr>
              <a:t>[1]</a:t>
            </a:r>
            <a:r>
              <a:rPr sz="1400">
                <a:solidFill>
                  <a:srgbClr val="E8A838"/>
                </a:solidFill>
              </a:rPr>
              <a:t>.</a:t>
            </a:r>
          </a:p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• </a:t>
            </a:r>
            <a:r>
              <a:rPr sz="1400" i="1">
                <a:solidFill>
                  <a:srgbClr val="E8A838"/>
                </a:solidFill>
              </a:rPr>
              <a:t>P</a:t>
            </a:r>
            <a:r>
              <a:rPr sz="1400" i="1">
                <a:solidFill>
                  <a:srgbClr val="E8A838"/>
                </a:solidFill>
              </a:rPr>
              <a:t>STC</a:t>
            </a:r>
            <a:r>
              <a:rPr sz="1400">
                <a:solidFill>
                  <a:srgbClr val="E8A838"/>
                </a:solidFill>
              </a:rPr>
              <a:t>: Potencia nominal en STC (m-Si: 46.68 W | HIT: 217.52 W).</a:t>
            </a:r>
          </a:p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• </a:t>
            </a:r>
            <a:r>
              <a:rPr sz="1400" i="1">
                <a:solidFill>
                  <a:srgbClr val="E8A838"/>
                </a:solidFill>
              </a:rPr>
              <a:t>G</a:t>
            </a:r>
            <a:r>
              <a:rPr sz="1400" i="1">
                <a:solidFill>
                  <a:srgbClr val="E8A838"/>
                </a:solidFill>
              </a:rPr>
              <a:t>poa,t</a:t>
            </a:r>
            <a:r>
              <a:rPr sz="1400">
                <a:solidFill>
                  <a:srgbClr val="E8A838"/>
                </a:solidFill>
              </a:rPr>
              <a:t>: Irradiancia temporal en el plano del panel (W/m²).</a:t>
            </a:r>
          </a:p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• </a:t>
            </a:r>
            <a:r>
              <a:rPr sz="1400" i="1">
                <a:solidFill>
                  <a:srgbClr val="E8A838"/>
                </a:solidFill>
              </a:rPr>
              <a:t>G</a:t>
            </a:r>
            <a:r>
              <a:rPr sz="1400" i="1">
                <a:solidFill>
                  <a:srgbClr val="E8A838"/>
                </a:solidFill>
              </a:rPr>
              <a:t>ref</a:t>
            </a:r>
            <a:r>
              <a:rPr sz="1400">
                <a:solidFill>
                  <a:srgbClr val="E8A838"/>
                </a:solidFill>
              </a:rPr>
              <a:t>: Irradiancia de referencia a STC (1000 W/m²).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94960" y="3291840"/>
            <a:ext cx="594360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0" y="3383280"/>
            <a:ext cx="5760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Pérdidas Penalizadas por el PR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3749039"/>
            <a:ext cx="55778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b="1">
                <a:solidFill>
                  <a:srgbClr val="FFFFFF"/>
                </a:solidFill>
              </a:rPr>
              <a:t>Pérdidas Térmicas:</a:t>
            </a:r>
            <a:r>
              <a:rPr sz="1500">
                <a:solidFill>
                  <a:srgbClr val="FFFFFF"/>
                </a:solidFill>
              </a:rPr>
              <a:t> Caídas debidas a la elevada temperatura </a:t>
            </a:r>
            <a:r>
              <a:rPr sz="1500" i="1">
                <a:solidFill>
                  <a:srgbClr val="FFFFFF"/>
                </a:solidFill>
              </a:rPr>
              <a:t>T</a:t>
            </a:r>
            <a:r>
              <a:rPr sz="1500" i="1">
                <a:solidFill>
                  <a:srgbClr val="FFFFFF"/>
                </a:solidFill>
              </a:rPr>
              <a:t>c</a:t>
            </a:r>
            <a:r>
              <a:rPr sz="1500">
                <a:solidFill>
                  <a:srgbClr val="FFFFFF"/>
                </a:solidFill>
              </a:rPr>
              <a:t>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b="1">
                <a:solidFill>
                  <a:srgbClr val="FFFFFF"/>
                </a:solidFill>
              </a:rPr>
              <a:t>Pérdidas Ópticas:</a:t>
            </a:r>
            <a:r>
              <a:rPr sz="1500">
                <a:solidFill>
                  <a:srgbClr val="FFFFFF"/>
                </a:solidFill>
              </a:rPr>
              <a:t> Efectos reflectivos por ángulo de incidencia (IAM).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b="1">
                <a:solidFill>
                  <a:srgbClr val="FFFFFF"/>
                </a:solidFill>
              </a:rPr>
              <a:t>Pérdidas Espectrales:</a:t>
            </a:r>
            <a:r>
              <a:rPr sz="1500">
                <a:solidFill>
                  <a:srgbClr val="FFFFFF"/>
                </a:solidFill>
              </a:rPr>
              <a:t> Desajustes causados por la Masa de Aire (AM).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b="1">
                <a:solidFill>
                  <a:srgbClr val="FFFFFF"/>
                </a:solidFill>
              </a:rPr>
              <a:t>Pérdidas Óhmicas:</a:t>
            </a:r>
            <a:r>
              <a:rPr sz="1500">
                <a:solidFill>
                  <a:srgbClr val="FFFFFF"/>
                </a:solidFill>
              </a:rPr>
              <a:t> Pérdidas resistivas en la resistencia serie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15/20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Resultados: Performance Ratio Mensual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30352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r_mensual_comparati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34440"/>
            <a:ext cx="10360152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16/20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Análisis: Sensibilidad Térmica Realizada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73152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7132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Normalización por Potencia Nominal</a:t>
            </a:r>
          </a:p>
        </p:txBody>
      </p:sp>
      <p:pic>
        <p:nvPicPr>
          <p:cNvPr id="5" name="Picture 4" descr="degradacion_termica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6217920" cy="373075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589520" y="1097280"/>
            <a:ext cx="420624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0" y="1188720"/>
            <a:ext cx="4023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Observación Científica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1645920"/>
            <a:ext cx="3840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HIT (Naranja): Pendiente suave. Su bajo coeficiente térmico (-0.26 %/°C) mantiene una alta eficiencia de conversión incluso a 65°C de celda.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m-Si (Azul): Caída térmica severa. Su coeficiente térmico (-0.40 %/°C) penaliza fuertemente el voltaje en las horas pico de irradiancia desértica.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17/20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Resultados Anuales: m-Si vs. HIT en Atacama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Veredicto Técnico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• Performance Ratio Anual m-Si: 84.53%</a:t>
            </a:r>
          </a:p>
          <a:p>
            <a:pPr algn="l">
              <a:defRPr sz="1800">
                <a:solidFill>
                  <a:srgbClr val="E8A838"/>
                </a:solidFill>
              </a:defRPr>
            </a:pPr>
          </a:p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• Performance Ratio Anual HIT: 86.92%</a:t>
            </a:r>
          </a:p>
          <a:p>
            <a:pPr algn="l">
              <a:defRPr sz="1800">
                <a:solidFill>
                  <a:srgbClr val="E8A838"/>
                </a:solidFill>
              </a:defRPr>
            </a:pPr>
          </a:p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• Ganancia Neta en </a:t>
            </a:r>
            <a:r>
              <a:rPr sz="1800" i="1" b="1">
                <a:solidFill>
                  <a:srgbClr val="E8A838"/>
                </a:solidFill>
              </a:rPr>
              <a:t>PR</a:t>
            </a:r>
            <a:r>
              <a:rPr sz="1800" b="1">
                <a:solidFill>
                  <a:srgbClr val="E8A838"/>
                </a:solidFill>
              </a:rPr>
              <a:t>: +2.39% a favor de HIT.</a:t>
            </a:r>
          </a:p>
          <a:p>
            <a:pPr algn="l">
              <a:defRPr sz="1800">
                <a:solidFill>
                  <a:srgbClr val="E8A838"/>
                </a:solidFill>
              </a:defRPr>
            </a:pPr>
          </a:p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El módulo HIT entrega un 2.39% más de energía útil por cada watt pico instalado, gracias a su menor caída térmica bajo el calor extremo del Desierto de Atacama en 2026.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Impacto en Proyectos a Gran Escala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Para una planta solar de gran escala de 100 MWp: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Cada +1% de Performance Ratio anual representa aproximadamente 2,500 MWh adicionales de generación de energía.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La ganancia de +2.39% de la tecnología HIT equivale a ~6,000 MWh/año adicionales de facturación neta.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Se justifica técnicamente la inversión en tecnología premium HIT para climas desérticos de alta irradiancia y alta temperatura.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18/20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Conclusiones y Proyecciones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Conclusiones del Estudio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1. La emulación geográfica (Cocoa → Atacama) fue coherente, permitiendo evaluar el Performance Ratio real.</a:t>
            </a:r>
          </a:p>
          <a:p>
            <a:pPr algn="l">
              <a:defRPr sz="1700">
                <a:solidFill>
                  <a:srgbClr val="E8A838"/>
                </a:solidFill>
              </a:defRPr>
            </a:pPr>
          </a:p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2. El modelo De Soto de 5 parámetros reprodujo con altísima precisión (R² &gt; 0.99) el desempeño medido.</a:t>
            </a:r>
          </a:p>
          <a:p>
            <a:pPr algn="l">
              <a:defRPr sz="1700">
                <a:solidFill>
                  <a:srgbClr val="E8A838"/>
                </a:solidFill>
              </a:defRPr>
            </a:pPr>
          </a:p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3. La tecnología HIT supera en un 2.39% de </a:t>
            </a:r>
            <a:r>
              <a:rPr sz="1700" i="1">
                <a:solidFill>
                  <a:srgbClr val="E8A838"/>
                </a:solidFill>
              </a:rPr>
              <a:t>PR</a:t>
            </a:r>
            <a:r>
              <a:rPr sz="1700">
                <a:solidFill>
                  <a:srgbClr val="E8A838"/>
                </a:solidFill>
              </a:rPr>
              <a:t> anual al silicio monocristalino estándar.</a:t>
            </a:r>
          </a:p>
          <a:p>
            <a:pPr algn="l">
              <a:defRPr sz="1700">
                <a:solidFill>
                  <a:srgbClr val="E8A838"/>
                </a:solidFill>
              </a:defRPr>
            </a:pPr>
          </a:p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4. El coeficiente de temperatura es el factor dominante en el diseño solar desértico.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Trabajos Futuros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Integración de Bifacialidad: Modelar la ganancia por albedo posterior del suelo desértico (</a:t>
            </a:r>
            <a:r>
              <a:rPr sz="1600" i="1">
                <a:solidFill>
                  <a:srgbClr val="FFFFFF"/>
                </a:solidFill>
              </a:rPr>
              <a:t>ρ</a:t>
            </a:r>
            <a:r>
              <a:rPr sz="1600">
                <a:solidFill>
                  <a:srgbClr val="FFFFFF"/>
                </a:solidFill>
              </a:rPr>
              <a:t> &gt; 0.25).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Estudio de doble diodo: Capturar efectos de recombinación interna a baja irradiancia.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Pérdidas por acumulación de polvo (soiling) en el Desierto de Atacama.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Análisis de costo nivelado LCOE para evaluar el retorno de la inversión de paneles premium HIT.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19/20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Referencias y Agradecimientos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828800"/>
            <a:ext cx="1146017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1. De Soto, W., Klein, S.A., Beckman, W.A. (2006). "Improvement and validation of a model for photovoltaic array performance." Solar Energy 80 (2006) 78–88.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2. Sandia National Laboratories - Photovoltaic Array Performance Model (Sandia Report SAND2004-3535).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3. NREL Cocoa Dataset - Experimental Measurements for Model Validation.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4. pvlib-python Library documentation &amp; community contributors.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5. Marion, B. et al. (2014). "Cocoa, Florida Data Set for Validating PV Models." NREL Technical Report.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Agradecimientos al Departamento de Electrotecnia de la UTFSM.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20/20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