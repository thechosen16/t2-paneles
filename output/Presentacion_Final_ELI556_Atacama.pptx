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92608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rPr sz="2200">
                <a:solidFill>
                  <a:srgbClr val="FFFFFF"/>
                </a:solidFill>
              </a:rPr>
              <a:t>Modelamiento Eléctrico mediante el Modelo de 5 Parámetros de De Soto</a:t>
            </a:r>
            <a:r>
              <a:rPr sz="2200">
                <a:solidFill>
                  <a:srgbClr val="FFFFFF"/>
                </a:solidFill>
              </a:rPr>
              <a:t>[1]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Familias Tecnológicas en Dataset Cocoa (NREL) ^[5]^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097280"/>
                <a:gridCol w="1645920"/>
                <a:gridCol w="393192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Fórmulas POA (Perez) y Absorción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1. Irradiancia en Plano de Arreglo (</a:t>
            </a:r>
            <a:r>
              <a:rPr sz="1600" i="1">
                <a:solidFill>
                  <a:srgbClr val="FFFFFF"/>
                </a:solidFill>
              </a:rPr>
              <a:t>POA</a:t>
            </a:r>
            <a:r>
              <a:rPr sz="16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0" cy="3435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60604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2. Irradiancia Absorbida por Celdas (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84c6ff8f0a6225d1da45a3b2826e84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17520"/>
            <a:ext cx="5029200" cy="28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4048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 en condiciones de referencia (SRC).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Glosario de Términos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 i="1">
                <a:solidFill>
                  <a:srgbClr val="FFFFFF"/>
                </a:solidFill>
              </a:rPr>
              <a:t>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: Irradiancia directa, difusa y global horizontal (W/m²).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β</a:t>
            </a:r>
            <a:r>
              <a:rPr sz="1500">
                <a:solidFill>
                  <a:srgbClr val="FFFFFF"/>
                </a:solidFill>
              </a:rPr>
              <a:t> (Tilt): Ángulo de inclinación del panel (22.91° optimizado).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ρ</a:t>
            </a:r>
            <a:r>
              <a:rPr sz="1500">
                <a:solidFill>
                  <a:srgbClr val="FFFFFF"/>
                </a:solidFill>
              </a:rPr>
              <a:t> (Albedo): Reflectancia del suelo árido desértico (~0.20).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beam</a:t>
            </a:r>
            <a:r>
              <a:rPr sz="1500">
                <a:solidFill>
                  <a:srgbClr val="FFFFFF"/>
                </a:solidFill>
              </a:rPr>
              <a:t>: Factor de transposición geométrica para radiación directa.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τα,g</a:t>
            </a:r>
            <a:r>
              <a:rPr sz="1500">
                <a:solidFill>
                  <a:srgbClr val="FFFFFF"/>
                </a:solidFill>
              </a:rPr>
              <a:t>: Modificadores por IAM para directa, difusa y suelo.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Modificador por Ángulo de Incidencia (IAM) ^[2]^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3469175" cy="347472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88036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74720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Donde: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θ</a:t>
            </a:r>
            <a:r>
              <a:rPr sz="1400">
                <a:solidFill>
                  <a:srgbClr val="E8A838"/>
                </a:solidFill>
              </a:rPr>
              <a:t>: Ángulo de incidencia  | 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K</a:t>
            </a:r>
            <a:r>
              <a:rPr sz="1400">
                <a:solidFill>
                  <a:srgbClr val="E8A838"/>
                </a:solidFill>
              </a:rPr>
              <a:t> = 4 m⁻¹ (Absorción del vidrio)  |  </a:t>
            </a:r>
            <a:r>
              <a:rPr sz="1400" i="1">
                <a:solidFill>
                  <a:srgbClr val="E8A838"/>
                </a:solidFill>
              </a:rPr>
              <a:t>L</a:t>
            </a:r>
            <a:r>
              <a:rPr sz="14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Modificador por Masa de Aire (AM) ^[2]^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24028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74320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Temperatura de Celda (Sandia SAPM) ^[2]^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 temperatura interna de la celda (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 depende del recurso solar y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4586775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Temperatura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el plano del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Coeficientes por Tecnología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Los parámetros empíricos varían según la disipación del marco y capas protectoras: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Silicio Monocristalino (m-Si) — glass/polymer: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 = -3.56  |  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= -0.075  |  </a:t>
            </a:r>
            <a:r>
              <a:rPr sz="1500" i="1">
                <a:solidFill>
                  <a:srgbClr val="FFFFFF"/>
                </a:solidFill>
              </a:rPr>
              <a:t>ΔT</a:t>
            </a:r>
            <a:r>
              <a:rPr sz="1500">
                <a:solidFill>
                  <a:srgbClr val="FFFFFF"/>
                </a:solidFill>
              </a:rPr>
              <a:t> = 3.0 °C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→ Comportamiento: Disipación estándar, mayor calentamiento.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Heterounión (HIT) — glass/glass: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 = -3.47  |  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= -0.059  |  </a:t>
            </a:r>
            <a:r>
              <a:rPr sz="1500" i="1">
                <a:solidFill>
                  <a:srgbClr val="FFFFFF"/>
                </a:solidFill>
              </a:rPr>
              <a:t>ΔT</a:t>
            </a:r>
            <a:r>
              <a:rPr sz="1500">
                <a:solidFill>
                  <a:srgbClr val="FFFFFF"/>
                </a:solidFill>
              </a:rPr>
              <a:t> = 3.0 °C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→ Comportamiento: Estructura de doble vidrio, retiene ligeramente más calor, pero se compensa por su bajo coeficiente térmico.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Modelo de 5 Parámetros: Diodo Simple (SDM) ^[1]^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módulo se modela como un circuito equivalente de un diodo y pérdidas óhmicas: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385398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74320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factor de idealidad térmico (</a:t>
            </a:r>
            <a:r>
              <a:rPr sz="1600" i="1">
                <a:solidFill>
                  <a:srgbClr val="FFFFFF"/>
                </a:solidFill>
              </a:rPr>
              <a:t>a</a:t>
            </a:r>
            <a:r>
              <a:rPr sz="1600">
                <a:solidFill>
                  <a:srgbClr val="FFFFFF"/>
                </a:solidFill>
              </a:rPr>
              <a:t>) se define formalmente como:</a:t>
            </a:r>
          </a:p>
        </p:txBody>
      </p:sp>
      <p:pic>
        <p:nvPicPr>
          <p:cNvPr id="8" name="Picture 7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29000"/>
            <a:ext cx="1835474" cy="457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Glosario de Parámetros Físicos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: Corriente fotogenerada por irradiancia (A).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: Corriente de saturación inversa del diodo (A).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: Resistencia serie de pérdidas (Ω).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: Resistencia paralelo o shunt de fugas (Ω).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N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: Número de celdas en serie (m-Si: 36, HIT: 72).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n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: Factor de idealidad del diodo.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>
                <a:solidFill>
                  <a:srgbClr val="FFFFFF"/>
                </a:solidFill>
              </a:rPr>
              <a:t>: Constante de Boltzmann (1.3806 × 10⁻²³ J/K).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q</a:t>
            </a:r>
            <a:r>
              <a:rPr sz="1500">
                <a:solidFill>
                  <a:srgbClr val="FFFFFF"/>
                </a:solidFill>
              </a:rPr>
              <a:t>: Carga elemental del electrón (1.6022 × 10⁻¹⁹ C).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: Temperatura de celda absoluta (K).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Sistema No-Lineal de 5 Ecuaciones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</a:t>
            </a:r>
            <a:r>
              <a:rPr sz="1500">
                <a:solidFill>
                  <a:srgbClr val="FFFFFF"/>
                </a:solidFill>
              </a:rPr>
              <a:t>[1]</a:t>
            </a:r>
            <a:r>
              <a:rPr sz="1500">
                <a:solidFill>
                  <a:srgbClr val="FFFFFF"/>
                </a:solidFill>
              </a:rPr>
              <a:t>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</a:t>
            </a:r>
            <a:r>
              <a:rPr sz="1500">
                <a:solidFill>
                  <a:srgbClr val="FFFFFF"/>
                </a:solidFill>
              </a:rPr>
              <a:t>):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 (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):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 (MPP):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63240"/>
            <a:ext cx="1671969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0332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14800"/>
            <a:ext cx="1093670" cy="411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 la 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7" y="2514600"/>
            <a:ext cx="3060757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167" y="31546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3566160"/>
            <a:ext cx="2193902" cy="45720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4160520"/>
            <a:ext cx="770708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470916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400" i="1">
                <a:solidFill>
                  <a:srgbClr val="E8A838"/>
                </a:solidFill>
              </a:rPr>
              <a:t>R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&gt; 0,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 ∈ </a:t>
            </a:r>
            <a:r>
              <a:rPr sz="1400">
                <a:solidFill>
                  <a:srgbClr val="E8A838"/>
                </a:solidFill>
              </a:rPr>
              <a:t>1, 2</a:t>
            </a:r>
            <a:r>
              <a:rPr sz="14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Dependencias con (G, Tc) de De Soto ^[1]^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Factor de Idealidad:</a:t>
            </a:r>
          </a:p>
        </p:txBody>
      </p:sp>
      <p:pic>
        <p:nvPicPr>
          <p:cNvPr id="6" name="Picture 5" descr="eq_4d3e1415cb08b8bc20f12f74abe85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342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2402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0175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Energía de Bandgap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0ed50450f33c4ace764411b1918723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37560"/>
            <a:ext cx="2671973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749039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2" name="Picture 11" descr="eq_ff8bf6d291204b91b8f99a74fbb1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69080"/>
            <a:ext cx="4260506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48056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Resistencia Shunt:</a:t>
            </a:r>
          </a:p>
        </p:txBody>
      </p:sp>
      <p:pic>
        <p:nvPicPr>
          <p:cNvPr id="14" name="Picture 13" descr="eq_41b6b711a3ee54ec226a0ceb62a105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800600"/>
            <a:ext cx="174127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2120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E</a:t>
            </a:r>
            <a:r>
              <a:rPr sz="1400" i="1">
                <a:solidFill>
                  <a:srgbClr val="E8A838"/>
                </a:solidFill>
              </a:rPr>
              <a:t>g,ref</a:t>
            </a:r>
            <a:r>
              <a:rPr sz="1400">
                <a:solidFill>
                  <a:srgbClr val="E8A838"/>
                </a:solidFill>
              </a:rPr>
              <a:t> = 1.121 eV para Silicio a 25°C.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Suposiciones Ficas Justificadas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Justificación: De Soto (2006)</a:t>
            </a:r>
            <a:r>
              <a:rPr sz="1500">
                <a:solidFill>
                  <a:srgbClr val="FFFFFF"/>
                </a:solidFill>
              </a:rPr>
              <a:t>[1]</a:t>
            </a:r>
            <a:r>
              <a:rPr sz="1500">
                <a:solidFill>
                  <a:srgbClr val="FFFFFF"/>
                </a:solidFill>
              </a:rPr>
              <a:t> demuestra mediante validaciones contra NIST que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cómo el aumento de portadores minoritarios abre caminos de fuga paralelos en la celda.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 = 298.15 K (25°C)  | 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 = 1000 W/m².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Performance Ratio (</a:t>
            </a:r>
            <a:r>
              <a:rPr sz="1600" i="1">
                <a:solidFill>
                  <a:srgbClr val="FFFFFF"/>
                </a:solidFill>
              </a:rPr>
              <a:t>PR</a:t>
            </a:r>
            <a:r>
              <a:rPr sz="1600">
                <a:solidFill>
                  <a:srgbClr val="FFFFFF"/>
                </a:solidFill>
              </a:rPr>
              <a:t>) evalúa la eficiencia neta del sistema fotovoltaico: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172641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88036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P</a:t>
            </a:r>
            <a:r>
              <a:rPr sz="1500" i="1">
                <a:solidFill>
                  <a:srgbClr val="E8A838"/>
                </a:solidFill>
              </a:rPr>
              <a:t>mp,SDM</a:t>
            </a:r>
            <a:r>
              <a:rPr sz="1500">
                <a:solidFill>
                  <a:srgbClr val="E8A838"/>
                </a:solidFill>
              </a:rPr>
              <a:t>: Potencia MPP simulada hora a hora con De Soto</a:t>
            </a:r>
            <a:r>
              <a:rPr sz="1500">
                <a:solidFill>
                  <a:srgbClr val="E8A838"/>
                </a:solidFill>
              </a:rPr>
              <a:t>[1]</a:t>
            </a:r>
            <a:r>
              <a:rPr sz="1500">
                <a:solidFill>
                  <a:srgbClr val="E8A838"/>
                </a:solidFill>
              </a:rPr>
              <a:t> (W).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P</a:t>
            </a:r>
            <a:r>
              <a:rPr sz="1500" i="1">
                <a:solidFill>
                  <a:srgbClr val="E8A838"/>
                </a:solidFill>
              </a:rPr>
              <a:t>STC</a:t>
            </a:r>
            <a:r>
              <a:rPr sz="1500">
                <a:solidFill>
                  <a:srgbClr val="E8A838"/>
                </a:solidFill>
              </a:rPr>
              <a:t>: Potencia nominal a STC (m-Si: 46.68 W | HIT: 217.52 W).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Significado Físico del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Indica la fracción de energía disponible que es realmente convertida en potencia útil de salida.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Un </a:t>
            </a:r>
            <a:r>
              <a:rPr sz="1600" i="1">
                <a:solidFill>
                  <a:srgbClr val="FFFFFF"/>
                </a:solidFill>
              </a:rPr>
              <a:t>PR</a:t>
            </a:r>
            <a:r>
              <a:rPr sz="1600">
                <a:solidFill>
                  <a:srgbClr val="FFFFFF"/>
                </a:solidFill>
              </a:rPr>
              <a:t> de 100% representaría un panel operando permanentemente a 25°C de temperatura de celda y sin ninguna pérdida reflectiva, de cableado o de suciedad.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Captura y penaliza de forma acumulativa: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1. Pérdidas Térmicas (elevada temperatura 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2. Pérdidas Ópticas por Ángulo de Incidencia (IAM).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3. Pérdidas por Atenuación Espectral (Masa de Aire).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4. Pérdidas Óhmicas Internas (Resistencia Serie </a:t>
            </a:r>
            <a:r>
              <a:rPr sz="1600" i="1">
                <a:solidFill>
                  <a:srgbClr val="FFFFFF"/>
                </a:solidFill>
              </a:rPr>
              <a:t>R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